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6" r:id="rId3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304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3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开场可以说：“今天讲的多智能体，不是让几个聊天窗口轮流发言，而是让不同角色协作完成一项能检查的任务。”本课结合书 A 第 7 章的协作方式、拓扑与代码，以及书 B 第 10 章的通信、交接与验证。贯穿案例是计算机研究生熟悉的“文本分类基线实验复现”。它是专门构造的课堂小实验，并非某篇真实论文的性能复现。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依次提出四个问题：为什么一个实验复现任务可能需要多个角色？Agent 间怎样传递配置、文件和完成事件？代码怎样表示角色与依赖？报告中的数字怎样独立验证？听众只需记住一条主线：读实验协议 → 跑基线 → 交接指标 → 写复现报告 → 重算指标。接下来每一种抽象概念都回到这条主线。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先给一句话定义：Agent 是围绕目标行动的程序。大模型负责理解和生成，上下文是当前可见的信息，工具负责读文件、运行程序等外部操作，目标是这次要交付的结果。放到实验里：Agent 可以读取实验协议和指标文件，解释结果，再把分析交给另一个 Agent 写报告。单次聊天只回答一次；Agent 通常会看工具结果再决定下一步。书 B 后记给出简式：Agent = LLM + 上下文 + 工具。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先给一句话定义：Agent 是围绕目标行动的程序。大模型负责理解和生成，上下文是当前可见的信息，工具负责读文件、运行程序等外部操作，目标是这次要交付的结果。放到实验里：Agent 可以读取实验协议和指标文件，解释结果，再把分析交给另一个 Agent 写报告。单次聊天只回答一次；Agent 通常会看工具结果再决定下一步。书 B 后记给出简式：Agent = LLM + 上下文 + 工具。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第一位汇报者在这一页把贯穿案例说具体，避免后面反复解释背景：我们要把中文短句判为 positive 或 negative，课堂脚本内固定 12 条训练样本、6 条测试样本。固定切分的意思是每次运行都用同一批训练与测试句，便于比较结果；这里不是论文数据集。基线模型是空格分词后的多项式朴素贝叶斯，可以先把它理解为“根据词在两类样本中出现的次数来判断类别”，本课不要求推导概率公式。运行后保存 predictions.json（每条真值和预测）与 metrics.json（准确率、Macro-F1 等汇总）。最后另一个角色要从逐条预测重算指标，而不是照抄报告。借这四步回答标题的问题：读协议、运行程序、复核结果用到不同操作和证据，因此适合分工；概念参考书 A 原 PDF 第 98 页。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不要说“多 Agent 一定比单 Agent 好”。判断时问四件事：任务是否复杂到单 Agent 难稳定完成；能否拆成边界清楚的子任务；下游能否检查上游交付；额外调用时间和成本是否值得。比如只需计算 6 条预测的准确率，普通 Python 程序足够，不必安排多个大模型。若同时涉及方法阅读、实验执行、报告生成与独立审核，协作才更有意义。来源书 A 第 109 页、书 B 第 279–280 页。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左边是“报告者写准确率，审阅者只看报告者的解释”，这可能只是重复同一个错误。右边是审核者打开逐条预测文件，数出真值与预测一致的条数，再独立计算准确率和 F1。后者增加了可检验的新证据。书 B 强调多 Agent 协作要看是否带来新的信息或反馈；这会提高发现错误的机会，但不能保证每次都更好。过渡到第二部分：要让证据流动起来，就要设计通信与交接。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左侧是书 A 的监督者与专家团队示意。将它翻译成三件事：角色与责任说明谁读方法、谁跑实验、谁核指标；通信通道说明配置和指标从哪里传到哪里；任务流与协议说明何时交、交什么、怎样验收。比如实验执行者交付 metrics.json 与 predictions.json，报告者依据前者写结论，审核者依据后者重算。这些边界画清楚后再选框架。来源书 A 原 PDF 第 99–100 页。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上下文是 Agent 当前看得见的对话、材料和工具记录。共享上下文像下一位同学拿到完整实验日志，细节不易丢，但内容会越来越长，也可能受前一个人的思路影响。隔离上下文是各自在自己的工作区完成任务，只交换指标、文件路径和任务状态，便于模块化，却要求交接单写清楚。“隔离”不是互不通信，只是不共享全部内部历史。来源书 B 原 PDF 第 277–281 页。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第一位汇报者用同一个实验完成通信概览。工具参数传短字段：topic 是“文本分类复现”，summary 是“先核指标，再写报告”；调用方等待下游返回。共享文件放较大的结果：metrics.json 是汇总指标，predictions.json 是逐条预测，消息里只需交文件路径。消息总线发布 experiment.completed，含义是“实验已完成”，多个订阅者可按需读取。三种方式可以组合：程序先写文件，再发布完成通知，报告者按路径读结果。此处只建立直观地图，下一位会继续解释同步/异步以及字段、文件、事件的细节。交接句可直接说：“现在我们知道传什么，接下来请第二位讲清怎么传、何时到达。”来源书 B 原 PDF 第 277–278、284 页。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/>
              <a:t>接下来我来讲解一下</a:t>
            </a:r>
            <a:r>
              <a:rPr lang="en-US" altLang="zh-CN"/>
              <a:t>agent</a:t>
            </a:r>
            <a:r>
              <a:rPr lang="zh-CN" altLang="en-US"/>
              <a:t>之间的通信</a:t>
            </a:r>
            <a:endParaRPr lang="zh-CN" altLang="en-US"/>
          </a:p>
          <a:p>
            <a:r>
              <a:rPr lang="en-US" altLang="zh-CN"/>
              <a:t>Agent </a:t>
            </a:r>
            <a:r>
              <a:rPr lang="zh-CN" altLang="en-US"/>
              <a:t>无法感知彼此内部运行状态，因此系统需要预先约定数据来源、到达时机与等待规则。</a:t>
            </a:r>
            <a:endParaRPr lang="zh-CN" altLang="en-US"/>
          </a:p>
          <a:p>
            <a:r>
              <a:rPr lang="zh-CN" altLang="en-US"/>
              <a:t>第一种是消息传递，核心是发送方将数据显式打包，直接投递至接收方，包含工具调用、点对点消息、消息总线等形式，分为同步与异步两类。</a:t>
            </a:r>
            <a:endParaRPr lang="zh-CN" altLang="en-US"/>
          </a:p>
          <a:p>
            <a:r>
              <a:rPr lang="zh-CN" altLang="en-US"/>
              <a:t>同步模式下发送方阻塞等待，获取返回结果后继续执行，时序可控；</a:t>
            </a:r>
            <a:endParaRPr lang="zh-CN" altLang="en-US"/>
          </a:p>
          <a:p>
            <a:r>
              <a:rPr lang="zh-CN" altLang="en-US"/>
              <a:t>异步模式发送消息后可直接继续工作，由接收方从队列消费，适合高并发场景。</a:t>
            </a:r>
            <a:endParaRPr lang="zh-CN" altLang="en-US"/>
          </a:p>
          <a:p>
            <a:r>
              <a:rPr lang="zh-CN" altLang="en-US"/>
              <a:t>它适合轻量指令与任务下发，但不适合传输大容量明细数据。</a:t>
            </a:r>
            <a:endParaRPr lang="zh-CN" altLang="en-US"/>
          </a:p>
          <a:p>
            <a:r>
              <a:rPr lang="zh-CN" altLang="en-US"/>
              <a:t>第二种是共享存储，核心是写入方将数据落盘至公共位置，读取方通过文件路径获取内容，形式包含共享文件、资源路径</a:t>
            </a:r>
            <a:r>
              <a:rPr lang="zh-CN" altLang="en-US"/>
              <a:t>等。</a:t>
            </a:r>
            <a:endParaRPr lang="zh-CN" altLang="en-US"/>
          </a:p>
          <a:p>
            <a:r>
              <a:rPr lang="zh-CN" altLang="en-US"/>
              <a:t>它实现零拷贝传址，仅传递文件路径，节约上下文窗口，产物持久化保存，便于审计追溯，适合长文档与数据集，但需要配套通知机制，同时规避多角色并发写入冲突。</a:t>
            </a:r>
            <a:endParaRPr lang="zh-CN" altLang="en-US"/>
          </a:p>
          <a:p>
            <a:r>
              <a:rPr lang="zh-CN" altLang="en-US"/>
              <a:t>消息传递与共享存储是 </a:t>
            </a:r>
            <a:r>
              <a:rPr lang="en-US" altLang="zh-CN"/>
              <a:t>Agent </a:t>
            </a:r>
            <a:r>
              <a:rPr lang="zh-CN" altLang="en-US"/>
              <a:t>数据交互的两大底层分类，后续我们会基于这一理论，落地到工具参数、共享文件、消息总线三种工程实现方案。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下面介绍第一种 </a:t>
            </a:r>
            <a:r>
              <a:rPr lang="en-US" altLang="zh-CN"/>
              <a:t>Agent </a:t>
            </a:r>
            <a:r>
              <a:rPr lang="zh-CN" altLang="en-US"/>
              <a:t>通信实现方案：将下游 </a:t>
            </a:r>
            <a:r>
              <a:rPr lang="en-US" altLang="zh-CN"/>
              <a:t>Agent </a:t>
            </a:r>
            <a:r>
              <a:rPr lang="zh-CN" altLang="en-US"/>
              <a:t>封装为工具进行调用，也就是 </a:t>
            </a:r>
            <a:r>
              <a:rPr lang="en-US" altLang="zh-CN"/>
              <a:t>Agent-as-a-Tool </a:t>
            </a:r>
            <a:r>
              <a:rPr lang="zh-CN" altLang="en-US"/>
              <a:t>模式，它适用于简短、字段固定、需要即时获取结果的数据交接场景。</a:t>
            </a:r>
            <a:endParaRPr lang="zh-CN" altLang="en-US"/>
          </a:p>
          <a:p>
            <a:r>
              <a:rPr lang="zh-CN" altLang="en-US"/>
              <a:t>左侧示例代码展示了同步阻塞调用的实现，我们定义带有强关键字参数的函数作为下游接口，上游发起调用后会阻塞等待，直到下游执行完成并返回结果，才继续后续流程。</a:t>
            </a:r>
            <a:endParaRPr lang="zh-CN" altLang="en-US"/>
          </a:p>
          <a:p>
            <a:r>
              <a:rPr lang="zh-CN" altLang="en-US"/>
              <a:t>在设计这类接口时，需要关注四点：第一是输入规约，明确必填字段与含义；第二是返回值，约定下游输出的格式，方便上游直接使用；第三是阻塞与超时机制，同步调用会让上游挂起等待，工程上必须配置超时策略与异常兜底；第四是容量限制，不要在参数中传入大量明细数据，避免超出上下文窗口，引发参数解析错误。</a:t>
            </a:r>
            <a:endParaRPr lang="zh-CN" altLang="en-US"/>
          </a:p>
          <a:p>
            <a:r>
              <a:rPr lang="zh-CN" altLang="en-US"/>
              <a:t>这种方式的优势是接口边界清晰，控制逻辑直观，但存在局限，不适合传递大规模数据集，防止上下文膨胀和参数出错。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第二种通信方案：将大体积产物存入共享文件。</a:t>
            </a:r>
            <a:endParaRPr lang="zh-CN" altLang="en-US"/>
          </a:p>
          <a:p>
            <a:r>
              <a:rPr lang="zh-CN" altLang="en-US"/>
              <a:t>它的核心思路是把体量较大、需要留存核验的数据持久化写入磁盘，交接时仅传递轻量的文件路径，下游按需读取。</a:t>
            </a:r>
            <a:endParaRPr lang="zh-CN" altLang="en-US"/>
          </a:p>
          <a:p>
            <a:r>
              <a:rPr lang="zh-CN" altLang="en-US"/>
              <a:t>实验执行 </a:t>
            </a:r>
            <a:r>
              <a:rPr lang="en-US" altLang="zh-CN"/>
              <a:t>Agent A </a:t>
            </a:r>
            <a:r>
              <a:rPr lang="zh-CN" altLang="en-US"/>
              <a:t>运行基线脚本，产出指标与预测明细并序列化落盘至 </a:t>
            </a:r>
            <a:r>
              <a:rPr lang="en-US" altLang="zh-CN"/>
              <a:t>output </a:t>
            </a:r>
            <a:r>
              <a:rPr lang="zh-CN" altLang="en-US"/>
              <a:t>共享目录</a:t>
            </a:r>
            <a:r>
              <a:rPr lang="en-US" altLang="zh-CN"/>
              <a:t>；</a:t>
            </a:r>
            <a:r>
              <a:rPr lang="zh-CN" altLang="en-US"/>
              <a:t>报告撰写 </a:t>
            </a:r>
            <a:r>
              <a:rPr lang="en-US" altLang="zh-CN"/>
              <a:t>Agent </a:t>
            </a:r>
            <a:r>
              <a:rPr lang="zh-CN" altLang="en-US"/>
              <a:t>与审核员只需凭借文件路径读取内容，分别完成报告撰写与指标复算核验。</a:t>
            </a:r>
            <a:endParaRPr lang="zh-CN" altLang="en-US"/>
          </a:p>
          <a:p>
            <a:r>
              <a:rPr lang="zh-CN" altLang="en-US"/>
              <a:t>从代码示例可见，上游负责将结果序列化写入文件，下游接收路径后加载数据。这种方式仅传递路径，消息体量很小，不会撑大上下文窗口，同时落盘文件构建了可审计的证据链，方便随时复核。</a:t>
            </a:r>
            <a:endParaRPr lang="zh-CN" altLang="en-US"/>
          </a:p>
          <a:p>
            <a:r>
              <a:rPr lang="zh-CN" altLang="en-US"/>
              <a:t>但共享文件存在并发覆盖风险，多个 </a:t>
            </a:r>
            <a:r>
              <a:rPr lang="en-US" altLang="zh-CN"/>
              <a:t>Agent </a:t>
            </a:r>
            <a:r>
              <a:rPr lang="zh-CN" altLang="en-US"/>
              <a:t>同时写入同一文件会造成数据损坏，工程上需要三种防护手段：按任务 </a:t>
            </a:r>
            <a:r>
              <a:rPr lang="en-US" altLang="zh-CN"/>
              <a:t>id </a:t>
            </a:r>
            <a:r>
              <a:rPr lang="zh-CN" altLang="en-US"/>
              <a:t>隔离文件名、读写权限分离、增加时间戳与哈希值做版本校验合并。</a:t>
            </a:r>
            <a:endParaRPr lang="zh-CN" altLang="en-US"/>
          </a:p>
          <a:p>
            <a:r>
              <a:rPr lang="zh-CN" altLang="en-US"/>
              <a:t>核心原则就是数据落盘留存证据，消息只传递文件路径；多 </a:t>
            </a:r>
            <a:r>
              <a:rPr lang="en-US" altLang="zh-CN"/>
              <a:t>Agent </a:t>
            </a:r>
            <a:r>
              <a:rPr lang="zh-CN" altLang="en-US"/>
              <a:t>并发访问共享文件时，依靠分文件、版本检查、合并审核机制防止数据覆盖。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第三种 </a:t>
            </a:r>
            <a:r>
              <a:rPr lang="en-US" altLang="zh-CN"/>
              <a:t>Agent </a:t>
            </a:r>
            <a:r>
              <a:rPr lang="zh-CN" altLang="en-US"/>
              <a:t>通信方案：消息总线，用于实现多方异步协作。</a:t>
            </a:r>
            <a:endParaRPr lang="zh-CN" altLang="en-US"/>
          </a:p>
          <a:p>
            <a:r>
              <a:rPr lang="zh-CN" altLang="en-US"/>
              <a:t>它的核心逻辑是发布者只广播事件信息，多个订阅者按照主题按需接收、异步响应，发布方与消费方逻辑相互独立，一方的增减变更，无需调整另一方的实现代码。</a:t>
            </a:r>
            <a:endParaRPr lang="zh-CN" altLang="en-US"/>
          </a:p>
          <a:p>
            <a:r>
              <a:rPr lang="zh-CN" altLang="en-US"/>
              <a:t>在这个案例中，实验执行 </a:t>
            </a:r>
            <a:r>
              <a:rPr lang="en-US" altLang="zh-CN"/>
              <a:t>Agent </a:t>
            </a:r>
            <a:r>
              <a:rPr lang="zh-CN" altLang="en-US"/>
              <a:t>作为发布者，在基线实验完成、数据落盘之后，向消息总线发布 </a:t>
            </a:r>
            <a:r>
              <a:rPr lang="en-US" altLang="zh-CN"/>
              <a:t>experiment.completed </a:t>
            </a:r>
            <a:r>
              <a:rPr lang="zh-CN" altLang="en-US"/>
              <a:t>主题事件，无需关心下游有多少角色。</a:t>
            </a:r>
            <a:endParaRPr lang="zh-CN" altLang="en-US"/>
          </a:p>
          <a:p>
            <a:r>
              <a:rPr lang="zh-CN" altLang="en-US"/>
              <a:t>消息总线按主题完成广播，管理者、报告撰写者、独立审核者这三类订阅者，各自监听主题并触发对应动作：更新任务状态、读取共享文件生成报告、复算指标完成核验。</a:t>
            </a:r>
            <a:endParaRPr lang="zh-CN" altLang="en-US"/>
          </a:p>
          <a:p>
            <a:r>
              <a:rPr lang="zh-CN" altLang="en-US"/>
              <a:t>左侧是最小可运行示例，多个 </a:t>
            </a:r>
            <a:r>
              <a:rPr lang="en-US" altLang="zh-CN"/>
              <a:t>Agent </a:t>
            </a:r>
            <a:r>
              <a:rPr lang="zh-CN" altLang="en-US"/>
              <a:t>预先订阅同一主题，发布一次事件，所有订阅者都能收到消息。</a:t>
            </a:r>
            <a:endParaRPr lang="zh-CN" altLang="en-US"/>
          </a:p>
          <a:p>
            <a:r>
              <a:rPr lang="zh-CN" altLang="en-US"/>
              <a:t>这套模式最大优势就是解耦，新增下游角色时，上游发布者代码无需改动。</a:t>
            </a:r>
            <a:endParaRPr lang="zh-CN" altLang="en-US"/>
          </a:p>
          <a:p>
            <a:r>
              <a:rPr lang="zh-CN" altLang="en-US"/>
              <a:t>而面向生产环境，还需要补充四项关键能力：消息持久化、</a:t>
            </a:r>
            <a:r>
              <a:rPr lang="en-US" altLang="zh-CN"/>
              <a:t>ACK </a:t>
            </a:r>
            <a:r>
              <a:rPr lang="zh-CN" altLang="en-US"/>
              <a:t>消费确认、超时重试与死信队列，以及基于 </a:t>
            </a:r>
            <a:r>
              <a:rPr lang="en-US" altLang="zh-CN"/>
              <a:t>task_id </a:t>
            </a:r>
            <a:r>
              <a:rPr lang="zh-CN" altLang="en-US"/>
              <a:t>的幂等去重，以此保障系统在异常场景下的可靠性。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在消息总线上跑的事件包，内部结构该怎么定义才不会乱？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多智能体系统中，消息若只广播一句 "实验已完成"，接收方无法判断消息来源、所属任务与结果所在，故消息须遵循统一 信封结构，将 "路由控制字段" 与 "业务数据载荷" 分离。</a:t>
            </a:r>
            <a:endParaRPr lang="zh-CN" altLang="en-US"/>
          </a:p>
          <a:p>
            <a:r>
              <a:rPr lang="zh-CN" altLang="en-US"/>
              <a:t>左侧给出了实验完成消息的 </a:t>
            </a:r>
            <a:r>
              <a:rPr lang="en-US" altLang="zh-CN"/>
              <a:t>JSON </a:t>
            </a:r>
            <a:r>
              <a:rPr lang="zh-CN" altLang="en-US"/>
              <a:t>结构化示例，信封包含发送方、接收目标、消息类型、任务编号以及 </a:t>
            </a:r>
            <a:r>
              <a:rPr lang="en-US" altLang="zh-CN"/>
              <a:t>payload </a:t>
            </a:r>
            <a:r>
              <a:rPr lang="zh-CN" altLang="en-US"/>
              <a:t>业务载荷，载荷内仅存放文件路径。</a:t>
            </a:r>
            <a:endParaRPr lang="zh-CN" altLang="en-US"/>
          </a:p>
          <a:p>
            <a:r>
              <a:rPr lang="zh-CN" altLang="en-US"/>
              <a:t>将信封路由字段与业务载荷分离，消息总线只需要解析外层路由信息就可以分发，不需要读取大体积业务数据；同时依靠 </a:t>
            </a:r>
            <a:r>
              <a:rPr lang="en-US" altLang="zh-CN"/>
              <a:t>task_id，</a:t>
            </a:r>
            <a:r>
              <a:rPr lang="zh-CN" altLang="en-US"/>
              <a:t>在多任务并发场景下，实现消息与任务精准关联，避免任务串扰。</a:t>
            </a:r>
            <a:endParaRPr lang="zh-CN" altLang="en-US"/>
          </a:p>
          <a:p>
            <a:r>
              <a:rPr lang="zh-CN" altLang="en-US"/>
              <a:t>接收方收到消息后遵循四步处理流程：首先校验 </a:t>
            </a:r>
            <a:r>
              <a:rPr lang="en-US" altLang="zh-CN"/>
              <a:t>target，</a:t>
            </a:r>
            <a:r>
              <a:rPr lang="zh-CN" altLang="en-US"/>
              <a:t>判断消息是否发给自身；其次识别消息 </a:t>
            </a:r>
            <a:r>
              <a:rPr lang="en-US" altLang="zh-CN"/>
              <a:t>type，</a:t>
            </a:r>
            <a:r>
              <a:rPr lang="zh-CN" altLang="en-US"/>
              <a:t>对消息做业务分流；接着依靠 </a:t>
            </a:r>
            <a:r>
              <a:rPr lang="en-US" altLang="zh-CN"/>
              <a:t>task_id </a:t>
            </a:r>
            <a:r>
              <a:rPr lang="zh-CN" altLang="en-US"/>
              <a:t>绑定对应的任务上下文；最后读取 </a:t>
            </a:r>
            <a:r>
              <a:rPr lang="en-US" altLang="zh-CN"/>
              <a:t>payload，</a:t>
            </a:r>
            <a:r>
              <a:rPr lang="zh-CN" altLang="en-US"/>
              <a:t>获取共享文件路径并加载数据。</a:t>
            </a:r>
            <a:endParaRPr lang="zh-CN" altLang="en-US"/>
          </a:p>
          <a:p>
            <a:r>
              <a:rPr lang="zh-CN" altLang="en-US"/>
              <a:t>多智能体系统中，消息类型主要分为任务下发、进度更新、成果交付和任务终止四类。这部分的核心法则是，大容量产物保留在共享存储中，将发送主体、任务标识、数据获取路径等元信息，封装进结构化消息信封完成传递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下面对前面三种 </a:t>
            </a:r>
            <a:r>
              <a:rPr lang="en-US" altLang="zh-CN"/>
              <a:t>Agent </a:t>
            </a:r>
            <a:r>
              <a:rPr lang="zh-CN" altLang="en-US"/>
              <a:t>数据交接方式做汇总选型。</a:t>
            </a:r>
            <a:endParaRPr lang="zh-CN" altLang="en-US"/>
          </a:p>
          <a:p>
            <a:r>
              <a:rPr lang="zh-CN" altLang="en-US"/>
              <a:t>选型的核心原则，不是优先考虑框架能力，而是先判断待传输数据的形态：包括数据长度、接收方数量、是否需要持久留底核查。</a:t>
            </a:r>
            <a:endParaRPr lang="zh-CN" altLang="en-US"/>
          </a:p>
          <a:p>
            <a:r>
              <a:rPr lang="zh-CN" altLang="en-US"/>
              <a:t>当数据简短、结构固定，并且需要立刻获取返回结果时，优先选用工具参数调用，它的接口契约清晰，同步调用可以马上拿到返回值，但数据只在内存传递，不会自动持久化，适合下发简短任务指令。</a:t>
            </a:r>
            <a:endParaRPr lang="zh-CN" altLang="en-US"/>
          </a:p>
          <a:p>
            <a:r>
              <a:rPr lang="zh-CN" altLang="en-US"/>
              <a:t>面对长文档、数据集、需要反复复核的明细数据，则选择共享文件。产物持久保存在磁盘，消息仅传递文件路径，不会占用过多上下文，缺点是需要做好并发写入防护。</a:t>
            </a:r>
            <a:endParaRPr lang="zh-CN" altLang="en-US"/>
          </a:p>
          <a:p>
            <a:r>
              <a:rPr lang="zh-CN" altLang="en-US"/>
              <a:t>如果场景涉及多个 </a:t>
            </a:r>
            <a:r>
              <a:rPr lang="en-US" altLang="zh-CN"/>
              <a:t>Agent </a:t>
            </a:r>
            <a:r>
              <a:rPr lang="zh-CN" altLang="en-US"/>
              <a:t>协同、需要异步事件通知，就采用消息总线，实现发布订阅解耦，一次广播可以通知多个下游角色，采用异步非阻塞的主题路由，生产环境需要配套 </a:t>
            </a:r>
            <a:r>
              <a:rPr lang="en-US" altLang="zh-CN"/>
              <a:t>ACK </a:t>
            </a:r>
            <a:r>
              <a:rPr lang="zh-CN" altLang="en-US"/>
              <a:t>确认与重试机制。</a:t>
            </a:r>
            <a:endParaRPr lang="zh-CN" altLang="en-US"/>
          </a:p>
          <a:p>
            <a:r>
              <a:rPr lang="zh-CN" altLang="en-US"/>
              <a:t>在工程实践中，三种方式常常组合使用，形成闭环：首先实验结果写入共享文件完成落盘；接着通过消息总线发布事件，携带 </a:t>
            </a:r>
            <a:r>
              <a:rPr lang="en-US" altLang="zh-CN"/>
              <a:t>task_id </a:t>
            </a:r>
            <a:r>
              <a:rPr lang="zh-CN" altLang="en-US"/>
              <a:t>与文件路径通知各方；最后下游 </a:t>
            </a:r>
            <a:r>
              <a:rPr lang="en-US" altLang="zh-CN"/>
              <a:t>Agent </a:t>
            </a:r>
            <a:r>
              <a:rPr lang="zh-CN" altLang="en-US"/>
              <a:t>通过工具参数调用，传入任务主题，读取共享文件并生成报告。</a:t>
            </a:r>
            <a:endParaRPr lang="zh-CN" altLang="en-US"/>
          </a:p>
          <a:p>
            <a:r>
              <a:rPr lang="zh-CN" altLang="en-US"/>
              <a:t>整套链路结合了三者优势，先用共享文件保存大容量明细，依靠消息总线实现事件通知，再借助工具参数传递轻量控制指令。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解决了“数据怎么交接”，接下来我们看第二个核心板块：多个 Agent 凑在一起，任务该怎样往前推进？</a:t>
            </a:r>
          </a:p>
          <a:p>
            <a:r>
              <a:rPr lang="zh-CN" altLang="en-US"/>
              <a:t>多智能体系统里</a:t>
            </a:r>
            <a:r>
              <a:rPr lang="zh-CN" altLang="en-US"/>
              <a:t>有六种典型的任务协作模式，不同协作模式适配不同业务场景，实际系统通常会把多种模式组合使用。</a:t>
            </a:r>
            <a:endParaRPr lang="zh-CN" altLang="en-US"/>
          </a:p>
          <a:p>
            <a:r>
              <a:rPr lang="zh-CN" altLang="en-US"/>
              <a:t>第一种是顺序交接，也就是流水线模式，前一步的输出作为后一步的输入，角色按次序接力完成任务，适合存在强数据依赖的确定性流程，比如先运行基线实验产出指标文件，再交给分析和报告 </a:t>
            </a:r>
            <a:r>
              <a:rPr lang="en-US" altLang="zh-CN"/>
              <a:t>Agent。</a:t>
            </a:r>
            <a:endParaRPr lang="en-US" altLang="zh-CN"/>
          </a:p>
          <a:p>
            <a:r>
              <a:rPr lang="zh-CN" altLang="en-US"/>
              <a:t>第二种是并行处理，互不依赖的子任务可以同时分配给多个 </a:t>
            </a:r>
            <a:r>
              <a:rPr lang="en-US" altLang="zh-CN"/>
              <a:t>Agent </a:t>
            </a:r>
            <a:r>
              <a:rPr lang="zh-CN" altLang="en-US"/>
              <a:t>分头执行，最后汇总结果，用来缩短整体耗时，例如一组 </a:t>
            </a:r>
            <a:r>
              <a:rPr lang="en-US" altLang="zh-CN"/>
              <a:t>Agent </a:t>
            </a:r>
            <a:r>
              <a:rPr lang="zh-CN" altLang="en-US"/>
              <a:t>读取实验协议，另一组同步准备代码环境。</a:t>
            </a:r>
            <a:endParaRPr lang="zh-CN" altLang="en-US"/>
          </a:p>
          <a:p>
            <a:r>
              <a:rPr lang="zh-CN" altLang="en-US"/>
              <a:t>第三种是辩论共识，多个 </a:t>
            </a:r>
            <a:r>
              <a:rPr lang="en-US" altLang="zh-CN"/>
              <a:t>Agent </a:t>
            </a:r>
            <a:r>
              <a:rPr lang="zh-CN" altLang="en-US"/>
              <a:t>从正反两方提出观点、相互质询反驳，减少思考盲区，多用于开放问题归因、方案选型与复杂决策。</a:t>
            </a:r>
            <a:endParaRPr lang="zh-CN" altLang="en-US"/>
          </a:p>
          <a:p>
            <a:r>
              <a:rPr lang="zh-CN" altLang="en-US"/>
              <a:t>第四种是层级结构，类似树形委派，上层管理者拆解任务、汇总结果，下层专家负责落地执行，适合步骤繁多、跨维度、需要全局统筹的复杂工程，由总管 </a:t>
            </a:r>
            <a:r>
              <a:rPr lang="en-US" altLang="zh-CN"/>
              <a:t>Agent </a:t>
            </a:r>
            <a:r>
              <a:rPr lang="zh-CN" altLang="en-US"/>
              <a:t>把任务分派给执行、分析、报告角色。</a:t>
            </a:r>
            <a:endParaRPr lang="zh-CN" altLang="en-US"/>
          </a:p>
          <a:p>
            <a:r>
              <a:rPr lang="zh-CN" altLang="en-US"/>
              <a:t>第五种是专家小组，不同领域专家 </a:t>
            </a:r>
            <a:r>
              <a:rPr lang="en-US" altLang="zh-CN"/>
              <a:t>Agent </a:t>
            </a:r>
            <a:r>
              <a:rPr lang="zh-CN" altLang="en-US"/>
              <a:t>从各自专业维度评估同一个目标，整合形成完整方案，适合单一模型难以覆盖多学科知识的场景，由算法、工程、评测专家共同复现实验方案。</a:t>
            </a:r>
            <a:endParaRPr lang="zh-CN" altLang="en-US"/>
          </a:p>
          <a:p>
            <a:r>
              <a:rPr lang="zh-CN" altLang="en-US"/>
              <a:t>第六种是批评审阅，由生成角色产出初稿，独立的审核 </a:t>
            </a:r>
            <a:r>
              <a:rPr lang="en-US" altLang="zh-CN"/>
              <a:t>Agent </a:t>
            </a:r>
            <a:r>
              <a:rPr lang="zh-CN" altLang="en-US"/>
              <a:t>依据客观证据核验校验，把控输出质量，防范大模型幻觉，就像审核员读取预测文件独立复算指标。</a:t>
            </a:r>
            <a:endParaRPr lang="zh-CN" altLang="en-US"/>
          </a:p>
          <a:p>
            <a:r>
              <a:rPr lang="zh-CN" altLang="en-US"/>
              <a:t>页面底部给出了组合示例：先用并行处理完成前置准备，再走顺序交接执行实验与分析，最后通过批评审阅完成指标复核，构成一套完整的多智能体任务链路。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面对具体任务，六种方式里最核心的“顺序、并行、审阅”该怎么选？只需要</a:t>
            </a:r>
            <a:r>
              <a:rPr lang="zh-CN"/>
              <a:t>考虑</a:t>
            </a:r>
            <a:r>
              <a:t>一个问题：任务之间有没有依赖？</a:t>
            </a:r>
            <a:endParaRPr lang="zh-CN" altLang="en-US"/>
          </a:p>
          <a:p>
            <a:r>
              <a:rPr lang="zh-CN" altLang="en-US"/>
              <a:t>多智能体工作流的选型思路，核心判断标准就是任务依赖关系，依靠依赖关系区分顺序、并行、审阅三类基础流程，它们可以自由拼接组合成完整工作流。</a:t>
            </a:r>
            <a:endParaRPr lang="zh-CN" altLang="en-US"/>
          </a:p>
          <a:p>
            <a:r>
              <a:rPr lang="zh-CN" altLang="en-US"/>
              <a:t>首先是顺序流程，特点是强数据依赖，下游任务必须等待上游产出才能启动。举例来说，先运行基线实验生成指标文件，报告撰写任务必须依赖这份指标文件才能开展。</a:t>
            </a:r>
            <a:endParaRPr lang="zh-CN" altLang="en-US"/>
          </a:p>
          <a:p>
            <a:r>
              <a:rPr lang="zh-CN" altLang="en-US"/>
              <a:t>判断依据就是：没有上游的结果，下游无法开工；工程实现上，在 </a:t>
            </a:r>
            <a:r>
              <a:rPr lang="en-US" altLang="zh-CN"/>
              <a:t>CrewAI </a:t>
            </a:r>
            <a:r>
              <a:rPr lang="zh-CN" altLang="en-US"/>
              <a:t>中通过 </a:t>
            </a:r>
            <a:r>
              <a:rPr lang="en-US" altLang="zh-CN"/>
              <a:t>context </a:t>
            </a:r>
            <a:r>
              <a:rPr lang="zh-CN" altLang="en-US"/>
              <a:t>绑定上游任务，防止下游在缺少指标的情况下直接生成报告。</a:t>
            </a:r>
            <a:endParaRPr lang="zh-CN" altLang="en-US"/>
          </a:p>
          <a:p>
            <a:r>
              <a:rPr lang="zh-CN" altLang="en-US"/>
              <a:t>其次是并行流程，适用于子任务之间互不依赖，可以同时启动，最后在汇合节点统一对齐结果。比如读取实验协议、准备代码环境这两项工作可以同步推进，全部就绪之后，再启动模型训练。它的判断问题是两项任务启动时是否需要对方结果；工程上需要在汇合节点做校验，保证所有支线全部完成，避免前置条件不满足就进入下一阶段。</a:t>
            </a:r>
            <a:endParaRPr lang="zh-CN" altLang="en-US"/>
          </a:p>
          <a:p>
            <a:r>
              <a:rPr lang="zh-CN" altLang="en-US"/>
              <a:t>第三类是审阅流程，相当于质量门禁，用来对输出结果做独立核验。报告初稿完成后，审核 </a:t>
            </a:r>
            <a:r>
              <a:rPr lang="en-US" altLang="zh-CN"/>
              <a:t>Agent </a:t>
            </a:r>
            <a:r>
              <a:rPr lang="zh-CN" altLang="en-US"/>
              <a:t>读取原始预测文件，独立复算指标，核对无误才放行，存在偏差则退回。对应的判断问题是：结果出错是否会误导结论，是否可以依托客观文件核验；工程上要求审核 </a:t>
            </a:r>
            <a:r>
              <a:rPr lang="en-US" altLang="zh-CN"/>
              <a:t>Agent </a:t>
            </a:r>
            <a:r>
              <a:rPr lang="zh-CN" altLang="en-US"/>
              <a:t>直接读取原始数据进行验算，不直接采信生成方给出的结论。</a:t>
            </a:r>
            <a:endParaRPr lang="zh-CN" altLang="en-US"/>
          </a:p>
          <a:p>
            <a:r>
              <a:rPr lang="zh-CN" altLang="en-US"/>
              <a:t>存在产物依赖就选用顺序流程；任务可以同步启动就选用并行流程；对外发布前需要证据核验，就增加审阅关卡。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上一页讲的是任务的先后依赖，这一页我们看“通信拓扑”——也就是在这个团队里，允许谁和谁直接说话？</a:t>
            </a:r>
          </a:p>
          <a:p>
            <a:r>
              <a:rPr lang="zh-CN" altLang="en-US"/>
              <a:t>拓扑定义了 </a:t>
            </a:r>
            <a:r>
              <a:rPr lang="en-US" altLang="zh-CN"/>
              <a:t>Agent </a:t>
            </a:r>
            <a:r>
              <a:rPr lang="zh-CN" altLang="en-US"/>
              <a:t>之间的连接规则与通信权限，这里一共归纳了六种典型结构。</a:t>
            </a:r>
            <a:endParaRPr lang="zh-CN" altLang="en-US"/>
          </a:p>
          <a:p>
            <a:r>
              <a:rPr lang="zh-CN" altLang="en-US"/>
              <a:t>第一种是单 </a:t>
            </a:r>
            <a:r>
              <a:rPr lang="en-US" altLang="zh-CN"/>
              <a:t>Agent，</a:t>
            </a:r>
            <a:r>
              <a:rPr lang="zh-CN" altLang="en-US"/>
              <a:t>作为基准参考，由单个大模型循环调用工具，不存在角色间通信开销，适合处理简单任务。</a:t>
            </a:r>
            <a:endParaRPr lang="zh-CN" altLang="en-US"/>
          </a:p>
          <a:p>
            <a:r>
              <a:rPr lang="zh-CN" altLang="en-US"/>
              <a:t>第二种是网状网络拓扑，任意两个 </a:t>
            </a:r>
            <a:r>
              <a:rPr lang="en-US" altLang="zh-CN"/>
              <a:t>Agent </a:t>
            </a:r>
            <a:r>
              <a:rPr lang="zh-CN" altLang="en-US"/>
              <a:t>都可以直接通信，灵活性最强，但消息链路容易发散，难以追踪调试。</a:t>
            </a:r>
            <a:endParaRPr lang="zh-CN" altLang="en-US"/>
          </a:p>
          <a:p>
            <a:r>
              <a:rPr lang="zh-CN" altLang="en-US"/>
              <a:t>第三种是监督者拓扑，采用中心节点统一拆分任务、分发指令、汇总各专家结果，逻辑清晰，但中心节点容易成为性能瓶颈。</a:t>
            </a:r>
            <a:endParaRPr lang="zh-CN" altLang="en-US"/>
          </a:p>
          <a:p>
            <a:r>
              <a:rPr lang="zh-CN" altLang="en-US"/>
              <a:t>第四种是监督者作为工具，把一整个专家团队封装成主 </a:t>
            </a:r>
            <a:r>
              <a:rPr lang="en-US" altLang="zh-CN"/>
              <a:t>Agent </a:t>
            </a:r>
            <a:r>
              <a:rPr lang="zh-CN" altLang="en-US"/>
              <a:t>可调用的单个工具，内部协作细节对外隐藏，实现模块封装。</a:t>
            </a:r>
            <a:endParaRPr lang="zh-CN" altLang="en-US"/>
          </a:p>
          <a:p>
            <a:r>
              <a:rPr lang="zh-CN" altLang="en-US"/>
              <a:t>第五种是层级拓扑，类似多层树形委派，总管、中层组长、底层执行者逐级管理，适合大型工程项目，缺点是通信跳转层数较多。</a:t>
            </a:r>
            <a:endParaRPr lang="zh-CN" altLang="en-US"/>
          </a:p>
          <a:p>
            <a:r>
              <a:rPr lang="zh-CN" altLang="en-US"/>
              <a:t>第六种是自定义图拓扑，按照业务依赖显式定义有向边，例如执行、分析、报告到审核的固定链路，在实验复现场景下稳定性最好。</a:t>
            </a:r>
            <a:endParaRPr lang="zh-CN" altLang="en-US"/>
          </a:p>
          <a:p>
            <a:r>
              <a:rPr lang="zh-CN" altLang="en-US"/>
              <a:t>最后是拓扑选型经验：通信连接越自由，消息路径越难追踪；针对实验复现这类工程任务，优先选用监督者拓扑或者自定义图，保障任务链路与指标全程可溯源。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1 页｜控制权与三种组织方式｜讲解人：第三位</a:t>
            </a:r>
          </a:p>
          <a:p/>
          <a:p>
            <a:r>
              <a:t>口头讲解</a:t>
            </a:r>
          </a:p>
          <a:p>
            <a:r>
              <a:t>前一位同学已经介绍了多智能体之间可以怎样传递消息、怎样形成不同的连接拓扑。我接下来把问题推进一步：即使两个系统画出的连线差不多，谁来决定下一步由谁做、什么时候停止，也可能完全不同。这一页比较的是控制权，而不是代码库名称。</a:t>
            </a:r>
          </a:p>
          <a:p>
            <a:r>
              <a:t>左侧的对等协作可以理解为固定搭档接力。比如一位同学先做实验分析，另一位同学拿到分析稿再写报告。中间不需要额外创建一个“经理智能体”逐条派活。好处是流程短、关系清楚；如果以后角色和分支越来越多，直接交接的规则就会变复杂。我们这次的示例与它比较接近：分析任务先完成，报告任务通过 context 接收分析结果。不过代码仍由 CrewAI 的顺序流程安排执行，因此不能把它说成完全没有调度。</a:t>
            </a:r>
          </a:p>
          <a:p>
            <a:r>
              <a:t>中间是管理者编排。这里的经理是一个单独负责拆任务、分配工作、监控进度的角色。如果任务很多、需要动态决定下一步由谁做，经理可以帮助集中决策；代价是多一层调用和设计。请注意，本次实际脚本没有创建经理 Agent，所以这一列是对照方案，不是我们刚才跑通的代码。右侧是去中心化：角色根据共享状态或事件各自响应。它更适合事件驱动的场景，但全局执行顺序也更难一眼看清。</a:t>
            </a:r>
          </a:p>
          <a:p>
            <a:r>
              <a:t>为什么我们这次没有用经理或事件总线？因为实验复现这件事本来就有清楚的依赖：必须先有分类指标，再解释指标，最后才能写报告。用固定顺序把依赖表达出来，已经足够说明多 Agent 如何交接。</a:t>
            </a:r>
          </a:p>
          <a:p/>
          <a:p>
            <a:r>
              <a:t>翻页过渡</a:t>
            </a:r>
          </a:p>
          <a:p>
            <a:r>
              <a:t>组织方式选定以后，我们先不急着逐行读 Python，下一页用五个构件建立一张代码地图。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2 页｜CrewAI 代码骨架｜讲解人：第三位</a:t>
            </a:r>
          </a:p>
          <a:p/>
          <a:p>
            <a:r>
              <a:t>口头讲解</a:t>
            </a:r>
          </a:p>
          <a:p>
            <a:r>
              <a:t>这页上半部分把代码压缩成五个问题。第一，Agent 回答“谁参与”。本例有实验分析员和复现报告撰写员。第二，Task 回答“各自交付什么”。分析员负责解释实验事实，报告员负责把解释写成可核验的报告。Agent 更像角色设定，Task 更像明确的工作单；同一个角色可以在别的场景接不同任务。</a:t>
            </a:r>
          </a:p>
          <a:p>
            <a:r>
              <a:t>第三个词 context 最关键。代码写成 context=[analysis_task]，意思是报告任务把前面分析任务的输出当作上下文使用。它建立的是任务之间的信息依赖。第四，Process.sequential 规定任务按列表中的顺序执行。第五，kickoff 是启动入口，inputs 里提供本轮实验协议、指标文本和预测文件路径。把这五个词连起来，就是“谁做—做什么—拿谁的结果—按什么顺序—怎样启动”。</a:t>
            </a:r>
          </a:p>
          <a:p>
            <a:r>
              <a:t>请看下面代码中的高亮行。报告任务不是凭空获得实验结论，而是明确引用 analysis_task。这里展示的是结构示意，为了突出关系省略了长的 description、goal 等参数，不能照着这一页直接复制运行。随后几页会把真实脚本中的关键字段拆开讲。</a:t>
            </a:r>
          </a:p>
          <a:p>
            <a:r>
              <a:t>还有一个容易误解的地方：把输出作为 context 交给下游，不等于自动核验输出的真实性。上游如果抄错一个数，下游仍可能把错数写得很流畅。所以后面我们还会从原始预测和指标文件回查。</a:t>
            </a:r>
          </a:p>
          <a:p/>
          <a:p>
            <a:r>
              <a:t>翻页过渡</a:t>
            </a:r>
          </a:p>
          <a:p>
            <a:r>
              <a:t>知道了五个构件以后，先看它们处理的到底是哪几份文件。</a:t>
            </a:r>
          </a:p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3 页｜实验文件地图｜讲解人：第三位</a:t>
            </a:r>
          </a:p>
          <a:p/>
          <a:p>
            <a:r>
              <a:t>口头讲解</a:t>
            </a:r>
          </a:p>
          <a:p>
            <a:r>
              <a:rPr lang="zh-CN"/>
              <a:t>教材上使用的例子是生成关于</a:t>
            </a:r>
            <a:r>
              <a:rPr lang="en-US" altLang="zh-CN"/>
              <a:t>AI</a:t>
            </a:r>
            <a:r>
              <a:rPr lang="zh-CN" altLang="en-US"/>
              <a:t>趋势的博客文章，</a:t>
            </a:r>
            <a:r>
              <a:t>我们这次采用计算机专业更熟悉的文本分类复现实验。它不是论文中的真实数据集，而是代码里固定写好的</a:t>
            </a:r>
            <a:r>
              <a:rPr lang="zh-CN"/>
              <a:t>一个</a:t>
            </a:r>
            <a:r>
              <a:t>课堂小样本：12 条训练句子、6 条测试句子，标签只有 positive 和 negative。experiment_protocol.md 说明目标、模型、指标、证据路径和局限。小样本的作用是让每一步都能看得见、算得清，不能用它宣称某种方法达到研究级性能。</a:t>
            </a:r>
          </a:p>
          <a:p>
            <a:r>
              <a:t>第二格是离线基线。run_baseline.py 用空格切分短句，训练一个带拉普拉斯平滑的多项式朴素贝叶斯分类器。它先产生 predictions.json，其中每条测试句都带真实标签和预测标签；再产生 metrics.json，汇总准确率、Macro-F1、混淆矩阵等。这个阶段只用 Python 标准库，不需要大模型，也不需要 API 密钥。</a:t>
            </a:r>
          </a:p>
          <a:p>
            <a:r>
              <a:t>第三格才进入 CrewAI。crewai_repro_report_demo.py 读取实验协议和指标，并且在自身运行时再次调用 run_experiment，保证它使用本轮重新生成的基线文件。分析 Agent 先给出 analysis.md，报告 Agent 再给出 reproduction_report.md。</a:t>
            </a:r>
          </a:p>
          <a:p>
            <a:r>
              <a:t>右边第四格不是新的生成步骤，而是审核：从 predictions.json 逐条数对错，重算指标，再看报告是否引用了相同数值、是否留下证据路径与小样本限制。</a:t>
            </a:r>
          </a:p>
          <a:p/>
          <a:p>
            <a:r>
              <a:t>翻页过渡</a:t>
            </a:r>
          </a:p>
          <a:p>
            <a:r>
              <a:t>文件路径清楚以后，下一步看 CrewAI 中的两位角色是怎样定义的。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4 页｜同一模型与两个 Agent｜讲解人：第三位</a:t>
            </a:r>
          </a:p>
          <a:p/>
          <a:p>
            <a:r>
              <a:t>口头讲解</a:t>
            </a:r>
          </a:p>
          <a:p>
            <a:r>
              <a:t>这页先回答一个常见问题：多智能体是不是一定要调用两个不同的大模型？不是。本例只创建一个 llm 配置对象，并把它交给两个 Agent。temperature 设置为 0.2，是希望生成文字相对稳定；它并不能保证每次输出完全一样。模型名称可以通过环境变量配置，所以这里用省略号表示模型参数，而不把某个具体版本当作这页的重点。</a:t>
            </a:r>
          </a:p>
          <a:p>
            <a:r>
              <a:t>左侧的 analyst 是实验分析员。role 告诉模型当前扮演什么角色，goal 指定它应该交付什么；实际脚本还用 backstory 强调不要把课堂小样本写成论文结论。它的任务是根据实验协议和原始指标，说明配置、结果、证据路径以及局限。</a:t>
            </a:r>
          </a:p>
          <a:p>
            <a:r>
              <a:t>右侧的 report_writer 也是 Agent，但目标是把前面的分析组织成初学者能核对的中文复现报告，不能杜撰指标。</a:t>
            </a:r>
          </a:p>
          <a:p>
            <a:r>
              <a:t>两个角色可以共用模型，因为分工来自角色目标和后面分配给它们的 Task，而不必来自模型参数不同。</a:t>
            </a:r>
          </a:p>
          <a:p>
            <a:r>
              <a:t>所以这页最重要的区别是：共享同一个 LLM，不等于只做了一项工作。两位 Agent 在代码里有不同的角色配置，随后各自负责不同任务，而且下游明确接收上游结果。</a:t>
            </a:r>
          </a:p>
          <a:p/>
          <a:p>
            <a:r>
              <a:t>翻页过渡</a:t>
            </a:r>
          </a:p>
          <a:p>
            <a:r>
              <a:t>只有角色还不够，接下来要把每个角色的工作和交付标准写成 Task。</a:t>
            </a:r>
          </a:p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6 页｜Crew 的组装和启动｜讲解人：第三位</a:t>
            </a:r>
          </a:p>
          <a:p>
            <a:r>
              <a:t>口头讲解</a:t>
            </a:r>
          </a:p>
          <a:p>
            <a:r>
              <a:t>左侧这段代码把两位 Agent 和两张 Task 放进同一个 Crew。agents 列表写参与者，tasks 列表写要执行的任务；process=Process.sequential 规定按列表顺序执行。请把它与上一页的 context 分开理解：sequential 管“先做哪项任务”，context 管“后一个任务拿哪个任务的输出”。两个字段配合，才把接力关系表达完整。</a:t>
            </a:r>
          </a:p>
          <a:p>
            <a:r>
              <a:t>启动时调用 crew.kickoff。inputs 里有 protocol、metrics_json 和 predictions_path。前两个是协议文本和指标 JSON 文本，第三个是逐条预测文件的路径；这些值会填入分析任务 description 中预留的占位符。</a:t>
            </a:r>
          </a:p>
          <a:p>
            <a:r>
              <a:t>右侧时间线的第一步是取得离线分类结果，然后才将本轮事实交给 CrewAI。分析 Task 先执行，报告 Task 接收其输出后再执行。</a:t>
            </a:r>
          </a:p>
          <a:p>
            <a:r>
              <a:t>有同学可能会问，为什么不让 LLM 直接从头做分类？因为这里要把可重复计算的实验指标和可能变化的生成文字分开。朴素贝叶斯分类器的输入、模型和固定测试集让数字可以独立重算；LLM 负责解释和整理文本。这样即使报告写得不同，我们也有原始文件可以核对。</a:t>
            </a:r>
          </a:p>
          <a:p/>
          <a:p>
            <a:r>
              <a:t>翻页过渡</a:t>
            </a:r>
          </a:p>
          <a:p>
            <a:r>
              <a:t>代码讲到这里可以停下来问一句：我们怎么知道两个 Task 真的交出了不同产物？下一页看本次保存的文件。</a:t>
            </a:r>
          </a:p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7 页｜两个 Agent 的实测接力｜讲解人：第三位</a:t>
            </a:r>
          </a:p>
          <a:p/>
          <a:p>
            <a:r>
              <a:t>口头讲解</a:t>
            </a:r>
          </a:p>
          <a:p>
            <a:r>
              <a:t>这页把刚才的代码抽象重新对应回本次产物。最左边的离线分类基线先生成 metrics.json 和 predictions.json。这两个文件是分类器写出来的实验事实，不是两个 Agent 凭语言能力猜出来的。</a:t>
            </a:r>
          </a:p>
          <a:p>
            <a:r>
              <a:t>中间的实验分析 Agent 读取协议与指标，把配置、结果、混淆矩阵和局限解释成 analysis.md。右边的报告撰写 Agent 承接分析结论，组织成 reproduction_report.md。</a:t>
            </a:r>
          </a:p>
          <a:p>
            <a:r>
              <a:t>为什么保留中间的 analysis.md，而不只保存最终报告？因为中间产物让交接有迹可循。如果最终报告漏掉了小样本局限，我们可以看分析员是否已经提醒过；如果数字在报告里变了，也能查变化发生在分析阶段还是报告阶段。这是多 Agent 协作里很实际的价值：每个角色的交付物能单独审查。</a:t>
            </a:r>
          </a:p>
          <a:p/>
          <a:p>
            <a:r>
              <a:t>翻页过渡</a:t>
            </a:r>
          </a:p>
          <a:p>
            <a:r>
              <a:t>流程看懂以后，我们直接打开这次保存的原始指标和最终报告关键行。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 8 页｜文件截图和结果核验｜讲解人：第三位</a:t>
            </a:r>
          </a:p>
          <a:p/>
          <a:p>
            <a:r>
              <a:t>口头讲解</a:t>
            </a:r>
          </a:p>
          <a:p>
            <a:r>
              <a:t>第 8 页左侧是本次 metrics.json 的关键行。训练集 12 条，测试集 6 条；accuracy 是 0.8333333333333334，Macro-F1 是 0.8285714285714285。右侧是报告 Agent 生成的 reproduction_report.md，它把准确率写成约 83.33%，把 Macro-F1 写成约 82.86%，与左侧原始文件相符。</a:t>
            </a:r>
          </a:p>
          <a:p/>
          <a:p>
            <a:r>
              <a:t>翻页过渡</a:t>
            </a:r>
          </a:p>
          <a:p>
            <a:r>
              <a:t>结果核对过了，最后再讲一个实践问题：如果别人复现时失败，该从哪里查？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 9 页｜成功标准与排错｜讲解人：第三位</a:t>
            </a:r>
          </a:p>
          <a:p/>
          <a:p>
            <a:r>
              <a:t>口头讲解</a:t>
            </a:r>
          </a:p>
          <a:p>
            <a:r>
              <a:t>运行成功并不是终端没有报错就够了。先看左侧三层产物。</a:t>
            </a:r>
          </a:p>
          <a:p>
            <a:r>
              <a:t>第一层是基线：metrics.json 和 predictions.json 应当存在，且逐条预测能重算出汇总数字。</a:t>
            </a:r>
          </a:p>
          <a:p>
            <a:r>
              <a:t>第二层是接力：analysis.md 先形成，报告随后生成，内容符合前后依赖。</a:t>
            </a:r>
          </a:p>
          <a:p>
            <a:r>
              <a:t>第三层是报告：它应列出证据路径和局限，而且关键数字能够回到原始文件。这样我们把“文件出现了”和“结论可信到什么程度”区分开。</a:t>
            </a:r>
          </a:p>
          <a:p>
            <a:r>
              <a:t>如果没有跑通，右侧按出错阶段定位。启动前失败，先检查依赖和密钥：.env 是否存在、GOOGLE_API_KEY 是否填好。调用模型时失败，再查模型名称、账号额度或网络连接；这类问题不一定是 Agent 任务关系写错了。到了结果阶段，即使两个 Markdown 文件都生成了，也要检查数字是否错抄、证据路径是否缺失、小样本局限是否遗漏。</a:t>
            </a:r>
          </a:p>
          <a:p/>
          <a:p>
            <a:r>
              <a:t>翻页过渡</a:t>
            </a:r>
          </a:p>
          <a:p>
            <a:r>
              <a:rPr lang="zh-CN" altLang="en-US"/>
              <a:t>我的部分到这里就结束了。通过刚才的梳理，我们看到了代码怎么搭、文件怎么传，最后的核验也证明：这一轮报告里的数字是对的。</a:t>
            </a:r>
            <a:endParaRPr lang="zh-CN" altLang="en-US"/>
          </a:p>
          <a:p>
            <a:r>
              <a:rPr lang="zh-CN" altLang="en-US"/>
              <a:t>但是，系统跑通一次、数字对上，是不是就意味着这个多智能体系统绝对可靠了呢？ 如果在下一次任务里，某个 </a:t>
            </a:r>
            <a:r>
              <a:rPr lang="en-US" altLang="zh-CN"/>
              <a:t>Agent </a:t>
            </a:r>
            <a:r>
              <a:rPr lang="zh-CN" altLang="en-US"/>
              <a:t>为了图省事，或者为了掩盖错误而‘自我合理化’，系统能自己发现吗？接下来，交给第四位同学，她将带我们直面多智能体协作中最致命的‘防错与验证’难题。”</a:t>
            </a:r>
            <a:endParaRPr lang="zh-CN" altLang="en-US"/>
          </a:p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第四位汇报者从这里接手，用这一页完成一次“纸面代码走读”，不需要现场运行。先看 predictions.json：样本“文档 清楚 训练 慢”的真实标签是 positive，模型却预测 negative，这是 6 条测试中的 1 条误判。不要猜测模型为什么出错；这里只能确认结果。再看 metrics.json：因为 6 条中 5 条预测正确，准确率为 5/6≈0.833；Macro-F1 约为 0.829，后面的核验页会解释它怎样由两类 F1 平均得到。最后看代码中的 context=[analysis_task]：它表示报告任务要接收分析任务的输出，报告里仍应引用原始指标和局限。这里讲的是在线报告的设计流程，不展示未经实测的生成内容。可以问听众：“如果报告写成准确率 0.92，应该直接改报告，还是先回查逐条预测？”答案是回查 predictions.json、重算指标，再定位交接或撰写中的错误。这也自然引出后面的混淆矩阵。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换框架时不必重新学一套协作思想。SequentialAgent 对应依次执行，比如出指标后写报告；ParallelAgent 对应独立任务同时做，比如读协议与备环境；LoopAgent 对应未达标则修订，但必须设最大迭代次数；AgentTool 把某个 Agent 封装成另一个 Agent 可调用的工具。父 Agent 的 sub_agents 表示层级。此页讲书 A 第 105–108 页的构件思想，并不声称附件还提供 ADK 运行脚本。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先读左边“实验跑完了，你写报告吧”，问听众：数据在哪、错了几条、怎样验收？都不知道。右边交接包说清发送者、任务、metrics.json 与 predictions.json 路径、6 条中 1 条错误的状态、重算准确率和 F1 的验收动作，以及数值不一致时退回查日志。其目的不是让消息越长越好，而是让下游既能继续又能检查。交接字段是课堂归纳，思想来自书 A 原 PDF 第 98–99 页、书 B 第 284 页。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多一个 Agent 不自动多一份可靠性。设计缺陷如两个 Agent 同时改写 metrics.json，导致结果覆盖；理解偏差如报告 Agent 把测试集准确率写成训练集结果；验收缺失如未读 predictions.json 就发布准确率和 F1。书 B 第 298–300 页把失败分成设计、理解和验证三类。这里的实验例子帮助听众看到：文件、语义和证据，每一层都可能出错。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第四位汇报者把这一页当作“真正动手审核”的核心页。左侧混淆矩阵来自 output/predictions.json：真实负类中 3 条判负、0 条判正；真实正类中 1 条误判为负、2 条判正，因此 6 条里有 5 条正确，准确率是 5/6≈0.833。解释 TP 是“把该类正确判为该类”，FP 是“把别类误判成该类”，FN 是“该类被误判为别类”。用 F1=2TP/(2TP+FP+FN) 重算：负类 TP=3、FP=1、FN=0，F1=6/7≈0.857；正类 TP=2、FP=0、FN=1，F1=4/5=0.800；两类等权平均得到 Macro-F1≈0.829。初学者不必现场心算每一步，但必须看懂“先逐类、后平均”。最后指向右侧数字问：“如果报告声称 0.92，审核者应该改报告里的数字，还是退回预测文件定位原因？”答案是先查原始预测和运行记录；这才是书 B 第 287–288、299 页所说的独立证据。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请同学给 A、B、C 各选并行、顺序或审阅，并说清依赖。A：读协议与备环境开始时互不需要对方结果；B：报告者写结果必须等 metrics.json；C：报告发布前另一角色从逐条预测重算 Macro-F1。给 60–90 秒个人判断，再请一人解释理由。若无人回答，先问“后一步必须等吗”，再引出答案。题型依据书 A 原 PDF 第 99 页，场景为课堂设计。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 是并行，因为任务可独立开始；B 是顺序，因为报告依赖指标；C 是审阅，因为要用独立证据过质量门。最后回到四个设计问题：是否带来新信息、任务能否拆分、交接能否验收、额外成本值不值。用一句话收束教学内容：“好的多 Agent 系统，靠清晰分工、可靠交接和独立验证。”同时提醒这份玩具实验只证明流程可复现，不代表真实论文结果。下一页只用表格列出四位汇报人的分工。来源书 A 原 PDF 第 109 页、书 B 第 305–306 页。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第一位讲 Agent 入门、协作动机和三种交接途径概览；第二位讲通信模式、协作流程与拓扑；第三位讲组织方式、CrewAI 代码和静态结果；第四位讲误判案例、ADK 与交接包，并完成独立验证、课堂练习和总结。表格仅用于让听众看清小组成员各自的讲解范围。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jpeg"/><Relationship Id="rId8" Type="http://schemas.openxmlformats.org/officeDocument/2006/relationships/image" Target="../media/image1.jpeg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image" Target="../media/image3.jpeg"/><Relationship Id="rId1" Type="http://schemas.openxmlformats.org/officeDocument/2006/relationships/tags" Target="../tags/tag7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image" Target="../media/image5.jpeg"/><Relationship Id="rId10" Type="http://schemas.openxmlformats.org/officeDocument/2006/relationships/image" Target="../media/image4.jpeg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image" Target="../media/image6.png"/><Relationship Id="rId2" Type="http://schemas.openxmlformats.org/officeDocument/2006/relationships/tags" Target="../tags/tag100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4" Type="http://schemas.openxmlformats.org/officeDocument/2006/relationships/notesSlide" Target="../notesSlides/notesSlide17.xml"/><Relationship Id="rId43" Type="http://schemas.openxmlformats.org/officeDocument/2006/relationships/slideLayout" Target="../slideLayouts/slideLayout7.xml"/><Relationship Id="rId42" Type="http://schemas.openxmlformats.org/officeDocument/2006/relationships/tags" Target="../tags/tag156.xml"/><Relationship Id="rId41" Type="http://schemas.openxmlformats.org/officeDocument/2006/relationships/tags" Target="../tags/tag155.xml"/><Relationship Id="rId40" Type="http://schemas.openxmlformats.org/officeDocument/2006/relationships/tags" Target="../tags/tag154.xml"/><Relationship Id="rId4" Type="http://schemas.openxmlformats.org/officeDocument/2006/relationships/tags" Target="../tags/tag118.xml"/><Relationship Id="rId39" Type="http://schemas.openxmlformats.org/officeDocument/2006/relationships/tags" Target="../tags/tag153.xml"/><Relationship Id="rId38" Type="http://schemas.openxmlformats.org/officeDocument/2006/relationships/tags" Target="../tags/tag152.xml"/><Relationship Id="rId37" Type="http://schemas.openxmlformats.org/officeDocument/2006/relationships/tags" Target="../tags/tag151.xml"/><Relationship Id="rId36" Type="http://schemas.openxmlformats.org/officeDocument/2006/relationships/tags" Target="../tags/tag150.xml"/><Relationship Id="rId35" Type="http://schemas.openxmlformats.org/officeDocument/2006/relationships/tags" Target="../tags/tag149.xml"/><Relationship Id="rId34" Type="http://schemas.openxmlformats.org/officeDocument/2006/relationships/tags" Target="../tags/tag148.xml"/><Relationship Id="rId33" Type="http://schemas.openxmlformats.org/officeDocument/2006/relationships/tags" Target="../tags/tag147.xml"/><Relationship Id="rId32" Type="http://schemas.openxmlformats.org/officeDocument/2006/relationships/tags" Target="../tags/tag146.xml"/><Relationship Id="rId31" Type="http://schemas.openxmlformats.org/officeDocument/2006/relationships/tags" Target="../tags/tag145.xml"/><Relationship Id="rId30" Type="http://schemas.openxmlformats.org/officeDocument/2006/relationships/tags" Target="../tags/tag144.xml"/><Relationship Id="rId3" Type="http://schemas.openxmlformats.org/officeDocument/2006/relationships/tags" Target="../tags/tag117.xml"/><Relationship Id="rId29" Type="http://schemas.openxmlformats.org/officeDocument/2006/relationships/tags" Target="../tags/tag143.xml"/><Relationship Id="rId28" Type="http://schemas.openxmlformats.org/officeDocument/2006/relationships/tags" Target="../tags/tag142.xml"/><Relationship Id="rId27" Type="http://schemas.openxmlformats.org/officeDocument/2006/relationships/tags" Target="../tags/tag141.xml"/><Relationship Id="rId26" Type="http://schemas.openxmlformats.org/officeDocument/2006/relationships/tags" Target="../tags/tag140.xml"/><Relationship Id="rId25" Type="http://schemas.openxmlformats.org/officeDocument/2006/relationships/tags" Target="../tags/tag139.xml"/><Relationship Id="rId24" Type="http://schemas.openxmlformats.org/officeDocument/2006/relationships/tags" Target="../tags/tag138.xml"/><Relationship Id="rId23" Type="http://schemas.openxmlformats.org/officeDocument/2006/relationships/tags" Target="../tags/tag137.xml"/><Relationship Id="rId22" Type="http://schemas.openxmlformats.org/officeDocument/2006/relationships/tags" Target="../tags/tag136.xml"/><Relationship Id="rId21" Type="http://schemas.openxmlformats.org/officeDocument/2006/relationships/tags" Target="../tags/tag135.xml"/><Relationship Id="rId20" Type="http://schemas.openxmlformats.org/officeDocument/2006/relationships/tags" Target="../tags/tag134.xml"/><Relationship Id="rId2" Type="http://schemas.openxmlformats.org/officeDocument/2006/relationships/tags" Target="../tags/tag116.xml"/><Relationship Id="rId19" Type="http://schemas.openxmlformats.org/officeDocument/2006/relationships/tags" Target="../tags/tag133.xml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7" Type="http://schemas.openxmlformats.org/officeDocument/2006/relationships/notesSlide" Target="../notesSlides/notesSlide19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180.xml"/><Relationship Id="rId24" Type="http://schemas.openxmlformats.org/officeDocument/2006/relationships/tags" Target="../tags/tag179.xml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tags" Target="../tags/tag157.xml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notesSlide" Target="../notesSlides/notesSlide2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96.xml"/><Relationship Id="rId15" Type="http://schemas.openxmlformats.org/officeDocument/2006/relationships/tags" Target="../tags/tag195.xml"/><Relationship Id="rId14" Type="http://schemas.openxmlformats.org/officeDocument/2006/relationships/tags" Target="../tags/tag194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tags" Target="../tags/tag18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8" Type="http://schemas.openxmlformats.org/officeDocument/2006/relationships/notesSlide" Target="../notesSlides/notesSlide29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212.xml"/><Relationship Id="rId15" Type="http://schemas.openxmlformats.org/officeDocument/2006/relationships/tags" Target="../tags/tag211.xml"/><Relationship Id="rId14" Type="http://schemas.openxmlformats.org/officeDocument/2006/relationships/tags" Target="../tags/tag210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tags" Target="../tags/tag19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4" Type="http://schemas.openxmlformats.org/officeDocument/2006/relationships/notesSlide" Target="../notesSlides/notesSlide3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24.xml"/><Relationship Id="rId11" Type="http://schemas.openxmlformats.org/officeDocument/2006/relationships/tags" Target="../tags/tag223.xml"/><Relationship Id="rId10" Type="http://schemas.openxmlformats.org/officeDocument/2006/relationships/tags" Target="../tags/tag222.xml"/><Relationship Id="rId1" Type="http://schemas.openxmlformats.org/officeDocument/2006/relationships/tags" Target="../tags/tag2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361950" cy="6858000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069975" y="982345"/>
            <a:ext cx="1952625" cy="47625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49020" y="1356678"/>
            <a:ext cx="390271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CHAPTER 7</a:t>
            </a:r>
            <a:r>
              <a:rPr lang="en-US" altLang="zh-CN" sz="16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 Multi-Agent Collaboration</a:t>
            </a:r>
            <a:r>
              <a:rPr lang="zh-CN" sz="16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 </a:t>
            </a:r>
            <a:endParaRPr lang="zh-CN" sz="16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09015" y="2169160"/>
            <a:ext cx="5509260" cy="1107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多智能体协作</a:t>
            </a:r>
            <a:endParaRPr lang="zh-CN" sz="72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08392" y="3319621"/>
            <a:ext cx="3962400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以文本分类基线实验复现为例</a:t>
            </a:r>
            <a:endParaRPr lang="zh-CN" sz="2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Line 8"/>
          <p:cNvSpPr/>
          <p:nvPr/>
        </p:nvSpPr>
        <p:spPr>
          <a:xfrm>
            <a:off x="1108075" y="3914140"/>
            <a:ext cx="9939020" cy="76200"/>
          </a:xfrm>
          <a:custGeom>
            <a:avLst/>
            <a:gdLst/>
            <a:ahLst/>
            <a:cxnLst/>
            <a:rect l="l" t="t" r="r" b="b"/>
            <a:pathLst>
              <a:path w="10687050" h="9525">
                <a:moveTo>
                  <a:pt x="0" y="0"/>
                </a:moveTo>
                <a:lnTo>
                  <a:pt x="1068705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108075" y="4135120"/>
            <a:ext cx="4059555" cy="514350"/>
          </a:xfrm>
          <a:prstGeom prst="roundRect">
            <a:avLst>
              <a:gd name="adj" fmla="val 7407"/>
            </a:avLst>
          </a:prstGeom>
          <a:solidFill>
            <a:srgbClr val="EEF3F6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251585" y="4326255"/>
            <a:ext cx="152400" cy="152400"/>
          </a:xfrm>
          <a:prstGeom prst="ellipse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530667" y="4269899"/>
            <a:ext cx="338328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汇报人：孙嘉怿</a:t>
            </a:r>
            <a:r>
              <a:rPr lang="en-US" altLang="zh-CN" sz="16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6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孙怡</a:t>
            </a:r>
            <a:r>
              <a:rPr lang="en-US" altLang="zh-CN" sz="16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6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林立新</a:t>
            </a:r>
            <a:r>
              <a:rPr lang="en-US" altLang="zh-CN" sz="16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6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张怡萱</a:t>
            </a:r>
            <a:endParaRPr lang="zh-CN" altLang="en-US" sz="160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609600" y="457200"/>
            <a:ext cx="552450" cy="57150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9600" y="759460"/>
            <a:ext cx="1422400" cy="4305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学习路线</a:t>
            </a:r>
            <a:endParaRPr lang="zh-CN" sz="28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238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Line 7"/>
          <p:cNvSpPr/>
          <p:nvPr>
            <p:custDataLst>
              <p:tags r:id="rId1"/>
            </p:custDataLst>
          </p:nvPr>
        </p:nvSpPr>
        <p:spPr>
          <a:xfrm>
            <a:off x="1276350" y="3267075"/>
            <a:ext cx="9505950" cy="9525"/>
          </a:xfrm>
          <a:custGeom>
            <a:avLst/>
            <a:gdLst/>
            <a:ahLst/>
            <a:cxnLst/>
            <a:rect l="l" t="t" r="r" b="b"/>
            <a:pathLst>
              <a:path w="9505950" h="9525">
                <a:moveTo>
                  <a:pt x="0" y="0"/>
                </a:moveTo>
                <a:lnTo>
                  <a:pt x="9505950" y="0"/>
                </a:lnTo>
              </a:path>
            </a:pathLst>
          </a:custGeom>
          <a:noFill/>
          <a:ln w="38100">
            <a:solidFill>
              <a:srgbClr val="72B2C0"/>
            </a:solidFill>
          </a:ln>
        </p:spPr>
      </p:sp>
      <p:sp>
        <p:nvSpPr>
          <p:cNvPr id="8" name="Ellipse 8"/>
          <p:cNvSpPr/>
          <p:nvPr>
            <p:custDataLst>
              <p:tags r:id="rId2"/>
            </p:custDataLst>
          </p:nvPr>
        </p:nvSpPr>
        <p:spPr>
          <a:xfrm>
            <a:off x="1162050" y="2981325"/>
            <a:ext cx="571500" cy="5715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9" name="TextBox 9"/>
          <p:cNvSpPr txBox="1"/>
          <p:nvPr>
            <p:custDataLst>
              <p:tags r:id="rId3"/>
            </p:custDataLst>
          </p:nvPr>
        </p:nvSpPr>
        <p:spPr>
          <a:xfrm>
            <a:off x="1391285" y="3139758"/>
            <a:ext cx="162925" cy="253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1</a:t>
            </a:r>
            <a:endParaRPr lang="zh-CN" sz="165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Ellipse 10"/>
          <p:cNvSpPr/>
          <p:nvPr>
            <p:custDataLst>
              <p:tags r:id="rId4"/>
            </p:custDataLst>
          </p:nvPr>
        </p:nvSpPr>
        <p:spPr>
          <a:xfrm>
            <a:off x="4171950" y="2981325"/>
            <a:ext cx="571500" cy="5715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1" name="TextBox 11"/>
          <p:cNvSpPr txBox="1"/>
          <p:nvPr>
            <p:custDataLst>
              <p:tags r:id="rId5"/>
            </p:custDataLst>
          </p:nvPr>
        </p:nvSpPr>
        <p:spPr>
          <a:xfrm>
            <a:off x="4376420" y="3139758"/>
            <a:ext cx="162925" cy="253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2</a:t>
            </a:r>
            <a:endParaRPr lang="zh-CN" sz="165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Ellipse 12"/>
          <p:cNvSpPr/>
          <p:nvPr>
            <p:custDataLst>
              <p:tags r:id="rId6"/>
            </p:custDataLst>
          </p:nvPr>
        </p:nvSpPr>
        <p:spPr>
          <a:xfrm>
            <a:off x="7181850" y="2981325"/>
            <a:ext cx="571500" cy="5715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3" name="TextBox 13"/>
          <p:cNvSpPr txBox="1"/>
          <p:nvPr>
            <p:custDataLst>
              <p:tags r:id="rId7"/>
            </p:custDataLst>
          </p:nvPr>
        </p:nvSpPr>
        <p:spPr>
          <a:xfrm>
            <a:off x="7423785" y="3139758"/>
            <a:ext cx="162925" cy="253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3</a:t>
            </a:r>
            <a:endParaRPr lang="zh-CN" sz="165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Ellipse 14"/>
          <p:cNvSpPr/>
          <p:nvPr>
            <p:custDataLst>
              <p:tags r:id="rId8"/>
            </p:custDataLst>
          </p:nvPr>
        </p:nvSpPr>
        <p:spPr>
          <a:xfrm>
            <a:off x="10191750" y="2981325"/>
            <a:ext cx="571500" cy="5715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5" name="TextBox 15"/>
          <p:cNvSpPr txBox="1"/>
          <p:nvPr>
            <p:custDataLst>
              <p:tags r:id="rId9"/>
            </p:custDataLst>
          </p:nvPr>
        </p:nvSpPr>
        <p:spPr>
          <a:xfrm>
            <a:off x="10396220" y="3139758"/>
            <a:ext cx="162925" cy="253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4</a:t>
            </a:r>
            <a:endParaRPr lang="zh-CN" sz="165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6"/>
          <p:cNvSpPr txBox="1"/>
          <p:nvPr>
            <p:custDataLst>
              <p:tags r:id="rId10"/>
            </p:custDataLst>
          </p:nvPr>
        </p:nvSpPr>
        <p:spPr>
          <a:xfrm>
            <a:off x="982980" y="2579370"/>
            <a:ext cx="1138555" cy="311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第一</a:t>
            </a:r>
            <a:r>
              <a:rPr lang="zh-CN" altLang="en-US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部分</a:t>
            </a:r>
            <a:endParaRPr lang="zh-CN" altLang="en-US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01700" y="3888105"/>
            <a:ext cx="1788160" cy="1123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多智能体的概念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l"/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单智能体与多智能体对比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l"/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多智能体的协作机制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l"/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l"/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l"/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TextBox 18"/>
          <p:cNvSpPr txBox="1"/>
          <p:nvPr>
            <p:custDataLst>
              <p:tags r:id="rId11"/>
            </p:custDataLst>
          </p:nvPr>
        </p:nvSpPr>
        <p:spPr>
          <a:xfrm>
            <a:off x="3923983" y="3652361"/>
            <a:ext cx="1185577" cy="311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第二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部分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650932" y="255476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信息和任务怎么交接？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20"/>
          <p:cNvSpPr txBox="1"/>
          <p:nvPr>
            <p:custDataLst>
              <p:tags r:id="rId12"/>
            </p:custDataLst>
          </p:nvPr>
        </p:nvSpPr>
        <p:spPr>
          <a:xfrm>
            <a:off x="6912293" y="2565876"/>
            <a:ext cx="1185577" cy="311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第三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部分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766242" y="3666014"/>
            <a:ext cx="15625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代码如何表达协作？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2"/>
          <p:cNvSpPr txBox="1"/>
          <p:nvPr>
            <p:custDataLst>
              <p:tags r:id="rId13"/>
            </p:custDataLst>
          </p:nvPr>
        </p:nvSpPr>
        <p:spPr>
          <a:xfrm>
            <a:off x="9884093" y="3652361"/>
            <a:ext cx="1185577" cy="311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第四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部分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847897" y="2632234"/>
            <a:ext cx="122253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结果如何验证？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5310" y="793115"/>
            <a:ext cx="276415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从大模型到</a:t>
            </a:r>
            <a:r>
              <a:rPr lang="en-US" alt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gent</a:t>
            </a:r>
            <a:endParaRPr lang="en-US" alt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8" name="Rectangle 8"/>
          <p:cNvSpPr/>
          <p:nvPr>
            <p:custDataLst>
              <p:tags r:id="rId1"/>
            </p:custDataLst>
          </p:nvPr>
        </p:nvSpPr>
        <p:spPr>
          <a:xfrm>
            <a:off x="3691255" y="1904365"/>
            <a:ext cx="7637145" cy="36258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2" name="Rectangle 12"/>
          <p:cNvSpPr/>
          <p:nvPr>
            <p:custDataLst>
              <p:tags r:id="rId2"/>
            </p:custDataLst>
          </p:nvPr>
        </p:nvSpPr>
        <p:spPr>
          <a:xfrm>
            <a:off x="3691255" y="2519045"/>
            <a:ext cx="7624445" cy="76200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6" name="TextBox 16"/>
          <p:cNvSpPr txBox="1"/>
          <p:nvPr>
            <p:custDataLst>
              <p:tags r:id="rId3"/>
            </p:custDataLst>
          </p:nvPr>
        </p:nvSpPr>
        <p:spPr>
          <a:xfrm>
            <a:off x="4277677" y="2052796"/>
            <a:ext cx="914400" cy="368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大模型</a:t>
            </a:r>
            <a:endParaRPr lang="zh-CN" sz="24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20"/>
          <p:cNvSpPr txBox="1"/>
          <p:nvPr>
            <p:custDataLst>
              <p:tags r:id="rId4"/>
            </p:custDataLst>
          </p:nvPr>
        </p:nvSpPr>
        <p:spPr>
          <a:xfrm>
            <a:off x="4001135" y="2761933"/>
            <a:ext cx="629666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</a:t>
            </a:r>
            <a:r>
              <a:rPr 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与生成语言</a:t>
            </a:r>
            <a:r>
              <a:rPr lang="en-US" alt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理解用户的指令、回答问题、总结信息、生成文本和代码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20"/>
          <p:cNvSpPr txBox="1"/>
          <p:nvPr>
            <p:custDataLst>
              <p:tags r:id="rId5"/>
            </p:custDataLst>
          </p:nvPr>
        </p:nvSpPr>
        <p:spPr>
          <a:xfrm>
            <a:off x="3896360" y="3495358"/>
            <a:ext cx="551053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具备一定</a:t>
            </a:r>
            <a:r>
              <a:rPr 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</a:t>
            </a:r>
            <a:r>
              <a:rPr 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r>
              <a:rPr lang="en-US" alt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分析问题、比较方案，并根据上下文推导答案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20"/>
          <p:cNvSpPr txBox="1"/>
          <p:nvPr>
            <p:custDataLst>
              <p:tags r:id="rId6"/>
            </p:custDataLst>
          </p:nvPr>
        </p:nvSpPr>
        <p:spPr>
          <a:xfrm>
            <a:off x="4001135" y="4228783"/>
            <a:ext cx="576326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根据上下文</a:t>
            </a:r>
            <a:r>
              <a:rPr 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作答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回答会受到用户指令、对话历史和提供资料的影响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20"/>
          <p:cNvSpPr txBox="1"/>
          <p:nvPr>
            <p:custDataLst>
              <p:tags r:id="rId7"/>
            </p:custDataLst>
          </p:nvPr>
        </p:nvSpPr>
        <p:spPr>
          <a:xfrm>
            <a:off x="4105910" y="4962208"/>
            <a:ext cx="690499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输出提供</a:t>
            </a:r>
            <a:r>
              <a:rPr 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接收输入并生成回答，不会自动持续执行现实任务或调用外部工具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直接箭头连接符 35"/>
          <p:cNvCxnSpPr/>
          <p:nvPr/>
        </p:nvCxnSpPr>
        <p:spPr>
          <a:xfrm>
            <a:off x="4734560" y="3141980"/>
            <a:ext cx="0" cy="24384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4734560" y="3884295"/>
            <a:ext cx="0" cy="24384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4734560" y="4624705"/>
            <a:ext cx="0" cy="24384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9" name="图片 48"/>
          <p:cNvPicPr/>
          <p:nvPr/>
        </p:nvPicPr>
        <p:blipFill>
          <a:blip r:embed="rId8"/>
          <a:stretch>
            <a:fillRect/>
          </a:stretch>
        </p:blipFill>
        <p:spPr>
          <a:xfrm>
            <a:off x="575310" y="1610360"/>
            <a:ext cx="1173480" cy="1173480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9"/>
          <a:srcRect l="6898" t="6898" r="7546" b="6019"/>
          <a:stretch>
            <a:fillRect/>
          </a:stretch>
        </p:blipFill>
        <p:spPr>
          <a:xfrm>
            <a:off x="609600" y="3041650"/>
            <a:ext cx="1173480" cy="1194435"/>
          </a:xfrm>
          <a:prstGeom prst="rect">
            <a:avLst/>
          </a:prstGeom>
        </p:spPr>
      </p:pic>
      <p:pic>
        <p:nvPicPr>
          <p:cNvPr id="51" name="图片 50"/>
          <p:cNvPicPr/>
          <p:nvPr/>
        </p:nvPicPr>
        <p:blipFill>
          <a:blip r:embed="rId10"/>
          <a:srcRect l="6546" t="8741" r="6071" b="8840"/>
          <a:stretch>
            <a:fillRect/>
          </a:stretch>
        </p:blipFill>
        <p:spPr>
          <a:xfrm>
            <a:off x="575310" y="4493895"/>
            <a:ext cx="1264920" cy="1173480"/>
          </a:xfrm>
          <a:prstGeom prst="rect">
            <a:avLst/>
          </a:prstGeom>
        </p:spPr>
      </p:pic>
      <p:sp>
        <p:nvSpPr>
          <p:cNvPr id="52" name="TextBox 20"/>
          <p:cNvSpPr txBox="1"/>
          <p:nvPr>
            <p:custDataLst>
              <p:tags r:id="rId11"/>
            </p:custDataLst>
          </p:nvPr>
        </p:nvSpPr>
        <p:spPr>
          <a:xfrm>
            <a:off x="1962785" y="2006283"/>
            <a:ext cx="103251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ChatGPT</a:t>
            </a:r>
            <a:endParaRPr lang="en-US" altLang="zh-CN" sz="2000" b="1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TextBox 20"/>
          <p:cNvSpPr txBox="1"/>
          <p:nvPr>
            <p:custDataLst>
              <p:tags r:id="rId12"/>
            </p:custDataLst>
          </p:nvPr>
        </p:nvSpPr>
        <p:spPr>
          <a:xfrm>
            <a:off x="1962785" y="3484563"/>
            <a:ext cx="1177925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DeepSeek</a:t>
            </a:r>
            <a:endParaRPr lang="en-US" altLang="zh-CN" sz="2000" b="1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20"/>
          <p:cNvSpPr txBox="1"/>
          <p:nvPr>
            <p:custDataLst>
              <p:tags r:id="rId13"/>
            </p:custDataLst>
          </p:nvPr>
        </p:nvSpPr>
        <p:spPr>
          <a:xfrm>
            <a:off x="1962785" y="4931728"/>
            <a:ext cx="50800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豆包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ectangle 3"/>
          <p:cNvSpPr/>
          <p:nvPr/>
        </p:nvSpPr>
        <p:spPr>
          <a:xfrm>
            <a:off x="609600" y="409575"/>
            <a:ext cx="2385695" cy="268605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56" name="TextBox 4"/>
          <p:cNvSpPr txBox="1"/>
          <p:nvPr/>
        </p:nvSpPr>
        <p:spPr>
          <a:xfrm>
            <a:off x="716915" y="450215"/>
            <a:ext cx="315087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什么是多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</a:t>
            </a:r>
            <a:endParaRPr lang="zh-CN" altLang="en-US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5310" y="793115"/>
            <a:ext cx="207835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</a:t>
            </a:r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是Agent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9" name="Rectangle 9"/>
          <p:cNvSpPr/>
          <p:nvPr>
            <p:custDataLst>
              <p:tags r:id="rId1"/>
            </p:custDataLst>
          </p:nvPr>
        </p:nvSpPr>
        <p:spPr>
          <a:xfrm>
            <a:off x="3728720" y="1830070"/>
            <a:ext cx="7599045" cy="36258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3"/>
          <p:cNvSpPr/>
          <p:nvPr>
            <p:custDataLst>
              <p:tags r:id="rId2"/>
            </p:custDataLst>
          </p:nvPr>
        </p:nvSpPr>
        <p:spPr>
          <a:xfrm>
            <a:off x="3728720" y="2381250"/>
            <a:ext cx="7597775" cy="76200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22" name="TextBox 22"/>
          <p:cNvSpPr txBox="1"/>
          <p:nvPr>
            <p:custDataLst>
              <p:tags r:id="rId3"/>
            </p:custDataLst>
          </p:nvPr>
        </p:nvSpPr>
        <p:spPr>
          <a:xfrm>
            <a:off x="3870960" y="1945640"/>
            <a:ext cx="6999605" cy="481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24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Agent</a:t>
            </a:r>
            <a:endParaRPr lang="en-US" altLang="zh-CN" sz="24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>
            <p:custDataLst>
              <p:tags r:id="rId4"/>
            </p:custDataLst>
          </p:nvPr>
        </p:nvSpPr>
        <p:spPr>
          <a:xfrm>
            <a:off x="4375785" y="2680335"/>
            <a:ext cx="4895215" cy="2470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zh-CN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</a:t>
            </a:r>
            <a:r>
              <a:rPr 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</a:t>
            </a:r>
            <a:r>
              <a:rPr lang="en-US" altLang="zh-CN" sz="1650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围绕特定目标开展工作，并非回答单个问题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1400" b="1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6"/>
          <p:cNvSpPr txBox="1"/>
          <p:nvPr>
            <p:custDataLst>
              <p:tags r:id="rId5"/>
            </p:custDataLst>
          </p:nvPr>
        </p:nvSpPr>
        <p:spPr>
          <a:xfrm>
            <a:off x="4375785" y="3262630"/>
            <a:ext cx="4895215" cy="282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</a:t>
            </a:r>
            <a:r>
              <a:rPr 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获取并理解当前任务的相关信息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8"/>
          <p:cNvSpPr/>
          <p:nvPr/>
        </p:nvSpPr>
        <p:spPr>
          <a:xfrm>
            <a:off x="609600" y="5746115"/>
            <a:ext cx="10496550" cy="742950"/>
          </a:xfrm>
          <a:prstGeom prst="roundRect">
            <a:avLst>
              <a:gd name="adj" fmla="val 5128"/>
            </a:avLst>
          </a:prstGeom>
          <a:solidFill>
            <a:srgbClr val="EEF3F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17245" y="5952807"/>
            <a:ext cx="7773035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0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= </a:t>
            </a:r>
            <a:r>
              <a:rPr lang="zh-CN" altLang="en-US" sz="20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大模型的理解与推理能力 + 目标驱动 + 工具使用 + 持续行动</a:t>
            </a:r>
            <a:endParaRPr lang="zh-CN" altLang="en-US" sz="200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26"/>
          <p:cNvSpPr txBox="1"/>
          <p:nvPr>
            <p:custDataLst>
              <p:tags r:id="rId6"/>
            </p:custDataLst>
          </p:nvPr>
        </p:nvSpPr>
        <p:spPr>
          <a:xfrm>
            <a:off x="4375785" y="3843020"/>
            <a:ext cx="5383530" cy="244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</a:t>
            </a:r>
            <a:r>
              <a:rPr 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根据任务要求制定步骤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26"/>
          <p:cNvSpPr txBox="1"/>
          <p:nvPr>
            <p:custDataLst>
              <p:tags r:id="rId7"/>
            </p:custDataLst>
          </p:nvPr>
        </p:nvSpPr>
        <p:spPr>
          <a:xfrm>
            <a:off x="4375785" y="5003165"/>
            <a:ext cx="4861560" cy="273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</a:t>
            </a:r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根据结果判断下一步，必要时修正方案，直到完成任务或达到停止条件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直接箭头连接符 43"/>
          <p:cNvCxnSpPr/>
          <p:nvPr/>
        </p:nvCxnSpPr>
        <p:spPr>
          <a:xfrm>
            <a:off x="4806950" y="2992755"/>
            <a:ext cx="0" cy="24384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>
            <p:custDataLst>
              <p:tags r:id="rId8"/>
            </p:custDataLst>
          </p:nvPr>
        </p:nvCxnSpPr>
        <p:spPr>
          <a:xfrm>
            <a:off x="4806950" y="3608705"/>
            <a:ext cx="0" cy="24384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>
            <p:custDataLst>
              <p:tags r:id="rId9"/>
            </p:custDataLst>
          </p:nvPr>
        </p:nvCxnSpPr>
        <p:spPr>
          <a:xfrm>
            <a:off x="4806950" y="4184015"/>
            <a:ext cx="0" cy="24384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/>
          <p:nvPr/>
        </p:nvPicPr>
        <p:blipFill>
          <a:blip r:embed="rId10"/>
          <a:stretch>
            <a:fillRect/>
          </a:stretch>
        </p:blipFill>
        <p:spPr>
          <a:xfrm>
            <a:off x="609600" y="2025015"/>
            <a:ext cx="1231265" cy="123126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11"/>
          <a:srcRect l="14711" r="15183"/>
          <a:stretch>
            <a:fillRect/>
          </a:stretch>
        </p:blipFill>
        <p:spPr>
          <a:xfrm>
            <a:off x="609600" y="3600450"/>
            <a:ext cx="1230630" cy="1317625"/>
          </a:xfrm>
          <a:prstGeom prst="roundRect">
            <a:avLst/>
          </a:prstGeom>
        </p:spPr>
      </p:pic>
      <p:sp>
        <p:nvSpPr>
          <p:cNvPr id="7" name="TextBox 22"/>
          <p:cNvSpPr txBox="1"/>
          <p:nvPr>
            <p:custDataLst>
              <p:tags r:id="rId12"/>
            </p:custDataLst>
          </p:nvPr>
        </p:nvSpPr>
        <p:spPr>
          <a:xfrm>
            <a:off x="2062480" y="2487295"/>
            <a:ext cx="1043305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携程旅行</a:t>
            </a:r>
            <a:endParaRPr lang="zh-CN" altLang="en-US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22"/>
          <p:cNvSpPr txBox="1"/>
          <p:nvPr>
            <p:custDataLst>
              <p:tags r:id="rId13"/>
            </p:custDataLst>
          </p:nvPr>
        </p:nvSpPr>
        <p:spPr>
          <a:xfrm>
            <a:off x="2062480" y="4037965"/>
            <a:ext cx="86360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20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Siri</a:t>
            </a:r>
            <a:endParaRPr lang="en-US" altLang="zh-CN" sz="20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26"/>
          <p:cNvSpPr txBox="1"/>
          <p:nvPr>
            <p:custDataLst>
              <p:tags r:id="rId14"/>
            </p:custDataLst>
          </p:nvPr>
        </p:nvSpPr>
        <p:spPr>
          <a:xfrm>
            <a:off x="4375785" y="4457700"/>
            <a:ext cx="5383530" cy="244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lang="zh-CN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行动</a:t>
            </a:r>
            <a:r>
              <a:rPr lang="en-US" altLang="zh-CN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调用搜索、代码执行、文件读写等工具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直接箭头连接符 14"/>
          <p:cNvCxnSpPr/>
          <p:nvPr>
            <p:custDataLst>
              <p:tags r:id="rId15"/>
            </p:custDataLst>
          </p:nvPr>
        </p:nvCxnSpPr>
        <p:spPr>
          <a:xfrm>
            <a:off x="4806950" y="4759325"/>
            <a:ext cx="0" cy="24384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42" idx="1"/>
            <a:endCxn id="23" idx="1"/>
          </p:cNvCxnSpPr>
          <p:nvPr/>
        </p:nvCxnSpPr>
        <p:spPr>
          <a:xfrm rot="10800000" flipH="1">
            <a:off x="4375785" y="2804160"/>
            <a:ext cx="3175" cy="2335530"/>
          </a:xfrm>
          <a:prstGeom prst="bentConnector3">
            <a:avLst>
              <a:gd name="adj1" fmla="val -11400000"/>
            </a:avLst>
          </a:prstGeom>
          <a:ln>
            <a:solidFill>
              <a:schemeClr val="tx2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Rectangle 3"/>
          <p:cNvSpPr/>
          <p:nvPr/>
        </p:nvSpPr>
        <p:spPr>
          <a:xfrm>
            <a:off x="609600" y="409575"/>
            <a:ext cx="2385695" cy="268605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56" name="TextBox 4"/>
          <p:cNvSpPr txBox="1"/>
          <p:nvPr/>
        </p:nvSpPr>
        <p:spPr>
          <a:xfrm>
            <a:off x="716915" y="450215"/>
            <a:ext cx="315087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什么是多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</a:t>
            </a:r>
            <a:endParaRPr lang="zh-CN" altLang="en-US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-635"/>
            <a:ext cx="12192000" cy="685927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5310" y="861060"/>
            <a:ext cx="449961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</a:t>
            </a:r>
            <a:r>
              <a:rPr lang="en-US" alt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与多</a:t>
            </a:r>
            <a:r>
              <a:rPr lang="en-US" alt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分工对比</a:t>
            </a:r>
            <a:endParaRPr lang="zh-CN" altLang="en-US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050790" y="953770"/>
            <a:ext cx="5507355" cy="264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以复现论文实验</a:t>
            </a:r>
            <a:r>
              <a:rPr lang="zh-CN" altLang="en-US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为例</a:t>
            </a:r>
            <a:endParaRPr lang="zh-CN" altLang="en-US" sz="165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1531620"/>
            <a:ext cx="2466975" cy="138303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1531620"/>
            <a:ext cx="2466975" cy="66675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02958" y="1855946"/>
            <a:ext cx="186606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读实验协议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17245" y="2325687"/>
            <a:ext cx="198374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数据与实验设置：</a:t>
            </a:r>
            <a:r>
              <a:rPr lang="en-US" alt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lang="en-US" alt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3333750" y="1531620"/>
            <a:ext cx="2466975" cy="138366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3333750" y="1531620"/>
            <a:ext cx="2466975" cy="66675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3527108" y="1855946"/>
            <a:ext cx="186606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跑基线模型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527425" y="2325687"/>
            <a:ext cx="1795145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Trans</a:t>
            </a:r>
            <a:r>
              <a:rPr lang="en-US" alt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former/GNN…</a:t>
            </a:r>
            <a:endParaRPr lang="en-US" alt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6057900" y="1531620"/>
            <a:ext cx="2466975" cy="138366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057900" y="1531620"/>
            <a:ext cx="2466975" cy="66675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251258" y="1855946"/>
            <a:ext cx="158252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保存结果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238240" y="2370773"/>
            <a:ext cx="162814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.json</a:t>
            </a:r>
            <a:r>
              <a:rPr lang="en-US" alt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/.pyth</a:t>
            </a:r>
            <a:r>
              <a:rPr lang="zh-CN" altLang="en-US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lang="en-US" alt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</a:t>
            </a:r>
            <a:endParaRPr lang="en-US" alt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6"/>
          <p:cNvSpPr/>
          <p:nvPr/>
        </p:nvSpPr>
        <p:spPr>
          <a:xfrm>
            <a:off x="8782050" y="1531620"/>
            <a:ext cx="2466975" cy="138366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782050" y="1531620"/>
            <a:ext cx="2466975" cy="66675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975408" y="1855946"/>
            <a:ext cx="158252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独立核验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975725" y="2371407"/>
            <a:ext cx="1457325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top1-acc/map…</a:t>
            </a:r>
            <a:endParaRPr lang="en-US" alt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3076575" y="2267585"/>
            <a:ext cx="257175" cy="9525"/>
          </a:xfrm>
          <a:custGeom>
            <a:avLst/>
            <a:gdLst/>
            <a:ahLst/>
            <a:cxnLst/>
            <a:rect l="l" t="t" r="r" b="b"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</p:sp>
      <p:sp>
        <p:nvSpPr>
          <p:cNvPr id="33" name="Line 33"/>
          <p:cNvSpPr/>
          <p:nvPr/>
        </p:nvSpPr>
        <p:spPr>
          <a:xfrm>
            <a:off x="5800725" y="2248535"/>
            <a:ext cx="257175" cy="9525"/>
          </a:xfrm>
          <a:custGeom>
            <a:avLst/>
            <a:gdLst/>
            <a:ahLst/>
            <a:cxnLst/>
            <a:rect l="l" t="t" r="r" b="b"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</p:sp>
      <p:sp>
        <p:nvSpPr>
          <p:cNvPr id="34" name="Line 34"/>
          <p:cNvSpPr/>
          <p:nvPr/>
        </p:nvSpPr>
        <p:spPr>
          <a:xfrm>
            <a:off x="8524875" y="2267585"/>
            <a:ext cx="257175" cy="9525"/>
          </a:xfrm>
          <a:custGeom>
            <a:avLst/>
            <a:gdLst/>
            <a:ahLst/>
            <a:cxnLst/>
            <a:rect l="l" t="t" r="r" b="b"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09600" y="5935345"/>
            <a:ext cx="10639425" cy="494030"/>
          </a:xfrm>
          <a:prstGeom prst="roundRect">
            <a:avLst>
              <a:gd name="adj" fmla="val 6061"/>
            </a:avLst>
          </a:prstGeom>
          <a:solidFill>
            <a:srgbClr val="EEF3F6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03275" y="6055678"/>
            <a:ext cx="5418455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lang="en-US" alt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65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目标、任务</a:t>
            </a:r>
            <a:r>
              <a:rPr lang="zh-CN" altLang="en-US" sz="165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分解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、专业</a:t>
            </a:r>
            <a:r>
              <a:rPr lang="zh-CN" altLang="en-US" sz="165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、信息</a:t>
            </a:r>
            <a:r>
              <a:rPr lang="zh-CN" altLang="en-US" sz="165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交接</a:t>
            </a:r>
            <a:endParaRPr lang="zh-CN" altLang="en-US" sz="1650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Line 6"/>
          <p:cNvSpPr/>
          <p:nvPr/>
        </p:nvSpPr>
        <p:spPr>
          <a:xfrm>
            <a:off x="609600" y="378904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39" name="Rectangle 8"/>
          <p:cNvSpPr/>
          <p:nvPr/>
        </p:nvSpPr>
        <p:spPr>
          <a:xfrm>
            <a:off x="609600" y="4301490"/>
            <a:ext cx="2466975" cy="138303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40" name="Rectangle 9"/>
          <p:cNvSpPr/>
          <p:nvPr/>
        </p:nvSpPr>
        <p:spPr>
          <a:xfrm>
            <a:off x="609600" y="4301490"/>
            <a:ext cx="2466975" cy="66675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41" name="TextBox 10"/>
          <p:cNvSpPr txBox="1"/>
          <p:nvPr/>
        </p:nvSpPr>
        <p:spPr>
          <a:xfrm>
            <a:off x="802958" y="4625816"/>
            <a:ext cx="213614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实验规划</a:t>
            </a:r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gent</a:t>
            </a:r>
            <a:endParaRPr lang="en-US" alt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11"/>
          <p:cNvSpPr txBox="1"/>
          <p:nvPr/>
        </p:nvSpPr>
        <p:spPr>
          <a:xfrm>
            <a:off x="845185" y="5095557"/>
            <a:ext cx="19558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阅读协议，明确实验要求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ectangle 14"/>
          <p:cNvSpPr/>
          <p:nvPr/>
        </p:nvSpPr>
        <p:spPr>
          <a:xfrm>
            <a:off x="3333750" y="4301490"/>
            <a:ext cx="2466975" cy="138366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44" name="Rectangle 15"/>
          <p:cNvSpPr/>
          <p:nvPr/>
        </p:nvSpPr>
        <p:spPr>
          <a:xfrm>
            <a:off x="3333750" y="4301490"/>
            <a:ext cx="2466975" cy="66675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45" name="TextBox 16"/>
          <p:cNvSpPr txBox="1"/>
          <p:nvPr/>
        </p:nvSpPr>
        <p:spPr>
          <a:xfrm>
            <a:off x="3527108" y="4625816"/>
            <a:ext cx="213614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实验执行</a:t>
            </a:r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gent</a:t>
            </a:r>
            <a:endParaRPr lang="en-US" alt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17"/>
          <p:cNvSpPr txBox="1"/>
          <p:nvPr/>
        </p:nvSpPr>
        <p:spPr>
          <a:xfrm>
            <a:off x="3527425" y="5095557"/>
            <a:ext cx="19558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运行模型，保存预测结果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Rectangle 20"/>
          <p:cNvSpPr/>
          <p:nvPr/>
        </p:nvSpPr>
        <p:spPr>
          <a:xfrm>
            <a:off x="6057900" y="4301490"/>
            <a:ext cx="2466975" cy="138366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48" name="Rectangle 21"/>
          <p:cNvSpPr/>
          <p:nvPr/>
        </p:nvSpPr>
        <p:spPr>
          <a:xfrm>
            <a:off x="6057900" y="4301490"/>
            <a:ext cx="2466975" cy="66675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49" name="TextBox 22"/>
          <p:cNvSpPr txBox="1"/>
          <p:nvPr/>
        </p:nvSpPr>
        <p:spPr>
          <a:xfrm>
            <a:off x="6251258" y="4625816"/>
            <a:ext cx="213614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结果整理</a:t>
            </a:r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gent</a:t>
            </a:r>
            <a:endParaRPr lang="en-US" alt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23"/>
          <p:cNvSpPr txBox="1"/>
          <p:nvPr/>
        </p:nvSpPr>
        <p:spPr>
          <a:xfrm>
            <a:off x="6266180" y="5094923"/>
            <a:ext cx="16002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整理预测文件和指标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1" name="Rectangle 26"/>
          <p:cNvSpPr/>
          <p:nvPr/>
        </p:nvSpPr>
        <p:spPr>
          <a:xfrm>
            <a:off x="8782050" y="4301490"/>
            <a:ext cx="2466975" cy="138366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52" name="Rectangle 27"/>
          <p:cNvSpPr/>
          <p:nvPr/>
        </p:nvSpPr>
        <p:spPr>
          <a:xfrm>
            <a:off x="8782050" y="4301490"/>
            <a:ext cx="2466975" cy="66675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53" name="TextBox 28"/>
          <p:cNvSpPr txBox="1"/>
          <p:nvPr/>
        </p:nvSpPr>
        <p:spPr>
          <a:xfrm>
            <a:off x="8975408" y="4625816"/>
            <a:ext cx="213614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独立审核</a:t>
            </a:r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gent</a:t>
            </a:r>
            <a:endParaRPr lang="en-US" alt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30"/>
          <p:cNvSpPr txBox="1"/>
          <p:nvPr/>
        </p:nvSpPr>
        <p:spPr>
          <a:xfrm>
            <a:off x="8975725" y="5095557"/>
            <a:ext cx="19558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重新计算指标，检查结果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Line 32"/>
          <p:cNvSpPr/>
          <p:nvPr/>
        </p:nvSpPr>
        <p:spPr>
          <a:xfrm>
            <a:off x="3076575" y="5037455"/>
            <a:ext cx="257175" cy="9525"/>
          </a:xfrm>
          <a:custGeom>
            <a:avLst/>
            <a:gdLst/>
            <a:ahLst/>
            <a:cxnLst/>
            <a:rect l="l" t="t" r="r" b="b"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</p:sp>
      <p:sp>
        <p:nvSpPr>
          <p:cNvPr id="56" name="Line 33"/>
          <p:cNvSpPr/>
          <p:nvPr/>
        </p:nvSpPr>
        <p:spPr>
          <a:xfrm>
            <a:off x="5800725" y="5018405"/>
            <a:ext cx="257175" cy="9525"/>
          </a:xfrm>
          <a:custGeom>
            <a:avLst/>
            <a:gdLst/>
            <a:ahLst/>
            <a:cxnLst/>
            <a:rect l="l" t="t" r="r" b="b"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</p:sp>
      <p:sp>
        <p:nvSpPr>
          <p:cNvPr id="57" name="Line 34"/>
          <p:cNvSpPr/>
          <p:nvPr/>
        </p:nvSpPr>
        <p:spPr>
          <a:xfrm>
            <a:off x="8524875" y="5037455"/>
            <a:ext cx="257175" cy="9525"/>
          </a:xfrm>
          <a:custGeom>
            <a:avLst/>
            <a:gdLst/>
            <a:ahLst/>
            <a:cxnLst/>
            <a:rect l="l" t="t" r="r" b="b"/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</p:sp>
      <p:sp>
        <p:nvSpPr>
          <p:cNvPr id="58" name="Rectangle 35"/>
          <p:cNvSpPr/>
          <p:nvPr/>
        </p:nvSpPr>
        <p:spPr>
          <a:xfrm>
            <a:off x="609600" y="3139440"/>
            <a:ext cx="10639425" cy="494030"/>
          </a:xfrm>
          <a:prstGeom prst="roundRect">
            <a:avLst>
              <a:gd name="adj" fmla="val 6061"/>
            </a:avLst>
          </a:prstGeom>
          <a:solidFill>
            <a:srgbClr val="EEF3F6"/>
          </a:solidFill>
          <a:ln>
            <a:noFill/>
          </a:ln>
        </p:spPr>
      </p:sp>
      <p:sp>
        <p:nvSpPr>
          <p:cNvPr id="59" name="TextBox 36"/>
          <p:cNvSpPr txBox="1"/>
          <p:nvPr/>
        </p:nvSpPr>
        <p:spPr>
          <a:xfrm>
            <a:off x="732155" y="3259138"/>
            <a:ext cx="1017270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：需切换</a:t>
            </a:r>
            <a:r>
              <a:rPr lang="zh-CN" altLang="en-US" sz="165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多种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职责和工具、执行与核验可能相互</a:t>
            </a:r>
            <a:r>
              <a:rPr lang="zh-CN" altLang="en-US" sz="165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、中间结果可能</a:t>
            </a:r>
            <a:r>
              <a:rPr lang="zh-CN" altLang="en-US" sz="165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遗漏</a:t>
            </a:r>
            <a:r>
              <a:rPr lang="zh-CN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长任务需要</a:t>
            </a:r>
            <a:r>
              <a:rPr lang="zh-CN" altLang="en-US" sz="1650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持续管理</a:t>
            </a:r>
            <a:r>
              <a:rPr lang="zh-CN" altLang="en-US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执行过程</a:t>
            </a:r>
            <a:r>
              <a:rPr lang="en-US" altLang="zh-CN" sz="16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65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环形箭头 79"/>
          <p:cNvSpPr/>
          <p:nvPr/>
        </p:nvSpPr>
        <p:spPr>
          <a:xfrm rot="5220000" flipV="1">
            <a:off x="-386715" y="2977515"/>
            <a:ext cx="2359660" cy="1352550"/>
          </a:xfrm>
          <a:prstGeom prst="circularArrow">
            <a:avLst>
              <a:gd name="adj1" fmla="val 4788"/>
              <a:gd name="adj2" fmla="val 1223348"/>
              <a:gd name="adj3" fmla="val 19308283"/>
              <a:gd name="adj4" fmla="val 11571178"/>
              <a:gd name="adj5" fmla="val 818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609600" y="409575"/>
            <a:ext cx="2928620" cy="268605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83" name="TextBox 4"/>
          <p:cNvSpPr txBox="1"/>
          <p:nvPr/>
        </p:nvSpPr>
        <p:spPr>
          <a:xfrm>
            <a:off x="716915" y="450215"/>
            <a:ext cx="315087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单智能体与多智能体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endParaRPr lang="zh-CN" altLang="en-US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5310" y="861060"/>
            <a:ext cx="5997575" cy="415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</a:t>
            </a:r>
            <a:r>
              <a:rPr lang="en-US" alt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多Agent适用场景</a:t>
            </a:r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313930" y="5036185"/>
            <a:ext cx="3754120" cy="78803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8" name="TextBox 18"/>
          <p:cNvSpPr txBox="1"/>
          <p:nvPr>
            <p:custDataLst>
              <p:tags r:id="rId1"/>
            </p:custDataLst>
          </p:nvPr>
        </p:nvSpPr>
        <p:spPr>
          <a:xfrm>
            <a:off x="7531417" y="5131911"/>
            <a:ext cx="187579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权衡收益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2"/>
            </p:custDataLst>
          </p:nvPr>
        </p:nvSpPr>
        <p:spPr>
          <a:xfrm>
            <a:off x="7568565" y="5543233"/>
            <a:ext cx="226695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更多调用会消耗时间与 token</a:t>
            </a:r>
            <a:endParaRPr lang="zh-CN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609600" y="6130290"/>
            <a:ext cx="10458450" cy="466725"/>
          </a:xfrm>
          <a:prstGeom prst="roundRect">
            <a:avLst>
              <a:gd name="adj" fmla="val 8163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358707" y="6226334"/>
            <a:ext cx="673163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单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一个清晰的小任务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vs</a:t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能明确分工并验证</a:t>
            </a:r>
            <a:endParaRPr lang="zh-CN" altLang="en-US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l="2455" r="2852"/>
          <a:stretch>
            <a:fillRect/>
          </a:stretch>
        </p:blipFill>
        <p:spPr>
          <a:xfrm>
            <a:off x="401955" y="1811020"/>
            <a:ext cx="6734175" cy="3735705"/>
          </a:xfrm>
          <a:prstGeom prst="rect">
            <a:avLst/>
          </a:prstGeom>
        </p:spPr>
      </p:pic>
      <p:sp>
        <p:nvSpPr>
          <p:cNvPr id="34" name="Rectangle 11"/>
          <p:cNvSpPr/>
          <p:nvPr/>
        </p:nvSpPr>
        <p:spPr>
          <a:xfrm>
            <a:off x="7313930" y="3942080"/>
            <a:ext cx="3754120" cy="78803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18"/>
          <p:cNvSpPr txBox="1"/>
          <p:nvPr>
            <p:custDataLst>
              <p:tags r:id="rId4"/>
            </p:custDataLst>
          </p:nvPr>
        </p:nvSpPr>
        <p:spPr>
          <a:xfrm>
            <a:off x="7531417" y="4037806"/>
            <a:ext cx="239141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交付结果的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可信度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19"/>
          <p:cNvSpPr txBox="1"/>
          <p:nvPr>
            <p:custDataLst>
              <p:tags r:id="rId5"/>
            </p:custDataLst>
          </p:nvPr>
        </p:nvSpPr>
        <p:spPr>
          <a:xfrm>
            <a:off x="7568565" y="4449128"/>
            <a:ext cx="14224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下游任务是否</a:t>
            </a:r>
            <a:r>
              <a:rPr lang="zh-CN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认可</a:t>
            </a:r>
            <a:endParaRPr lang="zh-CN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ectangle 11"/>
          <p:cNvSpPr/>
          <p:nvPr/>
        </p:nvSpPr>
        <p:spPr>
          <a:xfrm>
            <a:off x="7313930" y="2809240"/>
            <a:ext cx="3754120" cy="78803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38" name="TextBox 18"/>
          <p:cNvSpPr txBox="1"/>
          <p:nvPr>
            <p:custDataLst>
              <p:tags r:id="rId6"/>
            </p:custDataLst>
          </p:nvPr>
        </p:nvSpPr>
        <p:spPr>
          <a:xfrm>
            <a:off x="7531417" y="2904966"/>
            <a:ext cx="213360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子任务的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独立性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19"/>
          <p:cNvSpPr txBox="1"/>
          <p:nvPr>
            <p:custDataLst>
              <p:tags r:id="rId7"/>
            </p:custDataLst>
          </p:nvPr>
        </p:nvSpPr>
        <p:spPr>
          <a:xfrm>
            <a:off x="7568565" y="3316288"/>
            <a:ext cx="24892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每项子任务的职责边界是否</a:t>
            </a:r>
            <a:r>
              <a:rPr lang="zh-CN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清晰</a:t>
            </a:r>
            <a:endParaRPr lang="zh-CN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ectangle 11"/>
          <p:cNvSpPr/>
          <p:nvPr/>
        </p:nvSpPr>
        <p:spPr>
          <a:xfrm>
            <a:off x="7313930" y="1659255"/>
            <a:ext cx="3754120" cy="78803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41" name="TextBox 18"/>
          <p:cNvSpPr txBox="1"/>
          <p:nvPr>
            <p:custDataLst>
              <p:tags r:id="rId8"/>
            </p:custDataLst>
          </p:nvPr>
        </p:nvSpPr>
        <p:spPr>
          <a:xfrm>
            <a:off x="7531417" y="1754981"/>
            <a:ext cx="213360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任务的复杂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程度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19"/>
          <p:cNvSpPr txBox="1"/>
          <p:nvPr>
            <p:custDataLst>
              <p:tags r:id="rId9"/>
            </p:custDataLst>
          </p:nvPr>
        </p:nvSpPr>
        <p:spPr>
          <a:xfrm>
            <a:off x="7568565" y="2166303"/>
            <a:ext cx="1717675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</a:t>
            </a:r>
            <a:r>
              <a:rPr lang="en-US" altLang="zh-CN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能否独立</a:t>
            </a:r>
            <a:r>
              <a:rPr lang="zh-CN" altLang="en-US" sz="14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</a:t>
            </a:r>
            <a:endParaRPr lang="zh-CN" altLang="en-US" sz="14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609600" y="409575"/>
            <a:ext cx="2928620" cy="268605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83" name="TextBox 4"/>
          <p:cNvSpPr txBox="1"/>
          <p:nvPr/>
        </p:nvSpPr>
        <p:spPr>
          <a:xfrm>
            <a:off x="716915" y="450215"/>
            <a:ext cx="315087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单智能体与多智能体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endParaRPr lang="zh-CN" altLang="en-US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5310" y="861060"/>
            <a:ext cx="276415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多Agent协作</a:t>
            </a:r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09600" y="1684020"/>
            <a:ext cx="5048250" cy="336423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924550" y="1677670"/>
            <a:ext cx="5391150" cy="337058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1687195"/>
            <a:ext cx="5048250" cy="533400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924550" y="1687195"/>
            <a:ext cx="5391150" cy="533400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12482" y="1821021"/>
            <a:ext cx="180467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协作带</a:t>
            </a:r>
            <a:r>
              <a:rPr lang="zh-CN" sz="2025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来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的</a:t>
            </a:r>
            <a:r>
              <a:rPr lang="zh-CN" sz="2025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价值</a:t>
            </a:r>
            <a:endParaRPr lang="zh-CN" sz="2025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27432" y="1821021"/>
            <a:ext cx="232029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协作带来的</a:t>
            </a:r>
            <a:r>
              <a:rPr lang="zh-CN" sz="2025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额外成本</a:t>
            </a:r>
            <a:endParaRPr lang="zh-CN" sz="2025" b="1" dirty="0">
              <a:solidFill>
                <a:schemeClr val="accent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22325" y="2476182"/>
            <a:ext cx="11430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专业化分工</a:t>
            </a:r>
            <a:endParaRPr lang="zh-CN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22325" y="4146233"/>
            <a:ext cx="34290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模块化、可扩展性和一定的鲁棒性</a:t>
            </a:r>
            <a:endParaRPr lang="zh-CN" altLang="en-US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32195" y="2476182"/>
            <a:ext cx="204279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之间需要通信</a:t>
            </a:r>
            <a:endParaRPr lang="zh-CN" altLang="en-US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27115" y="4148138"/>
            <a:ext cx="22860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额外的时间和调用成本</a:t>
            </a:r>
            <a:endParaRPr lang="zh-CN" altLang="en-US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339783" y="993934"/>
            <a:ext cx="243840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6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不仅是分工，更是协调</a:t>
            </a:r>
            <a:endParaRPr lang="zh-CN" altLang="en-US" sz="16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609600" y="5362575"/>
            <a:ext cx="10706100" cy="666750"/>
          </a:xfrm>
          <a:prstGeom prst="roundRect">
            <a:avLst>
              <a:gd name="adj" fmla="val 5714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2325" y="5542597"/>
            <a:ext cx="747395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的价值来自有效的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机制，而不是 </a:t>
            </a:r>
            <a:r>
              <a:rPr lang="en-US" altLang="zh-CN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数量越多越好</a:t>
            </a:r>
            <a:endParaRPr lang="zh-CN" altLang="en-US" sz="20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14"/>
          <p:cNvSpPr txBox="1"/>
          <p:nvPr/>
        </p:nvSpPr>
        <p:spPr>
          <a:xfrm>
            <a:off x="822325" y="3589972"/>
            <a:ext cx="20574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信息共享与交叉核验</a:t>
            </a:r>
            <a:endParaRPr lang="zh-CN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14"/>
          <p:cNvSpPr txBox="1"/>
          <p:nvPr/>
        </p:nvSpPr>
        <p:spPr>
          <a:xfrm>
            <a:off x="812165" y="3033077"/>
            <a:ext cx="18288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并行处理部分任务</a:t>
            </a:r>
            <a:endParaRPr lang="zh-CN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17"/>
          <p:cNvSpPr txBox="1"/>
          <p:nvPr/>
        </p:nvSpPr>
        <p:spPr>
          <a:xfrm>
            <a:off x="6132195" y="3591242"/>
            <a:ext cx="20574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重复工作与协调开销</a:t>
            </a:r>
            <a:endParaRPr lang="zh-CN" altLang="en-US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TextBox 17"/>
          <p:cNvSpPr txBox="1"/>
          <p:nvPr/>
        </p:nvSpPr>
        <p:spPr>
          <a:xfrm>
            <a:off x="6127115" y="3033712"/>
            <a:ext cx="13716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交接可能出错</a:t>
            </a:r>
            <a:endParaRPr lang="zh-CN" altLang="en-US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609600" y="409575"/>
            <a:ext cx="2112645" cy="268605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83" name="TextBox 4"/>
          <p:cNvSpPr txBox="1"/>
          <p:nvPr/>
        </p:nvSpPr>
        <p:spPr>
          <a:xfrm>
            <a:off x="716915" y="450215"/>
            <a:ext cx="315087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多智能体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</a:t>
            </a:r>
            <a:endParaRPr lang="zh-CN" altLang="en-US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5310" y="861060"/>
            <a:ext cx="344995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lang="en-US" alt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基本组织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endParaRPr lang="zh-CN" altLang="en-US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609600" y="1657350"/>
            <a:ext cx="5657850" cy="4210050"/>
          </a:xfrm>
          <a:prstGeom prst="rect">
            <a:avLst/>
          </a:prstGeom>
          <a:solidFill>
            <a:srgbClr val="FFFFFF"/>
          </a:solidFill>
          <a:ln w="19050">
            <a:solidFill>
              <a:srgbClr val="C5D5DE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427" y="1790700"/>
            <a:ext cx="5034197" cy="3838575"/>
          </a:xfrm>
          <a:prstGeom prst="rect">
            <a:avLst/>
          </a:prstGeom>
        </p:spPr>
      </p:pic>
      <p:sp>
        <p:nvSpPr>
          <p:cNvPr id="10" name="TextBox 10"/>
          <p:cNvSpPr txBox="1"/>
          <p:nvPr>
            <p:custDataLst>
              <p:tags r:id="rId2"/>
            </p:custDataLst>
          </p:nvPr>
        </p:nvSpPr>
        <p:spPr>
          <a:xfrm>
            <a:off x="6698932" y="1753076"/>
            <a:ext cx="186606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角色与责任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3"/>
            </p:custDataLst>
          </p:nvPr>
        </p:nvSpPr>
        <p:spPr>
          <a:xfrm>
            <a:off x="6703695" y="2184082"/>
            <a:ext cx="230505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谁负责规划、执行、审核</a:t>
            </a:r>
            <a:endParaRPr lang="zh-CN" altLang="en-US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Line 12"/>
          <p:cNvSpPr/>
          <p:nvPr>
            <p:custDataLst>
              <p:tags r:id="rId4"/>
            </p:custDataLst>
          </p:nvPr>
        </p:nvSpPr>
        <p:spPr>
          <a:xfrm>
            <a:off x="6667500" y="2647950"/>
            <a:ext cx="4610100" cy="9525"/>
          </a:xfrm>
          <a:custGeom>
            <a:avLst/>
            <a:gdLst/>
            <a:ahLst/>
            <a:cxnLst/>
            <a:rect l="l" t="t" r="r" b="b"/>
            <a:pathLst>
              <a:path w="4610100" h="9525">
                <a:moveTo>
                  <a:pt x="0" y="0"/>
                </a:moveTo>
                <a:lnTo>
                  <a:pt x="4610100" y="0"/>
                </a:lnTo>
              </a:path>
            </a:pathLst>
          </a:custGeom>
          <a:noFill/>
          <a:ln w="19050">
            <a:solidFill>
              <a:srgbClr val="72B2C0"/>
            </a:solidFill>
          </a:ln>
        </p:spPr>
      </p:sp>
      <p:sp>
        <p:nvSpPr>
          <p:cNvPr id="13" name="TextBox 13"/>
          <p:cNvSpPr txBox="1"/>
          <p:nvPr>
            <p:custDataLst>
              <p:tags r:id="rId5"/>
            </p:custDataLst>
          </p:nvPr>
        </p:nvSpPr>
        <p:spPr>
          <a:xfrm>
            <a:off x="6698932" y="3058001"/>
            <a:ext cx="158252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通信通道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6"/>
            </p:custDataLst>
          </p:nvPr>
        </p:nvSpPr>
        <p:spPr>
          <a:xfrm>
            <a:off x="6703695" y="3489008"/>
            <a:ext cx="2234565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之间怎样传递信息</a:t>
            </a:r>
            <a:endParaRPr lang="zh-CN" altLang="en-US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Line 15"/>
          <p:cNvSpPr/>
          <p:nvPr>
            <p:custDataLst>
              <p:tags r:id="rId7"/>
            </p:custDataLst>
          </p:nvPr>
        </p:nvSpPr>
        <p:spPr>
          <a:xfrm>
            <a:off x="6667500" y="3952875"/>
            <a:ext cx="4610100" cy="9525"/>
          </a:xfrm>
          <a:custGeom>
            <a:avLst/>
            <a:gdLst/>
            <a:ahLst/>
            <a:cxnLst/>
            <a:rect l="l" t="t" r="r" b="b"/>
            <a:pathLst>
              <a:path w="4610100" h="9525">
                <a:moveTo>
                  <a:pt x="0" y="0"/>
                </a:moveTo>
                <a:lnTo>
                  <a:pt x="4610100" y="0"/>
                </a:lnTo>
              </a:path>
            </a:pathLst>
          </a:custGeom>
          <a:noFill/>
          <a:ln w="19050">
            <a:solidFill>
              <a:srgbClr val="72B2C0"/>
            </a:solidFill>
          </a:ln>
        </p:spPr>
      </p:sp>
      <p:sp>
        <p:nvSpPr>
          <p:cNvPr id="16" name="TextBox 16"/>
          <p:cNvSpPr txBox="1"/>
          <p:nvPr>
            <p:custDataLst>
              <p:tags r:id="rId8"/>
            </p:custDataLst>
          </p:nvPr>
        </p:nvSpPr>
        <p:spPr>
          <a:xfrm>
            <a:off x="6698932" y="4362926"/>
            <a:ext cx="214959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任务流与协议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9"/>
            </p:custDataLst>
          </p:nvPr>
        </p:nvSpPr>
        <p:spPr>
          <a:xfrm>
            <a:off x="6703695" y="4793932"/>
            <a:ext cx="335280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什么时候交接、交付什么、怎样验收</a:t>
            </a:r>
            <a:endParaRPr lang="zh-CN" altLang="en-US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6667500" y="5372100"/>
            <a:ext cx="4610100" cy="504825"/>
          </a:xfrm>
          <a:prstGeom prst="roundRect">
            <a:avLst>
              <a:gd name="adj" fmla="val 7547"/>
            </a:avLst>
          </a:prstGeom>
          <a:solidFill>
            <a:srgbClr val="EEF3F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832282" y="5567839"/>
            <a:ext cx="24126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分工图画完，才轮到选择框架。</a:t>
            </a:r>
            <a:endParaRPr lang="zh-CN" sz="1275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2" name="Rectangle 3"/>
          <p:cNvSpPr/>
          <p:nvPr/>
        </p:nvSpPr>
        <p:spPr>
          <a:xfrm>
            <a:off x="609600" y="409575"/>
            <a:ext cx="2112645" cy="268605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83" name="TextBox 4"/>
          <p:cNvSpPr txBox="1"/>
          <p:nvPr/>
        </p:nvSpPr>
        <p:spPr>
          <a:xfrm>
            <a:off x="716915" y="450215"/>
            <a:ext cx="315087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多智能体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</a:t>
            </a:r>
            <a:endParaRPr lang="zh-CN" altLang="en-US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5310" y="861060"/>
            <a:ext cx="447865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lang="en-US" alt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共享工作信息的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</a:t>
            </a:r>
            <a:endParaRPr lang="zh-CN" altLang="en-US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09600" y="1461452"/>
            <a:ext cx="53335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上下文＝Agent 当前看得见的对话、材料和工作过程。</a:t>
            </a:r>
            <a:endParaRPr lang="zh-CN" sz="165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1917065"/>
            <a:ext cx="5143500" cy="45243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19800" y="1923415"/>
            <a:ext cx="5295900" cy="451231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09600" y="1915795"/>
            <a:ext cx="5143500" cy="571500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6019800" y="1924050"/>
            <a:ext cx="5295900" cy="54546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148387" y="2033111"/>
            <a:ext cx="345386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隔离上下文：只收交接材料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1365" y="2622233"/>
            <a:ext cx="461010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前一角色的对话和工具记录</a:t>
            </a:r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ea"/>
              </a:rPr>
              <a:t>都留给下一角色查看。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16915" y="563721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优点：细节不易丢</a:t>
            </a:r>
            <a:endParaRPr lang="zh-CN" sz="16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16915" y="5972492"/>
            <a:ext cx="40024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代价：历史越来越长，易受前人思路影响</a:t>
            </a:r>
            <a:endParaRPr lang="zh-CN" sz="165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148070" y="2622233"/>
            <a:ext cx="5029200" cy="507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各自保留自己的工作记录，</a:t>
            </a:r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  <a:sym typeface="+mn-ea"/>
              </a:rPr>
              <a:t>只交换结论、文件或消息。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  <a:p>
            <a:pPr algn="l"/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148070" y="563721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优点：便于并行、分工清楚</a:t>
            </a:r>
            <a:endParaRPr lang="zh-CN" sz="16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148070" y="597249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代价：必须设计好交接格式</a:t>
            </a:r>
            <a:endParaRPr lang="zh-CN" sz="165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12"/>
          <p:cNvSpPr txBox="1"/>
          <p:nvPr/>
        </p:nvSpPr>
        <p:spPr>
          <a:xfrm>
            <a:off x="818197" y="2033111"/>
            <a:ext cx="373739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共享上下文：接班看完整日志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80" y="2939415"/>
            <a:ext cx="4530090" cy="258064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65" y="2969895"/>
            <a:ext cx="4530725" cy="2546985"/>
          </a:xfrm>
          <a:prstGeom prst="rect">
            <a:avLst/>
          </a:prstGeom>
        </p:spPr>
      </p:pic>
      <p:sp>
        <p:nvSpPr>
          <p:cNvPr id="82" name="Rectangle 3"/>
          <p:cNvSpPr/>
          <p:nvPr/>
        </p:nvSpPr>
        <p:spPr>
          <a:xfrm>
            <a:off x="609600" y="409575"/>
            <a:ext cx="2112645" cy="268605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83" name="TextBox 4"/>
          <p:cNvSpPr txBox="1"/>
          <p:nvPr/>
        </p:nvSpPr>
        <p:spPr>
          <a:xfrm>
            <a:off x="716915" y="450215"/>
            <a:ext cx="315087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多智能体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</a:t>
            </a:r>
            <a:endParaRPr lang="zh-CN" altLang="en-US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75310" y="861060"/>
            <a:ext cx="379285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</a:t>
            </a:r>
            <a:r>
              <a:rPr lang="en-US" alt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之间的协作</a:t>
            </a:r>
            <a:r>
              <a:rPr lang="zh-CN" altLang="en-US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endParaRPr lang="zh-CN" altLang="en-US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510530" y="1937385"/>
            <a:ext cx="607187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510530" y="1937385"/>
            <a:ext cx="104775" cy="1057275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770562" y="2318861"/>
            <a:ext cx="118557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工具参数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111365" y="2191702"/>
            <a:ext cx="18615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topic="文本分类复现"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111365" y="2534602"/>
            <a:ext cx="2716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summary="先核指标，再写报告"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912033" y="234013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短字段；同步调用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5510530" y="3232785"/>
            <a:ext cx="607187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510530" y="3232785"/>
            <a:ext cx="104775" cy="1057275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770562" y="3614261"/>
            <a:ext cx="118557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共享文件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111365" y="3487102"/>
            <a:ext cx="18615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output/metrics.json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111365" y="3830002"/>
            <a:ext cx="21765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output/predictions.json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912033" y="3690779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结果留存；交路径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Rectangle 20"/>
          <p:cNvSpPr/>
          <p:nvPr/>
        </p:nvSpPr>
        <p:spPr>
          <a:xfrm>
            <a:off x="5510530" y="4528185"/>
            <a:ext cx="607949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510530" y="4528185"/>
            <a:ext cx="104775" cy="1057275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770562" y="4909661"/>
            <a:ext cx="118557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消息总线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111365" y="4782502"/>
            <a:ext cx="25996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topic: experiment.completed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111365" y="5125402"/>
            <a:ext cx="25636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payload: metrics.json 的路径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912033" y="4923949"/>
            <a:ext cx="15625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多方订阅；异步通知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" y="2012315"/>
            <a:ext cx="4829175" cy="3498215"/>
          </a:xfrm>
          <a:prstGeom prst="rect">
            <a:avLst/>
          </a:prstGeom>
        </p:spPr>
      </p:pic>
      <p:sp>
        <p:nvSpPr>
          <p:cNvPr id="82" name="Rectangle 3"/>
          <p:cNvSpPr/>
          <p:nvPr/>
        </p:nvSpPr>
        <p:spPr>
          <a:xfrm>
            <a:off x="609600" y="409575"/>
            <a:ext cx="2112645" cy="268605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83" name="TextBox 4"/>
          <p:cNvSpPr txBox="1"/>
          <p:nvPr/>
        </p:nvSpPr>
        <p:spPr>
          <a:xfrm>
            <a:off x="716915" y="450215"/>
            <a:ext cx="3150870" cy="227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</a:t>
            </a:r>
            <a:r>
              <a:rPr lang="en-US" alt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多智能体</a:t>
            </a:r>
            <a:r>
              <a:rPr lang="zh-CN" altLang="en-US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</a:t>
            </a:r>
            <a:endParaRPr lang="zh-CN" altLang="en-US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之间通信，归根结底有两种思路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当彼此看不到对方</a:t>
            </a:r>
            <a:r>
              <a:rPr lang="zh-CN"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运行状态</a:t>
            </a: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时，必须从系统底层约定：数据从哪里来、何时到达、是否等待。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核心区分：“消息传递 vs 共享存储”是数据搬运的两种底层分类；接下来将这一定理落实到字段、文件和事件三种做法。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755648"/>
            <a:ext cx="5376672" cy="39136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678" y="1755648"/>
            <a:ext cx="5376672" cy="91440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3278" y="1920240"/>
            <a:ext cx="4919472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9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消息传递（Message Passing）</a:t>
            </a:r>
            <a:endParaRPr sz="19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3278" y="2304288"/>
            <a:ext cx="4919472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核心动作：发送方 A 将数据显式打包并投递给接收方 B</a:t>
            </a:r>
            <a:endParaRPr sz="13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3278" y="2651760"/>
            <a:ext cx="4919472" cy="658368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87870" y="2807208"/>
            <a:ext cx="1143000" cy="347472"/>
          </a:xfrm>
          <a:prstGeom prst="roundRect">
            <a:avLst>
              <a:gd name="adj" fmla="val 3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15301" y="2873947"/>
            <a:ext cx="1088136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发送方 A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40598" y="2969513"/>
            <a:ext cx="2039112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Isosceles Triangle 23"/>
          <p:cNvSpPr/>
          <p:nvPr/>
        </p:nvSpPr>
        <p:spPr>
          <a:xfrm rot="5400000">
            <a:off x="4261422" y="2907791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40598" y="2688336"/>
            <a:ext cx="2057400" cy="195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1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显式消息包 (参数 / 事件)</a:t>
            </a:r>
            <a:endParaRPr sz="11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62590" y="2807208"/>
            <a:ext cx="1143000" cy="347472"/>
          </a:xfrm>
          <a:prstGeom prst="roundRect">
            <a:avLst>
              <a:gd name="adj" fmla="val 3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90022" y="2873947"/>
            <a:ext cx="1088136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接收方 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3278" y="3438144"/>
            <a:ext cx="4919472" cy="1992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包含形式：</a:t>
            </a:r>
            <a:r>
              <a:rPr sz="12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工具参数调用（Tool Call） · 点对点消息 · 发布/订阅消息总线</a:t>
            </a:r>
            <a:endParaRPr sz="12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同步（Sync）：</a:t>
            </a:r>
            <a:r>
              <a:rPr sz="12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调用后原地阻塞等待，拿到 B 的返回值才继续（强时序保障）。</a:t>
            </a:r>
            <a:endParaRPr sz="12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异步（Async）：</a:t>
            </a:r>
            <a:r>
              <a:rPr sz="12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将消息发出后立即继续工作，B 从队列异步接收处理（高并发解耦）。</a:t>
            </a:r>
            <a:endParaRPr sz="12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适用与局限：</a:t>
            </a:r>
            <a:r>
              <a:rPr sz="12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适合轻量控制信令与任务派发；不适合直接搬运大体积明细。</a:t>
            </a:r>
            <a:endParaRPr sz="12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18238" y="1755648"/>
            <a:ext cx="5376672" cy="39136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218238" y="1755648"/>
            <a:ext cx="5376672" cy="9144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838" y="1920240"/>
            <a:ext cx="4919472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9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共享存储（Shared Storage）</a:t>
            </a:r>
            <a:endParaRPr sz="19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46838" y="2304288"/>
            <a:ext cx="4919472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核心动作：写入方 A 落盘到公共位置，读取方 B 按路径读取</a:t>
            </a:r>
            <a:endParaRPr sz="13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46838" y="2651760"/>
            <a:ext cx="4919472" cy="658368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83998" y="2807208"/>
            <a:ext cx="1051560" cy="347472"/>
          </a:xfrm>
          <a:prstGeom prst="roundRect">
            <a:avLst>
              <a:gd name="adj" fmla="val 35000"/>
            </a:avLst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11430" y="2873947"/>
            <a:ext cx="996695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写入方 A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699566" y="2969513"/>
            <a:ext cx="484632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Isosceles Triangle 36"/>
          <p:cNvSpPr/>
          <p:nvPr/>
        </p:nvSpPr>
        <p:spPr>
          <a:xfrm rot="5400000">
            <a:off x="8165910" y="2907791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339645" y="2761488"/>
            <a:ext cx="1234440" cy="4389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39645" y="2777744"/>
            <a:ext cx="123444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0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 / 目录</a:t>
            </a:r>
            <a:endParaRPr sz="10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output/*.json</a:t>
            </a:r>
            <a:endParaRPr sz="10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619806" y="2969513"/>
            <a:ext cx="484632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Isosceles Triangle 40"/>
          <p:cNvSpPr/>
          <p:nvPr/>
        </p:nvSpPr>
        <p:spPr>
          <a:xfrm rot="5400000">
            <a:off x="10086150" y="2907791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0241598" y="2807208"/>
            <a:ext cx="1051560" cy="347472"/>
          </a:xfrm>
          <a:prstGeom prst="roundRect">
            <a:avLst>
              <a:gd name="adj" fmla="val 35000"/>
            </a:avLst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269028" y="2873947"/>
            <a:ext cx="996695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读取方 B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46838" y="3438144"/>
            <a:ext cx="4919472" cy="1992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包含形式：</a:t>
            </a:r>
            <a:r>
              <a:rPr sz="12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共享结果文件 · 产物路径（URI） · 共享进度表 / 黑板（Blackboard）</a:t>
            </a:r>
            <a:endParaRPr sz="12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8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零拷贝传址：</a:t>
            </a:r>
            <a:r>
              <a:rPr sz="12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只交文件路径而不把几千行数据塞进提示词，显著节省上下文窗口。</a:t>
            </a:r>
            <a:endParaRPr sz="12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8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可追溯留存：</a:t>
            </a:r>
            <a:r>
              <a:rPr sz="12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中间产物持久化在磁盘，支持报告撰写与独立审计跨阶段反复核查。</a:t>
            </a:r>
            <a:endParaRPr sz="12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适用与局限：</a:t>
            </a:r>
            <a:r>
              <a:rPr sz="12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适合长报告与数据集；需配合通知机制，并防范多角色并发写覆盖冲突。</a:t>
            </a:r>
            <a:endParaRPr sz="12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方式一：把下游 Agent 当作工具调用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将下游角色封装成具有明确参数签名与返回值的函数（Agent-as-a-Tool），适合短、字段固定、需立即拿结果的交接。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核心权衡：函数式工具调用边界最清晰、控制最直接；但若把几千条预测明细直接塞进参数，会导致上下文膨胀与参数错抄。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755648"/>
            <a:ext cx="6172200" cy="39136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678" y="1755648"/>
            <a:ext cx="6172200" cy="420624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990" y="1847088"/>
            <a:ext cx="43891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examples/communication_demo.py 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258118" y="1837943"/>
            <a:ext cx="1325880" cy="256032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85550" y="1868169"/>
            <a:ext cx="1271016" cy="195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1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</a:rPr>
              <a:t>同步阻塞调用</a:t>
            </a:r>
            <a:endParaRPr sz="11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990" y="2286000"/>
            <a:ext cx="5751576" cy="21945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1294" y="2340864"/>
            <a:ext cx="5486400" cy="19373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1. 定义下游工具接口：使用 * 强制关键字参数，明确输入契约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 writer_tool(*, topic: str, summary: str) -&gt; str: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return f"{topic}: {summary}"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2. 上游发起同步调用：必须等待函数返回，才能继续使用 result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result = writer_tool(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topic="文本分类复现",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summary="先核指标(Acc=0.833, F1=0.829)，再写报告",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4989" y="4590288"/>
            <a:ext cx="5751576" cy="213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同步调用时序链（调用方全程阻塞等待）：</a:t>
            </a:r>
            <a:endParaRPr sz="12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4990" y="4882896"/>
            <a:ext cx="1298448" cy="585216"/>
          </a:xfrm>
          <a:prstGeom prst="roundRect">
            <a:avLst>
              <a:gd name="adj" fmla="val 12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709" y="5072952"/>
            <a:ext cx="1207008" cy="205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1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主控组装参数</a:t>
            </a:r>
            <a:endParaRPr sz="11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112582" y="5164074"/>
            <a:ext cx="36575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Isosceles Triangle 26"/>
          <p:cNvSpPr/>
          <p:nvPr/>
        </p:nvSpPr>
        <p:spPr>
          <a:xfrm rot="5400000">
            <a:off x="2130870" y="510235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268030" y="4882896"/>
            <a:ext cx="1298448" cy="585216"/>
          </a:xfrm>
          <a:prstGeom prst="roundRect">
            <a:avLst>
              <a:gd name="adj" fmla="val 12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13749" y="4970399"/>
            <a:ext cx="1207008" cy="4102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1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调用 writer_tool</a:t>
            </a:r>
            <a:endParaRPr sz="11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575622" y="5164074"/>
            <a:ext cx="36575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Isosceles Triangle 30"/>
          <p:cNvSpPr/>
          <p:nvPr/>
        </p:nvSpPr>
        <p:spPr>
          <a:xfrm rot="5400000">
            <a:off x="3593910" y="510235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731070" y="4882896"/>
            <a:ext cx="1298448" cy="585216"/>
          </a:xfrm>
          <a:prstGeom prst="roundRect">
            <a:avLst>
              <a:gd name="adj" fmla="val 12000"/>
            </a:avLst>
          </a:prstGeom>
          <a:solidFill>
            <a:srgbClr val="E0F2F4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76790" y="4970399"/>
            <a:ext cx="1207008" cy="4102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1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下游执行并生成</a:t>
            </a:r>
            <a:endParaRPr sz="11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38662" y="5164074"/>
            <a:ext cx="36575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Isosceles Triangle 34"/>
          <p:cNvSpPr/>
          <p:nvPr/>
        </p:nvSpPr>
        <p:spPr>
          <a:xfrm rot="5400000">
            <a:off x="5056950" y="510235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194110" y="4882896"/>
            <a:ext cx="1298448" cy="585216"/>
          </a:xfrm>
          <a:prstGeom prst="roundRect">
            <a:avLst>
              <a:gd name="adj" fmla="val 12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39830" y="4970399"/>
            <a:ext cx="1207008" cy="4102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1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返回 result 继续</a:t>
            </a:r>
            <a:endParaRPr sz="11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95478" y="1755648"/>
            <a:ext cx="4572000" cy="320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读代码与设计接口看四件事</a:t>
            </a:r>
            <a:endParaRPr sz="18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995478" y="2121408"/>
            <a:ext cx="4599432" cy="13716"/>
          </a:xfrm>
          <a:prstGeom prst="rect">
            <a:avLst/>
          </a:prstGeom>
          <a:solidFill>
            <a:srgbClr val="72B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995478" y="2231136"/>
            <a:ext cx="459943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995478" y="2231136"/>
            <a:ext cx="73152" cy="768096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78358" y="2304288"/>
            <a:ext cx="4297680" cy="23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2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输入有哪些字段？</a:t>
            </a:r>
            <a:endParaRPr sz="132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78358" y="2578608"/>
            <a:ext cx="4297680" cy="206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明确必填字段名与含义（如 topic 与 summary）。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995478" y="3090672"/>
            <a:ext cx="459943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995478" y="3090672"/>
            <a:ext cx="73152" cy="768096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78358" y="3163824"/>
            <a:ext cx="4297680" cy="23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2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下游返回什么？</a:t>
            </a:r>
            <a:endParaRPr sz="132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178358" y="3438144"/>
            <a:ext cx="42976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约定返回结论文本或结构化字典，调用方拿到 result 即可直接进入下一步。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995478" y="3950208"/>
            <a:ext cx="4599432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995478" y="3950208"/>
            <a:ext cx="73152" cy="768096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178358" y="4023360"/>
            <a:ext cx="4297680" cy="23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2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调用方要等多久？</a:t>
            </a:r>
            <a:endParaRPr sz="132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178358" y="4297680"/>
            <a:ext cx="42976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</a:rPr>
              <a:t>同步调用期间上游处于挂起等待状态；工程中需设置超时时间与异常兜底。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995478" y="4809744"/>
            <a:ext cx="4599432" cy="768096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995478" y="4809744"/>
            <a:ext cx="73152" cy="7680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78358" y="4882896"/>
            <a:ext cx="4297680" cy="23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2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为什么不传大明细？</a:t>
            </a:r>
            <a:endParaRPr sz="132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178358" y="5157216"/>
            <a:ext cx="4297680" cy="412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边界清晰，但严禁在参数里塞进全部预测明细——易撑爆窗口且大模型极易抄错。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方式二：长产物放进共享文件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把体积大、需留存核查的资料写进磁盘文件，交接时只传轻量文件路径（Pass-by-Reference），下游按需读取。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核心原则：数据落盘留证据，消息只传文件路径；多 Agent 并发访问共享文件时，必须通过“分文件、版本检查、合并审核”防覆盖。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755648"/>
            <a:ext cx="2971800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678" y="1755648"/>
            <a:ext cx="2971800" cy="73152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0126" y="1865376"/>
            <a:ext cx="269748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实验执行 Agent A</a:t>
            </a:r>
            <a:endParaRPr sz="16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0126" y="2194560"/>
            <a:ext cx="2697480" cy="652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运行脚本 run_baseline.py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固定 12 条训练 / 6 条测试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指标与预测结果序列化落盘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39630" y="2375153"/>
            <a:ext cx="548640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169982" y="231343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84766" y="2066543"/>
            <a:ext cx="768096" cy="18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</a:rPr>
              <a:t>序列化落盘</a:t>
            </a:r>
            <a:endParaRPr sz="105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71150" y="1755648"/>
            <a:ext cx="3456432" cy="1261872"/>
          </a:xfrm>
          <a:prstGeom prst="roundRect">
            <a:avLst>
              <a:gd name="adj" fmla="val 4000"/>
            </a:avLst>
          </a:prstGeom>
          <a:solidFill>
            <a:srgbClr val="E0F2F4"/>
          </a:solidFill>
          <a:ln w="16510">
            <a:solidFill>
              <a:srgbClr val="0F7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54029" y="1847088"/>
            <a:ext cx="3090672" cy="267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共享产物目录：output/</a:t>
            </a:r>
            <a:endParaRPr sz="1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54030" y="2157984"/>
            <a:ext cx="309067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63757" y="2194560"/>
            <a:ext cx="2871216" cy="662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metrics.json (Acc: 0.833, F1: 0.829)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predictions.json (6条真值与预测明细)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★ 持久化中间产物 · 消息仅传文件路径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900734" y="2375153"/>
            <a:ext cx="548640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Isosceles Triangle 27"/>
          <p:cNvSpPr/>
          <p:nvPr/>
        </p:nvSpPr>
        <p:spPr>
          <a:xfrm rot="5400000">
            <a:off x="8431086" y="231343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45870" y="2066543"/>
            <a:ext cx="768096" cy="18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</a:rPr>
              <a:t>按路径读取</a:t>
            </a:r>
            <a:endParaRPr sz="105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623110" y="1755648"/>
            <a:ext cx="2971800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623110" y="1755648"/>
            <a:ext cx="2971800" cy="73152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78558" y="1865376"/>
            <a:ext cx="269748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报告撰写 B / 审核员 C</a:t>
            </a:r>
            <a:endParaRPr sz="16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78558" y="2194560"/>
            <a:ext cx="2697480" cy="652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报告员 B：读取指标文件写报告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审核员 C：读取预测明细做复算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按需加载路径，无需转发全文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4678" y="3182112"/>
            <a:ext cx="6217920" cy="2487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4678" y="3182112"/>
            <a:ext cx="6217920" cy="384048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4989" y="3246120"/>
            <a:ext cx="57607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最小读写操作 · run_baseline.py + communication_demo.py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04990" y="3639312"/>
            <a:ext cx="5797296" cy="10058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33006" y="3694176"/>
            <a:ext cx="5541264" cy="929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上游写入：将指标字典序列化写入共享文件</a:t>
            </a:r>
            <a:endParaRPr sz="11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metrics_path.write_text(json.dumps(metrics, ensure_ascii=False, indent=2))</a:t>
            </a:r>
            <a:endParaRPr sz="11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下游读取：凭交接消息中的路径 artifact_path 按需加载</a:t>
            </a:r>
            <a:endParaRPr sz="11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= json.loads(artifact_path.read_text(encoding="utf-8"))</a:t>
            </a:r>
            <a:endParaRPr sz="11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04989" y="4718304"/>
            <a:ext cx="5797296" cy="879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12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为什么只交路径？</a:t>
            </a:r>
            <a:r>
              <a:rPr sz="12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消息体积恒定（几十字节），哪怕预测集扩充到上万条也不会撑爆上下文。</a:t>
            </a:r>
            <a:endParaRPr sz="12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</a:pPr>
            <a:r>
              <a:rPr sz="120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为什么必须留盘？</a:t>
            </a:r>
            <a:r>
              <a:rPr sz="12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把生成过程变成可核查的静态证据链，报告者与审核员随时可打开 JSON 核对。</a:t>
            </a:r>
            <a:endParaRPr sz="12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022910" y="3182112"/>
            <a:ext cx="4572000" cy="2487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022910" y="3182112"/>
            <a:ext cx="4572000" cy="384048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224078" y="3246120"/>
            <a:ext cx="411480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并发时的风险与三大工程防错做法</a:t>
            </a:r>
            <a:endParaRPr sz="13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4078" y="3639312"/>
            <a:ext cx="4169663" cy="174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8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并发覆盖风险：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 Agent 同时写同一文件，后写入会覆盖前写入或导致文件损坏。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按任务分文件：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文件名绑定 task_id（如 metrics_repro01.json），物理隔离写空间。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读写权限分离：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仅允许实验执行者写入 output/，报告者与审核者一律只读访问。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8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版本检查与合并：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文件记录时间戳与输入哈希；多方修改需经审核节点合并。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方式三：消息总线让多方异步协作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发布者（Publisher）只负责广播“发生了什么事件”；多个订阅者（Subscribers）按主题（Topic）各取所需、异步响应。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核心价值：发布者与接收者彻底解耦——新增一个下游角色（如独立审核员或日志归档员），不需要修改上游实验执行者的代码。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865376"/>
            <a:ext cx="260604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678" y="1865376"/>
            <a:ext cx="91440" cy="1353312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558" y="1956816"/>
            <a:ext cx="2359152" cy="267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实验执行者 (Publisher)</a:t>
            </a:r>
            <a:endParaRPr sz="1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558" y="2286000"/>
            <a:ext cx="2359152" cy="70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完成基线实验并写盘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仅发布一次完成事件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不关心下游有谁或有几个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73870" y="2530601"/>
            <a:ext cx="731520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Isosceles Triangle 20"/>
          <p:cNvSpPr/>
          <p:nvPr/>
        </p:nvSpPr>
        <p:spPr>
          <a:xfrm rot="5400000">
            <a:off x="3987102" y="2468879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718" y="2231136"/>
            <a:ext cx="987552" cy="18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</a:rPr>
              <a:t>发布完成事件</a:t>
            </a:r>
            <a:endParaRPr sz="105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88270" y="1773936"/>
            <a:ext cx="3154680" cy="1536192"/>
          </a:xfrm>
          <a:prstGeom prst="roundRect">
            <a:avLst>
              <a:gd name="adj" fmla="val 5000"/>
            </a:avLst>
          </a:prstGeom>
          <a:solidFill>
            <a:srgbClr val="173A5E"/>
          </a:solidFill>
          <a:ln w="1905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1150" y="1883664"/>
            <a:ext cx="2788920" cy="30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消息总线 (Message Bus)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407726" y="2267712"/>
            <a:ext cx="2715768" cy="384048"/>
          </a:xfrm>
          <a:prstGeom prst="roundRect">
            <a:avLst>
              <a:gd name="adj" fmla="val 15000"/>
            </a:avLst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07726" y="2352739"/>
            <a:ext cx="2715768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topic: experiment.completed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1150" y="2743200"/>
            <a:ext cx="278892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250"/>
              </a:spcAft>
            </a:pPr>
            <a:r>
              <a:rPr sz="1150" b="0">
                <a:solidFill>
                  <a:srgbClr val="EEF3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按主题（Topic）过滤并</a:t>
            </a:r>
            <a:r>
              <a:rPr lang="zh-CN" sz="1150" b="0">
                <a:solidFill>
                  <a:srgbClr val="EEF3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</a:t>
            </a:r>
            <a:r>
              <a:rPr sz="1150" b="0">
                <a:solidFill>
                  <a:srgbClr val="EEF3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出广播</a:t>
            </a:r>
            <a:endParaRPr sz="1150" b="0">
              <a:solidFill>
                <a:srgbClr val="EEF3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EEF3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实现一对多异步解耦</a:t>
            </a:r>
            <a:endParaRPr sz="1150" b="0">
              <a:solidFill>
                <a:srgbClr val="EEF3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25245" y="2018538"/>
            <a:ext cx="758952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Isosceles Triangle 28"/>
          <p:cNvSpPr/>
          <p:nvPr/>
        </p:nvSpPr>
        <p:spPr>
          <a:xfrm rot="5400000">
            <a:off x="8165909" y="1956816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425245" y="2539746"/>
            <a:ext cx="758952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Isosceles Triangle 30"/>
          <p:cNvSpPr/>
          <p:nvPr/>
        </p:nvSpPr>
        <p:spPr>
          <a:xfrm rot="5400000">
            <a:off x="8165909" y="2478024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425245" y="3060953"/>
            <a:ext cx="758952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Isosceles Triangle 32"/>
          <p:cNvSpPr/>
          <p:nvPr/>
        </p:nvSpPr>
        <p:spPr>
          <a:xfrm rot="5400000">
            <a:off x="8165909" y="299923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367078" y="1737360"/>
            <a:ext cx="3227832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67078" y="1737360"/>
            <a:ext cx="73152" cy="493776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22526" y="1773936"/>
            <a:ext cx="2999232" cy="210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订阅者 1：管理者 (Manager)</a:t>
            </a:r>
            <a:endParaRPr sz="118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22526" y="1993391"/>
            <a:ext cx="2999232" cy="195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收到事件 → 将任务状态更新为“实验已完成”</a:t>
            </a:r>
            <a:endParaRPr sz="11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367078" y="2304288"/>
            <a:ext cx="3227832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367078" y="2304288"/>
            <a:ext cx="73152" cy="493776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22526" y="2340864"/>
            <a:ext cx="2999232" cy="210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订阅者 2：报告撰写者 (Writer)</a:t>
            </a:r>
            <a:endParaRPr sz="118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22526" y="2560320"/>
            <a:ext cx="2999232" cy="195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提取路径 → 读取 metrics.json 撰写报告</a:t>
            </a:r>
            <a:endParaRPr sz="11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367078" y="2871215"/>
            <a:ext cx="3227832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367078" y="2871215"/>
            <a:ext cx="73152" cy="493776"/>
          </a:xfrm>
          <a:prstGeom prst="rect">
            <a:avLst/>
          </a:prstGeom>
          <a:solidFill>
            <a:srgbClr val="0D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22526" y="2907791"/>
            <a:ext cx="2999232" cy="210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订阅者 3：独立审核者 (Reviewer)</a:t>
            </a:r>
            <a:endParaRPr sz="1180" b="1">
              <a:solidFill>
                <a:srgbClr val="0D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22526" y="3127248"/>
            <a:ext cx="2999232" cy="195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拉取 predictions.json → 触发指标复算</a:t>
            </a:r>
            <a:endParaRPr sz="11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2674938" y="3465195"/>
            <a:ext cx="617220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674938" y="3465195"/>
            <a:ext cx="6172200" cy="36576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885250" y="3529203"/>
            <a:ext cx="5760720" cy="227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可运行的最小示例：本地队列模拟“订阅 → 发布 → 接收”</a:t>
            </a:r>
            <a:endParaRPr sz="128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2885250" y="3904107"/>
            <a:ext cx="5751576" cy="1225296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13265" y="3958971"/>
            <a:ext cx="5486400" cy="1108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1. 多角色提前订阅同一事件主题（各自拥有独立收件队列）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manager_inbox = bus.subscribe("experiment.completed")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writer_inbox  = bus.subscribe("experiment.completed")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2. 实验执行者发布一次信封，所有订阅者队列同时收到消息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</a:pPr>
            <a:r>
              <a:rPr sz="112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bus.publish("experiment.completed", envelope)</a:t>
            </a:r>
            <a:endParaRPr sz="112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85250" y="5202555"/>
            <a:ext cx="5751576" cy="420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80" b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解耦优势：发布者无需逐个调用下游函数；附件脚本使用标准库内存队列即可离线跑通。</a:t>
            </a:r>
            <a:endParaRPr sz="1180" b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消息要有“信封”：谁发、发给谁、发生了什么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统一的消息信封（Envelope）把“路由控制字段”与“业务数据载荷”规范化，让接收方能路由、解析、追踪任务。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核心法则：把大体积产物留在共享文件里，把“谁发的、属于哪次任务、去哪个路径取结果”装进结构化信封里。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755648"/>
            <a:ext cx="5623560" cy="391363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678" y="1755648"/>
            <a:ext cx="5623560" cy="402336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989" y="1828800"/>
            <a:ext cx="3840480" cy="23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2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一条实验完成消息 · 结构化 JSON 信封示例</a:t>
            </a:r>
            <a:endParaRPr sz="132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990" y="2249424"/>
            <a:ext cx="5202936" cy="2048256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1294" y="2304288"/>
            <a:ext cx="4937760" cy="205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{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"sender":  "runner",        // 发送方角色：实验执行者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"target":  "manager",       // 接收方角色：管理者（或广播 *）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"type":    "result",        // 消息类型：结果交付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"task_id": "repro-01",      // 任务追踪号：第 01 号复现批次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"payload": {                // 实际载荷：轻量文件路径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"file": "output/metrics.json"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  <a:spcAft>
                <a:spcPts val="250"/>
              </a:spcAft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}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4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4990" y="4407408"/>
            <a:ext cx="5202936" cy="1115568"/>
          </a:xfrm>
          <a:prstGeom prst="roundRect">
            <a:avLst>
              <a:gd name="adj" fmla="val 6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1294" y="4462272"/>
            <a:ext cx="4919472" cy="1086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22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为什么要把“信封字段”与“payload”拆开？</a:t>
            </a:r>
            <a:endParaRPr sz="122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路由层不读大文件：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总线只需解析外层 sender/target/type 即可高速分发。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8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多实验并发防串台：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并行跑多组超参数时，靠 task_id 将指标与报告精准串联。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46838" y="1755648"/>
            <a:ext cx="5120640" cy="31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7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接收方收到消息后如何处理？（四步解析流水线）</a:t>
            </a:r>
            <a:endParaRPr sz="17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446838" y="2121408"/>
            <a:ext cx="5148072" cy="13716"/>
          </a:xfrm>
          <a:prstGeom prst="rect">
            <a:avLst/>
          </a:prstGeom>
          <a:solidFill>
            <a:srgbClr val="72B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46838" y="2212848"/>
            <a:ext cx="5148072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46838" y="2212848"/>
            <a:ext cx="73152" cy="585216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20574" y="2267712"/>
            <a:ext cx="48463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先看 target：是否发给我？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20574" y="2523744"/>
            <a:ext cx="484632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检查目标角色是否为自己（如 manager）或所属订阅组，非目标直接忽略。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46838" y="2871215"/>
            <a:ext cx="5148072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46838" y="2871215"/>
            <a:ext cx="73152" cy="585216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0574" y="2926079"/>
            <a:ext cx="48463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再看 type：结果还是状态更新？</a:t>
            </a:r>
            <a:endParaRPr sz="13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20574" y="3182111"/>
            <a:ext cx="484632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按消息类型分流：区分新派单、中间进度心跳与实验最终结果（result）。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446838" y="3529584"/>
            <a:ext cx="5148072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46838" y="3529584"/>
            <a:ext cx="73152" cy="585216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20574" y="3584448"/>
            <a:ext cx="48463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用 task_id：找到同一项任务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20574" y="3840480"/>
            <a:ext cx="484632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 repro-01 定位实验批次，防止多任务并发时把不同批次的指标混用。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46838" y="4187952"/>
            <a:ext cx="5148072" cy="5852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446838" y="4187952"/>
            <a:ext cx="73152" cy="585216"/>
          </a:xfrm>
          <a:prstGeom prst="rect">
            <a:avLst/>
          </a:prstGeom>
          <a:solidFill>
            <a:srgbClr val="0D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20574" y="4242816"/>
            <a:ext cx="48463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读 payload：取到产物路径</a:t>
            </a:r>
            <a:endParaRPr sz="1300" b="1">
              <a:solidFill>
                <a:srgbClr val="0D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20574" y="4498848"/>
            <a:ext cx="484632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从载荷中取出 output/metrics.json 路径，再去共享目录按需读取数据。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446838" y="4882896"/>
            <a:ext cx="5148072" cy="786384"/>
          </a:xfrm>
          <a:prstGeom prst="roundRect">
            <a:avLst>
              <a:gd name="adj" fmla="val 6000"/>
            </a:avLst>
          </a:prstGeom>
          <a:solidFill>
            <a:srgbClr val="E0F2F4"/>
          </a:solidFill>
          <a:ln w="1016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20574" y="4937760"/>
            <a:ext cx="4846320" cy="22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 系统最常用的四类消息（type 枚举）：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0574" y="5175504"/>
            <a:ext cx="242316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task_assigned：</a:t>
            </a:r>
            <a:r>
              <a:rPr sz="11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下发新任务</a:t>
            </a:r>
            <a:endParaRPr sz="11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status_update：</a:t>
            </a:r>
            <a:r>
              <a:rPr sz="11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汇报中间进度</a:t>
            </a:r>
            <a:endParaRPr sz="11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98598" y="5175504"/>
            <a:ext cx="242316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15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result：</a:t>
            </a:r>
            <a:r>
              <a:rPr sz="11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交付最终产物路径</a:t>
            </a:r>
            <a:endParaRPr sz="11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1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terminate：</a:t>
            </a:r>
            <a:r>
              <a:rPr sz="11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异常中止或正常结束</a:t>
            </a:r>
            <a:endParaRPr sz="11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三种交接方式，按“数据形态”选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架构选型黄金法则：不要先问框架支持哪种语法，先看交接内容有多长、有几个接收方、要不要留底核查。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指标与预测明细落盘（共享文件）＋ 总线广播“实验完成 + 路径”（消息总线）＋ 主题与要求走函数调用（工具参数）。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737360"/>
            <a:ext cx="11000232" cy="457200"/>
          </a:xfrm>
          <a:prstGeom prst="roundRect">
            <a:avLst>
              <a:gd name="adj" fmla="val 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558" y="1841500"/>
            <a:ext cx="2560320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交接场景与数据形态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29318" y="1841500"/>
            <a:ext cx="1417320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优先机制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8078" y="1841500"/>
            <a:ext cx="2057400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为什么选它（核心优势）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918" y="1841500"/>
            <a:ext cx="1874519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时序与留存特征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52878" y="1841500"/>
            <a:ext cx="2468880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实验具体例子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678" y="2231136"/>
            <a:ext cx="11000232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558" y="2322576"/>
            <a:ext cx="256032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</a:rPr>
              <a:t>短、结构固定、马上要结果</a:t>
            </a:r>
            <a:endParaRPr sz="13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558" y="2651760"/>
            <a:ext cx="2560320" cy="205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如百字以内的任务指令、开关参数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429318" y="2450591"/>
            <a:ext cx="1234440" cy="34747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56750" y="2508757"/>
            <a:ext cx="1179576" cy="2311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工具参数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8078" y="2398268"/>
            <a:ext cx="2057400" cy="4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</a:rPr>
              <a:t>字段契约清楚；函数调用完就能立刻拿到返回值继续</a:t>
            </a:r>
            <a:endParaRPr sz="12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86918" y="2400173"/>
            <a:ext cx="1874519" cy="448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同步阻塞 · 内存传值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（不自动持久化落盘）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52878" y="2407158"/>
            <a:ext cx="2450592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主控把 topic="文本分类复现" 与核验要求交给报告工具</a:t>
            </a:r>
            <a:endParaRPr sz="12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4678" y="3054096"/>
            <a:ext cx="11000232" cy="786384"/>
          </a:xfrm>
          <a:prstGeom prst="rect">
            <a:avLst/>
          </a:prstGeom>
          <a:solidFill>
            <a:srgbClr val="EEF3F6"/>
          </a:solidFill>
          <a:ln w="1016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558" y="3145536"/>
            <a:ext cx="256032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</a:rPr>
              <a:t>长文档、数据表、要反复读取</a:t>
            </a:r>
            <a:endParaRPr sz="13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558" y="3474720"/>
            <a:ext cx="2560320" cy="205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如评测指标、逐条预测明细、长报告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429318" y="3273552"/>
            <a:ext cx="1234440" cy="347472"/>
          </a:xfrm>
          <a:prstGeom prst="roundRect">
            <a:avLst>
              <a:gd name="adj" fmla="val 35000"/>
            </a:avLst>
          </a:prstGeom>
          <a:solidFill>
            <a:srgbClr val="E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56750" y="3331718"/>
            <a:ext cx="1179576" cy="2311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3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</a:rPr>
              <a:t>共享文件</a:t>
            </a:r>
            <a:endParaRPr sz="13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38078" y="3221228"/>
            <a:ext cx="2057400" cy="4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</a:rPr>
              <a:t>产物持久化留存；消息里只需传路径，不撑爆上下文</a:t>
            </a:r>
            <a:endParaRPr sz="12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86918" y="3223133"/>
            <a:ext cx="1874519" cy="448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读写解耦 · 磁盘留存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（需防多角色并发写覆盖）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52878" y="3230118"/>
            <a:ext cx="2450592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执行者写出 metrics.json 与 predictions.json 供多方核查</a:t>
            </a:r>
            <a:endParaRPr sz="12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94678" y="3877056"/>
            <a:ext cx="11000232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7558" y="3968496"/>
            <a:ext cx="256032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</a:rPr>
              <a:t>多个角色协同、异步状态通知</a:t>
            </a:r>
            <a:endParaRPr sz="13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7558" y="4297680"/>
            <a:ext cx="2560320" cy="205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如阶段完成广播、多游并行触发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429318" y="4096512"/>
            <a:ext cx="1234440" cy="34747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56750" y="4154678"/>
            <a:ext cx="1179576" cy="2311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消息总线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938078" y="4044188"/>
            <a:ext cx="2057400" cy="452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</a:rPr>
              <a:t>发布者与接收者彻底解耦；一发多收，无需逐个调用</a:t>
            </a:r>
            <a:endParaRPr sz="125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86918" y="4046093"/>
            <a:ext cx="1874519" cy="4483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异步非阻塞 · 主题路由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（生产级需 ACK 与重试）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52878" y="3944493"/>
            <a:ext cx="2450592" cy="651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实验完成后发布 experiment.completed 唤醒管理者与报告者</a:t>
            </a:r>
            <a:endParaRPr sz="12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94678" y="4773168"/>
            <a:ext cx="11000232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77558" y="4965002"/>
            <a:ext cx="2103120" cy="5124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Aft>
                <a:spcPts val="250"/>
              </a:spcAft>
            </a:pPr>
            <a:r>
              <a:rPr lang="en-US" sz="13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sz="13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组合模式</a:t>
            </a:r>
            <a:endParaRPr sz="13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6000"/>
              </a:lnSpc>
            </a:pPr>
            <a:r>
              <a:rPr sz="13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（三者协同闭环）：</a:t>
            </a:r>
            <a:endParaRPr sz="13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2880678" y="4882896"/>
            <a:ext cx="2606040" cy="676656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990406" y="4919472"/>
            <a:ext cx="2377440" cy="213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步：共享文件落盘</a:t>
            </a:r>
            <a:endParaRPr sz="12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990406" y="5175504"/>
            <a:ext cx="2377440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run_baseline.py 将指标</a:t>
            </a:r>
            <a:r>
              <a:rPr lang="zh-CN" sz="11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r>
              <a:rPr sz="11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 output/*.json</a:t>
            </a:r>
            <a:endParaRPr sz="11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514149" y="5209794"/>
            <a:ext cx="109727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Isosceles Triangle 51"/>
          <p:cNvSpPr/>
          <p:nvPr/>
        </p:nvSpPr>
        <p:spPr>
          <a:xfrm rot="5400000">
            <a:off x="5605590" y="514807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761038" y="4882896"/>
            <a:ext cx="2606040" cy="676656"/>
          </a:xfrm>
          <a:prstGeom prst="roundRect">
            <a:avLst>
              <a:gd name="adj" fmla="val 10000"/>
            </a:avLst>
          </a:prstGeom>
          <a:solidFill>
            <a:srgbClr val="E0F2F4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870766" y="4919472"/>
            <a:ext cx="2377440" cy="213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步：消息总线广播</a:t>
            </a:r>
            <a:endParaRPr sz="12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870766" y="5175504"/>
            <a:ext cx="2377440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 experiment.completed 信封，携带文件路径与 task_id</a:t>
            </a:r>
            <a:endParaRPr sz="11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394510" y="5209794"/>
            <a:ext cx="109727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Isosceles Triangle 56"/>
          <p:cNvSpPr/>
          <p:nvPr/>
        </p:nvSpPr>
        <p:spPr>
          <a:xfrm rot="5400000">
            <a:off x="8485950" y="514807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41398" y="4882896"/>
            <a:ext cx="2606040" cy="676656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751125" y="4919472"/>
            <a:ext cx="2377440" cy="213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步：工具参数调用</a:t>
            </a:r>
            <a:endParaRPr sz="12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751125" y="5175504"/>
            <a:ext cx="2377440" cy="377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下游传入 topic 与核验要求，按路径读取文件生成可核查报告</a:t>
            </a:r>
            <a:endParaRPr sz="11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六种协作方式：任务怎样推进？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lang="zh-CN"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</a:t>
            </a: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方式解决</a:t>
            </a:r>
            <a:r>
              <a:rPr lang="zh-CN"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</a:t>
            </a: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业务问题；同一个多 Agent 系统往往会串联组合多种方式。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并行处理（读协议与备环境） ➔ 顺序交接（跑基线 → 写分析 → 出报告） ➔ 批评审阅（从逐条预测独立重算指标）。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"/>
            </p:custDataLst>
          </p:nvPr>
        </p:nvSpPr>
        <p:spPr>
          <a:xfrm>
            <a:off x="594678" y="1755648"/>
            <a:ext cx="3502152" cy="18470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2"/>
            </p:custDataLst>
          </p:nvPr>
        </p:nvSpPr>
        <p:spPr>
          <a:xfrm>
            <a:off x="594678" y="1755648"/>
            <a:ext cx="3502152" cy="73152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3"/>
            </p:custDataLst>
          </p:nvPr>
        </p:nvSpPr>
        <p:spPr>
          <a:xfrm>
            <a:off x="740982" y="1874519"/>
            <a:ext cx="164592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顺序交接</a:t>
            </a:r>
            <a:endParaRPr sz="16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4"/>
            </p:custDataLst>
          </p:nvPr>
        </p:nvSpPr>
        <p:spPr>
          <a:xfrm>
            <a:off x="2386902" y="1883664"/>
            <a:ext cx="1554480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5"/>
            </p:custDataLst>
          </p:nvPr>
        </p:nvSpPr>
        <p:spPr>
          <a:xfrm>
            <a:off x="2414333" y="1922780"/>
            <a:ext cx="1499616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流水线</a:t>
            </a:r>
            <a:endParaRPr sz="10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6"/>
            </p:custDataLst>
          </p:nvPr>
        </p:nvSpPr>
        <p:spPr>
          <a:xfrm>
            <a:off x="740982" y="2194560"/>
            <a:ext cx="3209544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740982" y="2267712"/>
            <a:ext cx="3209544" cy="1075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前一步产物是后一步的必需输入，按固定先后次序接力。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案例：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先运行基线产出 metrics.json，再交给分析与报告角色。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适用：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存在强数据依赖的确定性主干流程。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>
            <p:custDataLst>
              <p:tags r:id="rId8"/>
            </p:custDataLst>
          </p:nvPr>
        </p:nvSpPr>
        <p:spPr>
          <a:xfrm>
            <a:off x="4343718" y="1755648"/>
            <a:ext cx="3502152" cy="18470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9"/>
            </p:custDataLst>
          </p:nvPr>
        </p:nvSpPr>
        <p:spPr>
          <a:xfrm>
            <a:off x="4343718" y="1755648"/>
            <a:ext cx="3502152" cy="73152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4490022" y="1874519"/>
            <a:ext cx="164592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并行处理</a:t>
            </a:r>
            <a:endParaRPr sz="16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>
            <p:custDataLst>
              <p:tags r:id="rId11"/>
            </p:custDataLst>
          </p:nvPr>
        </p:nvSpPr>
        <p:spPr>
          <a:xfrm>
            <a:off x="6135942" y="1883664"/>
            <a:ext cx="1554480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2"/>
            </p:custDataLst>
          </p:nvPr>
        </p:nvSpPr>
        <p:spPr>
          <a:xfrm>
            <a:off x="6163374" y="1922780"/>
            <a:ext cx="1499616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分头并进</a:t>
            </a:r>
            <a:endParaRPr sz="10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>
            <p:custDataLst>
              <p:tags r:id="rId13"/>
            </p:custDataLst>
          </p:nvPr>
        </p:nvSpPr>
        <p:spPr>
          <a:xfrm>
            <a:off x="4490022" y="2194560"/>
            <a:ext cx="3209544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14"/>
            </p:custDataLst>
          </p:nvPr>
        </p:nvSpPr>
        <p:spPr>
          <a:xfrm>
            <a:off x="4490021" y="2267712"/>
            <a:ext cx="3209544" cy="1075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将互不依赖的子任务同时派给多个角色，在汇合点对齐。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案例：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一组读实验协议，另一组同时配置 Python 环境与分词器。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适用：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子任务输入独立、追求缩短总体耗时。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>
            <p:custDataLst>
              <p:tags r:id="rId15"/>
            </p:custDataLst>
          </p:nvPr>
        </p:nvSpPr>
        <p:spPr>
          <a:xfrm>
            <a:off x="8092758" y="1755648"/>
            <a:ext cx="3502152" cy="18470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>
            <p:custDataLst>
              <p:tags r:id="rId16"/>
            </p:custDataLst>
          </p:nvPr>
        </p:nvSpPr>
        <p:spPr>
          <a:xfrm>
            <a:off x="8092758" y="1755648"/>
            <a:ext cx="3502152" cy="73152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>
            <p:custDataLst>
              <p:tags r:id="rId17"/>
            </p:custDataLst>
          </p:nvPr>
        </p:nvSpPr>
        <p:spPr>
          <a:xfrm>
            <a:off x="8239062" y="1874519"/>
            <a:ext cx="164592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辩论共识</a:t>
            </a:r>
            <a:endParaRPr sz="16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>
            <p:custDataLst>
              <p:tags r:id="rId18"/>
            </p:custDataLst>
          </p:nvPr>
        </p:nvSpPr>
        <p:spPr>
          <a:xfrm>
            <a:off x="9884981" y="1883664"/>
            <a:ext cx="1554480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19"/>
            </p:custDataLst>
          </p:nvPr>
        </p:nvSpPr>
        <p:spPr>
          <a:xfrm>
            <a:off x="9912413" y="1922780"/>
            <a:ext cx="1499616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正反交锋</a:t>
            </a:r>
            <a:endParaRPr sz="10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>
            <p:custDataLst>
              <p:tags r:id="rId20"/>
            </p:custDataLst>
          </p:nvPr>
        </p:nvSpPr>
        <p:spPr>
          <a:xfrm>
            <a:off x="8239062" y="2194560"/>
            <a:ext cx="3209544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>
            <p:custDataLst>
              <p:tags r:id="rId21"/>
            </p:custDataLst>
          </p:nvPr>
        </p:nvSpPr>
        <p:spPr>
          <a:xfrm>
            <a:off x="8239061" y="2267712"/>
            <a:ext cx="3209544" cy="1075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多角色从正反面提出解释与反驳，交叉质询减少盲区。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案例：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围绕“文档 清楚 训练 慢”误判，从分词与词频两角度辩论。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适用：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开放性归因分析、方案比选与复杂决策。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>
            <p:custDataLst>
              <p:tags r:id="rId22"/>
            </p:custDataLst>
          </p:nvPr>
        </p:nvSpPr>
        <p:spPr>
          <a:xfrm>
            <a:off x="594678" y="3730752"/>
            <a:ext cx="3502152" cy="18470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>
            <p:custDataLst>
              <p:tags r:id="rId23"/>
            </p:custDataLst>
          </p:nvPr>
        </p:nvSpPr>
        <p:spPr>
          <a:xfrm>
            <a:off x="594678" y="3730752"/>
            <a:ext cx="3502152" cy="73152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>
            <p:custDataLst>
              <p:tags r:id="rId24"/>
            </p:custDataLst>
          </p:nvPr>
        </p:nvSpPr>
        <p:spPr>
          <a:xfrm>
            <a:off x="740982" y="3849624"/>
            <a:ext cx="164592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层级结构</a:t>
            </a:r>
            <a:endParaRPr sz="16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>
            <p:custDataLst>
              <p:tags r:id="rId25"/>
            </p:custDataLst>
          </p:nvPr>
        </p:nvSpPr>
        <p:spPr>
          <a:xfrm>
            <a:off x="2386902" y="3858768"/>
            <a:ext cx="1554480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>
            <p:custDataLst>
              <p:tags r:id="rId26"/>
            </p:custDataLst>
          </p:nvPr>
        </p:nvSpPr>
        <p:spPr>
          <a:xfrm>
            <a:off x="2414333" y="3897884"/>
            <a:ext cx="1499616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树状委派</a:t>
            </a:r>
            <a:endParaRPr sz="10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>
            <p:custDataLst>
              <p:tags r:id="rId27"/>
            </p:custDataLst>
          </p:nvPr>
        </p:nvSpPr>
        <p:spPr>
          <a:xfrm>
            <a:off x="740982" y="4169664"/>
            <a:ext cx="3209544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>
            <p:custDataLst>
              <p:tags r:id="rId28"/>
            </p:custDataLst>
          </p:nvPr>
        </p:nvSpPr>
        <p:spPr>
          <a:xfrm>
            <a:off x="740982" y="4242816"/>
            <a:ext cx="3209544" cy="1075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上层管理者拆解目标与汇总把关，下层专家专注具体执行。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案例：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复现总管拆解任务，分别派给脚本执行员、分析员与报告员。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适用：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步骤多、跨度大、需全局统筹的复杂工程。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>
            <p:custDataLst>
              <p:tags r:id="rId29"/>
            </p:custDataLst>
          </p:nvPr>
        </p:nvSpPr>
        <p:spPr>
          <a:xfrm>
            <a:off x="4343718" y="3730752"/>
            <a:ext cx="3502152" cy="18470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>
            <p:custDataLst>
              <p:tags r:id="rId30"/>
            </p:custDataLst>
          </p:nvPr>
        </p:nvSpPr>
        <p:spPr>
          <a:xfrm>
            <a:off x="4343718" y="3730752"/>
            <a:ext cx="3502152" cy="73152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>
            <p:custDataLst>
              <p:tags r:id="rId31"/>
            </p:custDataLst>
          </p:nvPr>
        </p:nvSpPr>
        <p:spPr>
          <a:xfrm>
            <a:off x="4490022" y="3849624"/>
            <a:ext cx="164592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专家小组</a:t>
            </a:r>
            <a:endParaRPr sz="16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>
            <p:custDataLst>
              <p:tags r:id="rId32"/>
            </p:custDataLst>
          </p:nvPr>
        </p:nvSpPr>
        <p:spPr>
          <a:xfrm>
            <a:off x="6135942" y="3858768"/>
            <a:ext cx="1554480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>
            <p:custDataLst>
              <p:tags r:id="rId33"/>
            </p:custDataLst>
          </p:nvPr>
        </p:nvSpPr>
        <p:spPr>
          <a:xfrm>
            <a:off x="6163374" y="3897884"/>
            <a:ext cx="1499616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专业互补</a:t>
            </a:r>
            <a:endParaRPr sz="10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>
            <p:custDataLst>
              <p:tags r:id="rId34"/>
            </p:custDataLst>
          </p:nvPr>
        </p:nvSpPr>
        <p:spPr>
          <a:xfrm>
            <a:off x="4490022" y="4169664"/>
            <a:ext cx="3209544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>
            <p:custDataLst>
              <p:tags r:id="rId35"/>
            </p:custDataLst>
          </p:nvPr>
        </p:nvSpPr>
        <p:spPr>
          <a:xfrm>
            <a:off x="4490021" y="4242816"/>
            <a:ext cx="3209544" cy="1273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不同领域专家从各自维度评估同一对象，拼合完整方案。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案例：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NLP 算法、Python 工程与评测专家联合审视复现方案。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适用：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单一提示词难以兼顾多学科深度知识的场景。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>
            <p:custDataLst>
              <p:tags r:id="rId36"/>
            </p:custDataLst>
          </p:nvPr>
        </p:nvSpPr>
        <p:spPr>
          <a:xfrm>
            <a:off x="8092758" y="3730752"/>
            <a:ext cx="3502152" cy="18470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>
            <p:custDataLst>
              <p:tags r:id="rId37"/>
            </p:custDataLst>
          </p:nvPr>
        </p:nvSpPr>
        <p:spPr>
          <a:xfrm>
            <a:off x="8092758" y="3730752"/>
            <a:ext cx="3502152" cy="73152"/>
          </a:xfrm>
          <a:prstGeom prst="rect">
            <a:avLst/>
          </a:prstGeom>
          <a:solidFill>
            <a:srgbClr val="0D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>
            <p:custDataLst>
              <p:tags r:id="rId38"/>
            </p:custDataLst>
          </p:nvPr>
        </p:nvSpPr>
        <p:spPr>
          <a:xfrm>
            <a:off x="8239062" y="3849624"/>
            <a:ext cx="1645920" cy="285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6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批评审阅</a:t>
            </a:r>
            <a:endParaRPr sz="16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>
            <p:custDataLst>
              <p:tags r:id="rId39"/>
            </p:custDataLst>
          </p:nvPr>
        </p:nvSpPr>
        <p:spPr>
          <a:xfrm>
            <a:off x="9884981" y="3858768"/>
            <a:ext cx="1554480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>
            <p:custDataLst>
              <p:tags r:id="rId40"/>
            </p:custDataLst>
          </p:nvPr>
        </p:nvSpPr>
        <p:spPr>
          <a:xfrm>
            <a:off x="9912413" y="3897884"/>
            <a:ext cx="1499616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独立质量门</a:t>
            </a:r>
            <a:endParaRPr sz="1000" b="1">
              <a:solidFill>
                <a:srgbClr val="0D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ectangle 55"/>
          <p:cNvSpPr/>
          <p:nvPr>
            <p:custDataLst>
              <p:tags r:id="rId41"/>
            </p:custDataLst>
          </p:nvPr>
        </p:nvSpPr>
        <p:spPr>
          <a:xfrm>
            <a:off x="8239062" y="4169664"/>
            <a:ext cx="3209544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>
            <p:custDataLst>
              <p:tags r:id="rId42"/>
            </p:custDataLst>
          </p:nvPr>
        </p:nvSpPr>
        <p:spPr>
          <a:xfrm>
            <a:off x="8239061" y="4242816"/>
            <a:ext cx="3209544" cy="1273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机制：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生成者交出初稿后，由独立审阅者对照客观证据核验放行。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2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案例：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审核员打开 predictions.json 独立重算准确率与 F1。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150" b="1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适用：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对事实准确性要求高、严防幻觉的发布出口。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流程怎么选？先问有没有依赖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把“依赖（Dependency）”当作唯一判断词：后一步必须等前一步的产物吗？下面三条线可拼接成完整工作流。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有产物依赖走“顺序”，可同时起步走“并行”，发布前核查证据走“审阅”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755648"/>
            <a:ext cx="11000232" cy="12252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678" y="1755648"/>
            <a:ext cx="91440" cy="1225296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989" y="1883664"/>
            <a:ext cx="1371600" cy="31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7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顺序</a:t>
            </a:r>
            <a:endParaRPr sz="17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4989" y="2267712"/>
            <a:ext cx="201168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2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核心特征：强数据依赖</a:t>
            </a:r>
            <a:endParaRPr sz="12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后一步必须用前一步产物</a:t>
            </a:r>
            <a:endParaRPr sz="12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926398" y="1956816"/>
            <a:ext cx="2148840" cy="82296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99550" y="2129219"/>
            <a:ext cx="2002536" cy="478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A：跑基线出指标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6000"/>
              </a:lnSpc>
            </a:pPr>
            <a:r>
              <a:rPr lang="zh-CN"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得到结果文件</a:t>
            </a:r>
            <a:endParaRPr lang="zh-CN"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39246" y="2356865"/>
            <a:ext cx="548640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Isosceles Triangle 24"/>
          <p:cNvSpPr/>
          <p:nvPr/>
        </p:nvSpPr>
        <p:spPr>
          <a:xfrm rot="5400000">
            <a:off x="5669598" y="2295144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84381" y="2048255"/>
            <a:ext cx="768096" cy="18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</a:rPr>
              <a:t>交付文件</a:t>
            </a:r>
            <a:endParaRPr sz="105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852478" y="1956816"/>
            <a:ext cx="2148840" cy="82296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25630" y="2256854"/>
            <a:ext cx="2002536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B：撰写复现报告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84197" y="1920240"/>
            <a:ext cx="13716" cy="896112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645" y="1901952"/>
            <a:ext cx="3127248" cy="899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判别问题：</a:t>
            </a:r>
            <a:r>
              <a:rPr sz="12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没有上游产物，下游能开工吗？（不能）</a:t>
            </a:r>
            <a:endParaRPr sz="12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工程防错：</a:t>
            </a:r>
            <a:r>
              <a:rPr sz="12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CrewAI 中用 context=[上游任务] 显式绑定，严禁无指标盲写报告。</a:t>
            </a:r>
            <a:endParaRPr sz="12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94678" y="3108960"/>
            <a:ext cx="11000232" cy="12984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94678" y="3108960"/>
            <a:ext cx="91440" cy="1298448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4989" y="3255264"/>
            <a:ext cx="1371600" cy="31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75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并行</a:t>
            </a:r>
            <a:endParaRPr sz="175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4989" y="3639312"/>
            <a:ext cx="201168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2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核心特征：子任务互不依赖</a:t>
            </a:r>
            <a:endParaRPr sz="12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可同时启动，在汇合点对齐</a:t>
            </a:r>
            <a:endParaRPr sz="12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926398" y="3236976"/>
            <a:ext cx="2148840" cy="475488"/>
          </a:xfrm>
          <a:prstGeom prst="roundRect">
            <a:avLst>
              <a:gd name="adj" fmla="val 12000"/>
            </a:avLst>
          </a:prstGeom>
          <a:solidFill>
            <a:srgbClr val="E0F2F4"/>
          </a:solidFill>
          <a:ln w="1270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999550" y="3367723"/>
            <a:ext cx="2002536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支线 A：读实验协议 </a:t>
            </a:r>
            <a:endParaRPr sz="12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926398" y="3803904"/>
            <a:ext cx="2148840" cy="475488"/>
          </a:xfrm>
          <a:prstGeom prst="roundRect">
            <a:avLst>
              <a:gd name="adj" fmla="val 12000"/>
            </a:avLst>
          </a:prstGeom>
          <a:solidFill>
            <a:srgbClr val="E0F2F4"/>
          </a:solidFill>
          <a:ln w="1270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99550" y="3827653"/>
            <a:ext cx="2002536" cy="4279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支线 B：准备 Python 环境与脚本</a:t>
            </a:r>
            <a:endParaRPr sz="12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139246" y="3463289"/>
            <a:ext cx="548640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Isosceles Triangle 41"/>
          <p:cNvSpPr/>
          <p:nvPr/>
        </p:nvSpPr>
        <p:spPr>
          <a:xfrm rot="5400000">
            <a:off x="5669598" y="3401568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139246" y="4030218"/>
            <a:ext cx="548640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Isosceles Triangle 43"/>
          <p:cNvSpPr/>
          <p:nvPr/>
        </p:nvSpPr>
        <p:spPr>
          <a:xfrm rot="5400000">
            <a:off x="5669598" y="3968496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852478" y="3346704"/>
            <a:ext cx="2148840" cy="822960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5240">
            <a:solidFill>
              <a:srgbClr val="0F7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25630" y="3519107"/>
            <a:ext cx="2002536" cy="478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汇合点（Join Barrier）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配置与环境齐备后启动训练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184197" y="3273552"/>
            <a:ext cx="13716" cy="969264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339645" y="3273552"/>
            <a:ext cx="3127248" cy="899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判别问题：</a:t>
            </a:r>
            <a:r>
              <a:rPr sz="12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两件事开始时需要彼此的结果吗？（不需要）</a:t>
            </a:r>
            <a:endParaRPr sz="12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工程防错：</a:t>
            </a:r>
            <a:r>
              <a:rPr sz="12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汇合节点必须检查两条支线均成功完成，避免环境未就绪就开始跑模型。</a:t>
            </a:r>
            <a:endParaRPr sz="12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94678" y="4517136"/>
            <a:ext cx="11000232" cy="1188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94678" y="4517136"/>
            <a:ext cx="91440" cy="1188720"/>
          </a:xfrm>
          <a:prstGeom prst="rect">
            <a:avLst/>
          </a:prstGeom>
          <a:solidFill>
            <a:srgbClr val="0D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04989" y="4645152"/>
            <a:ext cx="1371600" cy="311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75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审阅</a:t>
            </a:r>
            <a:endParaRPr sz="1750" b="1">
              <a:solidFill>
                <a:srgbClr val="0D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04989" y="5010912"/>
            <a:ext cx="201168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2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核心特征：证据质量把关</a:t>
            </a:r>
            <a:endParaRPr sz="12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</a:rPr>
              <a:t>独立核查通过才允许发布</a:t>
            </a:r>
            <a:endParaRPr sz="12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926398" y="4700016"/>
            <a:ext cx="1508760" cy="804672"/>
          </a:xfrm>
          <a:prstGeom prst="roundRect">
            <a:avLst>
              <a:gd name="adj" fmla="val 10000"/>
            </a:avLst>
          </a:prstGeom>
          <a:solidFill>
            <a:srgbClr val="EEF3F6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972118" y="4995355"/>
            <a:ext cx="141732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2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报告初稿</a:t>
            </a:r>
            <a:endParaRPr sz="12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480878" y="5090922"/>
            <a:ext cx="301752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Isosceles Triangle 57"/>
          <p:cNvSpPr/>
          <p:nvPr/>
        </p:nvSpPr>
        <p:spPr>
          <a:xfrm rot="5400000">
            <a:off x="4764342" y="5029200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4938078" y="4700016"/>
            <a:ext cx="1783080" cy="804672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 w="15240">
            <a:solidFill>
              <a:srgbClr val="0D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983798" y="4995355"/>
            <a:ext cx="169164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20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独立核查证据</a:t>
            </a:r>
            <a:endParaRPr sz="1200" b="1">
              <a:solidFill>
                <a:srgbClr val="0D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766878" y="5090922"/>
            <a:ext cx="301752" cy="22860"/>
          </a:xfrm>
          <a:prstGeom prst="rect">
            <a:avLst/>
          </a:prstGeom>
          <a:solidFill>
            <a:srgbClr val="0D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Isosceles Triangle 61"/>
          <p:cNvSpPr/>
          <p:nvPr/>
        </p:nvSpPr>
        <p:spPr>
          <a:xfrm rot="5400000">
            <a:off x="7050342" y="5029200"/>
            <a:ext cx="128016" cy="146304"/>
          </a:xfrm>
          <a:prstGeom prst="triangle">
            <a:avLst/>
          </a:prstGeom>
          <a:solidFill>
            <a:srgbClr val="0D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7224078" y="4700016"/>
            <a:ext cx="822960" cy="804672"/>
          </a:xfrm>
          <a:prstGeom prst="roundRect">
            <a:avLst>
              <a:gd name="adj" fmla="val 12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242366" y="4881372"/>
            <a:ext cx="786384" cy="441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质量门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6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放行/退回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8184197" y="4663440"/>
            <a:ext cx="13716" cy="896112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339645" y="4645152"/>
            <a:ext cx="3127248" cy="899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判别问题：</a:t>
            </a:r>
            <a:r>
              <a:rPr sz="12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结果出错会误导结论吗？能用客观文件验算吗？</a:t>
            </a:r>
            <a:endParaRPr sz="12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工程防错：</a:t>
            </a:r>
            <a:r>
              <a:rPr sz="120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审阅者必须拉取原始预测文件独立算指标，不一致则退回查日志。</a:t>
            </a:r>
            <a:endParaRPr sz="120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通信拓扑：谁能与谁说话？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26187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38430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拓扑（Topology）＝ Agent 之间的连接规则与通话权限；原书将从简单到自定义的常见结构归纳为六种形态。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678" y="581558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678" y="581558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990" y="5914454"/>
            <a:ext cx="10680192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拓扑选型经验：连接越自由（如 Network），路径越难追踪；工程复现任务优先采用“③ 监督者”或“⑥ 自定义图”，确保指标可溯源。</a:t>
            </a: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737360"/>
            <a:ext cx="56692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6" descr="orig_slide_18_img_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558" y="1810512"/>
            <a:ext cx="5303520" cy="336499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77558" y="5230368"/>
            <a:ext cx="5303520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558" y="5244719"/>
            <a:ext cx="5303520" cy="4102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大脑图标代表 Agent，扳手代表工具（Tools），箭头代表允许的消息流向与调用边界。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2"/>
            </p:custDataLst>
          </p:nvPr>
        </p:nvSpPr>
        <p:spPr>
          <a:xfrm>
            <a:off x="6446838" y="1737360"/>
            <a:ext cx="51480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3"/>
            </p:custDataLst>
          </p:nvPr>
        </p:nvSpPr>
        <p:spPr>
          <a:xfrm>
            <a:off x="6446838" y="1737360"/>
            <a:ext cx="73152" cy="594360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4"/>
            </p:custDataLst>
          </p:nvPr>
        </p:nvSpPr>
        <p:spPr>
          <a:xfrm>
            <a:off x="6602286" y="1792224"/>
            <a:ext cx="34747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单 Agent（Single Agent）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5"/>
            </p:custDataLst>
          </p:nvPr>
        </p:nvSpPr>
        <p:spPr>
          <a:xfrm>
            <a:off x="6602286" y="2048255"/>
            <a:ext cx="4864608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个大模型循环调用外部工具；无跨角色通信开销，简单任务首选。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>
            <p:custDataLst>
              <p:tags r:id="rId6"/>
            </p:custDataLst>
          </p:nvPr>
        </p:nvSpPr>
        <p:spPr>
          <a:xfrm>
            <a:off x="6446838" y="2395728"/>
            <a:ext cx="51480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>
            <p:custDataLst>
              <p:tags r:id="rId7"/>
            </p:custDataLst>
          </p:nvPr>
        </p:nvSpPr>
        <p:spPr>
          <a:xfrm>
            <a:off x="6446838" y="2395728"/>
            <a:ext cx="73152" cy="5943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8"/>
            </p:custDataLst>
          </p:nvPr>
        </p:nvSpPr>
        <p:spPr>
          <a:xfrm>
            <a:off x="6602286" y="2450592"/>
            <a:ext cx="34747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网络（Network / Mesh）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>
            <p:custDataLst>
              <p:tags r:id="rId9"/>
            </p:custDataLst>
          </p:nvPr>
        </p:nvSpPr>
        <p:spPr>
          <a:xfrm>
            <a:off x="6602286" y="2706624"/>
            <a:ext cx="4864608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任意两个 Agent 均可直接发消息；灵活度最高，但路径易发散难追责。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>
            <p:custDataLst>
              <p:tags r:id="rId10"/>
            </p:custDataLst>
          </p:nvPr>
        </p:nvSpPr>
        <p:spPr>
          <a:xfrm>
            <a:off x="6446838" y="3054096"/>
            <a:ext cx="51480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>
            <p:custDataLst>
              <p:tags r:id="rId11"/>
            </p:custDataLst>
          </p:nvPr>
        </p:nvSpPr>
        <p:spPr>
          <a:xfrm>
            <a:off x="6446838" y="3054096"/>
            <a:ext cx="73152" cy="594360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12"/>
            </p:custDataLst>
          </p:nvPr>
        </p:nvSpPr>
        <p:spPr>
          <a:xfrm>
            <a:off x="6602286" y="3108960"/>
            <a:ext cx="34747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监督者（Supervisor）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>
            <p:custDataLst>
              <p:tags r:id="rId13"/>
            </p:custDataLst>
          </p:nvPr>
        </p:nvSpPr>
        <p:spPr>
          <a:xfrm>
            <a:off x="6602286" y="3364991"/>
            <a:ext cx="4864608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</a:rPr>
              <a:t>中心节点统一拆单、派发并汇总各专家结果；控制清晰但中心易成瓶颈。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>
            <p:custDataLst>
              <p:tags r:id="rId14"/>
            </p:custDataLst>
          </p:nvPr>
        </p:nvSpPr>
        <p:spPr>
          <a:xfrm>
            <a:off x="6446838" y="3712464"/>
            <a:ext cx="51480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>
            <p:custDataLst>
              <p:tags r:id="rId15"/>
            </p:custDataLst>
          </p:nvPr>
        </p:nvSpPr>
        <p:spPr>
          <a:xfrm>
            <a:off x="6446838" y="3712464"/>
            <a:ext cx="73152" cy="5943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>
            <p:custDataLst>
              <p:tags r:id="rId16"/>
            </p:custDataLst>
          </p:nvPr>
        </p:nvSpPr>
        <p:spPr>
          <a:xfrm>
            <a:off x="6602286" y="3767328"/>
            <a:ext cx="34747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监督者作为工具（As Tools）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>
            <p:custDataLst>
              <p:tags r:id="rId17"/>
            </p:custDataLst>
          </p:nvPr>
        </p:nvSpPr>
        <p:spPr>
          <a:xfrm>
            <a:off x="6602286" y="4023360"/>
            <a:ext cx="4864608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将一整个专家团队封装为主 Agent 手里的单个工具，隐藏内部协作细节。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>
            <p:custDataLst>
              <p:tags r:id="rId18"/>
            </p:custDataLst>
          </p:nvPr>
        </p:nvSpPr>
        <p:spPr>
          <a:xfrm>
            <a:off x="6446838" y="4370831"/>
            <a:ext cx="51480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>
            <p:custDataLst>
              <p:tags r:id="rId19"/>
            </p:custDataLst>
          </p:nvPr>
        </p:nvSpPr>
        <p:spPr>
          <a:xfrm>
            <a:off x="6446838" y="4370831"/>
            <a:ext cx="73152" cy="594360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>
            <p:custDataLst>
              <p:tags r:id="rId20"/>
            </p:custDataLst>
          </p:nvPr>
        </p:nvSpPr>
        <p:spPr>
          <a:xfrm>
            <a:off x="6602286" y="4425695"/>
            <a:ext cx="34747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层级（Hierarchical）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>
            <p:custDataLst>
              <p:tags r:id="rId21"/>
            </p:custDataLst>
          </p:nvPr>
        </p:nvSpPr>
        <p:spPr>
          <a:xfrm>
            <a:off x="6602286" y="4681727"/>
            <a:ext cx="4864608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总管 → 中层组长 → 底层执行员多层管理；适合大型工程，但通信跳数多。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>
            <p:custDataLst>
              <p:tags r:id="rId22"/>
            </p:custDataLst>
          </p:nvPr>
        </p:nvSpPr>
        <p:spPr>
          <a:xfrm>
            <a:off x="6446838" y="5029200"/>
            <a:ext cx="5148072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>
            <p:custDataLst>
              <p:tags r:id="rId23"/>
            </p:custDataLst>
          </p:nvPr>
        </p:nvSpPr>
        <p:spPr>
          <a:xfrm>
            <a:off x="6446838" y="5029200"/>
            <a:ext cx="73152" cy="594360"/>
          </a:xfrm>
          <a:prstGeom prst="rect">
            <a:avLst/>
          </a:prstGeom>
          <a:solidFill>
            <a:srgbClr val="0D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>
            <p:custDataLst>
              <p:tags r:id="rId24"/>
            </p:custDataLst>
          </p:nvPr>
        </p:nvSpPr>
        <p:spPr>
          <a:xfrm>
            <a:off x="6602286" y="5084064"/>
            <a:ext cx="347472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自定义（Custom Graph）</a:t>
            </a:r>
            <a:endParaRPr sz="13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>
            <p:custDataLst>
              <p:tags r:id="rId25"/>
            </p:custDataLst>
          </p:nvPr>
        </p:nvSpPr>
        <p:spPr>
          <a:xfrm>
            <a:off x="6602286" y="5340096"/>
            <a:ext cx="4864608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4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按业务依赖显式锁定有向边（执行→分析→报告→审核），生产复现最稳。</a:t>
            </a:r>
            <a:endParaRPr sz="114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678" y="347472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678" y="386779"/>
            <a:ext cx="1097280" cy="2139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第三部分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678" y="746379"/>
            <a:ext cx="11000232" cy="4457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再看控制权：谁来指挥协作？</a:t>
            </a:r>
            <a:endParaRPr sz="25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4678" y="1307592"/>
            <a:ext cx="11000232" cy="13716"/>
          </a:xfrm>
          <a:prstGeom prst="rect">
            <a:avLst/>
          </a:prstGeom>
          <a:solidFill>
            <a:srgbClr val="C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678" y="1614170"/>
            <a:ext cx="11000232" cy="248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上页六种拓扑讲的是“连线形态”，本页三种模式讲的是“决策控制权”：谁来决定下一步由谁干、何时停？</a:t>
            </a:r>
            <a:endParaRPr sz="140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4678" y="1967230"/>
            <a:ext cx="3502152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4678" y="1967230"/>
            <a:ext cx="3502152" cy="73152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9269" y="2095246"/>
            <a:ext cx="1691640" cy="30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对等协作</a:t>
            </a:r>
            <a:endParaRPr sz="17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469197" y="2104389"/>
            <a:ext cx="1481328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96629" y="2143505"/>
            <a:ext cx="1426464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Peer · 固定搭档</a:t>
            </a:r>
            <a:endParaRPr sz="10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59270" y="2515870"/>
            <a:ext cx="3172968" cy="11155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189038" y="2771902"/>
            <a:ext cx="603504" cy="603504"/>
          </a:xfrm>
          <a:prstGeom prst="ellipse">
            <a:avLst/>
          </a:prstGeom>
          <a:solidFill>
            <a:srgbClr val="E0F2F4"/>
          </a:solidFill>
          <a:ln w="19050">
            <a:solidFill>
              <a:srgbClr val="0F7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9037" y="2861564"/>
            <a:ext cx="603504" cy="424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1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甲</a:t>
            </a:r>
            <a:endParaRPr sz="11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6000"/>
              </a:lnSpc>
            </a:pPr>
            <a:r>
              <a:rPr sz="11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起草</a:t>
            </a:r>
            <a:endParaRPr sz="11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56549" y="3062223"/>
            <a:ext cx="850392" cy="2286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Isosceles Triangle 24"/>
          <p:cNvSpPr/>
          <p:nvPr/>
        </p:nvSpPr>
        <p:spPr>
          <a:xfrm rot="5400000">
            <a:off x="2688654" y="3000502"/>
            <a:ext cx="128016" cy="146304"/>
          </a:xfrm>
          <a:prstGeom prst="triangle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56548" y="2808478"/>
            <a:ext cx="96012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</a:rPr>
              <a:t>直接交接</a:t>
            </a:r>
            <a:endParaRPr sz="10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2880678" y="2771902"/>
            <a:ext cx="603504" cy="603504"/>
          </a:xfrm>
          <a:prstGeom prst="ellipse">
            <a:avLst/>
          </a:prstGeom>
          <a:solidFill>
            <a:srgbClr val="E0F2F4"/>
          </a:solidFill>
          <a:ln w="19050">
            <a:solidFill>
              <a:srgbClr val="0F7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880678" y="2861564"/>
            <a:ext cx="603504" cy="4241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Aft>
                <a:spcPts val="250"/>
              </a:spcAft>
            </a:pPr>
            <a:r>
              <a:rPr sz="11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乙</a:t>
            </a:r>
            <a:endParaRPr sz="11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6000"/>
              </a:lnSpc>
            </a:pPr>
            <a:r>
              <a:rPr sz="11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endParaRPr sz="11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9270" y="3722878"/>
            <a:ext cx="3172968" cy="1764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指挥逻辑：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无中心总管，2–3 个角色按预设顺序或互评协议直接点对点交接。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对应本例：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分析任务先交产物，报告任务通过 context 接收；没有额外经理 Agent。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核心优势：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链路最短、延迟低、无额外调度器开销。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</a:pPr>
            <a:r>
              <a:rPr sz="11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局限风险：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角色增多后交接规则呈网状膨胀，缺乏全局异常兜底。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43718" y="1967230"/>
            <a:ext cx="3502152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43718" y="1967230"/>
            <a:ext cx="3502152" cy="73152"/>
          </a:xfrm>
          <a:prstGeom prst="rect">
            <a:avLst/>
          </a:prstGeom>
          <a:solidFill>
            <a:srgbClr val="17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08310" y="2095246"/>
            <a:ext cx="1691640" cy="30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管理者编排</a:t>
            </a:r>
            <a:endParaRPr sz="17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18238" y="2104389"/>
            <a:ext cx="1481328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45670" y="2143505"/>
            <a:ext cx="1426464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Manager · 中心调度</a:t>
            </a:r>
            <a:endParaRPr sz="10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508310" y="2515870"/>
            <a:ext cx="3172968" cy="11155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5770182" y="2570734"/>
            <a:ext cx="640080" cy="457200"/>
          </a:xfrm>
          <a:prstGeom prst="ellipse">
            <a:avLst/>
          </a:prstGeom>
          <a:solidFill>
            <a:srgbClr val="173A5E"/>
          </a:solidFill>
          <a:ln w="19050">
            <a:solidFill>
              <a:srgbClr val="17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70182" y="2696782"/>
            <a:ext cx="640080" cy="2051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经理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102670" y="3082798"/>
            <a:ext cx="1975104" cy="13716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090222" y="3027934"/>
            <a:ext cx="13716" cy="128016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102670" y="3082798"/>
            <a:ext cx="13716" cy="9144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800918" y="3155950"/>
            <a:ext cx="603504" cy="402336"/>
          </a:xfrm>
          <a:prstGeom prst="ellipse">
            <a:avLst/>
          </a:prstGeom>
          <a:solidFill>
            <a:srgbClr val="EEF3F6"/>
          </a:solidFill>
          <a:ln w="1524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00918" y="3263773"/>
            <a:ext cx="603504" cy="186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研(跑)</a:t>
            </a:r>
            <a:endParaRPr sz="10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090222" y="3082798"/>
            <a:ext cx="13716" cy="9144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88470" y="3155950"/>
            <a:ext cx="603504" cy="402336"/>
          </a:xfrm>
          <a:prstGeom prst="ellipse">
            <a:avLst/>
          </a:prstGeom>
          <a:solidFill>
            <a:srgbClr val="EEF3F6"/>
          </a:solidFill>
          <a:ln w="1524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88470" y="3263773"/>
            <a:ext cx="603504" cy="186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写(报)</a:t>
            </a:r>
            <a:endParaRPr sz="10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077774" y="3082798"/>
            <a:ext cx="13716" cy="9144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776022" y="3155950"/>
            <a:ext cx="603504" cy="402336"/>
          </a:xfrm>
          <a:prstGeom prst="ellipse">
            <a:avLst/>
          </a:prstGeom>
          <a:solidFill>
            <a:srgbClr val="EEF3F6"/>
          </a:solidFill>
          <a:ln w="15240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76022" y="3263773"/>
            <a:ext cx="603504" cy="186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核(验)</a:t>
            </a:r>
            <a:endParaRPr sz="10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08310" y="3722878"/>
            <a:ext cx="3172968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指挥逻辑：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中心经理负责拆分任务、按序指派专家、监控进度并整合最终交付物。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与本例区别：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本次脚本没有经理 Agent；管理者编排是另一种控制方式。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核心优势：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全局进度较易观察，适合需要集中监控的流程。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</a:pPr>
            <a:r>
              <a:rPr sz="11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局限风险：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所有状态经中心中转，经理提示词设计要求高且多一层调用成本。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092758" y="1967230"/>
            <a:ext cx="3502152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092758" y="1967230"/>
            <a:ext cx="3502152" cy="73152"/>
          </a:xfrm>
          <a:prstGeom prst="rect">
            <a:avLst/>
          </a:prstGeom>
          <a:solidFill>
            <a:srgbClr val="0D6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57349" y="2095246"/>
            <a:ext cx="1691640" cy="302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70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</a:rPr>
              <a:t>去中心化</a:t>
            </a:r>
            <a:endParaRPr sz="170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967277" y="2104389"/>
            <a:ext cx="1481328" cy="256032"/>
          </a:xfrm>
          <a:prstGeom prst="roundRect">
            <a:avLst>
              <a:gd name="adj" fmla="val 35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994709" y="2143505"/>
            <a:ext cx="1426464" cy="177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0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Decentralized · 自治</a:t>
            </a:r>
            <a:endParaRPr sz="1000" b="1">
              <a:solidFill>
                <a:srgbClr val="0D6E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257349" y="2515870"/>
            <a:ext cx="3172968" cy="111556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C5D5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915718" y="2808478"/>
            <a:ext cx="1847088" cy="530352"/>
          </a:xfrm>
          <a:prstGeom prst="roundRect">
            <a:avLst>
              <a:gd name="adj" fmla="val 20000"/>
            </a:avLst>
          </a:prstGeom>
          <a:noFill/>
          <a:ln w="15240">
            <a:solidFill>
              <a:srgbClr val="0D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8623110" y="2607310"/>
            <a:ext cx="530352" cy="438912"/>
          </a:xfrm>
          <a:prstGeom prst="ellipse">
            <a:avLst/>
          </a:prstGeom>
          <a:solidFill>
            <a:srgbClr val="E6F4F1"/>
          </a:solidFill>
          <a:ln w="16510">
            <a:solidFill>
              <a:srgbClr val="0D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23110" y="2733421"/>
            <a:ext cx="530352" cy="186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甲(跑)</a:t>
            </a:r>
            <a:endParaRPr sz="10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10525062" y="2607310"/>
            <a:ext cx="530352" cy="438912"/>
          </a:xfrm>
          <a:prstGeom prst="ellipse">
            <a:avLst/>
          </a:prstGeom>
          <a:solidFill>
            <a:srgbClr val="E6F4F1"/>
          </a:solidFill>
          <a:ln w="16510">
            <a:solidFill>
              <a:srgbClr val="0D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0525062" y="2733421"/>
            <a:ext cx="530352" cy="186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乙(写)</a:t>
            </a:r>
            <a:endParaRPr sz="10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9574085" y="3137662"/>
            <a:ext cx="530352" cy="438912"/>
          </a:xfrm>
          <a:prstGeom prst="ellipse">
            <a:avLst/>
          </a:prstGeom>
          <a:solidFill>
            <a:srgbClr val="E6F4F1"/>
          </a:solidFill>
          <a:ln w="16510">
            <a:solidFill>
              <a:srgbClr val="0D6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574085" y="3263773"/>
            <a:ext cx="530352" cy="186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</a:pPr>
            <a:r>
              <a:rPr sz="105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丙(核)</a:t>
            </a:r>
            <a:endParaRPr sz="105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208326" y="2845054"/>
            <a:ext cx="1261872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95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</a:rPr>
              <a:t>事件互连协商</a:t>
            </a:r>
            <a:endParaRPr sz="950" b="1">
              <a:solidFill>
                <a:srgbClr val="0D6E5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257349" y="3722878"/>
            <a:ext cx="3172968" cy="1969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指挥逻辑：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无单一控制中心，各角色根据消息总线事件或共享状态变化自发响应。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另一个例子：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消息总线广播 experiment.completed 后，监听者可按事件启动后续工作。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spcAft>
                <a:spcPts val="350"/>
              </a:spcAft>
            </a:pPr>
            <a:r>
              <a:rPr sz="1180" b="1">
                <a:solidFill>
                  <a:srgbClr val="0D6E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核心优势：</a:t>
            </a:r>
            <a:r>
              <a:rPr sz="1180" b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高弹性、无单点瓶颈，新增订阅角色无需改动既有代码。</a:t>
            </a:r>
            <a:endParaRPr sz="1180" b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</a:pPr>
            <a:r>
              <a:rPr sz="11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局限风险：</a:t>
            </a:r>
            <a:r>
              <a:rPr sz="1150" b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全局执行流不易一眼看清，需严防循环触发或无人接单。</a:t>
            </a:r>
            <a:endParaRPr sz="1150" b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" y="409575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38100" y="0"/>
                </a:moveTo>
                <a:lnTo>
                  <a:pt x="1085850" y="0"/>
                </a:lnTo>
                <a:cubicBezTo>
                  <a:pt x="1106892" y="0"/>
                  <a:pt x="1123950" y="17058"/>
                  <a:pt x="1123950" y="38100"/>
                </a:cubicBezTo>
                <a:lnTo>
                  <a:pt x="1123950" y="266700"/>
                </a:lnTo>
                <a:cubicBezTo>
                  <a:pt x="1123950" y="287742"/>
                  <a:pt x="1106892" y="304800"/>
                  <a:pt x="10858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6502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第三部分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55691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CrewAI 代码骨架：从角色到启动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9598" y="1592104"/>
            <a:ext cx="508063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先抓住五个构件的关系，再看后面每一段代码的细节。</a:t>
            </a:r>
            <a:endParaRPr lang="zh-CN" sz="15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2047875"/>
            <a:ext cx="1981200" cy="12477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2047875"/>
            <a:ext cx="1981200" cy="85725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23900" y="2247900"/>
            <a:ext cx="304800" cy="3048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13435" y="23279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1</a:t>
            </a:r>
            <a:endParaRPr 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12520" y="2298382"/>
            <a:ext cx="6772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Agent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63905" y="2711768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谁参与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6762" y="299323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analyst / writer</a:t>
            </a:r>
            <a:endParaRPr lang="zh-CN" sz="112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2647950" y="2676525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2724150" y="26289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762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857500" y="2047875"/>
            <a:ext cx="1981200" cy="12477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857500" y="2047875"/>
            <a:ext cx="1981200" cy="85725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2971800" y="2247900"/>
            <a:ext cx="304800" cy="3048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061335" y="23279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2</a:t>
            </a:r>
            <a:endParaRPr 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360420" y="2298382"/>
            <a:ext cx="5501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Task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011805" y="271176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交付什么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014662" y="2993231"/>
            <a:ext cx="12812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analysis / report</a:t>
            </a:r>
            <a:endParaRPr lang="zh-CN" sz="112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4895850" y="2676525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4972050" y="26289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762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105400" y="2047875"/>
            <a:ext cx="1981200" cy="12477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105400" y="2047875"/>
            <a:ext cx="1981200" cy="85725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5219700" y="2247900"/>
            <a:ext cx="304800" cy="3048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309235" y="23279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3</a:t>
            </a:r>
            <a:endParaRPr 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5608320" y="2298382"/>
            <a:ext cx="931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context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5259705" y="271176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谁依赖谁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262562" y="2993231"/>
            <a:ext cx="12812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report ← analysis</a:t>
            </a:r>
            <a:endParaRPr lang="zh-CN" sz="112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3" name="Line 33"/>
          <p:cNvSpPr/>
          <p:nvPr/>
        </p:nvSpPr>
        <p:spPr>
          <a:xfrm>
            <a:off x="7143750" y="2676525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34" name="Freeform 34"/>
          <p:cNvSpPr/>
          <p:nvPr/>
        </p:nvSpPr>
        <p:spPr>
          <a:xfrm>
            <a:off x="7219950" y="26289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762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353300" y="2047875"/>
            <a:ext cx="1981200" cy="12477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353300" y="2047875"/>
            <a:ext cx="1981200" cy="85725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37" name="Ellipse 37"/>
          <p:cNvSpPr/>
          <p:nvPr/>
        </p:nvSpPr>
        <p:spPr>
          <a:xfrm>
            <a:off x="7467600" y="2247900"/>
            <a:ext cx="304800" cy="3048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557135" y="23279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4</a:t>
            </a:r>
            <a:endParaRPr 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7856220" y="2298382"/>
            <a:ext cx="9313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Process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507605" y="2711768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怎样调度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510462" y="29932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sequential</a:t>
            </a:r>
            <a:endParaRPr lang="zh-CN" sz="112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2" name="Line 42"/>
          <p:cNvSpPr/>
          <p:nvPr/>
        </p:nvSpPr>
        <p:spPr>
          <a:xfrm>
            <a:off x="9391650" y="2676525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43" name="Freeform 43"/>
          <p:cNvSpPr/>
          <p:nvPr/>
        </p:nvSpPr>
        <p:spPr>
          <a:xfrm>
            <a:off x="9467850" y="26289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762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9601200" y="2047875"/>
            <a:ext cx="1981200" cy="12477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9601200" y="2047875"/>
            <a:ext cx="1981200" cy="85725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46" name="Ellipse 46"/>
          <p:cNvSpPr/>
          <p:nvPr/>
        </p:nvSpPr>
        <p:spPr>
          <a:xfrm>
            <a:off x="9715500" y="2247900"/>
            <a:ext cx="304800" cy="3048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805035" y="2327910"/>
            <a:ext cx="122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5</a:t>
            </a:r>
            <a:endParaRPr lang="zh-CN" sz="1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104120" y="2298382"/>
            <a:ext cx="8736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kickoff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755505" y="271176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输入后启动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758362" y="2993231"/>
            <a:ext cx="9811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inputs={...}</a:t>
            </a:r>
            <a:endParaRPr lang="zh-CN" sz="112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1" name="Rectangle 51"/>
          <p:cNvSpPr/>
          <p:nvPr/>
        </p:nvSpPr>
        <p:spPr>
          <a:xfrm>
            <a:off x="609600" y="3638550"/>
            <a:ext cx="10972800" cy="24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575310" y="3638550"/>
            <a:ext cx="10972800" cy="4095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812482" y="3767614"/>
            <a:ext cx="240030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代码结构示意 · 省略了非关键参数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21055" y="4245292"/>
            <a:ext cx="35807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analyst = Agent(role="实验分析员", ...)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21055" y="4540568"/>
            <a:ext cx="45708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report_writer = Agent(role="复现报告撰写员", ...)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821055" y="4835842"/>
            <a:ext cx="37247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analysis_task = Task(agent=analyst, ...)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762000" y="5095875"/>
            <a:ext cx="10429875" cy="304800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821055" y="5169218"/>
            <a:ext cx="61370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report_task = Task(agent=report_writer, context=[analysis_task])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21055" y="5464492"/>
            <a:ext cx="71721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crew = Crew(tasks=[analysis_task, report_task], process=Process.sequential)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21055" y="5759768"/>
            <a:ext cx="33106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result = crew.kickoff(inputs={...})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" y="409575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38100" y="0"/>
                </a:moveTo>
                <a:lnTo>
                  <a:pt x="1085850" y="0"/>
                </a:lnTo>
                <a:cubicBezTo>
                  <a:pt x="1106892" y="0"/>
                  <a:pt x="1123950" y="17058"/>
                  <a:pt x="1123950" y="38100"/>
                </a:cubicBezTo>
                <a:lnTo>
                  <a:pt x="1123950" y="266700"/>
                </a:lnTo>
                <a:cubicBezTo>
                  <a:pt x="1123950" y="287742"/>
                  <a:pt x="1106892" y="304800"/>
                  <a:pt x="10858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6502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第三部分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文件地图：从固定数据到可核验报告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9598" y="1592104"/>
            <a:ext cx="725440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主链路分四段：准备实验事实、运行分类器、让两个 Agent 接力、回查证据。</a:t>
            </a:r>
            <a:endParaRPr lang="zh-CN" sz="15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2133600"/>
            <a:ext cx="2428875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2133600"/>
            <a:ext cx="2428875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714375" y="2343150"/>
            <a:ext cx="400050" cy="40005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08672" y="2449354"/>
            <a:ext cx="28258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01</a:t>
            </a:r>
            <a:endParaRPr lang="zh-CN" sz="15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06818" y="2433161"/>
            <a:ext cx="100993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实验输入</a:t>
            </a:r>
            <a:endParaRPr lang="zh-CN" sz="17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Line 13"/>
          <p:cNvSpPr/>
          <p:nvPr/>
        </p:nvSpPr>
        <p:spPr>
          <a:xfrm>
            <a:off x="800100" y="2847975"/>
            <a:ext cx="2047875" cy="9525"/>
          </a:xfrm>
          <a:custGeom>
            <a:avLst/>
            <a:gdLst/>
            <a:ahLst/>
            <a:cxnLst/>
            <a:rect l="l" t="t" r="r" b="b"/>
            <a:pathLst>
              <a:path w="2047875" h="9525">
                <a:moveTo>
                  <a:pt x="0" y="0"/>
                </a:moveTo>
                <a:lnTo>
                  <a:pt x="204787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83908" y="3081814"/>
            <a:ext cx="20726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experiment_protocol.md</a:t>
            </a:r>
            <a:endParaRPr lang="zh-CN" sz="12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83908" y="3377089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定义任务、模型与指标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2002" y="3856196"/>
            <a:ext cx="136636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固定的课堂样本</a:t>
            </a:r>
            <a:endParaRPr lang="zh-CN" sz="142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800100" y="4200525"/>
            <a:ext cx="1000125" cy="35242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26782" y="4301014"/>
            <a:ext cx="8314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 12 条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1847850" y="4200525"/>
            <a:ext cx="1000125" cy="35242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955482" y="4301014"/>
            <a:ext cx="7379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 6 条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84860" y="4756785"/>
            <a:ext cx="1219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小样本仅用于验证</a:t>
            </a:r>
            <a:endParaRPr lang="zh-CN" sz="12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3105150" y="362902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38100">
            <a:solidFill>
              <a:srgbClr val="0F7F91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3181350" y="35718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3343275" y="2133600"/>
            <a:ext cx="2428875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343275" y="2133600"/>
            <a:ext cx="2428875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448050" y="2343150"/>
            <a:ext cx="400050" cy="40005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542348" y="2449354"/>
            <a:ext cx="28258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02</a:t>
            </a:r>
            <a:endParaRPr lang="zh-CN" sz="15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940492" y="2433161"/>
            <a:ext cx="100993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离线基线</a:t>
            </a:r>
            <a:endParaRPr lang="zh-CN" sz="17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3533775" y="2847975"/>
            <a:ext cx="2047875" cy="9525"/>
          </a:xfrm>
          <a:custGeom>
            <a:avLst/>
            <a:gdLst/>
            <a:ahLst/>
            <a:cxnLst/>
            <a:rect l="l" t="t" r="r" b="b"/>
            <a:pathLst>
              <a:path w="2047875" h="9525">
                <a:moveTo>
                  <a:pt x="0" y="0"/>
                </a:moveTo>
                <a:lnTo>
                  <a:pt x="204787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517582" y="3110389"/>
            <a:ext cx="135005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run_baseline.py</a:t>
            </a:r>
            <a:endParaRPr lang="zh-CN" sz="12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516630" y="3483292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朴素贝叶斯做逐条预测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Rectangle 32"/>
          <p:cNvSpPr/>
          <p:nvPr/>
        </p:nvSpPr>
        <p:spPr>
          <a:xfrm>
            <a:off x="3533775" y="4000500"/>
            <a:ext cx="2047875" cy="4095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642360" y="4128135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predictions.json</a:t>
            </a:r>
            <a:endParaRPr lang="zh-CN" sz="120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3533775" y="4476750"/>
            <a:ext cx="2047875" cy="4095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642360" y="460438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metrics.json</a:t>
            </a:r>
            <a:endParaRPr lang="zh-CN" sz="120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Line 36"/>
          <p:cNvSpPr/>
          <p:nvPr/>
        </p:nvSpPr>
        <p:spPr>
          <a:xfrm>
            <a:off x="5838825" y="362902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38100">
            <a:solidFill>
              <a:srgbClr val="0F7F91"/>
            </a:solidFill>
          </a:ln>
        </p:spPr>
      </p:sp>
      <p:sp>
        <p:nvSpPr>
          <p:cNvPr id="37" name="Freeform 37"/>
          <p:cNvSpPr/>
          <p:nvPr/>
        </p:nvSpPr>
        <p:spPr>
          <a:xfrm>
            <a:off x="5915025" y="35718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076950" y="2133600"/>
            <a:ext cx="2428875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076950" y="2133600"/>
            <a:ext cx="2428875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40" name="Ellipse 40"/>
          <p:cNvSpPr/>
          <p:nvPr/>
        </p:nvSpPr>
        <p:spPr>
          <a:xfrm>
            <a:off x="6181725" y="2343150"/>
            <a:ext cx="400050" cy="40005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276022" y="2449354"/>
            <a:ext cx="28258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03</a:t>
            </a:r>
            <a:endParaRPr lang="zh-CN" sz="15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674168" y="2433161"/>
            <a:ext cx="126354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接力</a:t>
            </a:r>
            <a:endParaRPr lang="zh-CN" sz="17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Line 43"/>
          <p:cNvSpPr/>
          <p:nvPr/>
        </p:nvSpPr>
        <p:spPr>
          <a:xfrm>
            <a:off x="6267450" y="2847975"/>
            <a:ext cx="2047875" cy="9525"/>
          </a:xfrm>
          <a:custGeom>
            <a:avLst/>
            <a:gdLst/>
            <a:ahLst/>
            <a:cxnLst/>
            <a:rect l="l" t="t" r="r" b="b"/>
            <a:pathLst>
              <a:path w="2047875" h="9525">
                <a:moveTo>
                  <a:pt x="0" y="0"/>
                </a:moveTo>
                <a:lnTo>
                  <a:pt x="204787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6253162" y="311705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crewai_repro_report_demo.py</a:t>
            </a:r>
            <a:endParaRPr lang="zh-CN" sz="112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250305" y="34832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分析员先解释，报告员后写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ectangle 46"/>
          <p:cNvSpPr/>
          <p:nvPr/>
        </p:nvSpPr>
        <p:spPr>
          <a:xfrm>
            <a:off x="6267450" y="4000500"/>
            <a:ext cx="2047875" cy="4095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376035" y="41281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analysis.md</a:t>
            </a:r>
            <a:endParaRPr lang="zh-CN" sz="120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6267450" y="4476750"/>
            <a:ext cx="2047875" cy="4095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368415" y="4620578"/>
            <a:ext cx="17138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reproduction_report.md</a:t>
            </a:r>
            <a:endParaRPr lang="zh-CN" sz="105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50" name="Line 50"/>
          <p:cNvSpPr/>
          <p:nvPr/>
        </p:nvSpPr>
        <p:spPr>
          <a:xfrm>
            <a:off x="8572500" y="3629025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38100">
            <a:solidFill>
              <a:srgbClr val="0F7F91"/>
            </a:solidFill>
          </a:ln>
        </p:spPr>
      </p:sp>
      <p:sp>
        <p:nvSpPr>
          <p:cNvPr id="51" name="Freeform 51"/>
          <p:cNvSpPr/>
          <p:nvPr/>
        </p:nvSpPr>
        <p:spPr>
          <a:xfrm>
            <a:off x="8648700" y="35718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8810625" y="2133600"/>
            <a:ext cx="2771775" cy="30670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53" name="Rectangle 53"/>
          <p:cNvSpPr/>
          <p:nvPr/>
        </p:nvSpPr>
        <p:spPr>
          <a:xfrm>
            <a:off x="8810625" y="2133600"/>
            <a:ext cx="2771775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8915400" y="2343150"/>
            <a:ext cx="400050" cy="40005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009698" y="2449354"/>
            <a:ext cx="28258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04</a:t>
            </a:r>
            <a:endParaRPr lang="zh-CN" sz="15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407842" y="2433161"/>
            <a:ext cx="100993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独立核验</a:t>
            </a:r>
            <a:endParaRPr lang="zh-CN" sz="17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Line 57"/>
          <p:cNvSpPr/>
          <p:nvPr/>
        </p:nvSpPr>
        <p:spPr>
          <a:xfrm>
            <a:off x="9001125" y="2847975"/>
            <a:ext cx="2390775" cy="9525"/>
          </a:xfrm>
          <a:custGeom>
            <a:avLst/>
            <a:gdLst/>
            <a:ahLst/>
            <a:cxnLst/>
            <a:rect l="l" t="t" r="r" b="b"/>
            <a:pathLst>
              <a:path w="2390775" h="9525">
                <a:moveTo>
                  <a:pt x="0" y="0"/>
                </a:moveTo>
                <a:lnTo>
                  <a:pt x="239077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8983980" y="30927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从逐条预测重算指标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8983980" y="3559492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再与报告中的数字对照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8983980" y="402621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检查证据路径与局限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1" name="Rectangle 61"/>
          <p:cNvSpPr/>
          <p:nvPr/>
        </p:nvSpPr>
        <p:spPr>
          <a:xfrm>
            <a:off x="9001125" y="4514850"/>
            <a:ext cx="2390775" cy="4095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127808" y="4643914"/>
            <a:ext cx="158807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报告流畅 ≠ 数字正确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ectangle 63"/>
          <p:cNvSpPr/>
          <p:nvPr/>
        </p:nvSpPr>
        <p:spPr>
          <a:xfrm>
            <a:off x="609600" y="5457825"/>
            <a:ext cx="10972800" cy="69532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93432" y="5615464"/>
            <a:ext cx="69947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旁支：communication_demo.py 单独演示参数、共享文件和事件通信，不参与报告主链路。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793432" y="5872639"/>
            <a:ext cx="644218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环境：requirements.txt 安装依赖；.env.example 复制为 .env 后填写模型密钥。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" y="409575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38100" y="0"/>
                </a:moveTo>
                <a:lnTo>
                  <a:pt x="1085850" y="0"/>
                </a:lnTo>
                <a:cubicBezTo>
                  <a:pt x="1106892" y="0"/>
                  <a:pt x="1123950" y="17058"/>
                  <a:pt x="1123950" y="38100"/>
                </a:cubicBezTo>
                <a:lnTo>
                  <a:pt x="1123950" y="266700"/>
                </a:lnTo>
                <a:cubicBezTo>
                  <a:pt x="1123950" y="287742"/>
                  <a:pt x="1106892" y="304800"/>
                  <a:pt x="10858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6502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第三部分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代码第一步：同一模型，两个不同角色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9598" y="1592104"/>
            <a:ext cx="717039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用 role 和 goal 定义职责；本例中的两位 Agent 共用一个 LLM 配置。</a:t>
            </a:r>
            <a:endParaRPr lang="zh-CN" sz="15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3609975" y="1957070"/>
            <a:ext cx="4972050" cy="87185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 flipV="1">
            <a:off x="3609975" y="1898650"/>
            <a:ext cx="4972050" cy="7620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29050" y="2033270"/>
            <a:ext cx="1508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共同的模型底座</a:t>
            </a:r>
            <a:endParaRPr lang="zh-CN" sz="15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887470" y="2340292"/>
            <a:ext cx="4041140" cy="415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llm = LLM(model=</a:t>
            </a:r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  <a:sym typeface="+mn-ea"/>
              </a:rPr>
              <a:t>"gemini/gemini-3.6-flash"</a:t>
            </a:r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, 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algn="l"/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temperature=0.2)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6096000" y="28289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13" name="Line 13"/>
          <p:cNvSpPr/>
          <p:nvPr/>
        </p:nvSpPr>
        <p:spPr>
          <a:xfrm>
            <a:off x="3295650" y="3038475"/>
            <a:ext cx="5600700" cy="9525"/>
          </a:xfrm>
          <a:custGeom>
            <a:avLst/>
            <a:gdLst/>
            <a:ahLst/>
            <a:cxnLst/>
            <a:rect l="l" t="t" r="r" b="b"/>
            <a:pathLst>
              <a:path w="5600700" h="9525">
                <a:moveTo>
                  <a:pt x="0" y="0"/>
                </a:moveTo>
                <a:lnTo>
                  <a:pt x="5600700" y="0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14" name="Line 14"/>
          <p:cNvSpPr/>
          <p:nvPr>
            <p:custDataLst>
              <p:tags r:id="rId1"/>
            </p:custDataLst>
          </p:nvPr>
        </p:nvSpPr>
        <p:spPr>
          <a:xfrm>
            <a:off x="3295650" y="3038475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15" name="Freeform 15"/>
          <p:cNvSpPr/>
          <p:nvPr>
            <p:custDataLst>
              <p:tags r:id="rId2"/>
            </p:custDataLst>
          </p:nvPr>
        </p:nvSpPr>
        <p:spPr>
          <a:xfrm>
            <a:off x="3238500" y="31051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16" name="Line 16"/>
          <p:cNvSpPr/>
          <p:nvPr>
            <p:custDataLst>
              <p:tags r:id="rId3"/>
            </p:custDataLst>
          </p:nvPr>
        </p:nvSpPr>
        <p:spPr>
          <a:xfrm>
            <a:off x="8896350" y="3038475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17" name="Freeform 17"/>
          <p:cNvSpPr/>
          <p:nvPr>
            <p:custDataLst>
              <p:tags r:id="rId4"/>
            </p:custDataLst>
          </p:nvPr>
        </p:nvSpPr>
        <p:spPr>
          <a:xfrm>
            <a:off x="8839200" y="31051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18" name="Rectangle 18"/>
          <p:cNvSpPr/>
          <p:nvPr>
            <p:custDataLst>
              <p:tags r:id="rId5"/>
            </p:custDataLst>
          </p:nvPr>
        </p:nvSpPr>
        <p:spPr>
          <a:xfrm>
            <a:off x="609600" y="3248025"/>
            <a:ext cx="5257800" cy="218122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9" name="Rectangle 19"/>
          <p:cNvSpPr/>
          <p:nvPr>
            <p:custDataLst>
              <p:tags r:id="rId6"/>
            </p:custDataLst>
          </p:nvPr>
        </p:nvSpPr>
        <p:spPr>
          <a:xfrm>
            <a:off x="609600" y="3248025"/>
            <a:ext cx="5257800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20" name="Ellipse 20"/>
          <p:cNvSpPr/>
          <p:nvPr>
            <p:custDataLst>
              <p:tags r:id="rId7"/>
            </p:custDataLst>
          </p:nvPr>
        </p:nvSpPr>
        <p:spPr>
          <a:xfrm>
            <a:off x="790575" y="3514725"/>
            <a:ext cx="419100" cy="4191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21" name="TextBox 21"/>
          <p:cNvSpPr txBox="1"/>
          <p:nvPr>
            <p:custDataLst>
              <p:tags r:id="rId8"/>
            </p:custDataLst>
          </p:nvPr>
        </p:nvSpPr>
        <p:spPr>
          <a:xfrm>
            <a:off x="894398" y="3639979"/>
            <a:ext cx="16129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A</a:t>
            </a:r>
            <a:endParaRPr lang="zh-CN" sz="15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2"/>
          <p:cNvSpPr txBox="1"/>
          <p:nvPr>
            <p:custDataLst>
              <p:tags r:id="rId9"/>
            </p:custDataLst>
          </p:nvPr>
        </p:nvSpPr>
        <p:spPr>
          <a:xfrm>
            <a:off x="1358265" y="3606165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实验分析员</a:t>
            </a:r>
            <a:endParaRPr lang="zh-CN" sz="18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>
            <p:custDataLst>
              <p:tags r:id="rId10"/>
            </p:custDataLst>
          </p:nvPr>
        </p:nvSpPr>
        <p:spPr>
          <a:xfrm>
            <a:off x="821055" y="4064635"/>
            <a:ext cx="4972050" cy="1038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analyst = Agent(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role="</a:t>
            </a:r>
            <a:r>
              <a:rPr lang="zh-CN" altLang="en-US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实验分析员",</a:t>
            </a:r>
            <a:endParaRPr lang="zh-CN" altLang="en-US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goal="</a:t>
            </a:r>
            <a:r>
              <a:rPr lang="zh-CN" altLang="en-US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只依据实验协议与指标文件说明配置、结果、证据路径和局限",</a:t>
            </a:r>
            <a:endParaRPr lang="zh-CN" altLang="en-US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llm=llm)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7"/>
          <p:cNvSpPr/>
          <p:nvPr>
            <p:custDataLst>
              <p:tags r:id="rId11"/>
            </p:custDataLst>
          </p:nvPr>
        </p:nvSpPr>
        <p:spPr>
          <a:xfrm>
            <a:off x="6324600" y="3248025"/>
            <a:ext cx="5257800" cy="218122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8" name="Rectangle 28"/>
          <p:cNvSpPr/>
          <p:nvPr>
            <p:custDataLst>
              <p:tags r:id="rId12"/>
            </p:custDataLst>
          </p:nvPr>
        </p:nvSpPr>
        <p:spPr>
          <a:xfrm>
            <a:off x="6324600" y="3248025"/>
            <a:ext cx="5257800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29" name="Ellipse 29"/>
          <p:cNvSpPr/>
          <p:nvPr>
            <p:custDataLst>
              <p:tags r:id="rId13"/>
            </p:custDataLst>
          </p:nvPr>
        </p:nvSpPr>
        <p:spPr>
          <a:xfrm>
            <a:off x="6505575" y="3514725"/>
            <a:ext cx="419100" cy="419100"/>
          </a:xfrm>
          <a:prstGeom prst="ellipse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30" name="TextBox 30"/>
          <p:cNvSpPr txBox="1"/>
          <p:nvPr>
            <p:custDataLst>
              <p:tags r:id="rId14"/>
            </p:custDataLst>
          </p:nvPr>
        </p:nvSpPr>
        <p:spPr>
          <a:xfrm>
            <a:off x="6609398" y="3639979"/>
            <a:ext cx="16129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B</a:t>
            </a:r>
            <a:endParaRPr lang="zh-CN" sz="157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1"/>
          <p:cNvSpPr txBox="1"/>
          <p:nvPr>
            <p:custDataLst>
              <p:tags r:id="rId15"/>
            </p:custDataLst>
          </p:nvPr>
        </p:nvSpPr>
        <p:spPr>
          <a:xfrm>
            <a:off x="7073265" y="3606165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复现报告撰写员</a:t>
            </a:r>
            <a:endParaRPr lang="zh-CN" sz="18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2"/>
          <p:cNvSpPr txBox="1"/>
          <p:nvPr>
            <p:custDataLst>
              <p:tags r:id="rId16"/>
            </p:custDataLst>
          </p:nvPr>
        </p:nvSpPr>
        <p:spPr>
          <a:xfrm>
            <a:off x="6536055" y="4064635"/>
            <a:ext cx="4972685" cy="1038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report_writer = Agent(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role="</a:t>
            </a:r>
            <a:r>
              <a:rPr lang="zh-CN" altLang="en-US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复现报告撰写员",</a:t>
            </a:r>
            <a:endParaRPr lang="zh-CN" altLang="en-US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goal="</a:t>
            </a:r>
            <a:r>
              <a:rPr lang="zh-CN" altLang="en-US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把实验分析写成初学者也能核对的中文复现报告，不杜撰指标",</a:t>
            </a:r>
            <a:endParaRPr lang="zh-CN" altLang="en-US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llm=llm,</a:t>
            </a:r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609600" y="5648325"/>
            <a:ext cx="10972800" cy="54292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1528" y="5837396"/>
            <a:ext cx="645899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同一模型可以承担不同角色；真正的分工由各自的目标和后面的 Task 约束。</a:t>
            </a:r>
            <a:endParaRPr lang="zh-CN" sz="142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" y="409575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38100" y="0"/>
                </a:moveTo>
                <a:lnTo>
                  <a:pt x="1085850" y="0"/>
                </a:lnTo>
                <a:cubicBezTo>
                  <a:pt x="1106892" y="0"/>
                  <a:pt x="1123950" y="17058"/>
                  <a:pt x="1123950" y="38100"/>
                </a:cubicBezTo>
                <a:lnTo>
                  <a:pt x="1123950" y="266700"/>
                </a:lnTo>
                <a:cubicBezTo>
                  <a:pt x="1123950" y="287742"/>
                  <a:pt x="1106892" y="304800"/>
                  <a:pt x="10858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6502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第三部分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63819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代码第三步：组装 Crew，再启动任务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9598" y="1592104"/>
            <a:ext cx="751694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Crew 指定参与者和执行顺序；kickoff 把实验协议、指标和预测路径送入任务。</a:t>
            </a:r>
            <a:endParaRPr lang="zh-CN" sz="15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2066925"/>
            <a:ext cx="6334125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2066925"/>
            <a:ext cx="6334125" cy="4095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12482" y="2205514"/>
            <a:ext cx="37983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crewai_repro_report_demo.py · 实际调用结构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1055" y="2702242"/>
            <a:ext cx="12044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crew = Crew(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2030" y="3016568"/>
            <a:ext cx="31036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agents=[analyst, report_writer],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2030" y="3330892"/>
            <a:ext cx="33647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tasks=[analysis_task, report_task],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762000" y="3571875"/>
            <a:ext cx="5943600" cy="304800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02030" y="3654742"/>
            <a:ext cx="26176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process=Process.sequential,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21055" y="3969068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)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Line 17"/>
          <p:cNvSpPr/>
          <p:nvPr/>
        </p:nvSpPr>
        <p:spPr>
          <a:xfrm>
            <a:off x="838200" y="4314825"/>
            <a:ext cx="5876925" cy="9525"/>
          </a:xfrm>
          <a:custGeom>
            <a:avLst/>
            <a:gdLst/>
            <a:ahLst/>
            <a:cxnLst/>
            <a:rect l="l" t="t" r="r" b="b"/>
            <a:pathLst>
              <a:path w="5876925" h="9525">
                <a:moveTo>
                  <a:pt x="0" y="0"/>
                </a:moveTo>
                <a:lnTo>
                  <a:pt x="587692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21055" y="4511992"/>
            <a:ext cx="28156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result = crew.kickoff(inputs={</a:t>
            </a:r>
            <a:endParaRPr lang="zh-CN" sz="1350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02982" y="4834414"/>
            <a:ext cx="44869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"protocol": protocol, "metrics_json": metrics_json,</a:t>
            </a:r>
            <a:endParaRPr lang="zh-CN" sz="12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02982" y="5148739"/>
            <a:ext cx="36538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"predictions_path": str(predictions_path)</a:t>
            </a:r>
            <a:endParaRPr lang="zh-CN" sz="12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21055" y="5454968"/>
            <a:ext cx="232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})</a:t>
            </a:r>
            <a:endParaRPr lang="zh-CN" sz="13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7229475" y="2066925"/>
            <a:ext cx="4352925" cy="36766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229475" y="2066925"/>
            <a:ext cx="4352925" cy="4095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432358" y="220551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运行时看四个动作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7648575" y="2876550"/>
            <a:ext cx="9525" cy="2200275"/>
          </a:xfrm>
          <a:custGeom>
            <a:avLst/>
            <a:gdLst/>
            <a:ahLst/>
            <a:cxnLst/>
            <a:rect l="l" t="t" r="r" b="b"/>
            <a:pathLst>
              <a:path w="9525" h="2200275">
                <a:moveTo>
                  <a:pt x="0" y="0"/>
                </a:moveTo>
                <a:lnTo>
                  <a:pt x="0" y="2200275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</p:sp>
      <p:sp>
        <p:nvSpPr>
          <p:cNvPr id="26" name="Ellipse 26"/>
          <p:cNvSpPr/>
          <p:nvPr/>
        </p:nvSpPr>
        <p:spPr>
          <a:xfrm>
            <a:off x="7467600" y="2743200"/>
            <a:ext cx="361950" cy="36195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583805" y="283559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1</a:t>
            </a:r>
            <a:endParaRPr lang="zh-CN" sz="135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973378" y="2837021"/>
            <a:ext cx="19364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先获得基线指标与预测</a:t>
            </a:r>
            <a:endParaRPr lang="zh-CN" sz="142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Ellipse 29"/>
          <p:cNvSpPr/>
          <p:nvPr/>
        </p:nvSpPr>
        <p:spPr>
          <a:xfrm>
            <a:off x="7467600" y="3429000"/>
            <a:ext cx="361950" cy="36195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583805" y="352139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2</a:t>
            </a:r>
            <a:endParaRPr lang="zh-CN" sz="135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973378" y="3522821"/>
            <a:ext cx="210745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kickoff 注入协议和指标</a:t>
            </a:r>
            <a:endParaRPr lang="zh-CN" sz="142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lipse 32"/>
          <p:cNvSpPr/>
          <p:nvPr/>
        </p:nvSpPr>
        <p:spPr>
          <a:xfrm>
            <a:off x="7467600" y="4114800"/>
            <a:ext cx="361950" cy="361950"/>
          </a:xfrm>
          <a:prstGeom prst="ellipse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583805" y="420719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3</a:t>
            </a:r>
            <a:endParaRPr lang="zh-CN" sz="135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973378" y="4208621"/>
            <a:ext cx="151838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 Task 先执行</a:t>
            </a:r>
            <a:endParaRPr lang="zh-CN" sz="142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lipse 35"/>
          <p:cNvSpPr/>
          <p:nvPr/>
        </p:nvSpPr>
        <p:spPr>
          <a:xfrm>
            <a:off x="7467600" y="4800600"/>
            <a:ext cx="361950" cy="361950"/>
          </a:xfrm>
          <a:prstGeom prst="ellipse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583805" y="489299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4</a:t>
            </a:r>
            <a:endParaRPr lang="zh-CN" sz="135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7973378" y="4894421"/>
            <a:ext cx="227847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 Task 接收分析后执行</a:t>
            </a:r>
            <a:endParaRPr lang="zh-CN" sz="142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7433310" y="5385435"/>
            <a:ext cx="38229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最后保存 analysis.md 和 reproduction_report.md</a:t>
            </a:r>
            <a:endParaRPr lang="zh-CN" sz="12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609600" y="5876925"/>
            <a:ext cx="10972800" cy="39052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73430" y="5988368"/>
            <a:ext cx="69111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Process.sequential 管执行次序；context 管任务依赖；inputs 提供本轮实验事实。</a:t>
            </a:r>
            <a:endParaRPr lang="zh-CN" sz="135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09600" y="409575"/>
            <a:ext cx="1123950" cy="304800"/>
          </a:xfrm>
          <a:custGeom>
            <a:avLst/>
            <a:gdLst/>
            <a:ahLst/>
            <a:cxnLst/>
            <a:rect l="l" t="t" r="r" b="b"/>
            <a:pathLst>
              <a:path w="1123950" h="304800">
                <a:moveTo>
                  <a:pt x="38100" y="0"/>
                </a:moveTo>
                <a:lnTo>
                  <a:pt x="1085850" y="0"/>
                </a:lnTo>
                <a:cubicBezTo>
                  <a:pt x="1106892" y="0"/>
                  <a:pt x="1123950" y="17058"/>
                  <a:pt x="1123950" y="38100"/>
                </a:cubicBezTo>
                <a:lnTo>
                  <a:pt x="1123950" y="266700"/>
                </a:lnTo>
                <a:cubicBezTo>
                  <a:pt x="1123950" y="287742"/>
                  <a:pt x="1106892" y="304800"/>
                  <a:pt x="1085850" y="304800"/>
                </a:cubicBezTo>
                <a:lnTo>
                  <a:pt x="38100" y="304800"/>
                </a:lnTo>
                <a:cubicBezTo>
                  <a:pt x="17058" y="304800"/>
                  <a:pt x="0" y="287742"/>
                  <a:pt x="0" y="2667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6502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第三部分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62496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实测过程：两个 Agent 如何接力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8645" y="1584008"/>
            <a:ext cx="69837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分类器先生成事实；分析员解释事实，报告员整理成可复查的报告。</a:t>
            </a:r>
            <a:endParaRPr lang="zh-CN" sz="165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2143125"/>
            <a:ext cx="3219450" cy="9429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2143125"/>
            <a:ext cx="3219450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79145" y="241268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离线分类基线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3908" y="2748439"/>
            <a:ext cx="26677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metrics.json / predictions.json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3952875" y="2619375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4181475" y="25622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419600" y="2143125"/>
            <a:ext cx="3219450" cy="9429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419600" y="2143125"/>
            <a:ext cx="3219450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589145" y="2412682"/>
            <a:ext cx="16706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实验分析 Agent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593908" y="2748439"/>
            <a:ext cx="166458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output/analysis.md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7762875" y="2619375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/>
          <a:ln w="28575">
            <a:solidFill>
              <a:srgbClr val="0F7F91"/>
            </a:solidFill>
          </a:ln>
        </p:spPr>
      </p:sp>
      <p:sp>
        <p:nvSpPr>
          <p:cNvPr id="19" name="Freeform 19"/>
          <p:cNvSpPr/>
          <p:nvPr/>
        </p:nvSpPr>
        <p:spPr>
          <a:xfrm>
            <a:off x="7991475" y="25622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0F7F91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229600" y="2143125"/>
            <a:ext cx="3352800" cy="9429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8229600" y="2143125"/>
            <a:ext cx="3352800" cy="95250"/>
          </a:xfrm>
          <a:prstGeom prst="rect">
            <a:avLst/>
          </a:prstGeom>
          <a:solidFill>
            <a:srgbClr val="72B2C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399145" y="2412682"/>
            <a:ext cx="16706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报告撰写 Agent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403908" y="2748439"/>
            <a:ext cx="27357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output/reproduction_report.md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609600" y="3390900"/>
            <a:ext cx="5257800" cy="237172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09600" y="3390900"/>
            <a:ext cx="5257800" cy="42862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2008" y="3529489"/>
            <a:ext cx="22256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analysis.md · 分析员交付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18198" y="4059079"/>
            <a:ext cx="210876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读取指标、预测与实验协议</a:t>
            </a:r>
            <a:endParaRPr lang="zh-CN" sz="15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18198" y="4497229"/>
            <a:ext cx="335842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解释混淆矩阵与误判</a:t>
            </a:r>
            <a:endParaRPr lang="zh-CN" sz="15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18198" y="4935379"/>
            <a:ext cx="319039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说明小样本等实验局限</a:t>
            </a:r>
            <a:endParaRPr lang="zh-CN" sz="15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6134100" y="3390900"/>
            <a:ext cx="5448300" cy="237172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134100" y="3390900"/>
            <a:ext cx="5448300" cy="42862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346508" y="3529489"/>
            <a:ext cx="329679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reproduction_report.md · 报告员交付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342698" y="4059079"/>
            <a:ext cx="167821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承接 analysis.md 的结论</a:t>
            </a:r>
            <a:endParaRPr lang="zh-CN" sz="15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342698" y="4497229"/>
            <a:ext cx="207726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组织配置、结果与证据路径</a:t>
            </a:r>
            <a:endParaRPr lang="zh-CN" sz="157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343650" y="49434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写出可复查的技术报告</a:t>
            </a:r>
            <a:endParaRPr lang="zh-CN" sz="150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ectangle 36"/>
          <p:cNvSpPr/>
          <p:nvPr/>
        </p:nvSpPr>
        <p:spPr>
          <a:xfrm>
            <a:off x="609600" y="5915025"/>
            <a:ext cx="10972800" cy="400050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63905" y="6035992"/>
            <a:ext cx="67221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分工：分类器计算指标；Agent 负责解释、交接与成文。</a:t>
            </a:r>
            <a:endParaRPr lang="zh-CN" sz="1350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409575"/>
            <a:ext cx="1123950" cy="30480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3425" y="419100"/>
            <a:ext cx="933449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第三部分</a:t>
            </a:r>
            <a:endParaRPr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868680"/>
            <a:ext cx="1076325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700" b="1">
                <a:solidFill>
                  <a:srgbClr val="173A5E"/>
                </a:solidFill>
                <a:latin typeface="黑体" panose="02010609060101010101" charset="-122"/>
              </a:defRPr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314450"/>
            <a:ext cx="10972800" cy="19050"/>
          </a:xfrm>
          <a:prstGeom prst="rect">
            <a:avLst/>
          </a:prstGeom>
          <a:solidFill>
            <a:srgbClr val="C5D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524000"/>
            <a:ext cx="10972800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650" b="0">
                <a:solidFill>
                  <a:srgbClr val="52647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左读分类器产物，右读报告 Agent 的最终产物；两处数字来自同一次运行。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305050"/>
            <a:ext cx="5257800" cy="2853055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24600" y="2315210"/>
            <a:ext cx="5257800" cy="2850515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5387975"/>
            <a:ext cx="525780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550" b="1">
                <a:solidFill>
                  <a:srgbClr val="173A5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原始指标｜metrics.json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24600" y="5387975"/>
            <a:ext cx="525780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550" b="1">
                <a:solidFill>
                  <a:srgbClr val="173A5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最终报告｜reproduction_report.md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86450" y="3476625"/>
            <a:ext cx="4000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2600" b="1">
                <a:solidFill>
                  <a:srgbClr val="0F7F9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→</a:t>
            </a:r>
            <a:endParaRPr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" y="5924550"/>
            <a:ext cx="10972800" cy="447675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050" y="5962650"/>
            <a:ext cx="10572750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470" b="0">
                <a:solidFill>
                  <a:srgbClr val="173A5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核验结论：原始指标与报告数值一致；analysis.md 同值，逐条预测可回查 predictions.json。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80" y="2568575"/>
            <a:ext cx="5259070" cy="233045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523490"/>
            <a:ext cx="5236210" cy="23945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/>
          <p:nvPr/>
        </p:nvSpPr>
        <p:spPr>
          <a:xfrm>
            <a:off x="609600" y="409575"/>
            <a:ext cx="1123950" cy="304800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7232" y="481489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第三部分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成功标准与排错：先定位失败阶段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88645" y="1584008"/>
            <a:ext cx="6642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实验跑通后检查产物是否可复查；遇到错误则按发生阶段查原因。</a:t>
            </a:r>
            <a:endParaRPr lang="zh-CN" sz="165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2124075"/>
            <a:ext cx="5219700" cy="36385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609600" y="2124075"/>
            <a:ext cx="5219700" cy="428625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2008" y="2262664"/>
            <a:ext cx="31012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成功标准：三层产物可复查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Ellipse 11"/>
          <p:cNvSpPr/>
          <p:nvPr/>
        </p:nvSpPr>
        <p:spPr>
          <a:xfrm>
            <a:off x="800100" y="2867025"/>
            <a:ext cx="342900" cy="3429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98208" y="2967514"/>
            <a:ext cx="1258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1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03020" y="29270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基线：指标与逐条预测已保存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971550" y="3209925"/>
            <a:ext cx="9525" cy="581025"/>
          </a:xfrm>
          <a:custGeom>
            <a:avLst/>
            <a:gdLst/>
            <a:ahLst/>
            <a:cxnLst/>
            <a:rect l="l" t="t" r="r" b="b"/>
            <a:pathLst>
              <a:path w="9525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Ellipse 15"/>
          <p:cNvSpPr/>
          <p:nvPr/>
        </p:nvSpPr>
        <p:spPr>
          <a:xfrm>
            <a:off x="800100" y="3790950"/>
            <a:ext cx="342900" cy="3429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8208" y="3891439"/>
            <a:ext cx="1258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2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03020" y="3850958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接力：分析稿先于报告生成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971550" y="4133850"/>
            <a:ext cx="9525" cy="581025"/>
          </a:xfrm>
          <a:custGeom>
            <a:avLst/>
            <a:gdLst/>
            <a:ahLst/>
            <a:cxnLst/>
            <a:rect l="l" t="t" r="r" b="b"/>
            <a:pathLst>
              <a:path w="9525" h="581025">
                <a:moveTo>
                  <a:pt x="0" y="0"/>
                </a:moveTo>
                <a:lnTo>
                  <a:pt x="0" y="581025"/>
                </a:lnTo>
              </a:path>
            </a:pathLst>
          </a:custGeom>
          <a:noFill/>
          <a:ln w="28575">
            <a:solidFill>
              <a:srgbClr val="72B2C0"/>
            </a:solidFill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Ellipse 19"/>
          <p:cNvSpPr/>
          <p:nvPr/>
        </p:nvSpPr>
        <p:spPr>
          <a:xfrm>
            <a:off x="800100" y="4714875"/>
            <a:ext cx="342900" cy="342900"/>
          </a:xfrm>
          <a:prstGeom prst="ellipse">
            <a:avLst/>
          </a:prstGeom>
          <a:solidFill>
            <a:srgbClr val="173A5E"/>
          </a:solidFill>
          <a:ln>
            <a:noFill/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98208" y="4815364"/>
            <a:ext cx="1258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3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03020" y="4774882"/>
            <a:ext cx="2242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报告：写出证据路径与局限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22008" y="5329714"/>
            <a:ext cx="35518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核验：报告数字能回查原始文件。</a:t>
            </a:r>
            <a:endParaRPr lang="zh-CN" sz="1275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115050" y="2124075"/>
            <a:ext cx="5467350" cy="36385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4"/>
          <p:cNvSpPr/>
          <p:nvPr/>
        </p:nvSpPr>
        <p:spPr>
          <a:xfrm>
            <a:off x="6115050" y="2124075"/>
            <a:ext cx="5467350" cy="428625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327458" y="226266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报错时按三层定位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322695" y="2841308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启动前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856220" y="2841308"/>
            <a:ext cx="21651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密钥缺失 / .env 没填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6343650" y="3286125"/>
            <a:ext cx="4962525" cy="9525"/>
          </a:xfrm>
          <a:custGeom>
            <a:avLst/>
            <a:gdLst/>
            <a:ahLst/>
            <a:cxnLst/>
            <a:rect l="l" t="t" r="r" b="b"/>
            <a:pathLst>
              <a:path w="4962525" h="9525">
                <a:moveTo>
                  <a:pt x="0" y="0"/>
                </a:moveTo>
                <a:lnTo>
                  <a:pt x="496252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322695" y="3631882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调用时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856220" y="36318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模型名、额度、网络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6343650" y="4076700"/>
            <a:ext cx="4962525" cy="9525"/>
          </a:xfrm>
          <a:custGeom>
            <a:avLst/>
            <a:gdLst/>
            <a:ahLst/>
            <a:cxnLst/>
            <a:rect l="l" t="t" r="r" b="b"/>
            <a:pathLst>
              <a:path w="4962525" h="9525">
                <a:moveTo>
                  <a:pt x="0" y="0"/>
                </a:moveTo>
                <a:lnTo>
                  <a:pt x="496252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322695" y="4422458"/>
            <a:ext cx="7349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结果里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856220" y="4422458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指标错抄 / 局限遗漏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4"/>
          <p:cNvSpPr/>
          <p:nvPr/>
        </p:nvSpPr>
        <p:spPr>
          <a:xfrm>
            <a:off x="6343650" y="5086350"/>
            <a:ext cx="4962525" cy="47625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</p:spPr>
        <p:txBody>
          <a:bodyPr/>
          <a:p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489382" y="5263039"/>
            <a:ext cx="27527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报告流畅，也要回到逐条预测核验。</a:t>
            </a:r>
            <a:endParaRPr lang="zh-CN" sz="1275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09575"/>
            <a:ext cx="1123950" cy="304800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6502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</a:t>
            </a:r>
            <a:r>
              <a:rPr lang="zh-CN" sz="127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四部分</a:t>
            </a:r>
            <a:endParaRPr lang="zh-CN" sz="127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5486400" cy="830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27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案例走读：误判的溯源与自我合理化</a:t>
            </a:r>
            <a:endParaRPr sz="2700" b="1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29" name="Rounded Rectangle 6"/>
          <p:cNvSpPr/>
          <p:nvPr/>
        </p:nvSpPr>
        <p:spPr>
          <a:xfrm>
            <a:off x="571500" y="1615440"/>
            <a:ext cx="11049000" cy="438150"/>
          </a:xfrm>
          <a:prstGeom prst="roundRect">
            <a:avLst>
              <a:gd name="adj" fmla="val 18000"/>
            </a:avLst>
          </a:prstGeom>
          <a:solidFill>
            <a:srgbClr val="EEF3F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7"/>
          <p:cNvSpPr txBox="1"/>
          <p:nvPr/>
        </p:nvSpPr>
        <p:spPr>
          <a:xfrm>
            <a:off x="781050" y="1680210"/>
            <a:ext cx="6096000" cy="30861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误判样本　「文档 · 清楚 · 训练 · 慢」</a:t>
            </a:r>
            <a:endParaRPr sz="1500" b="1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6667500" y="1619885"/>
            <a:ext cx="4667250" cy="42926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测试准确率 </a:t>
            </a:r>
            <a:r>
              <a:rPr sz="22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0.833</a:t>
            </a:r>
            <a:endParaRPr sz="2200" b="1" i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9"/>
          <p:cNvSpPr/>
          <p:nvPr/>
        </p:nvSpPr>
        <p:spPr>
          <a:xfrm>
            <a:off x="571500" y="2381250"/>
            <a:ext cx="4953000" cy="267271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10"/>
          <p:cNvSpPr/>
          <p:nvPr/>
        </p:nvSpPr>
        <p:spPr>
          <a:xfrm>
            <a:off x="571500" y="2381250"/>
            <a:ext cx="4953000" cy="43815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11"/>
          <p:cNvSpPr txBox="1"/>
          <p:nvPr/>
        </p:nvSpPr>
        <p:spPr>
          <a:xfrm>
            <a:off x="742950" y="2381250"/>
            <a:ext cx="4610100" cy="43815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 Agent 的局限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12"/>
          <p:cNvSpPr txBox="1"/>
          <p:nvPr/>
        </p:nvSpPr>
        <p:spPr>
          <a:xfrm>
            <a:off x="781050" y="2990850"/>
            <a:ext cx="4572000" cy="3810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B565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症结　</a:t>
            </a:r>
            <a:r>
              <a:rPr sz="1500" b="0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为误判构造自洽解释，掩盖证据缺口。</a:t>
            </a:r>
            <a:endParaRPr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13"/>
          <p:cNvSpPr txBox="1"/>
          <p:nvPr/>
        </p:nvSpPr>
        <p:spPr>
          <a:xfrm>
            <a:off x="781050" y="3600450"/>
            <a:ext cx="4572000" cy="3810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B565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表征　</a:t>
            </a:r>
            <a:r>
              <a:rPr sz="1500" b="0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仅凭生成文本自我解释，缺乏原始产物校验。</a:t>
            </a:r>
            <a:endParaRPr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14"/>
          <p:cNvSpPr/>
          <p:nvPr/>
        </p:nvSpPr>
        <p:spPr>
          <a:xfrm>
            <a:off x="6667500" y="2381250"/>
            <a:ext cx="4953000" cy="2661285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15"/>
          <p:cNvSpPr/>
          <p:nvPr/>
        </p:nvSpPr>
        <p:spPr>
          <a:xfrm>
            <a:off x="6667500" y="2381250"/>
            <a:ext cx="4953000" cy="43815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16"/>
          <p:cNvSpPr txBox="1"/>
          <p:nvPr/>
        </p:nvSpPr>
        <p:spPr>
          <a:xfrm>
            <a:off x="6838950" y="2381250"/>
            <a:ext cx="4610100" cy="43815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 的破局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17"/>
          <p:cNvSpPr txBox="1"/>
          <p:nvPr/>
        </p:nvSpPr>
        <p:spPr>
          <a:xfrm>
            <a:off x="6877050" y="2990850"/>
            <a:ext cx="4572000" cy="3810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　</a:t>
            </a:r>
            <a:r>
              <a:rPr sz="1500" b="0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回归原始产物 predictions.json，逐条溯源。</a:t>
            </a:r>
            <a:endParaRPr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18"/>
          <p:cNvSpPr txBox="1"/>
          <p:nvPr/>
        </p:nvSpPr>
        <p:spPr>
          <a:xfrm>
            <a:off x="6877050" y="3600450"/>
            <a:ext cx="4572000" cy="3810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　</a:t>
            </a:r>
            <a:r>
              <a:rPr sz="1500" b="0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以外部证据击穿信息茧房，阻断主观合理化。</a:t>
            </a:r>
            <a:endParaRPr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19"/>
          <p:cNvSpPr/>
          <p:nvPr/>
        </p:nvSpPr>
        <p:spPr>
          <a:xfrm>
            <a:off x="5800725" y="382968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20"/>
          <p:cNvSpPr txBox="1"/>
          <p:nvPr/>
        </p:nvSpPr>
        <p:spPr>
          <a:xfrm>
            <a:off x="5800725" y="3829685"/>
            <a:ext cx="419100" cy="4191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10"/>
          <p:cNvSpPr/>
          <p:nvPr/>
        </p:nvSpPr>
        <p:spPr>
          <a:xfrm>
            <a:off x="571500" y="596036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11"/>
          <p:cNvSpPr/>
          <p:nvPr/>
        </p:nvSpPr>
        <p:spPr>
          <a:xfrm>
            <a:off x="571500" y="596036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12"/>
          <p:cNvSpPr txBox="1"/>
          <p:nvPr/>
        </p:nvSpPr>
        <p:spPr>
          <a:xfrm>
            <a:off x="781685" y="5890895"/>
            <a:ext cx="10680065" cy="5099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endParaRPr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▍ 拒绝自我合理化，是工程防错的第一道防线。</a:t>
            </a:r>
            <a:endParaRPr sz="1500" b="1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</a:pP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13"/>
          <p:cNvSpPr txBox="1"/>
          <p:nvPr/>
        </p:nvSpPr>
        <p:spPr>
          <a:xfrm>
            <a:off x="781050" y="4210050"/>
            <a:ext cx="4572000" cy="30861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CN" altLang="en-US" sz="1400" b="1" i="0">
                <a:solidFill>
                  <a:srgbClr val="B565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隐患</a:t>
            </a:r>
            <a:r>
              <a:rPr sz="1400" b="1" i="0">
                <a:solidFill>
                  <a:srgbClr val="B565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zh-CN" altLang="en-US" sz="150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将错就错，错误顺延至下游。</a:t>
            </a:r>
            <a:endParaRPr lang="zh-CN" altLang="en-US"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26"/>
          <p:cNvSpPr/>
          <p:nvPr/>
        </p:nvSpPr>
        <p:spPr>
          <a:xfrm>
            <a:off x="571500" y="5364480"/>
            <a:ext cx="10972800" cy="390525"/>
          </a:xfrm>
          <a:prstGeom prst="roundRect">
            <a:avLst>
              <a:gd name="adj" fmla="val 9756"/>
            </a:avLst>
          </a:prstGeom>
          <a:solidFill>
            <a:srgbClr val="EEF3F6"/>
          </a:solidFill>
          <a:ln>
            <a:noFill/>
          </a:ln>
        </p:spPr>
      </p:sp>
      <p:sp>
        <p:nvSpPr>
          <p:cNvPr id="52" name="TextBox 27"/>
          <p:cNvSpPr txBox="1"/>
          <p:nvPr/>
        </p:nvSpPr>
        <p:spPr>
          <a:xfrm>
            <a:off x="783908" y="5446554"/>
            <a:ext cx="395986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思考：若报告把准确率写成了 0.92，要怎们办呢？</a:t>
            </a:r>
            <a:endParaRPr lang="zh-CN" sz="14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09575"/>
            <a:ext cx="1123950" cy="304800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6502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第</a:t>
            </a:r>
            <a:r>
              <a:rPr lang="zh-CN" sz="12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四部分</a:t>
            </a:r>
            <a:endParaRPr lang="zh-CN" sz="1275" dirty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480060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27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协作框架的控制流：代码即护栏</a:t>
            </a:r>
            <a:endParaRPr lang="zh-CN" sz="2700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31" name="TextBox 5"/>
          <p:cNvSpPr txBox="1"/>
          <p:nvPr/>
        </p:nvSpPr>
        <p:spPr>
          <a:xfrm>
            <a:off x="571500" y="1543685"/>
            <a:ext cx="11049000" cy="32639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ADK 以构件固化任务关系：先后、并行、循环、委派。</a:t>
            </a:r>
            <a:endParaRPr sz="1600" b="0" i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6"/>
          <p:cNvSpPr/>
          <p:nvPr>
            <p:custDataLst>
              <p:tags r:id="rId1"/>
            </p:custDataLst>
          </p:nvPr>
        </p:nvSpPr>
        <p:spPr>
          <a:xfrm>
            <a:off x="571500" y="2072640"/>
            <a:ext cx="5334000" cy="1809750"/>
          </a:xfrm>
          <a:prstGeom prst="rect">
            <a:avLst/>
          </a:prstGeom>
          <a:solidFill>
            <a:srgbClr val="EEF3F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7"/>
          <p:cNvSpPr txBox="1"/>
          <p:nvPr>
            <p:custDataLst>
              <p:tags r:id="rId2"/>
            </p:custDataLst>
          </p:nvPr>
        </p:nvSpPr>
        <p:spPr>
          <a:xfrm>
            <a:off x="762000" y="2225040"/>
            <a:ext cx="4953000" cy="2857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SequentialAgent</a:t>
            </a:r>
            <a:r>
              <a:rPr sz="1600" b="1" i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·  顺序约束</a:t>
            </a:r>
            <a:endParaRPr sz="1600" b="1" i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8"/>
          <p:cNvSpPr/>
          <p:nvPr>
            <p:custDataLst>
              <p:tags r:id="rId3"/>
            </p:custDataLst>
          </p:nvPr>
        </p:nvSpPr>
        <p:spPr>
          <a:xfrm>
            <a:off x="762000" y="2625090"/>
            <a:ext cx="2160000" cy="3810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9"/>
          <p:cNvSpPr txBox="1"/>
          <p:nvPr>
            <p:custDataLst>
              <p:tags r:id="rId4"/>
            </p:custDataLst>
          </p:nvPr>
        </p:nvSpPr>
        <p:spPr>
          <a:xfrm>
            <a:off x="762000" y="2815590"/>
            <a:ext cx="4953000" cy="9144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强制步骤依赖——先出指标，后写报告。</a:t>
            </a:r>
            <a:endParaRPr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10"/>
          <p:cNvSpPr/>
          <p:nvPr>
            <p:custDataLst>
              <p:tags r:id="rId5"/>
            </p:custDataLst>
          </p:nvPr>
        </p:nvSpPr>
        <p:spPr>
          <a:xfrm>
            <a:off x="6286500" y="2072640"/>
            <a:ext cx="5334000" cy="1809750"/>
          </a:xfrm>
          <a:prstGeom prst="rect">
            <a:avLst/>
          </a:prstGeom>
          <a:solidFill>
            <a:srgbClr val="EEF3F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11"/>
          <p:cNvSpPr txBox="1"/>
          <p:nvPr>
            <p:custDataLst>
              <p:tags r:id="rId6"/>
            </p:custDataLst>
          </p:nvPr>
        </p:nvSpPr>
        <p:spPr>
          <a:xfrm>
            <a:off x="6477000" y="2225040"/>
            <a:ext cx="4953000" cy="2857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ParallelAgent</a:t>
            </a:r>
            <a:r>
              <a:rPr sz="1600" b="1" i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·  并行执行</a:t>
            </a:r>
            <a:endParaRPr sz="1600" b="1" i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12"/>
          <p:cNvSpPr/>
          <p:nvPr>
            <p:custDataLst>
              <p:tags r:id="rId7"/>
            </p:custDataLst>
          </p:nvPr>
        </p:nvSpPr>
        <p:spPr>
          <a:xfrm>
            <a:off x="6477000" y="2625090"/>
            <a:ext cx="1764000" cy="3810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13"/>
          <p:cNvSpPr txBox="1"/>
          <p:nvPr>
            <p:custDataLst>
              <p:tags r:id="rId8"/>
            </p:custDataLst>
          </p:nvPr>
        </p:nvSpPr>
        <p:spPr>
          <a:xfrm>
            <a:off x="6477000" y="2815590"/>
            <a:ext cx="4953000" cy="9144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独立任务并发——读协议与备环境同步推进。</a:t>
            </a:r>
            <a:endParaRPr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14"/>
          <p:cNvSpPr/>
          <p:nvPr>
            <p:custDataLst>
              <p:tags r:id="rId9"/>
            </p:custDataLst>
          </p:nvPr>
        </p:nvSpPr>
        <p:spPr>
          <a:xfrm>
            <a:off x="571500" y="4120515"/>
            <a:ext cx="5334000" cy="1809750"/>
          </a:xfrm>
          <a:prstGeom prst="rect">
            <a:avLst/>
          </a:prstGeom>
          <a:solidFill>
            <a:srgbClr val="EEF3F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15"/>
          <p:cNvSpPr txBox="1"/>
          <p:nvPr>
            <p:custDataLst>
              <p:tags r:id="rId10"/>
            </p:custDataLst>
          </p:nvPr>
        </p:nvSpPr>
        <p:spPr>
          <a:xfrm>
            <a:off x="762000" y="4272915"/>
            <a:ext cx="4953000" cy="2857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LoopAgent</a:t>
            </a:r>
            <a:r>
              <a:rPr sz="1600" b="1" i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·  循环限制</a:t>
            </a:r>
            <a:endParaRPr sz="1600" b="1" i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16"/>
          <p:cNvSpPr/>
          <p:nvPr>
            <p:custDataLst>
              <p:tags r:id="rId11"/>
            </p:custDataLst>
          </p:nvPr>
        </p:nvSpPr>
        <p:spPr>
          <a:xfrm>
            <a:off x="762000" y="4672965"/>
            <a:ext cx="1512000" cy="3810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17"/>
          <p:cNvSpPr txBox="1"/>
          <p:nvPr>
            <p:custDataLst>
              <p:tags r:id="rId12"/>
            </p:custDataLst>
          </p:nvPr>
        </p:nvSpPr>
        <p:spPr>
          <a:xfrm>
            <a:off x="762000" y="4863465"/>
            <a:ext cx="4953000" cy="9144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设定最大迭代次数，防止无限循环。</a:t>
            </a:r>
            <a:endParaRPr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18"/>
          <p:cNvSpPr/>
          <p:nvPr>
            <p:custDataLst>
              <p:tags r:id="rId13"/>
            </p:custDataLst>
          </p:nvPr>
        </p:nvSpPr>
        <p:spPr>
          <a:xfrm>
            <a:off x="6286500" y="4120515"/>
            <a:ext cx="5334000" cy="1809750"/>
          </a:xfrm>
          <a:prstGeom prst="rect">
            <a:avLst/>
          </a:prstGeom>
          <a:solidFill>
            <a:srgbClr val="EEF3F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19"/>
          <p:cNvSpPr txBox="1"/>
          <p:nvPr>
            <p:custDataLst>
              <p:tags r:id="rId14"/>
            </p:custDataLst>
          </p:nvPr>
        </p:nvSpPr>
        <p:spPr>
          <a:xfrm>
            <a:off x="6477000" y="4272915"/>
            <a:ext cx="4953000" cy="2857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AgentTool</a:t>
            </a:r>
            <a:r>
              <a:rPr sz="1600" b="1" i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·  委派机制</a:t>
            </a:r>
            <a:endParaRPr sz="1600" b="1" i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20"/>
          <p:cNvSpPr/>
          <p:nvPr>
            <p:custDataLst>
              <p:tags r:id="rId15"/>
            </p:custDataLst>
          </p:nvPr>
        </p:nvSpPr>
        <p:spPr>
          <a:xfrm>
            <a:off x="6477000" y="4672965"/>
            <a:ext cx="1440000" cy="3810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21"/>
          <p:cNvSpPr txBox="1"/>
          <p:nvPr>
            <p:custDataLst>
              <p:tags r:id="rId16"/>
            </p:custDataLst>
          </p:nvPr>
        </p:nvSpPr>
        <p:spPr>
          <a:xfrm>
            <a:off x="6477000" y="4863465"/>
            <a:ext cx="4953000" cy="9144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将下游 Agent 封装为可调用工具。</a:t>
            </a:r>
            <a:endParaRPr sz="1500" b="0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10"/>
          <p:cNvSpPr/>
          <p:nvPr/>
        </p:nvSpPr>
        <p:spPr>
          <a:xfrm>
            <a:off x="571500" y="6082919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11"/>
          <p:cNvSpPr/>
          <p:nvPr/>
        </p:nvSpPr>
        <p:spPr>
          <a:xfrm>
            <a:off x="571500" y="6082919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12"/>
          <p:cNvSpPr txBox="1"/>
          <p:nvPr/>
        </p:nvSpPr>
        <p:spPr>
          <a:xfrm>
            <a:off x="770255" y="6320155"/>
            <a:ext cx="10680065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endParaRPr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▍</a:t>
            </a:r>
            <a:r>
              <a:rPr 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代码不仅赋予 </a:t>
            </a:r>
            <a:r>
              <a:rPr lang="en-US" altLang="zh-CN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 </a:t>
            </a:r>
            <a:r>
              <a:rPr lang="zh-CN" alt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行动能力，更界定其行为边界。</a:t>
            </a:r>
            <a:endParaRPr lang="zh-CN" altLang="en-US"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lang="zh-CN" altLang="en-US"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6000"/>
              </a:lnSpc>
            </a:pP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09575"/>
            <a:ext cx="1123950" cy="304800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650240" cy="196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第</a:t>
            </a:r>
            <a:r>
              <a:rPr lang="zh-CN" sz="12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四部分</a:t>
            </a:r>
            <a:endParaRPr lang="zh-CN" sz="1275" dirty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5486400" cy="830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27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隔离上下文下的通信：结构化交接包</a:t>
            </a:r>
            <a:endParaRPr sz="2700" b="1" i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黑体" panose="02010609060101010101" charset="-122"/>
              <a:cs typeface="Arial" panose="020B0604020202020204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09600" y="2238375"/>
            <a:ext cx="3714750" cy="32289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609600" y="2238375"/>
            <a:ext cx="3714750" cy="5238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22008" y="2381726"/>
            <a:ext cx="1361440" cy="3117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✗ </a:t>
            </a:r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模糊交接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2008" y="3134201"/>
            <a:ext cx="182015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“实验跑完了，</a:t>
            </a:r>
            <a:endParaRPr lang="zh-CN" sz="202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9018" y="3575526"/>
            <a:ext cx="182015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你写报告吧。”</a:t>
            </a:r>
            <a:endParaRPr lang="zh-CN" sz="2025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Line 13"/>
          <p:cNvSpPr/>
          <p:nvPr/>
        </p:nvSpPr>
        <p:spPr>
          <a:xfrm>
            <a:off x="847725" y="41719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26770" y="4498658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缺什么？不知道。</a:t>
            </a:r>
            <a:endParaRPr lang="zh-CN" sz="165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26770" y="48701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能不能用？不知道。</a:t>
            </a:r>
            <a:endParaRPr lang="zh-CN" sz="165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4572000" y="2238375"/>
            <a:ext cx="6743700" cy="32289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572000" y="2238375"/>
            <a:ext cx="6743700" cy="52387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784408" y="2381726"/>
            <a:ext cx="1619250" cy="6242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结构化交接</a:t>
            </a:r>
            <a:endParaRPr lang="zh-CN" altLang="en-US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789170" y="2927032"/>
            <a:ext cx="317730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发送：执行 Agent → 报告 Agent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789170" y="3317558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任务：解释文本分类基线实验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789170" y="3708082"/>
            <a:ext cx="411241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产物：metrics.json + predictions.json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4789170" y="4098608"/>
            <a:ext cx="37823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状态：已完成；6 条中有 1 条预测错误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789170" y="4489132"/>
            <a:ext cx="343033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验收：从逐条预测重算准确率和 F1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789170" y="4879658"/>
            <a:ext cx="31222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失败：数值不一致则退回查日志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5"/>
          <p:cNvSpPr txBox="1"/>
          <p:nvPr/>
        </p:nvSpPr>
        <p:spPr>
          <a:xfrm>
            <a:off x="571500" y="1543685"/>
            <a:ext cx="11049000" cy="32639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CN" altLang="en-US" sz="16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隔离上下文下，下游看不到上游思考，交接必须可检查。</a:t>
            </a:r>
            <a:endParaRPr lang="zh-CN" altLang="en-US" sz="1600" b="0" i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10"/>
          <p:cNvSpPr/>
          <p:nvPr/>
        </p:nvSpPr>
        <p:spPr>
          <a:xfrm>
            <a:off x="620395" y="600227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11"/>
          <p:cNvSpPr/>
          <p:nvPr/>
        </p:nvSpPr>
        <p:spPr>
          <a:xfrm>
            <a:off x="620395" y="600227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12"/>
          <p:cNvSpPr txBox="1"/>
          <p:nvPr/>
        </p:nvSpPr>
        <p:spPr>
          <a:xfrm>
            <a:off x="819150" y="6239510"/>
            <a:ext cx="10680065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endParaRPr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▍</a:t>
            </a:r>
            <a:r>
              <a:rPr 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交接的核心不是“转发聊天记录”，而是交付可检查的任务状态和产物。</a:t>
            </a:r>
            <a:endParaRPr lang="zh-CN" altLang="en-US"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lang="zh-CN" altLang="en-US"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6000"/>
              </a:lnSpc>
            </a:pP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09575"/>
            <a:ext cx="1123950" cy="304800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第四部分</a:t>
            </a:r>
            <a:endParaRPr lang="zh-CN" sz="1275" dirty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46831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27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 Agent 协作的失效模式分析</a:t>
            </a:r>
            <a:endParaRPr lang="zh-CN" sz="2700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8645" y="1660208"/>
            <a:ext cx="365760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60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脆弱性集中于设计、理解与验收三类缺口</a:t>
            </a:r>
            <a:endParaRPr lang="zh-CN" sz="16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2200275"/>
            <a:ext cx="3390900" cy="28384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267200" y="2200275"/>
            <a:ext cx="3390900" cy="28384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924800" y="2200275"/>
            <a:ext cx="3390900" cy="283845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09600" y="2200275"/>
            <a:ext cx="3390900" cy="66675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267200" y="2200275"/>
            <a:ext cx="3390900" cy="66675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924800" y="2200275"/>
            <a:ext cx="3390900" cy="66675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22008" y="2543651"/>
            <a:ext cx="142658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设计缺陷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26770" y="3108008"/>
            <a:ext cx="188595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职责重叠、接口不清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847725" y="3552825"/>
            <a:ext cx="2914650" cy="9525"/>
          </a:xfrm>
          <a:custGeom>
            <a:avLst/>
            <a:gdLst/>
            <a:ahLst/>
            <a:cxnLst/>
            <a:rect l="l" t="t" r="r" b="b"/>
            <a:pathLst>
              <a:path w="2914650" h="9525">
                <a:moveTo>
                  <a:pt x="0" y="0"/>
                </a:moveTo>
                <a:lnTo>
                  <a:pt x="291465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4550" y="3872230"/>
            <a:ext cx="2934335" cy="5448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例：两个 Agent 同时改写</a:t>
            </a:r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metrics.json，结果被覆盖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479608" y="2543651"/>
            <a:ext cx="142658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理解不齐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484370" y="3108008"/>
            <a:ext cx="15821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目标或信息传歪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4505325" y="3552825"/>
            <a:ext cx="2914650" cy="9525"/>
          </a:xfrm>
          <a:custGeom>
            <a:avLst/>
            <a:gdLst/>
            <a:ahLst/>
            <a:cxnLst/>
            <a:rect l="l" t="t" r="r" b="b"/>
            <a:pathLst>
              <a:path w="2914650" h="9525">
                <a:moveTo>
                  <a:pt x="0" y="0"/>
                </a:moveTo>
                <a:lnTo>
                  <a:pt x="291465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510405" y="3872230"/>
            <a:ext cx="2910840" cy="5359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例：报告 Agent 把测试集</a:t>
            </a:r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准确率误写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成训练集结果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137208" y="2543651"/>
            <a:ext cx="1426582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验收缺失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141970" y="3108008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声称完成却未达标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8162925" y="3552825"/>
            <a:ext cx="2914650" cy="9525"/>
          </a:xfrm>
          <a:custGeom>
            <a:avLst/>
            <a:gdLst/>
            <a:ahLst/>
            <a:cxnLst/>
            <a:rect l="l" t="t" r="r" b="b"/>
            <a:pathLst>
              <a:path w="2914650" h="9525">
                <a:moveTo>
                  <a:pt x="0" y="0"/>
                </a:moveTo>
                <a:lnTo>
                  <a:pt x="291465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146415" y="3872230"/>
            <a:ext cx="2923540" cy="5359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例：未核对predictions.json，</a:t>
            </a:r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就发布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准确率和 F1。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10"/>
          <p:cNvSpPr/>
          <p:nvPr/>
        </p:nvSpPr>
        <p:spPr>
          <a:xfrm>
            <a:off x="588645" y="558190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11"/>
          <p:cNvSpPr/>
          <p:nvPr/>
        </p:nvSpPr>
        <p:spPr>
          <a:xfrm>
            <a:off x="588645" y="558190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12"/>
          <p:cNvSpPr txBox="1"/>
          <p:nvPr/>
        </p:nvSpPr>
        <p:spPr>
          <a:xfrm>
            <a:off x="787400" y="5581015"/>
            <a:ext cx="10680065" cy="4108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endParaRPr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CN" alt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▍ 共同教训：</a:t>
            </a:r>
            <a:r>
              <a:rPr lang="en-US" altLang="zh-CN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 </a:t>
            </a:r>
            <a:r>
              <a:rPr lang="zh-CN" alt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间传的不是无损字节，而是会被重新理解的语义；所以要定义边界，并保留可核查的原始证据。</a:t>
            </a:r>
            <a:endParaRPr lang="zh-CN" altLang="en-US"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lang="zh-CN" altLang="en-US"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6000"/>
              </a:lnSpc>
            </a:pPr>
            <a:endParaRPr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09575"/>
            <a:ext cx="1123950" cy="304800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第四部分</a:t>
            </a:r>
            <a:endParaRPr lang="zh-CN" sz="1275" dirty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487362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独立验证：从 6 条预测重算指标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8645" y="1593532"/>
            <a:ext cx="7404735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先读 predictions.json 中的真值与预测，再与 metrics.json 和报告中的数字对照。</a:t>
            </a:r>
            <a:endParaRPr lang="zh-CN" sz="16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2181225"/>
            <a:ext cx="4686300" cy="32289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9"/>
          <p:cNvSpPr/>
          <p:nvPr/>
        </p:nvSpPr>
        <p:spPr>
          <a:xfrm>
            <a:off x="609600" y="2181225"/>
            <a:ext cx="4686300" cy="504825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12482" y="2296001"/>
            <a:ext cx="118557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混淆矩阵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6770" y="2955608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真实＼预测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790825" y="2955608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负类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191000" y="2938463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正类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819150" y="3305175"/>
            <a:ext cx="4267200" cy="9525"/>
          </a:xfrm>
          <a:custGeom>
            <a:avLst/>
            <a:gdLst/>
            <a:ahLst/>
            <a:cxnLst/>
            <a:rect l="l" t="t" r="r" b="b"/>
            <a:pathLst>
              <a:path w="4267200" h="952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15" name="Line 15"/>
          <p:cNvSpPr/>
          <p:nvPr/>
        </p:nvSpPr>
        <p:spPr>
          <a:xfrm>
            <a:off x="2321560" y="290830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16" name="Line 16"/>
          <p:cNvSpPr/>
          <p:nvPr/>
        </p:nvSpPr>
        <p:spPr>
          <a:xfrm>
            <a:off x="3754755" y="2912110"/>
            <a:ext cx="9525" cy="1809750"/>
          </a:xfrm>
          <a:custGeom>
            <a:avLst/>
            <a:gdLst/>
            <a:ahLst/>
            <a:cxnLst/>
            <a:rect l="l" t="t" r="r" b="b"/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40130" y="3534092"/>
            <a:ext cx="41910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负类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818447" y="3457416"/>
            <a:ext cx="207379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3</a:t>
            </a:r>
            <a:endParaRPr lang="zh-CN" sz="2025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277043" y="3457416"/>
            <a:ext cx="207379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0</a:t>
            </a:r>
            <a:endParaRPr lang="zh-CN" sz="2025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819150" y="3952875"/>
            <a:ext cx="4267200" cy="9525"/>
          </a:xfrm>
          <a:custGeom>
            <a:avLst/>
            <a:gdLst/>
            <a:ahLst/>
            <a:cxnLst/>
            <a:rect l="l" t="t" r="r" b="b"/>
            <a:pathLst>
              <a:path w="4267200" h="9525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40130" y="4249737"/>
            <a:ext cx="419100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正类</a:t>
            </a:r>
            <a:endParaRPr lang="zh-CN" sz="165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818447" y="4194016"/>
            <a:ext cx="207379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1</a:t>
            </a:r>
            <a:endParaRPr lang="zh-CN" sz="2025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276408" y="4171156"/>
            <a:ext cx="207379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2</a:t>
            </a:r>
            <a:endParaRPr lang="zh-CN" sz="2025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ectangle 25"/>
          <p:cNvSpPr/>
          <p:nvPr/>
        </p:nvSpPr>
        <p:spPr>
          <a:xfrm>
            <a:off x="5591175" y="2181225"/>
            <a:ext cx="5724525" cy="3228975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591175" y="2181225"/>
            <a:ext cx="5724525" cy="504825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794058" y="2296001"/>
            <a:ext cx="203618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按两类分别核对</a:t>
            </a:r>
            <a:endParaRPr lang="zh-CN" sz="2025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798820" y="2907982"/>
            <a:ext cx="3588385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准确率：5 条正确 / 6 条测试 = </a:t>
            </a:r>
            <a:r>
              <a:rPr sz="20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0.833</a:t>
            </a:r>
            <a:endParaRPr sz="20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5819775" y="327660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5798820" y="3536632"/>
            <a:ext cx="361696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负类：TP 3、FP 1、FN 0 → F1</a:t>
            </a:r>
            <a:r>
              <a:rPr lang="en-US" alt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sz="20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0.857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5819775" y="390525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798820" y="4165282"/>
            <a:ext cx="361696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正类：TP 2、FP 0、FN 1 → F1</a:t>
            </a:r>
            <a:r>
              <a:rPr lang="en-US" alt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sz="2000" b="1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0.800</a:t>
            </a:r>
            <a:endParaRPr sz="2000" b="1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Line 33"/>
          <p:cNvSpPr/>
          <p:nvPr/>
        </p:nvSpPr>
        <p:spPr>
          <a:xfrm>
            <a:off x="5819775" y="4533900"/>
            <a:ext cx="5267325" cy="9525"/>
          </a:xfrm>
          <a:custGeom>
            <a:avLst/>
            <a:gdLst/>
            <a:ahLst/>
            <a:cxnLst/>
            <a:rect l="l" t="t" r="r" b="b"/>
            <a:pathLst>
              <a:path w="5267325" h="9525">
                <a:moveTo>
                  <a:pt x="0" y="0"/>
                </a:moveTo>
                <a:lnTo>
                  <a:pt x="5267325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5819775" y="4837113"/>
            <a:ext cx="386969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Macro-F1：两类 F1 取平均 → 0.829</a:t>
            </a:r>
            <a:endParaRPr lang="zh-CN" b="1" dirty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10"/>
          <p:cNvSpPr/>
          <p:nvPr/>
        </p:nvSpPr>
        <p:spPr>
          <a:xfrm>
            <a:off x="588645" y="5834634"/>
            <a:ext cx="11000232" cy="420624"/>
          </a:xfrm>
          <a:prstGeom prst="roundRect">
            <a:avLst>
              <a:gd name="adj" fmla="val 15000"/>
            </a:avLst>
          </a:prstGeom>
          <a:solidFill>
            <a:srgbClr val="EEF3F6"/>
          </a:solidFill>
          <a:ln w="9525">
            <a:solidFill>
              <a:srgbClr val="72B2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11"/>
          <p:cNvSpPr/>
          <p:nvPr/>
        </p:nvSpPr>
        <p:spPr>
          <a:xfrm>
            <a:off x="588645" y="5834634"/>
            <a:ext cx="91440" cy="420624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12"/>
          <p:cNvSpPr txBox="1"/>
          <p:nvPr/>
        </p:nvSpPr>
        <p:spPr>
          <a:xfrm>
            <a:off x="787400" y="5833745"/>
            <a:ext cx="10680065" cy="4108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endParaRPr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zh-CN" alt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▍ 验收规则（</a:t>
            </a:r>
            <a:r>
              <a:rPr lang="en-US" altLang="zh-CN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Audit Rule）：</a:t>
            </a:r>
            <a:r>
              <a:rPr lang="zh-CN" alt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审核者基于外部证据独立重算；若数字不一致，触发回滚（</a:t>
            </a:r>
            <a:r>
              <a:rPr lang="en-US" altLang="zh-CN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Rollback）</a:t>
            </a:r>
            <a:r>
              <a:rPr lang="zh-CN" altLang="en-US" sz="15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并退回上游排查。</a:t>
            </a:r>
            <a:endParaRPr lang="zh-CN" altLang="en-US"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lang="zh-CN" altLang="en-US" sz="15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16000"/>
              </a:lnSpc>
            </a:pPr>
            <a:endParaRPr lang="en-US" sz="1250" b="1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27"/>
          <p:cNvSpPr txBox="1"/>
          <p:nvPr/>
        </p:nvSpPr>
        <p:spPr>
          <a:xfrm>
            <a:off x="762000" y="4837430"/>
            <a:ext cx="4953000" cy="291465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条正类被误判为负类（FN）。</a:t>
            </a:r>
            <a:endParaRPr sz="1400" b="0" i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101975" y="3457575"/>
            <a:ext cx="57594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TN</a:t>
            </a:r>
            <a:endParaRPr lang="en-US" altLang="zh-CN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612005" y="3457575"/>
            <a:ext cx="575945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FP</a:t>
            </a:r>
            <a:endParaRPr lang="en-US" altLang="zh-CN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101975" y="4192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FN</a:t>
            </a:r>
            <a:endParaRPr lang="en-US" altLang="zh-CN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612005" y="4194175"/>
            <a:ext cx="575945" cy="453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TP</a:t>
            </a:r>
            <a:endParaRPr lang="en-US" altLang="zh-CN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30820" y="229616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predictions.json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的原始账本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09575"/>
            <a:ext cx="1123950" cy="304800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第四部分</a:t>
            </a:r>
            <a:endParaRPr lang="zh-CN" sz="1275" dirty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445770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练习：给三种任务选协作方式</a:t>
            </a:r>
            <a:endParaRPr lang="zh-CN" sz="27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588645" y="1641158"/>
            <a:ext cx="6299200" cy="2457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从“顺序、并行、审阅”中各选一种，并说出：任务之间有什么依赖？</a:t>
            </a:r>
            <a:endParaRPr lang="zh-CN" sz="16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09600" y="2181225"/>
            <a:ext cx="107061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9" name="Rectangle 9"/>
          <p:cNvSpPr/>
          <p:nvPr>
            <p:custDataLst>
              <p:tags r:id="rId1"/>
            </p:custDataLst>
          </p:nvPr>
        </p:nvSpPr>
        <p:spPr>
          <a:xfrm>
            <a:off x="609600" y="2181225"/>
            <a:ext cx="666750" cy="1028700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0" name="TextBox 10"/>
          <p:cNvSpPr txBox="1"/>
          <p:nvPr>
            <p:custDataLst>
              <p:tags r:id="rId2"/>
            </p:custDataLst>
          </p:nvPr>
        </p:nvSpPr>
        <p:spPr>
          <a:xfrm>
            <a:off x="774382" y="2591276"/>
            <a:ext cx="199954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A</a:t>
            </a:r>
            <a:endParaRPr lang="zh-CN" sz="202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1"/>
          <p:cNvSpPr txBox="1"/>
          <p:nvPr>
            <p:custDataLst>
              <p:tags r:id="rId3"/>
            </p:custDataLst>
          </p:nvPr>
        </p:nvSpPr>
        <p:spPr>
          <a:xfrm>
            <a:off x="1507808" y="2410301"/>
            <a:ext cx="767715" cy="6242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025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 A</a:t>
            </a:r>
            <a:endParaRPr lang="zh-CN" altLang="en-US" sz="2025" b="1" i="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2025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4"/>
            </p:custDataLst>
          </p:nvPr>
        </p:nvSpPr>
        <p:spPr>
          <a:xfrm>
            <a:off x="1517332" y="2834164"/>
            <a:ext cx="4559935" cy="4305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一组读实验协议，另一组准备 Python 环境，之后再汇合。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609600" y="3381375"/>
            <a:ext cx="107061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4" name="Rectangle 14"/>
          <p:cNvSpPr/>
          <p:nvPr>
            <p:custDataLst>
              <p:tags r:id="rId5"/>
            </p:custDataLst>
          </p:nvPr>
        </p:nvSpPr>
        <p:spPr>
          <a:xfrm>
            <a:off x="609600" y="3381375"/>
            <a:ext cx="666750" cy="1028700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15" name="TextBox 15"/>
          <p:cNvSpPr txBox="1"/>
          <p:nvPr>
            <p:custDataLst>
              <p:tags r:id="rId6"/>
            </p:custDataLst>
          </p:nvPr>
        </p:nvSpPr>
        <p:spPr>
          <a:xfrm>
            <a:off x="774382" y="3791426"/>
            <a:ext cx="199954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B</a:t>
            </a:r>
            <a:endParaRPr lang="zh-CN" sz="202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6"/>
          <p:cNvSpPr txBox="1"/>
          <p:nvPr>
            <p:custDataLst>
              <p:tags r:id="rId7"/>
            </p:custDataLst>
          </p:nvPr>
        </p:nvSpPr>
        <p:spPr>
          <a:xfrm>
            <a:off x="1507808" y="3610451"/>
            <a:ext cx="751840" cy="6242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025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</a:t>
            </a:r>
            <a:r>
              <a:rPr lang="en-US" altLang="zh-CN" sz="2025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lang="en-US" altLang="zh-CN" sz="2025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2025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8"/>
            </p:custDataLst>
          </p:nvPr>
        </p:nvSpPr>
        <p:spPr>
          <a:xfrm>
            <a:off x="1517332" y="4034314"/>
            <a:ext cx="4001770" cy="4305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报告者必须先拿到 metrics.json，才能写实验结果。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609600" y="4581525"/>
            <a:ext cx="107061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DE"/>
            </a:solidFill>
          </a:ln>
        </p:spPr>
      </p:sp>
      <p:sp>
        <p:nvSpPr>
          <p:cNvPr id="19" name="Rectangle 19"/>
          <p:cNvSpPr/>
          <p:nvPr>
            <p:custDataLst>
              <p:tags r:id="rId9"/>
            </p:custDataLst>
          </p:nvPr>
        </p:nvSpPr>
        <p:spPr>
          <a:xfrm>
            <a:off x="609600" y="4581525"/>
            <a:ext cx="666750" cy="1028700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20" name="TextBox 20"/>
          <p:cNvSpPr txBox="1"/>
          <p:nvPr>
            <p:custDataLst>
              <p:tags r:id="rId10"/>
            </p:custDataLst>
          </p:nvPr>
        </p:nvSpPr>
        <p:spPr>
          <a:xfrm>
            <a:off x="774382" y="4991576"/>
            <a:ext cx="199954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5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C</a:t>
            </a:r>
            <a:endParaRPr lang="zh-CN" sz="2025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1"/>
          <p:cNvSpPr txBox="1"/>
          <p:nvPr>
            <p:custDataLst>
              <p:tags r:id="rId11"/>
            </p:custDataLst>
          </p:nvPr>
        </p:nvSpPr>
        <p:spPr>
          <a:xfrm>
            <a:off x="1507808" y="4810601"/>
            <a:ext cx="747395" cy="6242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2025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</a:t>
            </a:r>
            <a:r>
              <a:rPr lang="en-US" altLang="zh-CN" sz="2025" b="1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lang="en-US" altLang="zh-CN" sz="2025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en-US" altLang="zh-CN" sz="2025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12"/>
            </p:custDataLst>
          </p:nvPr>
        </p:nvSpPr>
        <p:spPr>
          <a:xfrm>
            <a:off x="1517332" y="5234464"/>
            <a:ext cx="4518025" cy="4305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报告称 Macro-F1 为 0.829；审核者从逐条预测独立重算。</a:t>
            </a:r>
            <a:endParaRPr lang="zh-CN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1400" dirty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2507615" y="2295525"/>
            <a:ext cx="1080135" cy="50400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txBody>
          <a:bodyPr/>
          <a:p>
            <a:pPr algn="ctr"/>
            <a:r>
              <a:rPr lang="zh-CN" altLang="en-US" sz="202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并行</a:t>
            </a:r>
            <a:endParaRPr lang="zh-CN" altLang="en-US" sz="202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2507615" y="3480435"/>
            <a:ext cx="1080135" cy="50400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txBody>
          <a:bodyPr/>
          <a:p>
            <a:pPr algn="ctr"/>
            <a:r>
              <a:rPr lang="zh-CN" altLang="en-US" sz="202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顺序</a:t>
            </a:r>
            <a:endParaRPr lang="zh-CN" altLang="en-US" sz="202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508250" y="4676775"/>
            <a:ext cx="1080135" cy="50400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txBody>
          <a:bodyPr/>
          <a:p>
            <a:pPr algn="ctr"/>
            <a:r>
              <a:rPr lang="zh-CN" altLang="en-US" sz="2025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审阅</a:t>
            </a:r>
            <a:endParaRPr lang="zh-CN" altLang="en-US" sz="2025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 bldLvl="0" animBg="1"/>
      <p:bldP spid="28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09575"/>
            <a:ext cx="1123950" cy="304800"/>
          </a:xfrm>
          <a:prstGeom prst="roundRect">
            <a:avLst>
              <a:gd name="adj" fmla="val 12500"/>
            </a:avLst>
          </a:prstGeom>
          <a:solidFill>
            <a:srgbClr val="173A5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7232" y="481489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第四部分</a:t>
            </a:r>
            <a:endParaRPr lang="zh-CN" sz="1275" dirty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5310" y="861060"/>
            <a:ext cx="582930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27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复盘总结：构建可信赖的多智能体系统</a:t>
            </a:r>
            <a:endParaRPr lang="zh-CN" sz="2700" b="1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Line 6"/>
          <p:cNvSpPr/>
          <p:nvPr/>
        </p:nvSpPr>
        <p:spPr>
          <a:xfrm>
            <a:off x="609600" y="1323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22" name="TextBox 5"/>
          <p:cNvSpPr txBox="1"/>
          <p:nvPr/>
        </p:nvSpPr>
        <p:spPr>
          <a:xfrm>
            <a:off x="571500" y="1599565"/>
            <a:ext cx="11049000" cy="32639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四个支柱，构成可信赖的多智能体系统。</a:t>
            </a:r>
            <a:endParaRPr sz="1600" b="0" i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6"/>
          <p:cNvSpPr/>
          <p:nvPr/>
        </p:nvSpPr>
        <p:spPr>
          <a:xfrm>
            <a:off x="571500" y="2191385"/>
            <a:ext cx="25908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7"/>
          <p:cNvSpPr/>
          <p:nvPr/>
        </p:nvSpPr>
        <p:spPr>
          <a:xfrm>
            <a:off x="571500" y="2191385"/>
            <a:ext cx="57150" cy="200025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8"/>
          <p:cNvSpPr txBox="1"/>
          <p:nvPr/>
        </p:nvSpPr>
        <p:spPr>
          <a:xfrm>
            <a:off x="781050" y="2362835"/>
            <a:ext cx="2305050" cy="2857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i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9"/>
          <p:cNvSpPr txBox="1"/>
          <p:nvPr/>
        </p:nvSpPr>
        <p:spPr>
          <a:xfrm>
            <a:off x="781050" y="2743835"/>
            <a:ext cx="2305050" cy="3238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信息增量</a:t>
            </a:r>
            <a:endParaRPr sz="1900" b="1" i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10"/>
          <p:cNvSpPr/>
          <p:nvPr/>
        </p:nvSpPr>
        <p:spPr>
          <a:xfrm>
            <a:off x="781050" y="3143885"/>
            <a:ext cx="2171700" cy="28575"/>
          </a:xfrm>
          <a:prstGeom prst="rect">
            <a:avLst/>
          </a:prstGeom>
          <a:solidFill>
            <a:srgbClr val="D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11"/>
          <p:cNvSpPr txBox="1"/>
          <p:nvPr/>
        </p:nvSpPr>
        <p:spPr>
          <a:xfrm>
            <a:off x="781050" y="3296285"/>
            <a:ext cx="2171700" cy="58928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引入外部证据，击穿认知盲区。</a:t>
            </a:r>
            <a:endParaRPr sz="1400" b="0" i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12"/>
          <p:cNvSpPr/>
          <p:nvPr/>
        </p:nvSpPr>
        <p:spPr>
          <a:xfrm>
            <a:off x="3390900" y="2191385"/>
            <a:ext cx="25908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13"/>
          <p:cNvSpPr/>
          <p:nvPr/>
        </p:nvSpPr>
        <p:spPr>
          <a:xfrm>
            <a:off x="3390900" y="2191385"/>
            <a:ext cx="57150" cy="200025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14"/>
          <p:cNvSpPr txBox="1"/>
          <p:nvPr/>
        </p:nvSpPr>
        <p:spPr>
          <a:xfrm>
            <a:off x="3600450" y="2362835"/>
            <a:ext cx="2305050" cy="2857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 i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15"/>
          <p:cNvSpPr txBox="1"/>
          <p:nvPr/>
        </p:nvSpPr>
        <p:spPr>
          <a:xfrm>
            <a:off x="3600450" y="2743835"/>
            <a:ext cx="2305050" cy="3238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清晰分工</a:t>
            </a:r>
            <a:endParaRPr sz="1900" b="1" i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16"/>
          <p:cNvSpPr/>
          <p:nvPr/>
        </p:nvSpPr>
        <p:spPr>
          <a:xfrm>
            <a:off x="3600450" y="3143885"/>
            <a:ext cx="2171700" cy="28575"/>
          </a:xfrm>
          <a:prstGeom prst="rect">
            <a:avLst/>
          </a:prstGeom>
          <a:solidFill>
            <a:srgbClr val="D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17"/>
          <p:cNvSpPr txBox="1"/>
          <p:nvPr/>
        </p:nvSpPr>
        <p:spPr>
          <a:xfrm>
            <a:off x="3600450" y="3296285"/>
            <a:ext cx="2171700" cy="7620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角色职责与边界明确。</a:t>
            </a:r>
            <a:endParaRPr sz="1400" b="0" i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18"/>
          <p:cNvSpPr/>
          <p:nvPr/>
        </p:nvSpPr>
        <p:spPr>
          <a:xfrm>
            <a:off x="6210300" y="2191385"/>
            <a:ext cx="25908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19"/>
          <p:cNvSpPr/>
          <p:nvPr/>
        </p:nvSpPr>
        <p:spPr>
          <a:xfrm>
            <a:off x="6210300" y="2191385"/>
            <a:ext cx="57150" cy="200025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20"/>
          <p:cNvSpPr txBox="1"/>
          <p:nvPr/>
        </p:nvSpPr>
        <p:spPr>
          <a:xfrm>
            <a:off x="6419850" y="2362835"/>
            <a:ext cx="2305050" cy="2857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 i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21"/>
          <p:cNvSpPr txBox="1"/>
          <p:nvPr/>
        </p:nvSpPr>
        <p:spPr>
          <a:xfrm>
            <a:off x="6419850" y="2743835"/>
            <a:ext cx="2305050" cy="3238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可靠交接</a:t>
            </a:r>
            <a:endParaRPr sz="1900" b="1" i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22"/>
          <p:cNvSpPr/>
          <p:nvPr/>
        </p:nvSpPr>
        <p:spPr>
          <a:xfrm>
            <a:off x="6419850" y="3143885"/>
            <a:ext cx="2171700" cy="28575"/>
          </a:xfrm>
          <a:prstGeom prst="rect">
            <a:avLst/>
          </a:prstGeom>
          <a:solidFill>
            <a:srgbClr val="D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23"/>
          <p:cNvSpPr txBox="1"/>
          <p:nvPr/>
        </p:nvSpPr>
        <p:spPr>
          <a:xfrm>
            <a:off x="6419850" y="3296285"/>
            <a:ext cx="2171700" cy="7620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接口标准化、链路可追溯。</a:t>
            </a:r>
            <a:endParaRPr sz="1400" b="0" i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24"/>
          <p:cNvSpPr/>
          <p:nvPr/>
        </p:nvSpPr>
        <p:spPr>
          <a:xfrm>
            <a:off x="9029700" y="2191385"/>
            <a:ext cx="25908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25"/>
          <p:cNvSpPr/>
          <p:nvPr/>
        </p:nvSpPr>
        <p:spPr>
          <a:xfrm>
            <a:off x="9029700" y="2191385"/>
            <a:ext cx="57150" cy="2000250"/>
          </a:xfrm>
          <a:prstGeom prst="rect">
            <a:avLst/>
          </a:prstGeom>
          <a:solidFill>
            <a:srgbClr val="0F7F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26"/>
          <p:cNvSpPr txBox="1"/>
          <p:nvPr/>
        </p:nvSpPr>
        <p:spPr>
          <a:xfrm>
            <a:off x="9239250" y="2362835"/>
            <a:ext cx="2305050" cy="2857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 i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27"/>
          <p:cNvSpPr txBox="1"/>
          <p:nvPr/>
        </p:nvSpPr>
        <p:spPr>
          <a:xfrm>
            <a:off x="9239250" y="2743835"/>
            <a:ext cx="2305050" cy="32385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 i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独立验证</a:t>
            </a:r>
            <a:endParaRPr sz="1900" b="1" i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28"/>
          <p:cNvSpPr/>
          <p:nvPr/>
        </p:nvSpPr>
        <p:spPr>
          <a:xfrm>
            <a:off x="9239250" y="3143885"/>
            <a:ext cx="2171700" cy="28575"/>
          </a:xfrm>
          <a:prstGeom prst="rect">
            <a:avLst/>
          </a:prstGeom>
          <a:solidFill>
            <a:srgbClr val="D8D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29"/>
          <p:cNvSpPr txBox="1"/>
          <p:nvPr/>
        </p:nvSpPr>
        <p:spPr>
          <a:xfrm>
            <a:off x="9239250" y="3296285"/>
            <a:ext cx="2171700" cy="762000"/>
          </a:xfrm>
          <a:prstGeom prst="rect">
            <a:avLst/>
          </a:prstGeom>
          <a:noFill/>
        </p:spPr>
        <p:txBody>
          <a:bodyPr wrap="square" lIns="38100" tIns="25400" rIns="38100" bIns="2540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0">
                <a:solidFill>
                  <a:srgbClr val="52647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确定性重算与审计留痕。</a:t>
            </a:r>
            <a:endParaRPr sz="1400" b="0" i="0">
              <a:solidFill>
                <a:srgbClr val="52647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30"/>
          <p:cNvSpPr/>
          <p:nvPr/>
        </p:nvSpPr>
        <p:spPr>
          <a:xfrm>
            <a:off x="1143000" y="4743450"/>
            <a:ext cx="9906000" cy="8001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 w="9525">
            <a:solidFill>
              <a:srgbClr val="D8DE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31"/>
          <p:cNvSpPr txBox="1"/>
          <p:nvPr/>
        </p:nvSpPr>
        <p:spPr>
          <a:xfrm>
            <a:off x="1143000" y="4743450"/>
            <a:ext cx="9906000" cy="800100"/>
          </a:xfrm>
          <a:prstGeom prst="rect">
            <a:avLst/>
          </a:prstGeom>
          <a:noFill/>
        </p:spPr>
        <p:txBody>
          <a:bodyPr wrap="square" lIns="38100" tIns="25400" rIns="38100" bIns="2540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好的多智能体系统 </a:t>
            </a:r>
            <a:r>
              <a:rPr sz="22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＝</a:t>
            </a:r>
            <a:r>
              <a:rPr sz="22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清晰分工 ＋</a:t>
            </a:r>
            <a:r>
              <a:rPr sz="22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可靠交接 ＋</a:t>
            </a:r>
            <a:r>
              <a:rPr sz="2200" b="1" i="0">
                <a:solidFill>
                  <a:srgbClr val="0F7F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独立验证</a:t>
            </a:r>
            <a:endParaRPr sz="2200" b="1" i="0">
              <a:solidFill>
                <a:srgbClr val="0F7F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" y="457200"/>
            <a:ext cx="552450" cy="57150"/>
          </a:xfrm>
          <a:prstGeom prst="rect">
            <a:avLst/>
          </a:prstGeom>
          <a:solidFill>
            <a:srgbClr val="0F7F9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5310" y="765810"/>
            <a:ext cx="3429000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2700" b="1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四位汇报人的讲解内容</a:t>
            </a:r>
            <a:endParaRPr sz="2700" b="1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609600" y="12382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990600" y="1952625"/>
            <a:ext cx="10210800" cy="37719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D5DE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90600" y="1952625"/>
            <a:ext cx="10210800" cy="647700"/>
          </a:xfrm>
          <a:prstGeom prst="rect">
            <a:avLst/>
          </a:prstGeom>
          <a:solidFill>
            <a:srgbClr val="173A5E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72540" y="2177415"/>
            <a:ext cx="6858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汇报人</a:t>
            </a:r>
            <a:endParaRPr lang="zh-CN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082290" y="2177415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主要内容</a:t>
            </a:r>
            <a:endParaRPr lang="zh-CN" sz="1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ectangle 10"/>
          <p:cNvSpPr/>
          <p:nvPr/>
        </p:nvSpPr>
        <p:spPr>
          <a:xfrm>
            <a:off x="990600" y="2600325"/>
            <a:ext cx="1021080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72540" y="2901315"/>
            <a:ext cx="143954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第一位</a:t>
            </a:r>
            <a:r>
              <a:rPr lang="en-US" alt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 </a:t>
            </a:r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孙嘉怿</a:t>
            </a:r>
            <a:endParaRPr lang="zh-CN" sz="18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084195" y="2917508"/>
            <a:ext cx="445346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入门、为什么协作、三种交接途径概览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990600" y="3381375"/>
            <a:ext cx="10210800" cy="781050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72540" y="3682365"/>
            <a:ext cx="121094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第二位</a:t>
            </a:r>
            <a:r>
              <a:rPr lang="en-US" alt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 </a:t>
            </a:r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孙怡</a:t>
            </a:r>
            <a:endParaRPr lang="zh-CN" sz="18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84195" y="3698558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通信模式、协作流程与拓扑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ectangle 16"/>
          <p:cNvSpPr/>
          <p:nvPr/>
        </p:nvSpPr>
        <p:spPr>
          <a:xfrm>
            <a:off x="990600" y="4162425"/>
            <a:ext cx="10210800" cy="7810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72540" y="4463415"/>
            <a:ext cx="143954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第三位</a:t>
            </a:r>
            <a:r>
              <a:rPr lang="en-US" alt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 </a:t>
            </a:r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林立新</a:t>
            </a:r>
            <a:endParaRPr lang="zh-CN" sz="18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084195" y="4479608"/>
            <a:ext cx="3706495" cy="2533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组织方式、CrewAI 代码</a:t>
            </a:r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复现与结果解读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9"/>
          <p:cNvSpPr/>
          <p:nvPr/>
        </p:nvSpPr>
        <p:spPr>
          <a:xfrm>
            <a:off x="990600" y="4943475"/>
            <a:ext cx="10210800" cy="781050"/>
          </a:xfrm>
          <a:prstGeom prst="rect">
            <a:avLst/>
          </a:prstGeom>
          <a:solidFill>
            <a:srgbClr val="EEF3F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272540" y="5244465"/>
            <a:ext cx="143954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第四位</a:t>
            </a:r>
            <a:r>
              <a:rPr lang="en-US" alt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 </a:t>
            </a:r>
            <a:r>
              <a:rPr lang="zh-CN" sz="1800" b="1" dirty="0">
                <a:solidFill>
                  <a:srgbClr val="173A5E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/>
              </a:rPr>
              <a:t>张怡萱</a:t>
            </a:r>
            <a:endParaRPr lang="zh-CN" sz="1800" b="1" dirty="0">
              <a:solidFill>
                <a:srgbClr val="173A5E"/>
              </a:solidFill>
              <a:latin typeface="微软雅黑" panose="020B0503020204020204" charset="-122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084195" y="5260658"/>
            <a:ext cx="53115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02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误判案例走读、ADK 与交接包、独立验证、练习与总结</a:t>
            </a:r>
            <a:endParaRPr lang="zh-CN" sz="1650" dirty="0">
              <a:solidFill>
                <a:srgbClr val="102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2819400" y="1952625"/>
            <a:ext cx="9525" cy="3771900"/>
          </a:xfrm>
          <a:custGeom>
            <a:avLst/>
            <a:gdLst/>
            <a:ahLst/>
            <a:cxnLst/>
            <a:rect l="l" t="t" r="r" b="b"/>
            <a:pathLst>
              <a:path w="9525" h="3771900">
                <a:moveTo>
                  <a:pt x="0" y="0"/>
                </a:moveTo>
                <a:lnTo>
                  <a:pt x="0" y="3771900"/>
                </a:lnTo>
              </a:path>
            </a:pathLst>
          </a:custGeom>
          <a:noFill/>
          <a:ln w="19050">
            <a:solidFill>
              <a:srgbClr val="C5D5DE"/>
            </a:solidFill>
          </a:ln>
        </p:spPr>
      </p:sp>
      <p:sp>
        <p:nvSpPr>
          <p:cNvPr id="23" name="Line 23"/>
          <p:cNvSpPr/>
          <p:nvPr/>
        </p:nvSpPr>
        <p:spPr>
          <a:xfrm>
            <a:off x="990600" y="2600325"/>
            <a:ext cx="10210800" cy="9525"/>
          </a:xfrm>
          <a:custGeom>
            <a:avLst/>
            <a:gdLst/>
            <a:ahLst/>
            <a:cxnLst/>
            <a:rect l="l" t="t" r="r" b="b"/>
            <a:pathLst>
              <a:path w="10210800" h="9525">
                <a:moveTo>
                  <a:pt x="0" y="0"/>
                </a:moveTo>
                <a:lnTo>
                  <a:pt x="1021080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24" name="Line 24"/>
          <p:cNvSpPr/>
          <p:nvPr/>
        </p:nvSpPr>
        <p:spPr>
          <a:xfrm>
            <a:off x="990600" y="3381375"/>
            <a:ext cx="10210800" cy="9525"/>
          </a:xfrm>
          <a:custGeom>
            <a:avLst/>
            <a:gdLst/>
            <a:ahLst/>
            <a:cxnLst/>
            <a:rect l="l" t="t" r="r" b="b"/>
            <a:pathLst>
              <a:path w="10210800" h="9525">
                <a:moveTo>
                  <a:pt x="0" y="0"/>
                </a:moveTo>
                <a:lnTo>
                  <a:pt x="1021080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25" name="Line 25"/>
          <p:cNvSpPr/>
          <p:nvPr/>
        </p:nvSpPr>
        <p:spPr>
          <a:xfrm>
            <a:off x="990600" y="4162425"/>
            <a:ext cx="10210800" cy="9525"/>
          </a:xfrm>
          <a:custGeom>
            <a:avLst/>
            <a:gdLst/>
            <a:ahLst/>
            <a:cxnLst/>
            <a:rect l="l" t="t" r="r" b="b"/>
            <a:pathLst>
              <a:path w="10210800" h="9525">
                <a:moveTo>
                  <a:pt x="0" y="0"/>
                </a:moveTo>
                <a:lnTo>
                  <a:pt x="1021080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  <p:sp>
        <p:nvSpPr>
          <p:cNvPr id="26" name="Line 26"/>
          <p:cNvSpPr/>
          <p:nvPr/>
        </p:nvSpPr>
        <p:spPr>
          <a:xfrm>
            <a:off x="990600" y="4943475"/>
            <a:ext cx="10210800" cy="9525"/>
          </a:xfrm>
          <a:custGeom>
            <a:avLst/>
            <a:gdLst/>
            <a:ahLst/>
            <a:cxnLst/>
            <a:rect l="l" t="t" r="r" b="b"/>
            <a:pathLst>
              <a:path w="10210800" h="9525">
                <a:moveTo>
                  <a:pt x="0" y="0"/>
                </a:moveTo>
                <a:lnTo>
                  <a:pt x="10210800" y="0"/>
                </a:lnTo>
              </a:path>
            </a:pathLst>
          </a:custGeom>
          <a:noFill/>
          <a:ln w="9525">
            <a:solidFill>
              <a:srgbClr val="C5D5DE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64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65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66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67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68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69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70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71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72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73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74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75.xml><?xml version="1.0" encoding="utf-8"?>
<p:tagLst xmlns:p="http://schemas.openxmlformats.org/presentationml/2006/main">
  <p:tag name="KSO_WM_DIAGRAM_VIRTUALLY_FRAME" val="{&quot;height&quot;:127.6,&quot;left&quot;:77.4,&quot;top&quot;:184.53748031496062,&quot;width&quot;:794.227559055118}"/>
</p:tagLst>
</file>

<file path=ppt/tags/tag76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77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78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79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0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1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2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3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4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5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6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7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8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89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90.xml><?xml version="1.0" encoding="utf-8"?>
<p:tagLst xmlns:p="http://schemas.openxmlformats.org/presentationml/2006/main">
  <p:tag name="KSO_WM_DIAGRAM_VIRTUALLY_FRAME" val="{&quot;height&quot;:267.55,&quot;left&quot;:48,&quot;top&quot;:137.75,&quot;width&quot;:826.5}"/>
</p:tagLst>
</file>

<file path=ppt/tags/tag91.xml><?xml version="1.0" encoding="utf-8"?>
<p:tagLst xmlns:p="http://schemas.openxmlformats.org/presentationml/2006/main">
  <p:tag name="KSO_WM_DIAGRAM_VIRTUALLY_FRAME" val="{&quot;height&quot;:267.55,&quot;left&quot;:48,&quot;top&quot;:137.75,&quot;width&quot;:826.5}"/>
</p:tagLst>
</file>

<file path=ppt/tags/tag92.xml><?xml version="1.0" encoding="utf-8"?>
<p:tagLst xmlns:p="http://schemas.openxmlformats.org/presentationml/2006/main">
  <p:tag name="KSO_WM_DIAGRAM_VIRTUALLY_FRAME" val="{&quot;height&quot;:267.55,&quot;left&quot;:48,&quot;top&quot;:137.75,&quot;width&quot;:826.5}"/>
</p:tagLst>
</file>

<file path=ppt/tags/tag93.xml><?xml version="1.0" encoding="utf-8"?>
<p:tagLst xmlns:p="http://schemas.openxmlformats.org/presentationml/2006/main">
  <p:tag name="KSO_WM_DIAGRAM_VIRTUALLY_FRAME" val="{&quot;height&quot;:267.55,&quot;left&quot;:48,&quot;top&quot;:137.75,&quot;width&quot;:826.5}"/>
</p:tagLst>
</file>

<file path=ppt/tags/tag94.xml><?xml version="1.0" encoding="utf-8"?>
<p:tagLst xmlns:p="http://schemas.openxmlformats.org/presentationml/2006/main">
  <p:tag name="KSO_WM_DIAGRAM_VIRTUALLY_FRAME" val="{&quot;height&quot;:267.55,&quot;left&quot;:48,&quot;top&quot;:137.75,&quot;width&quot;:826.5}"/>
</p:tagLst>
</file>

<file path=ppt/tags/tag95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96.xml><?xml version="1.0" encoding="utf-8"?>
<p:tagLst xmlns:p="http://schemas.openxmlformats.org/presentationml/2006/main">
  <p:tag name="KSO_WM_DIAGRAM_VIRTUALLY_FRAME" val="{&quot;height&quot;:218.5,&quot;left&quot;:48,&quot;top&quot;:137.75,&quot;width&quot;:826.5}"/>
</p:tagLst>
</file>

<file path=ppt/tags/tag97.xml><?xml version="1.0" encoding="utf-8"?>
<p:tagLst xmlns:p="http://schemas.openxmlformats.org/presentationml/2006/main">
  <p:tag name="KSO_WM_DIAGRAM_VIRTUALLY_FRAME" val="{&quot;height&quot;:267.55,&quot;left&quot;:48,&quot;top&quot;:137.75,&quot;width&quot;:826.5}"/>
</p:tagLst>
</file>

<file path=ppt/tags/tag98.xml><?xml version="1.0" encoding="utf-8"?>
<p:tagLst xmlns:p="http://schemas.openxmlformats.org/presentationml/2006/main">
  <p:tag name="KSO_WM_DIAGRAM_VIRTUALLY_FRAME" val="{&quot;height&quot;:267.55,&quot;left&quot;:48,&quot;top&quot;:137.75,&quot;width&quot;:826.5}"/>
</p:tagLst>
</file>

<file path=ppt/tags/tag99.xml><?xml version="1.0" encoding="utf-8"?>
<p:tagLst xmlns:p="http://schemas.openxmlformats.org/presentationml/2006/main">
  <p:tag name="KSO_WM_DIAGRAM_VIRTUALLY_FRAME" val="{&quot;height&quot;:456.23755905511814,&quot;left&quot;:480.17503937007876,&quot;top&quot;:11.837480314960612,&quot;width&quot;:359.1329133858268}"/>
</p:tagLst>
</file>

<file path=ppt/tags/tag100.xml><?xml version="1.0" encoding="utf-8"?>
<p:tagLst xmlns:p="http://schemas.openxmlformats.org/presentationml/2006/main">
  <p:tag name="KSO_WM_DIAGRAM_VIRTUALLY_FRAME" val="{&quot;height&quot;:456.23755905511814,&quot;left&quot;:480.17503937007876,&quot;top&quot;:11.837480314960612,&quot;width&quot;:359.1329133858268}"/>
</p:tagLst>
</file>

<file path=ppt/tags/tag101.xml><?xml version="1.0" encoding="utf-8"?>
<p:tagLst xmlns:p="http://schemas.openxmlformats.org/presentationml/2006/main">
  <p:tag name="KSO_WM_DIAGRAM_VIRTUALLY_FRAME" val="{&quot;height&quot;:456.23755905511814,&quot;left&quot;:480.17503937007876,&quot;top&quot;:11.837480314960612,&quot;width&quot;:359.1329133858268}"/>
</p:tagLst>
</file>

<file path=ppt/tags/tag102.xml><?xml version="1.0" encoding="utf-8"?>
<p:tagLst xmlns:p="http://schemas.openxmlformats.org/presentationml/2006/main">
  <p:tag name="KSO_WM_DIAGRAM_VIRTUALLY_FRAME" val="{&quot;height&quot;:456.23755905511814,&quot;left&quot;:480.17503937007876,&quot;top&quot;:11.837480314960612,&quot;width&quot;:359.1329133858268}"/>
</p:tagLst>
</file>

<file path=ppt/tags/tag103.xml><?xml version="1.0" encoding="utf-8"?>
<p:tagLst xmlns:p="http://schemas.openxmlformats.org/presentationml/2006/main">
  <p:tag name="KSO_WM_DIAGRAM_VIRTUALLY_FRAME" val="{&quot;height&quot;:456.23755905511814,&quot;left&quot;:480.17503937007876,&quot;top&quot;:11.837480314960612,&quot;width&quot;:359.1329133858268}"/>
</p:tagLst>
</file>

<file path=ppt/tags/tag104.xml><?xml version="1.0" encoding="utf-8"?>
<p:tagLst xmlns:p="http://schemas.openxmlformats.org/presentationml/2006/main">
  <p:tag name="KSO_WM_DIAGRAM_VIRTUALLY_FRAME" val="{&quot;height&quot;:456.23755905511814,&quot;left&quot;:480.17503937007876,&quot;top&quot;:11.837480314960612,&quot;width&quot;:359.1329133858268}"/>
</p:tagLst>
</file>

<file path=ppt/tags/tag105.xml><?xml version="1.0" encoding="utf-8"?>
<p:tagLst xmlns:p="http://schemas.openxmlformats.org/presentationml/2006/main">
  <p:tag name="KSO_WM_DIAGRAM_VIRTUALLY_FRAME" val="{&quot;height&quot;:456.23755905511814,&quot;left&quot;:480.17503937007876,&quot;top&quot;:11.837480314960612,&quot;width&quot;:359.1329133858268}"/>
</p:tagLst>
</file>

<file path=ppt/tags/tag106.xml><?xml version="1.0" encoding="utf-8"?>
<p:tagLst xmlns:p="http://schemas.openxmlformats.org/presentationml/2006/main">
  <p:tag name="KSO_WM_DIAGRAM_VIRTUALLY_FRAME" val="{&quot;height&quot;:456.23755905511814,&quot;left&quot;:480.17503937007876,&quot;top&quot;:11.837480314960612,&quot;width&quot;:359.1329133858268}"/>
</p:tagLst>
</file>

<file path=ppt/tags/tag107.xml><?xml version="1.0" encoding="utf-8"?>
<p:tagLst xmlns:p="http://schemas.openxmlformats.org/presentationml/2006/main">
  <p:tag name="KSO_WM_DIAGRAM_VIRTUALLY_FRAME" val="{&quot;height&quot;:265.8374803149606,&quot;left&quot;:525,&quot;top&quot;:138.03748031496065,&quot;width&quot;:363}"/>
</p:tagLst>
</file>

<file path=ppt/tags/tag108.xml><?xml version="1.0" encoding="utf-8"?>
<p:tagLst xmlns:p="http://schemas.openxmlformats.org/presentationml/2006/main">
  <p:tag name="KSO_WM_DIAGRAM_VIRTUALLY_FRAME" val="{&quot;height&quot;:265.8374803149606,&quot;left&quot;:525,&quot;top&quot;:138.03748031496065,&quot;width&quot;:363}"/>
</p:tagLst>
</file>

<file path=ppt/tags/tag109.xml><?xml version="1.0" encoding="utf-8"?>
<p:tagLst xmlns:p="http://schemas.openxmlformats.org/presentationml/2006/main">
  <p:tag name="KSO_WM_DIAGRAM_VIRTUALLY_FRAME" val="{&quot;height&quot;:265.8374803149606,&quot;left&quot;:525,&quot;top&quot;:138.03748031496065,&quot;width&quot;:363}"/>
</p:tagLst>
</file>

<file path=ppt/tags/tag110.xml><?xml version="1.0" encoding="utf-8"?>
<p:tagLst xmlns:p="http://schemas.openxmlformats.org/presentationml/2006/main">
  <p:tag name="KSO_WM_DIAGRAM_VIRTUALLY_FRAME" val="{&quot;height&quot;:265.8374803149606,&quot;left&quot;:525,&quot;top&quot;:138.03748031496065,&quot;width&quot;:363}"/>
</p:tagLst>
</file>

<file path=ppt/tags/tag111.xml><?xml version="1.0" encoding="utf-8"?>
<p:tagLst xmlns:p="http://schemas.openxmlformats.org/presentationml/2006/main">
  <p:tag name="KSO_WM_DIAGRAM_VIRTUALLY_FRAME" val="{&quot;height&quot;:265.8374803149606,&quot;left&quot;:525,&quot;top&quot;:138.03748031496065,&quot;width&quot;:363}"/>
</p:tagLst>
</file>

<file path=ppt/tags/tag112.xml><?xml version="1.0" encoding="utf-8"?>
<p:tagLst xmlns:p="http://schemas.openxmlformats.org/presentationml/2006/main">
  <p:tag name="KSO_WM_DIAGRAM_VIRTUALLY_FRAME" val="{&quot;height&quot;:265.8374803149606,&quot;left&quot;:525,&quot;top&quot;:138.03748031496065,&quot;width&quot;:363}"/>
</p:tagLst>
</file>

<file path=ppt/tags/tag113.xml><?xml version="1.0" encoding="utf-8"?>
<p:tagLst xmlns:p="http://schemas.openxmlformats.org/presentationml/2006/main">
  <p:tag name="KSO_WM_DIAGRAM_VIRTUALLY_FRAME" val="{&quot;height&quot;:265.8374803149606,&quot;left&quot;:525,&quot;top&quot;:138.03748031496065,&quot;width&quot;:363}"/>
</p:tagLst>
</file>

<file path=ppt/tags/tag114.xml><?xml version="1.0" encoding="utf-8"?>
<p:tagLst xmlns:p="http://schemas.openxmlformats.org/presentationml/2006/main">
  <p:tag name="KSO_WM_DIAGRAM_VIRTUALLY_FRAME" val="{&quot;height&quot;:265.8374803149606,&quot;left&quot;:525,&quot;top&quot;:138.03748031496065,&quot;width&quot;:363}"/>
</p:tagLst>
</file>

<file path=ppt/tags/tag115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16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17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18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19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0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1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2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3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4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5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6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7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8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29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0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1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2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3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4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5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6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7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8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39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0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1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2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3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4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5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6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7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8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49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50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51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52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53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54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55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56.xml><?xml version="1.0" encoding="utf-8"?>
<p:tagLst xmlns:p="http://schemas.openxmlformats.org/presentationml/2006/main">
  <p:tag name="KSO_WM_DIAGRAM_VIRTUALLY_FRAME" val="{&quot;height&quot;:300.96,&quot;left&quot;:46.8,&quot;top&quot;:138.24,&quot;width&quot;:866.1600000000001}"/>
</p:tagLst>
</file>

<file path=ppt/tags/tag157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58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59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0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1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2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3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4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5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6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7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8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69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0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1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2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3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4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5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6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7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8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79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80.xml><?xml version="1.0" encoding="utf-8"?>
<p:tagLst xmlns:p="http://schemas.openxmlformats.org/presentationml/2006/main">
  <p:tag name="KSO_WM_DIAGRAM_VIRTUALLY_FRAME" val="{&quot;height&quot;:306,&quot;left&quot;:507.6,&quot;top&quot;:136.8,&quot;width&quot;:405.36}"/>
</p:tagLst>
</file>

<file path=ppt/tags/tag181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82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83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84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85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86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87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88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89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90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91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92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93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94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95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96.xml><?xml version="1.0" encoding="utf-8"?>
<p:tagLst xmlns:p="http://schemas.openxmlformats.org/presentationml/2006/main">
  <p:tag name="KSO_WM_DIAGRAM_VIRTUALLY_FRAME" val="{&quot;height&quot;:188.25,&quot;left&quot;:48,&quot;top&quot;:239.25,&quot;width&quot;:864}"/>
</p:tagLst>
</file>

<file path=ppt/tags/tag197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198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199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0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1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2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3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4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5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6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7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8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09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10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11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12.xml><?xml version="1.0" encoding="utf-8"?>
<p:tagLst xmlns:p="http://schemas.openxmlformats.org/presentationml/2006/main">
  <p:tag name="KSO_WM_DIAGRAM_VIRTUALLY_FRAME" val="{&quot;height&quot;:303.75,&quot;left&quot;:45,&quot;top&quot;:163.2,&quot;width&quot;:870}"/>
</p:tagLst>
</file>

<file path=ppt/tags/tag213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14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15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16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17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18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19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20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21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22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23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ags/tag224.xml><?xml version="1.0" encoding="utf-8"?>
<p:tagLst xmlns:p="http://schemas.openxmlformats.org/presentationml/2006/main">
  <p:tag name="KSO_WM_DIAGRAM_VIRTUALLY_FRAME" val="{&quot;height&quot;:274.3125196850394,&quot;left&quot;:48,&quot;top&quot;:171.75,&quot;width&quot;:679.2249606299213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12433</Words>
  <Application>WPS 演示</Application>
  <PresentationFormat>宽屏</PresentationFormat>
  <Paragraphs>1303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宋体</vt:lpstr>
      <vt:lpstr>Wingdings</vt:lpstr>
      <vt:lpstr>Wingdings</vt:lpstr>
      <vt:lpstr>微软雅黑</vt:lpstr>
      <vt:lpstr>Segoe UI</vt:lpstr>
      <vt:lpstr>Arial</vt:lpstr>
      <vt:lpstr>Consolas</vt:lpstr>
      <vt:lpstr>Arial Unicode MS</vt:lpstr>
      <vt:lpstr>Calibri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✨</cp:lastModifiedBy>
  <cp:revision>167</cp:revision>
  <dcterms:created xsi:type="dcterms:W3CDTF">2019-06-19T02:08:00Z</dcterms:created>
  <dcterms:modified xsi:type="dcterms:W3CDTF">2026-10-21T03:02:15Z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7733DA0C67464DD8A2DF9A5C30585C7C_13</vt:lpwstr>
  </property>
</Properties>
</file>