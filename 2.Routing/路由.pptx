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34"/>
  </p:notesMasterIdLst>
  <p:handoutMasterIdLst>
    <p:handoutMasterId r:id="rId35"/>
  </p:handoutMasterIdLst>
  <p:sldIdLst>
    <p:sldId id="481" r:id="rId3"/>
    <p:sldId id="482" r:id="rId4"/>
    <p:sldId id="483" r:id="rId5"/>
    <p:sldId id="540" r:id="rId6"/>
    <p:sldId id="541" r:id="rId7"/>
    <p:sldId id="521" r:id="rId8"/>
    <p:sldId id="497" r:id="rId9"/>
    <p:sldId id="485" r:id="rId10"/>
    <p:sldId id="525" r:id="rId11"/>
    <p:sldId id="526" r:id="rId12"/>
    <p:sldId id="527" r:id="rId13"/>
    <p:sldId id="524" r:id="rId14"/>
    <p:sldId id="542" r:id="rId15"/>
    <p:sldId id="265" r:id="rId16"/>
    <p:sldId id="522" r:id="rId17"/>
    <p:sldId id="529" r:id="rId18"/>
    <p:sldId id="530" r:id="rId19"/>
    <p:sldId id="531" r:id="rId20"/>
    <p:sldId id="532" r:id="rId21"/>
    <p:sldId id="533" r:id="rId22"/>
    <p:sldId id="258" r:id="rId23"/>
    <p:sldId id="535" r:id="rId24"/>
    <p:sldId id="536" r:id="rId25"/>
    <p:sldId id="539" r:id="rId26"/>
    <p:sldId id="264" r:id="rId27"/>
    <p:sldId id="523" r:id="rId28"/>
    <p:sldId id="492" r:id="rId29"/>
    <p:sldId id="543" r:id="rId30"/>
    <p:sldId id="545" r:id="rId31"/>
    <p:sldId id="544" r:id="rId32"/>
    <p:sldId id="546" r:id="rId33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624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  <p15:guide id="3" orient="horz" pos="2678" userDrawn="1">
          <p15:clr>
            <a:srgbClr val="A4A3A4"/>
          </p15:clr>
        </p15:guide>
        <p15:guide id="4" orient="horz" pos="3232" userDrawn="1">
          <p15:clr>
            <a:srgbClr val="A4A3A4"/>
          </p15:clr>
        </p15:guide>
        <p15:guide id="5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B"/>
    <a:srgbClr val="3442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5" autoAdjust="0"/>
    <p:restoredTop sz="95753" autoAdjust="0"/>
  </p:normalViewPr>
  <p:slideViewPr>
    <p:cSldViewPr snapToGrid="0" showGuides="1">
      <p:cViewPr varScale="1">
        <p:scale>
          <a:sx n="98" d="100"/>
          <a:sy n="98" d="100"/>
        </p:scale>
        <p:origin x="950" y="72"/>
      </p:cViewPr>
      <p:guideLst>
        <p:guide pos="5624"/>
        <p:guide orient="horz" pos="1620"/>
        <p:guide orient="horz" pos="2678"/>
        <p:guide orient="horz" pos="323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2026/10/12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2026/10/12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内容来源：《Agentic Design Patterns 中文版》第二章 路由 (Routing)，Google ADK 示例。代码与 D:/Learning/Python/NLP/NLPBase/GoogleAdk.py 保持同步（含 Clarifier 兜底子智能体）。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内容来源：《Agentic Design Patterns 中文版》第二章 路由 (Routing)，Google ADK 示例。代码与 D:/Learning/Python/NLP/NLPBase/GoogleAdk.py 保持同步（含 Clarifier 兜底子智能体）。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内容来源：《Agentic Design Patterns 中文版》第二章 路由 (Routing)，Google ADK 示例。代码与 D:/Learning/Python/NLP/NLPBase/GoogleAdk.py 保持同步（含 Clarifier 兜底子智能体）。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内容来源：《Agentic Design Patterns 中文版》第二章 路由 (Routing)，Google ADK 示例。代码与 D:/Learning/Python/NLP/NLPBase/GoogleAdk.py 保持同步（含 Clarifier 兜底子智能体）。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内容来源：《Agentic Design Patterns 中文版》第二章 路由 (Routing)，Google ADK 示例。代码与 D:/Learning/Python/NLP/NLPBase/GoogleAdk.py 保持同步（含 Clarifier 兜底子智能体）。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71D14BF0-F0DF-4345-B954-6C724BBE726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 dirty="0">
                <a:ea typeface="思源宋体 CN Heavy" pitchFamily="18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955F040-ED43-464F-96F2-927121FE6FD0}" type="datetimeFigureOut">
              <a:rPr lang="zh-CN" altLang="en-US" smtClean="0"/>
              <a:t>2026/10/12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95CE31C-667C-455E-B312-3B73BAEC616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思源宋体 CN Heavy" pitchFamily="18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tags" Target="../tags/tag43.xml"/><Relationship Id="rId21" Type="http://schemas.openxmlformats.org/officeDocument/2006/relationships/tags" Target="../tags/tag38.xml"/><Relationship Id="rId34" Type="http://schemas.openxmlformats.org/officeDocument/2006/relationships/tags" Target="../tags/tag51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42.xml"/><Relationship Id="rId33" Type="http://schemas.openxmlformats.org/officeDocument/2006/relationships/tags" Target="../tags/tag50.xml"/><Relationship Id="rId38" Type="http://schemas.openxmlformats.org/officeDocument/2006/relationships/slideLayout" Target="../slideLayouts/slideLayout3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29" Type="http://schemas.openxmlformats.org/officeDocument/2006/relationships/tags" Target="../tags/tag46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32" Type="http://schemas.openxmlformats.org/officeDocument/2006/relationships/tags" Target="../tags/tag49.xml"/><Relationship Id="rId37" Type="http://schemas.openxmlformats.org/officeDocument/2006/relationships/tags" Target="../tags/tag54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28" Type="http://schemas.openxmlformats.org/officeDocument/2006/relationships/tags" Target="../tags/tag45.xml"/><Relationship Id="rId36" Type="http://schemas.openxmlformats.org/officeDocument/2006/relationships/tags" Target="../tags/tag53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31" Type="http://schemas.openxmlformats.org/officeDocument/2006/relationships/tags" Target="../tags/tag48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Relationship Id="rId27" Type="http://schemas.openxmlformats.org/officeDocument/2006/relationships/tags" Target="../tags/tag44.xml"/><Relationship Id="rId30" Type="http://schemas.openxmlformats.org/officeDocument/2006/relationships/tags" Target="../tags/tag47.xml"/><Relationship Id="rId35" Type="http://schemas.openxmlformats.org/officeDocument/2006/relationships/tags" Target="../tags/tag52.xml"/><Relationship Id="rId8" Type="http://schemas.openxmlformats.org/officeDocument/2006/relationships/tags" Target="../tags/tag25.xml"/><Relationship Id="rId3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 rot="2700000">
            <a:off x="328835" y="293802"/>
            <a:ext cx="668908" cy="668908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244797" y="1609325"/>
            <a:ext cx="488992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44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路由（</a:t>
            </a:r>
            <a:r>
              <a:rPr lang="en-US" altLang="zh-CN" sz="44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Routing</a:t>
            </a:r>
            <a:r>
              <a:rPr lang="zh-CN" altLang="en-US" sz="44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）</a:t>
            </a:r>
            <a:endParaRPr lang="en-US" altLang="zh-CN" sz="4400" dirty="0">
              <a:ln w="19050">
                <a:noFill/>
              </a:ln>
              <a:solidFill>
                <a:srgbClr val="384A72"/>
              </a:solidFill>
              <a:latin typeface="思源宋体 CN Heavy" pitchFamily="18" charset="-122"/>
              <a:ea typeface="思源宋体 CN Heavy" pitchFamily="18" charset="-122"/>
              <a:sym typeface="思源黑体 CN Normal" panose="020B0400000000000000" charset="-122"/>
            </a:endParaRPr>
          </a:p>
          <a:p>
            <a:pPr defTabSz="914400"/>
            <a:r>
              <a:rPr lang="en-US" altLang="zh-CN" sz="44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        </a:t>
            </a:r>
            <a:r>
              <a:rPr lang="en-US" altLang="zh-CN" sz="2000" dirty="0">
                <a:ln w="19050">
                  <a:noFill/>
                </a:ln>
                <a:solidFill>
                  <a:srgbClr val="384A72"/>
                </a:solidFill>
                <a:ea typeface="思源宋体 CN Heavy" pitchFamily="18" charset="-122"/>
                <a:sym typeface="思源黑体 CN Normal" panose="020B0400000000000000" charset="-122"/>
              </a:rPr>
              <a:t>---</a:t>
            </a:r>
            <a:r>
              <a:rPr lang="zh-CN" altLang="en-US" sz="20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智能体的动态决策器</a:t>
            </a:r>
            <a:endParaRPr lang="en-US" altLang="zh-CN" sz="2000" dirty="0">
              <a:ln w="19050">
                <a:noFill/>
              </a:ln>
              <a:solidFill>
                <a:srgbClr val="384A72"/>
              </a:solidFill>
              <a:latin typeface="思源宋体 CN Heavy" pitchFamily="18" charset="-122"/>
              <a:ea typeface="思源宋体 CN Heavy" pitchFamily="18" charset="-122"/>
              <a:sym typeface="思源黑体 CN Normal" panose="020B0400000000000000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: 形状 33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99005" y="4523105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</a:rPr>
              <a:t>第二组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 bwMode="auto">
          <a:xfrm>
            <a:off x="973760" y="2000091"/>
            <a:ext cx="20859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400"/>
            <a:r>
              <a:rPr lang="zh-CN" altLang="en-US" sz="60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rPr>
              <a:t>目录</a:t>
            </a:r>
            <a:endParaRPr lang="en-US" altLang="zh-CN" sz="6000" dirty="0">
              <a:ln w="19050">
                <a:noFill/>
              </a:ln>
              <a:solidFill>
                <a:srgbClr val="384A72"/>
              </a:solidFill>
              <a:latin typeface="思源宋体 CN Heavy" pitchFamily="18" charset="-122"/>
              <a:ea typeface="思源宋体 CN Heavy" pitchFamily="18" charset="-122"/>
              <a:sym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14437" y="1761104"/>
            <a:ext cx="183977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gradFill>
                  <a:gsLst>
                    <a:gs pos="19000">
                      <a:srgbClr val="55A9FF"/>
                    </a:gs>
                    <a:gs pos="100000">
                      <a:srgbClr val="1E8EFE"/>
                    </a:gs>
                    <a:gs pos="53000">
                      <a:srgbClr val="168AFF"/>
                    </a:gs>
                  </a:gsLst>
                  <a:lin ang="18900000" scaled="1"/>
                </a:gradFill>
                <a:effectLst/>
                <a:uLnTx/>
                <a:uFillTx/>
                <a:latin typeface="汉仪雅酷黑 65W" panose="020B0604020202020204" charset="-122"/>
                <a:ea typeface="汉仪雅酷黑 65W" panose="020B0604020202020204" charset="-122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algn="dist"/>
            <a:r>
              <a:rPr lang="en-US" altLang="zh-CN" sz="1200" dirty="0">
                <a:ln w="19050">
                  <a:noFill/>
                </a:ln>
                <a:solidFill>
                  <a:srgbClr val="384A72"/>
                </a:solidFill>
                <a:latin typeface="思源宋体 CN Heavy" pitchFamily="18" charset="-122"/>
                <a:ea typeface="思源宋体 CN Heavy" pitchFamily="18" charset="-122"/>
              </a:rPr>
              <a:t>CONTENTS</a:t>
            </a:r>
          </a:p>
        </p:txBody>
      </p:sp>
      <p:sp>
        <p:nvSpPr>
          <p:cNvPr id="42" name="任意多边形: 形状 41"/>
          <p:cNvSpPr/>
          <p:nvPr/>
        </p:nvSpPr>
        <p:spPr>
          <a:xfrm rot="2700000">
            <a:off x="-407873" y="3738721"/>
            <a:ext cx="1756664" cy="1465415"/>
          </a:xfrm>
          <a:custGeom>
            <a:avLst/>
            <a:gdLst>
              <a:gd name="connsiteX0" fmla="*/ 85754 w 1756664"/>
              <a:gd name="connsiteY0" fmla="*/ 85754 h 1465415"/>
              <a:gd name="connsiteX1" fmla="*/ 292783 w 1756664"/>
              <a:gd name="connsiteY1" fmla="*/ 0 h 1465415"/>
              <a:gd name="connsiteX2" fmla="*/ 1463881 w 1756664"/>
              <a:gd name="connsiteY2" fmla="*/ 0 h 1465415"/>
              <a:gd name="connsiteX3" fmla="*/ 1756664 w 1756664"/>
              <a:gd name="connsiteY3" fmla="*/ 292783 h 1465415"/>
              <a:gd name="connsiteX4" fmla="*/ 1756664 w 1756664"/>
              <a:gd name="connsiteY4" fmla="*/ 729645 h 1465415"/>
              <a:gd name="connsiteX5" fmla="*/ 1020894 w 1756664"/>
              <a:gd name="connsiteY5" fmla="*/ 1465415 h 1465415"/>
              <a:gd name="connsiteX6" fmla="*/ 0 w 1756664"/>
              <a:gd name="connsiteY6" fmla="*/ 444521 h 1465415"/>
              <a:gd name="connsiteX7" fmla="*/ 0 w 1756664"/>
              <a:gd name="connsiteY7" fmla="*/ 292783 h 1465415"/>
              <a:gd name="connsiteX8" fmla="*/ 85754 w 1756664"/>
              <a:gd name="connsiteY8" fmla="*/ 85754 h 146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6664" h="1465415">
                <a:moveTo>
                  <a:pt x="85754" y="85754"/>
                </a:moveTo>
                <a:cubicBezTo>
                  <a:pt x="138737" y="32771"/>
                  <a:pt x="211933" y="0"/>
                  <a:pt x="292783" y="0"/>
                </a:cubicBezTo>
                <a:lnTo>
                  <a:pt x="1463881" y="0"/>
                </a:lnTo>
                <a:cubicBezTo>
                  <a:pt x="1625581" y="0"/>
                  <a:pt x="1756664" y="131083"/>
                  <a:pt x="1756664" y="292783"/>
                </a:cubicBezTo>
                <a:lnTo>
                  <a:pt x="1756664" y="729645"/>
                </a:lnTo>
                <a:lnTo>
                  <a:pt x="1020894" y="1465415"/>
                </a:lnTo>
                <a:lnTo>
                  <a:pt x="0" y="444521"/>
                </a:lnTo>
                <a:lnTo>
                  <a:pt x="0" y="292783"/>
                </a:lnTo>
                <a:cubicBezTo>
                  <a:pt x="0" y="211933"/>
                  <a:pt x="32771" y="138737"/>
                  <a:pt x="85754" y="85754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: 形状 44"/>
          <p:cNvSpPr/>
          <p:nvPr/>
        </p:nvSpPr>
        <p:spPr>
          <a:xfrm rot="2700000">
            <a:off x="1457797" y="4864437"/>
            <a:ext cx="581665" cy="581665"/>
          </a:xfrm>
          <a:custGeom>
            <a:avLst/>
            <a:gdLst>
              <a:gd name="connsiteX0" fmla="*/ 46571 w 449013"/>
              <a:gd name="connsiteY0" fmla="*/ 46571 h 449013"/>
              <a:gd name="connsiteX1" fmla="*/ 159003 w 449013"/>
              <a:gd name="connsiteY1" fmla="*/ 0 h 449013"/>
              <a:gd name="connsiteX2" fmla="*/ 449013 w 449013"/>
              <a:gd name="connsiteY2" fmla="*/ 0 h 449013"/>
              <a:gd name="connsiteX3" fmla="*/ 0 w 449013"/>
              <a:gd name="connsiteY3" fmla="*/ 449013 h 449013"/>
              <a:gd name="connsiteX4" fmla="*/ 0 w 449013"/>
              <a:gd name="connsiteY4" fmla="*/ 159003 h 449013"/>
              <a:gd name="connsiteX5" fmla="*/ 46571 w 449013"/>
              <a:gd name="connsiteY5" fmla="*/ 46571 h 449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9013" h="449013">
                <a:moveTo>
                  <a:pt x="46571" y="46571"/>
                </a:moveTo>
                <a:cubicBezTo>
                  <a:pt x="75345" y="17797"/>
                  <a:pt x="115096" y="0"/>
                  <a:pt x="159003" y="0"/>
                </a:cubicBezTo>
                <a:lnTo>
                  <a:pt x="449013" y="0"/>
                </a:lnTo>
                <a:lnTo>
                  <a:pt x="0" y="449013"/>
                </a:lnTo>
                <a:lnTo>
                  <a:pt x="0" y="159003"/>
                </a:lnTo>
                <a:cubicBezTo>
                  <a:pt x="0" y="115096"/>
                  <a:pt x="17797" y="75345"/>
                  <a:pt x="46571" y="46571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 rot="2700000">
            <a:off x="-122278" y="3070872"/>
            <a:ext cx="244557" cy="244557"/>
          </a:xfrm>
          <a:custGeom>
            <a:avLst/>
            <a:gdLst>
              <a:gd name="connsiteX0" fmla="*/ 0 w 244557"/>
              <a:gd name="connsiteY0" fmla="*/ 0 h 244557"/>
              <a:gd name="connsiteX1" fmla="*/ 85554 w 244557"/>
              <a:gd name="connsiteY1" fmla="*/ 0 h 244557"/>
              <a:gd name="connsiteX2" fmla="*/ 244557 w 244557"/>
              <a:gd name="connsiteY2" fmla="*/ 159003 h 244557"/>
              <a:gd name="connsiteX3" fmla="*/ 244557 w 244557"/>
              <a:gd name="connsiteY3" fmla="*/ 244557 h 244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57" h="244557">
                <a:moveTo>
                  <a:pt x="0" y="0"/>
                </a:moveTo>
                <a:lnTo>
                  <a:pt x="85554" y="0"/>
                </a:lnTo>
                <a:cubicBezTo>
                  <a:pt x="173369" y="0"/>
                  <a:pt x="244557" y="71188"/>
                  <a:pt x="244557" y="159003"/>
                </a:cubicBezTo>
                <a:lnTo>
                  <a:pt x="244557" y="244557"/>
                </a:ln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任意多边形: 形状 46"/>
          <p:cNvSpPr/>
          <p:nvPr/>
        </p:nvSpPr>
        <p:spPr>
          <a:xfrm rot="2700000">
            <a:off x="7831934" y="-211757"/>
            <a:ext cx="1652046" cy="1324355"/>
          </a:xfrm>
          <a:custGeom>
            <a:avLst/>
            <a:gdLst>
              <a:gd name="connsiteX0" fmla="*/ 0 w 1652046"/>
              <a:gd name="connsiteY0" fmla="*/ 851212 h 1324355"/>
              <a:gd name="connsiteX1" fmla="*/ 851213 w 1652046"/>
              <a:gd name="connsiteY1" fmla="*/ 0 h 1324355"/>
              <a:gd name="connsiteX2" fmla="*/ 1652046 w 1652046"/>
              <a:gd name="connsiteY2" fmla="*/ 800833 h 1324355"/>
              <a:gd name="connsiteX3" fmla="*/ 1652046 w 1652046"/>
              <a:gd name="connsiteY3" fmla="*/ 1049008 h 1324355"/>
              <a:gd name="connsiteX4" fmla="*/ 1376699 w 1652046"/>
              <a:gd name="connsiteY4" fmla="*/ 1324355 h 1324355"/>
              <a:gd name="connsiteX5" fmla="*/ 275347 w 1652046"/>
              <a:gd name="connsiteY5" fmla="*/ 1324355 h 1324355"/>
              <a:gd name="connsiteX6" fmla="*/ 0 w 1652046"/>
              <a:gd name="connsiteY6" fmla="*/ 1049008 h 132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2046" h="1324355">
                <a:moveTo>
                  <a:pt x="0" y="851212"/>
                </a:moveTo>
                <a:lnTo>
                  <a:pt x="851213" y="0"/>
                </a:lnTo>
                <a:lnTo>
                  <a:pt x="1652046" y="800833"/>
                </a:lnTo>
                <a:lnTo>
                  <a:pt x="1652046" y="1049008"/>
                </a:lnTo>
                <a:cubicBezTo>
                  <a:pt x="1652046" y="1201078"/>
                  <a:pt x="1528769" y="1324355"/>
                  <a:pt x="1376699" y="1324355"/>
                </a:cubicBezTo>
                <a:lnTo>
                  <a:pt x="275347" y="1324355"/>
                </a:lnTo>
                <a:cubicBezTo>
                  <a:pt x="123277" y="1324355"/>
                  <a:pt x="0" y="1201078"/>
                  <a:pt x="0" y="104900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46" name="矩形: 圆角 45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3979061" y="536557"/>
            <a:ext cx="4191178" cy="3869470"/>
            <a:chOff x="3979566" y="536557"/>
            <a:chExt cx="3775567" cy="3332931"/>
          </a:xfrm>
        </p:grpSpPr>
        <p:grpSp>
          <p:nvGrpSpPr>
            <p:cNvPr id="50" name="组合 49"/>
            <p:cNvGrpSpPr/>
            <p:nvPr/>
          </p:nvGrpSpPr>
          <p:grpSpPr>
            <a:xfrm>
              <a:off x="3979566" y="536557"/>
              <a:ext cx="3775567" cy="2645309"/>
              <a:chOff x="5049682" y="1410359"/>
              <a:chExt cx="3382655" cy="2370019"/>
            </a:xfrm>
          </p:grpSpPr>
          <p:sp>
            <p:nvSpPr>
              <p:cNvPr id="10" name="矩形 9"/>
              <p:cNvSpPr/>
              <p:nvPr>
                <p:custDataLst>
                  <p:tags r:id="rId5"/>
                </p:custDataLst>
              </p:nvPr>
            </p:nvSpPr>
            <p:spPr>
              <a:xfrm>
                <a:off x="5596050" y="1422577"/>
                <a:ext cx="2113096" cy="35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n w="38100">
                      <a:noFill/>
                    </a:ln>
                    <a:solidFill>
                      <a:schemeClr val="accent1"/>
                    </a:solidFill>
                    <a:latin typeface="思源宋体 CN Heavy" pitchFamily="18" charset="-122"/>
                    <a:ea typeface="思源宋体 CN Heavy" pitchFamily="18" charset="-122"/>
                    <a:sym typeface="+mn-lt"/>
                  </a:rPr>
                  <a:t>路由概述</a:t>
                </a:r>
              </a:p>
            </p:txBody>
          </p:sp>
          <p:sp>
            <p:nvSpPr>
              <p:cNvPr id="13" name="矩形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5596050" y="2096278"/>
                <a:ext cx="2671380" cy="35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n w="38100">
                      <a:noFill/>
                    </a:ln>
                    <a:solidFill>
                      <a:schemeClr val="accent1"/>
                    </a:solidFill>
                    <a:latin typeface="思源宋体 CN Heavy" pitchFamily="18" charset="-122"/>
                    <a:ea typeface="思源宋体 CN Heavy" pitchFamily="18" charset="-122"/>
                    <a:sym typeface="+mn-lt"/>
                  </a:rPr>
                  <a:t>四种路由机制</a:t>
                </a:r>
              </a:p>
            </p:txBody>
          </p:sp>
          <p:sp>
            <p:nvSpPr>
              <p:cNvPr id="16" name="矩形 1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07882" y="2748640"/>
                <a:ext cx="2113096" cy="3552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n w="38100">
                      <a:noFill/>
                    </a:ln>
                    <a:solidFill>
                      <a:schemeClr val="accent1"/>
                    </a:solidFill>
                    <a:latin typeface="思源宋体 CN Heavy" pitchFamily="18" charset="-122"/>
                    <a:ea typeface="思源宋体 CN Heavy" pitchFamily="18" charset="-122"/>
                    <a:sym typeface="+mn-lt"/>
                  </a:rPr>
                  <a:t>实例演示</a:t>
                </a:r>
              </a:p>
            </p:txBody>
          </p:sp>
          <p:sp>
            <p:nvSpPr>
              <p:cNvPr id="19" name="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5607883" y="3385052"/>
                <a:ext cx="2824454" cy="35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n w="38100">
                      <a:noFill/>
                    </a:ln>
                    <a:solidFill>
                      <a:schemeClr val="accent1"/>
                    </a:solidFill>
                    <a:latin typeface="思源宋体 CN Heavy" pitchFamily="18" charset="-122"/>
                    <a:ea typeface="思源宋体 CN Heavy" pitchFamily="18" charset="-122"/>
                    <a:sym typeface="+mn-lt"/>
                  </a:rPr>
                  <a:t>代码实现</a:t>
                </a:r>
              </a:p>
            </p:txBody>
          </p:sp>
          <p:sp>
            <p:nvSpPr>
              <p:cNvPr id="30" name="矩形: 圆角 29"/>
              <p:cNvSpPr/>
              <p:nvPr>
                <p:custDataLst>
                  <p:tags r:id="rId9"/>
                </p:custDataLst>
              </p:nvPr>
            </p:nvSpPr>
            <p:spPr>
              <a:xfrm rot="2700000">
                <a:off x="5079662" y="1410359"/>
                <a:ext cx="388694" cy="388694"/>
              </a:xfrm>
              <a:prstGeom prst="roundRect">
                <a:avLst/>
              </a:prstGeom>
              <a:solidFill>
                <a:srgbClr val="384A72"/>
              </a:solidFill>
              <a:ln w="1270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: 圆角 30"/>
              <p:cNvSpPr/>
              <p:nvPr>
                <p:custDataLst>
                  <p:tags r:id="rId10"/>
                </p:custDataLst>
              </p:nvPr>
            </p:nvSpPr>
            <p:spPr>
              <a:xfrm rot="2700000">
                <a:off x="5079663" y="2079076"/>
                <a:ext cx="388694" cy="388694"/>
              </a:xfrm>
              <a:prstGeom prst="roundRect">
                <a:avLst/>
              </a:prstGeom>
              <a:solidFill>
                <a:srgbClr val="384A72"/>
              </a:solidFill>
              <a:ln w="1270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矩形: 圆角 31"/>
              <p:cNvSpPr/>
              <p:nvPr>
                <p:custDataLst>
                  <p:tags r:id="rId11"/>
                </p:custDataLst>
              </p:nvPr>
            </p:nvSpPr>
            <p:spPr>
              <a:xfrm rot="2700000">
                <a:off x="5079662" y="2732428"/>
                <a:ext cx="388694" cy="388694"/>
              </a:xfrm>
              <a:prstGeom prst="roundRect">
                <a:avLst/>
              </a:prstGeom>
              <a:solidFill>
                <a:srgbClr val="384A72"/>
              </a:solidFill>
              <a:ln w="1270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: 圆角 32"/>
              <p:cNvSpPr/>
              <p:nvPr>
                <p:custDataLst>
                  <p:tags r:id="rId12"/>
                </p:custDataLst>
              </p:nvPr>
            </p:nvSpPr>
            <p:spPr>
              <a:xfrm rot="2700000">
                <a:off x="5079662" y="3391684"/>
                <a:ext cx="388694" cy="388694"/>
              </a:xfrm>
              <a:prstGeom prst="roundRect">
                <a:avLst/>
              </a:prstGeom>
              <a:solidFill>
                <a:srgbClr val="384A72"/>
              </a:solidFill>
              <a:ln w="1270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049682" y="1461565"/>
                <a:ext cx="43163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 spc="-150">
                    <a:ln w="38100">
                      <a:noFill/>
                    </a:ln>
                    <a:solidFill>
                      <a:srgbClr val="D53D2A"/>
                    </a:solidFill>
                    <a:effectLst>
                      <a:outerShdw blurRad="127000" dist="127000" dir="5400000" algn="t" rotWithShape="0">
                        <a:srgbClr val="D53D2A">
                          <a:alpha val="20000"/>
                        </a:srgbClr>
                      </a:outerShdw>
                    </a:effectLst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en-US" altLang="zh-CN" sz="1800" spc="0" dirty="0">
                    <a:solidFill>
                      <a:schemeClr val="bg1"/>
                    </a:solidFill>
                    <a:effectLst/>
                    <a:latin typeface="思源宋体 CN Heavy" pitchFamily="18" charset="-122"/>
                    <a:ea typeface="思源宋体 CN Heavy" pitchFamily="18" charset="-122"/>
                    <a:sym typeface="思源黑体 CN Normal" panose="020B0400000000000000" charset="-122"/>
                  </a:rPr>
                  <a:t>01</a:t>
                </a: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049683" y="2133811"/>
                <a:ext cx="4316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 spc="-150">
                    <a:ln w="38100">
                      <a:noFill/>
                    </a:ln>
                    <a:solidFill>
                      <a:srgbClr val="D53D2A"/>
                    </a:solidFill>
                    <a:effectLst>
                      <a:outerShdw blurRad="127000" dist="127000" dir="5400000" algn="t" rotWithShape="0">
                        <a:srgbClr val="D53D2A">
                          <a:alpha val="20000"/>
                        </a:srgbClr>
                      </a:outerShdw>
                    </a:effectLst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en-US" altLang="zh-CN" sz="1800" spc="0" dirty="0">
                    <a:solidFill>
                      <a:schemeClr val="bg1"/>
                    </a:solidFill>
                    <a:effectLst/>
                    <a:latin typeface="思源宋体 CN Heavy" pitchFamily="18" charset="-122"/>
                    <a:ea typeface="思源宋体 CN Heavy" pitchFamily="18" charset="-122"/>
                    <a:sym typeface="思源黑体 CN Normal" panose="020B0400000000000000" charset="-122"/>
                  </a:rPr>
                  <a:t>02</a:t>
                </a: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049682" y="2774172"/>
                <a:ext cx="4316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 spc="-150">
                    <a:ln w="38100">
                      <a:noFill/>
                    </a:ln>
                    <a:solidFill>
                      <a:srgbClr val="D53D2A"/>
                    </a:solidFill>
                    <a:effectLst>
                      <a:outerShdw blurRad="127000" dist="127000" dir="5400000" algn="t" rotWithShape="0">
                        <a:srgbClr val="D53D2A">
                          <a:alpha val="20000"/>
                        </a:srgbClr>
                      </a:outerShdw>
                    </a:effectLst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en-US" altLang="zh-CN" sz="1800" spc="0" dirty="0">
                    <a:solidFill>
                      <a:schemeClr val="bg1"/>
                    </a:solidFill>
                    <a:effectLst/>
                    <a:latin typeface="思源宋体 CN Heavy" pitchFamily="18" charset="-122"/>
                    <a:ea typeface="思源宋体 CN Heavy" pitchFamily="18" charset="-122"/>
                    <a:sym typeface="思源黑体 CN Normal" panose="020B0400000000000000" charset="-122"/>
                  </a:rPr>
                  <a:t>03</a:t>
                </a: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049682" y="3440962"/>
                <a:ext cx="4316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400" spc="-150">
                    <a:ln w="38100">
                      <a:noFill/>
                    </a:ln>
                    <a:solidFill>
                      <a:srgbClr val="D53D2A"/>
                    </a:solidFill>
                    <a:effectLst>
                      <a:outerShdw blurRad="127000" dist="127000" dir="5400000" algn="t" rotWithShape="0">
                        <a:srgbClr val="D53D2A">
                          <a:alpha val="20000"/>
                        </a:srgbClr>
                      </a:outerShdw>
                    </a:effectLst>
                    <a:latin typeface="+mj-ea"/>
                    <a:ea typeface="+mj-ea"/>
                  </a:defRPr>
                </a:lvl1pPr>
              </a:lstStyle>
              <a:p>
                <a:pPr algn="ctr"/>
                <a:r>
                  <a:rPr lang="en-US" altLang="zh-CN" sz="1800" spc="0" dirty="0">
                    <a:solidFill>
                      <a:schemeClr val="bg1"/>
                    </a:solidFill>
                    <a:effectLst/>
                    <a:latin typeface="思源宋体 CN Heavy" pitchFamily="18" charset="-122"/>
                    <a:ea typeface="思源宋体 CN Heavy" pitchFamily="18" charset="-122"/>
                    <a:sym typeface="思源黑体 CN Normal" panose="020B0400000000000000" charset="-122"/>
                  </a:rPr>
                  <a:t>04</a:t>
                </a:r>
              </a:p>
            </p:txBody>
          </p:sp>
        </p:grpSp>
        <p:sp>
          <p:nvSpPr>
            <p:cNvPr id="2" name="矩形: 圆角 1"/>
            <p:cNvSpPr/>
            <p:nvPr>
              <p:custDataLst>
                <p:tags r:id="rId2"/>
              </p:custDataLst>
            </p:nvPr>
          </p:nvSpPr>
          <p:spPr>
            <a:xfrm rot="2700000">
              <a:off x="4013029" y="3426708"/>
              <a:ext cx="433843" cy="433843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3979566" y="3491609"/>
              <a:ext cx="481773" cy="3778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1800" spc="0" dirty="0">
                  <a:solidFill>
                    <a:schemeClr val="bg1"/>
                  </a:solidFill>
                  <a:effectLst/>
                  <a:latin typeface="思源宋体 CN Heavy" pitchFamily="18" charset="-122"/>
                  <a:ea typeface="思源宋体 CN Heavy" pitchFamily="18" charset="-122"/>
                  <a:sym typeface="思源黑体 CN Normal" panose="020B0400000000000000" charset="-122"/>
                </a:rPr>
                <a:t>05</a:t>
              </a:r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4602604" y="3444804"/>
              <a:ext cx="3120304" cy="3976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n w="38100">
                    <a:noFill/>
                  </a:ln>
                  <a:solidFill>
                    <a:schemeClr val="accent1"/>
                  </a:solidFill>
                  <a:latin typeface="思源宋体 CN Heavy" pitchFamily="18" charset="-122"/>
                  <a:ea typeface="思源宋体 CN Heavy" pitchFamily="18" charset="-122"/>
                  <a:sym typeface="+mn-lt"/>
                </a:rPr>
                <a:t>总结与提问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8302" y="2054493"/>
            <a:ext cx="40234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路由概述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286" y="275533"/>
            <a:ext cx="38881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从顺序链到动态决策</a:t>
            </a:r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403560" y="3902965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6"/>
          <p:cNvSpPr txBox="1"/>
          <p:nvPr/>
        </p:nvSpPr>
        <p:spPr>
          <a:xfrm>
            <a:off x="937338" y="4011782"/>
            <a:ext cx="7744057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路由把条件逻辑引入运行框架，让智能体从固定执行路径转向动态选择后续动作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52803" y="878762"/>
            <a:ext cx="3741519" cy="1399911"/>
            <a:chOff x="254000" y="2962031"/>
            <a:chExt cx="2730430" cy="1600200"/>
          </a:xfrm>
        </p:grpSpPr>
        <p:sp>
          <p:nvSpPr>
            <p:cNvPr id="34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defTabSz="457200">
                <a:lnSpc>
                  <a:spcPct val="100000"/>
                </a:lnSpc>
                <a:defRPr/>
              </a:pPr>
              <a:r>
                <a:rPr lang="zh-CN" altLang="en-US" sz="1400" b="0" i="0" u="none" strike="noStrike" dirty="0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提示链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57" name="AutoShape 19"/>
            <p:cNvSpPr txBox="1"/>
            <p:nvPr/>
          </p:nvSpPr>
          <p:spPr>
            <a:xfrm>
              <a:off x="300412" y="3238093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>
                <a:lnSpc>
                  <a:spcPct val="200000"/>
                </a:lnSpc>
                <a:defRPr sz="1425" b="0">
                  <a:solidFill>
                    <a:srgbClr val="3341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一条直线走到底，每一步都在编写时就已经定好。流程确定、不需要判断时它最省心，但遇到变化就没有回旋余地。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4363053" y="899201"/>
            <a:ext cx="4095145" cy="1379472"/>
            <a:chOff x="253999" y="2962031"/>
            <a:chExt cx="2743886" cy="1600200"/>
          </a:xfrm>
        </p:grpSpPr>
        <p:sp>
          <p:nvSpPr>
            <p:cNvPr id="77" name="AutoShape 16"/>
            <p:cNvSpPr/>
            <p:nvPr/>
          </p:nvSpPr>
          <p:spPr>
            <a:xfrm>
              <a:off x="253999" y="2962031"/>
              <a:ext cx="2743886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8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>
                <a:defRPr/>
              </a:pPr>
              <a:r>
                <a:rPr lang="zh-CN" altLang="en-US" sz="1400" dirty="0">
                  <a:solidFill>
                    <a:srgbClr val="2A38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路由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 defTabSz="457200">
                <a:lnSpc>
                  <a:spcPct val="100000"/>
                </a:lnSpc>
                <a:defRPr/>
              </a:pP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80" name="AutoShape 19"/>
            <p:cNvSpPr txBox="1"/>
            <p:nvPr/>
          </p:nvSpPr>
          <p:spPr>
            <a:xfrm>
              <a:off x="255367" y="3248478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>
                <a:lnSpc>
                  <a:spcPct val="200000"/>
                </a:lnSpc>
                <a:defRPr sz="1425" b="0">
                  <a:solidFill>
                    <a:srgbClr val="3341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在岔路口先做一次判断，再决定走哪条路。环境状态、用户输入、上一步的结果，都会影响这次判断。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8" name="直接箭头连接符 7"/>
          <p:cNvCxnSpPr>
            <a:stCxn id="23" idx="3"/>
            <a:endCxn id="24" idx="1"/>
          </p:cNvCxnSpPr>
          <p:nvPr/>
        </p:nvCxnSpPr>
        <p:spPr>
          <a:xfrm>
            <a:off x="4876212" y="3005246"/>
            <a:ext cx="106964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med" len="med"/>
          </a:ln>
        </p:spPr>
      </p:cxnSp>
      <p:sp>
        <p:nvSpPr>
          <p:cNvPr id="17" name="chain-0"/>
          <p:cNvSpPr>
            <a:spLocks noGrp="1"/>
          </p:cNvSpPr>
          <p:nvPr/>
        </p:nvSpPr>
        <p:spPr>
          <a:xfrm>
            <a:off x="526857" y="2729008"/>
            <a:ext cx="428757" cy="635541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步骤A</a:t>
            </a:r>
            <a:endParaRPr dirty="0"/>
          </a:p>
        </p:txBody>
      </p:sp>
      <p:sp>
        <p:nvSpPr>
          <p:cNvPr id="19" name="chain-1"/>
          <p:cNvSpPr>
            <a:spLocks noGrp="1"/>
          </p:cNvSpPr>
          <p:nvPr/>
        </p:nvSpPr>
        <p:spPr>
          <a:xfrm flipH="1">
            <a:off x="1930707" y="2729008"/>
            <a:ext cx="339292" cy="6604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步骤B</a:t>
            </a:r>
            <a:endParaRPr dirty="0"/>
          </a:p>
        </p:txBody>
      </p:sp>
      <p:sp>
        <p:nvSpPr>
          <p:cNvPr id="21" name="chain-2"/>
          <p:cNvSpPr>
            <a:spLocks noGrp="1"/>
          </p:cNvSpPr>
          <p:nvPr/>
        </p:nvSpPr>
        <p:spPr>
          <a:xfrm flipH="1">
            <a:off x="3426901" y="2729008"/>
            <a:ext cx="339292" cy="6604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步骤C</a:t>
            </a:r>
            <a:endParaRPr dirty="0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34022" y="1056082"/>
            <a:ext cx="331339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每一步的输入输出都由上一步固定决定</a:t>
            </a:r>
            <a:endParaRPr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outer-in"/>
          <p:cNvSpPr>
            <a:spLocks noGrp="1"/>
          </p:cNvSpPr>
          <p:nvPr/>
        </p:nvSpPr>
        <p:spPr>
          <a:xfrm>
            <a:off x="4443354" y="2748071"/>
            <a:ext cx="432858" cy="51435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/>
              <a:t>输入</a:t>
            </a:r>
            <a:endParaRPr dirty="0"/>
          </a:p>
        </p:txBody>
      </p:sp>
      <p:sp>
        <p:nvSpPr>
          <p:cNvPr id="24" name="router-core"/>
          <p:cNvSpPr>
            <a:spLocks noGrp="1"/>
          </p:cNvSpPr>
          <p:nvPr/>
        </p:nvSpPr>
        <p:spPr>
          <a:xfrm>
            <a:off x="5945860" y="2748071"/>
            <a:ext cx="484214" cy="514350"/>
          </a:xfrm>
          <a:prstGeom prst="roundRect">
            <a:avLst>
              <a:gd name="adj" fmla="val 1481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7150" tIns="57150" rIns="57150" bIns="57150" anchor="ctr">
            <a:noAutofit/>
          </a:bodyPr>
          <a:lstStyle>
            <a:def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判断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branch-0"/>
          <p:cNvSpPr>
            <a:spLocks noGrp="1"/>
          </p:cNvSpPr>
          <p:nvPr/>
        </p:nvSpPr>
        <p:spPr>
          <a:xfrm>
            <a:off x="7871089" y="2309041"/>
            <a:ext cx="630946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>
                <a:solidFill>
                  <a:schemeClr val="accent1"/>
                </a:solidFill>
              </a:rPr>
              <a:t>路径1</a:t>
            </a:r>
          </a:p>
        </p:txBody>
      </p:sp>
      <p:sp>
        <p:nvSpPr>
          <p:cNvPr id="27" name="branch-1"/>
          <p:cNvSpPr>
            <a:spLocks noGrp="1"/>
          </p:cNvSpPr>
          <p:nvPr/>
        </p:nvSpPr>
        <p:spPr>
          <a:xfrm>
            <a:off x="7871089" y="2767121"/>
            <a:ext cx="630946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>
                <a:solidFill>
                  <a:schemeClr val="accent1"/>
                </a:solidFill>
              </a:rPr>
              <a:t>路径2</a:t>
            </a:r>
          </a:p>
        </p:txBody>
      </p:sp>
      <p:sp>
        <p:nvSpPr>
          <p:cNvPr id="28" name="branch-2"/>
          <p:cNvSpPr>
            <a:spLocks noGrp="1"/>
          </p:cNvSpPr>
          <p:nvPr/>
        </p:nvSpPr>
        <p:spPr>
          <a:xfrm>
            <a:off x="7871089" y="3224321"/>
            <a:ext cx="630946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>
                <a:solidFill>
                  <a:schemeClr val="accent1"/>
                </a:solidFill>
              </a:rPr>
              <a:t>路径3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78919" y="1060178"/>
            <a:ext cx="190751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走哪条路由当次输入决定</a:t>
            </a:r>
            <a:endParaRPr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51858" y="3713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47" name="直接箭头连接符 46"/>
          <p:cNvCxnSpPr>
            <a:endCxn id="19" idx="3"/>
          </p:cNvCxnSpPr>
          <p:nvPr/>
        </p:nvCxnSpPr>
        <p:spPr>
          <a:xfrm flipV="1">
            <a:off x="937338" y="3059208"/>
            <a:ext cx="993369" cy="3375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med" len="med"/>
          </a:ln>
        </p:spPr>
      </p:cxnSp>
      <p:cxnSp>
        <p:nvCxnSpPr>
          <p:cNvPr id="54" name="直接箭头连接符 53"/>
          <p:cNvCxnSpPr>
            <a:endCxn id="21" idx="3"/>
          </p:cNvCxnSpPr>
          <p:nvPr/>
        </p:nvCxnSpPr>
        <p:spPr>
          <a:xfrm flipV="1">
            <a:off x="2269999" y="3059208"/>
            <a:ext cx="1156902" cy="5856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med" len="med"/>
          </a:ln>
        </p:spPr>
      </p:cxnSp>
      <p:grpSp>
        <p:nvGrpSpPr>
          <p:cNvPr id="55" name="组合 54"/>
          <p:cNvGrpSpPr/>
          <p:nvPr/>
        </p:nvGrpSpPr>
        <p:grpSpPr>
          <a:xfrm>
            <a:off x="6430074" y="2542307"/>
            <a:ext cx="1445520" cy="878973"/>
            <a:chOff x="6430074" y="2542307"/>
            <a:chExt cx="1445520" cy="878973"/>
          </a:xfrm>
        </p:grpSpPr>
        <p:cxnSp>
          <p:nvCxnSpPr>
            <p:cNvPr id="4" name="连接符: 肘形 3"/>
            <p:cNvCxnSpPr/>
            <p:nvPr/>
          </p:nvCxnSpPr>
          <p:spPr>
            <a:xfrm>
              <a:off x="6430074" y="2983130"/>
              <a:ext cx="1441015" cy="43815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64748B"/>
              </a:solidFill>
              <a:prstDash val="solid"/>
              <a:tailEnd type="triangle" w="med" len="med"/>
            </a:ln>
          </p:spPr>
        </p:cxnSp>
        <p:cxnSp>
          <p:nvCxnSpPr>
            <p:cNvPr id="7" name="连接符: 肘形 6"/>
            <p:cNvCxnSpPr/>
            <p:nvPr/>
          </p:nvCxnSpPr>
          <p:spPr>
            <a:xfrm flipV="1">
              <a:off x="6451858" y="2542307"/>
              <a:ext cx="1423736" cy="439290"/>
            </a:xfrm>
            <a:prstGeom prst="bentConnector3">
              <a:avLst>
                <a:gd name="adj1" fmla="val 48996"/>
              </a:avLst>
            </a:prstGeom>
            <a:ln w="19050">
              <a:solidFill>
                <a:srgbClr val="64748B"/>
              </a:solidFill>
              <a:prstDash val="solid"/>
              <a:tailEnd type="triangle" w="med" len="med"/>
            </a:ln>
          </p:spPr>
        </p:cxnSp>
        <p:cxnSp>
          <p:nvCxnSpPr>
            <p:cNvPr id="43" name="直接箭头连接符 42"/>
            <p:cNvCxnSpPr>
              <a:endCxn id="27" idx="1"/>
            </p:cNvCxnSpPr>
            <p:nvPr/>
          </p:nvCxnSpPr>
          <p:spPr>
            <a:xfrm>
              <a:off x="7150581" y="2986196"/>
              <a:ext cx="720508" cy="0"/>
            </a:xfrm>
            <a:prstGeom prst="straightConnector1">
              <a:avLst/>
            </a:prstGeom>
            <a:ln>
              <a:solidFill>
                <a:srgbClr val="64748B"/>
              </a:solidFill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286" y="275533"/>
            <a:ext cx="362121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路由机制与三个决策点</a:t>
            </a:r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49453" y="4111313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7"/>
          <p:cNvSpPr txBox="1"/>
          <p:nvPr/>
        </p:nvSpPr>
        <p:spPr>
          <a:xfrm>
            <a:off x="2135524" y="4027888"/>
            <a:ext cx="5998198" cy="61277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20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静态预设的执行路径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择优而行的工作流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88013" y="1075061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dirty="0" err="1">
                <a:solidFill>
                  <a:schemeClr val="accent1"/>
                </a:solidFill>
              </a:rPr>
              <a:t>决策点可以放在运行周期的三个位置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59749" y="1565356"/>
            <a:ext cx="3996672" cy="16814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marL="285750" indent="-171450" algn="l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入口处：对主任务做一次分类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171450" algn="l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链的中间：根据前面步骤的结果决定下一步动作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171450" algn="l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子程序内部：从一组工具里挑出最合适的那一个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直接箭头连接符 9"/>
          <p:cNvCxnSpPr>
            <a:endCxn id="17" idx="1"/>
          </p:cNvCxnSpPr>
          <p:nvPr/>
        </p:nvCxnSpPr>
        <p:spPr>
          <a:xfrm>
            <a:off x="1479653" y="2303863"/>
            <a:ext cx="342136" cy="0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 w="med" len="med"/>
          </a:ln>
        </p:spPr>
      </p:cxnSp>
      <p:sp>
        <p:nvSpPr>
          <p:cNvPr id="17" name="flow-router"/>
          <p:cNvSpPr>
            <a:spLocks noGrp="1"/>
          </p:cNvSpPr>
          <p:nvPr/>
        </p:nvSpPr>
        <p:spPr>
          <a:xfrm>
            <a:off x="1821789" y="1960963"/>
            <a:ext cx="1124713" cy="685800"/>
          </a:xfrm>
          <a:prstGeom prst="roundRect">
            <a:avLst>
              <a:gd name="adj" fmla="val 11111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>
                <a:solidFill>
                  <a:schemeClr val="bg1"/>
                </a:solidFill>
              </a:rPr>
              <a:t>路由器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46503" y="2294338"/>
            <a:ext cx="3619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308453" y="1132288"/>
            <a:ext cx="23813" cy="23431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308453" y="1122763"/>
            <a:ext cx="6286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3" name="flow-target-0"/>
          <p:cNvSpPr>
            <a:spLocks noGrp="1"/>
          </p:cNvSpPr>
          <p:nvPr/>
        </p:nvSpPr>
        <p:spPr>
          <a:xfrm>
            <a:off x="3937103" y="903688"/>
            <a:ext cx="12763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</a:rPr>
              <a:t>专用函数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308453" y="1903813"/>
            <a:ext cx="6286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6" name="flow-target-1"/>
          <p:cNvSpPr>
            <a:spLocks noGrp="1"/>
          </p:cNvSpPr>
          <p:nvPr/>
        </p:nvSpPr>
        <p:spPr>
          <a:xfrm>
            <a:off x="3937103" y="1684738"/>
            <a:ext cx="12763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检索工具</a:t>
            </a:r>
            <a:endParaRPr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308453" y="2684863"/>
            <a:ext cx="6286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8" name="flow-target-2"/>
          <p:cNvSpPr>
            <a:spLocks noGrp="1"/>
          </p:cNvSpPr>
          <p:nvPr/>
        </p:nvSpPr>
        <p:spPr>
          <a:xfrm>
            <a:off x="3937103" y="2465788"/>
            <a:ext cx="12763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子智能体</a:t>
            </a:r>
            <a:endParaRPr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08453" y="3465913"/>
            <a:ext cx="6286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36" name="flow-target-3"/>
          <p:cNvSpPr>
            <a:spLocks noGrp="1"/>
          </p:cNvSpPr>
          <p:nvPr/>
        </p:nvSpPr>
        <p:spPr>
          <a:xfrm>
            <a:off x="3937103" y="3246838"/>
            <a:ext cx="12763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升级到人工</a:t>
            </a:r>
            <a:endParaRPr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flow-request"/>
          <p:cNvSpPr>
            <a:spLocks noGrp="1"/>
          </p:cNvSpPr>
          <p:nvPr/>
        </p:nvSpPr>
        <p:spPr>
          <a:xfrm>
            <a:off x="258072" y="2070055"/>
            <a:ext cx="1219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用户请求</a:t>
            </a:r>
            <a:endParaRPr sz="16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8302" y="2054493"/>
            <a:ext cx="40234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四种路由机制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3"/>
          <p:cNvSpPr txBox="1"/>
          <p:nvPr/>
        </p:nvSpPr>
        <p:spPr>
          <a:xfrm>
            <a:off x="406400" y="279998"/>
            <a:ext cx="21666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</a:defRPr>
            </a:lvl1pPr>
          </a:lstStyle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四种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路由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机制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375013" y="909683"/>
            <a:ext cx="4127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768CBC">
                <a:alpha val="55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/>
        </p:nvSpPr>
        <p:spPr>
          <a:xfrm>
            <a:off x="603613" y="1087483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913" y="1201783"/>
            <a:ext cx="279400" cy="279400"/>
          </a:xfrm>
          <a:prstGeom prst="rect">
            <a:avLst/>
          </a:prstGeom>
        </p:spPr>
      </p:pic>
      <p:sp>
        <p:nvSpPr>
          <p:cNvPr id="10" name="AutoShape 7"/>
          <p:cNvSpPr txBox="1"/>
          <p:nvPr/>
        </p:nvSpPr>
        <p:spPr>
          <a:xfrm>
            <a:off x="1264013" y="1087483"/>
            <a:ext cx="30480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600" b="0" i="0" u="none" strike="noStrike" dirty="0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LLM </a:t>
            </a: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的路由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Connector 8"/>
          <p:cNvCxnSpPr/>
          <p:nvPr/>
        </p:nvCxnSpPr>
        <p:spPr>
          <a:xfrm rot="-11895">
            <a:off x="603624" y="1614533"/>
            <a:ext cx="3670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8CBC">
                <a:alpha val="5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2" name="AutoShape 9"/>
          <p:cNvSpPr txBox="1"/>
          <p:nvPr/>
        </p:nvSpPr>
        <p:spPr>
          <a:xfrm>
            <a:off x="368664" y="1751640"/>
            <a:ext cx="4127499" cy="258717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457200">
              <a:lnSpc>
                <a:spcPct val="113000"/>
              </a:lnSpc>
              <a:defRPr/>
            </a:pPr>
            <a:r>
              <a:rPr lang="en-US" sz="14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提示语言模型输出类别标识符，据此导向对应流程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0"/>
          <p:cNvSpPr/>
          <p:nvPr/>
        </p:nvSpPr>
        <p:spPr>
          <a:xfrm>
            <a:off x="1264013" y="2155318"/>
            <a:ext cx="2349500" cy="203200"/>
          </a:xfrm>
          <a:prstGeom prst="roundRect">
            <a:avLst>
              <a:gd name="adj" fmla="val 50000"/>
            </a:avLst>
          </a:prstGeom>
          <a:solidFill>
            <a:srgbClr val="D1D9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850" b="0" i="0" u="none" strike="noStrike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语义理解</a:t>
            </a:r>
            <a:r>
              <a:rPr lang="en-US" sz="850" b="0" i="0" u="none" strike="noStrike" dirty="0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850" b="0" i="0" u="none" strike="noStrike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灵活</a:t>
            </a:r>
            <a:endParaRPr lang="en-US" sz="1100" dirty="0">
              <a:solidFill>
                <a:srgbClr val="3442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1"/>
          <p:cNvSpPr/>
          <p:nvPr/>
        </p:nvSpPr>
        <p:spPr>
          <a:xfrm>
            <a:off x="4731113" y="903333"/>
            <a:ext cx="4127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768CBC">
                <a:alpha val="55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2"/>
          <p:cNvSpPr/>
          <p:nvPr/>
        </p:nvSpPr>
        <p:spPr>
          <a:xfrm>
            <a:off x="4959713" y="1081133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4013" y="1195433"/>
            <a:ext cx="279400" cy="279400"/>
          </a:xfrm>
          <a:prstGeom prst="rect">
            <a:avLst/>
          </a:prstGeom>
        </p:spPr>
      </p:pic>
      <p:sp>
        <p:nvSpPr>
          <p:cNvPr id="17" name="AutoShape 14"/>
          <p:cNvSpPr txBox="1"/>
          <p:nvPr/>
        </p:nvSpPr>
        <p:spPr>
          <a:xfrm>
            <a:off x="5620113" y="1081133"/>
            <a:ext cx="30480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基于嵌入的路由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Connector 15"/>
          <p:cNvCxnSpPr/>
          <p:nvPr/>
        </p:nvCxnSpPr>
        <p:spPr>
          <a:xfrm rot="-11895">
            <a:off x="4959724" y="1608183"/>
            <a:ext cx="3670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8CBC">
                <a:alpha val="5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9" name="AutoShape 16"/>
          <p:cNvSpPr txBox="1"/>
          <p:nvPr/>
        </p:nvSpPr>
        <p:spPr>
          <a:xfrm>
            <a:off x="4731114" y="1747648"/>
            <a:ext cx="4127499" cy="266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13000"/>
              </a:lnSpc>
              <a:defRPr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将查询向量化，与各路径嵌入比对相似度后分流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17"/>
          <p:cNvSpPr/>
          <p:nvPr/>
        </p:nvSpPr>
        <p:spPr>
          <a:xfrm>
            <a:off x="5562237" y="2171700"/>
            <a:ext cx="2349500" cy="203200"/>
          </a:xfrm>
          <a:prstGeom prst="roundRect">
            <a:avLst>
              <a:gd name="adj" fmla="val 50000"/>
            </a:avLst>
          </a:prstGeom>
          <a:solidFill>
            <a:srgbClr val="D1D9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 anchorCtr="0"/>
          <a:lstStyle/>
          <a:p>
            <a:pPr algn="ctr">
              <a:defRPr/>
            </a:pP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语义路由</a:t>
            </a:r>
            <a:r>
              <a:rPr lang="en-US" sz="850" dirty="0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 · </a:t>
            </a: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非关键词</a:t>
            </a:r>
            <a:endParaRPr lang="en-US" sz="850" dirty="0">
              <a:solidFill>
                <a:srgbClr val="3442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18"/>
          <p:cNvSpPr/>
          <p:nvPr/>
        </p:nvSpPr>
        <p:spPr>
          <a:xfrm>
            <a:off x="368664" y="2946400"/>
            <a:ext cx="4127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768CBC">
                <a:alpha val="55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9"/>
          <p:cNvSpPr/>
          <p:nvPr/>
        </p:nvSpPr>
        <p:spPr>
          <a:xfrm>
            <a:off x="597264" y="31242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64" y="3238500"/>
            <a:ext cx="279400" cy="279400"/>
          </a:xfrm>
          <a:prstGeom prst="rect">
            <a:avLst/>
          </a:prstGeom>
        </p:spPr>
      </p:pic>
      <p:sp>
        <p:nvSpPr>
          <p:cNvPr id="25" name="AutoShape 21"/>
          <p:cNvSpPr txBox="1"/>
          <p:nvPr/>
        </p:nvSpPr>
        <p:spPr>
          <a:xfrm>
            <a:off x="1257664" y="3124200"/>
            <a:ext cx="30480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基于规则的路由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2"/>
          <p:cNvCxnSpPr/>
          <p:nvPr/>
        </p:nvCxnSpPr>
        <p:spPr>
          <a:xfrm rot="-11895">
            <a:off x="597275" y="3651250"/>
            <a:ext cx="3670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8CBC">
                <a:alpha val="5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29" name="AutoShape 23"/>
          <p:cNvSpPr txBox="1"/>
          <p:nvPr/>
        </p:nvSpPr>
        <p:spPr>
          <a:xfrm>
            <a:off x="397239" y="3785870"/>
            <a:ext cx="4216399" cy="246017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457200">
              <a:lnSpc>
                <a:spcPct val="113000"/>
              </a:lnSpc>
              <a:defRPr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按关键词、模式或结构化数据，用预定义规则分流</a:t>
            </a:r>
            <a:endParaRPr lang="en-US" sz="1200" dirty="0"/>
          </a:p>
        </p:txBody>
      </p:sp>
      <p:sp>
        <p:nvSpPr>
          <p:cNvPr id="30" name="AutoShape 24"/>
          <p:cNvSpPr/>
          <p:nvPr/>
        </p:nvSpPr>
        <p:spPr>
          <a:xfrm>
            <a:off x="1232263" y="4306570"/>
            <a:ext cx="2349500" cy="203200"/>
          </a:xfrm>
          <a:prstGeom prst="roundRect">
            <a:avLst>
              <a:gd name="adj" fmla="val 50000"/>
            </a:avLst>
          </a:prstGeom>
          <a:solidFill>
            <a:srgbClr val="D1D9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 anchorCtr="0"/>
          <a:lstStyle/>
          <a:p>
            <a:pPr algn="ctr">
              <a:defRPr/>
            </a:pP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快速确定</a:t>
            </a:r>
            <a:r>
              <a:rPr lang="en-US" sz="850" dirty="0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 · </a:t>
            </a: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灵活有限</a:t>
            </a:r>
            <a:endParaRPr lang="en-US" sz="850" dirty="0">
              <a:solidFill>
                <a:srgbClr val="3442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25"/>
          <p:cNvSpPr/>
          <p:nvPr/>
        </p:nvSpPr>
        <p:spPr>
          <a:xfrm>
            <a:off x="4731113" y="2946400"/>
            <a:ext cx="4127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768CBC">
                <a:alpha val="55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6"/>
          <p:cNvSpPr/>
          <p:nvPr/>
        </p:nvSpPr>
        <p:spPr>
          <a:xfrm>
            <a:off x="4959713" y="31242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4013" y="3238500"/>
            <a:ext cx="279400" cy="279400"/>
          </a:xfrm>
          <a:prstGeom prst="rect">
            <a:avLst/>
          </a:prstGeom>
        </p:spPr>
      </p:pic>
      <p:sp>
        <p:nvSpPr>
          <p:cNvPr id="34" name="AutoShape 28"/>
          <p:cNvSpPr txBox="1"/>
          <p:nvPr/>
        </p:nvSpPr>
        <p:spPr>
          <a:xfrm>
            <a:off x="5620113" y="3124200"/>
            <a:ext cx="3048000" cy="43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600" b="0" i="0" u="none" strike="noStrike" dirty="0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ML </a:t>
            </a:r>
            <a:r>
              <a:rPr lang="en-US" sz="1600" b="0" i="0" u="none" strike="noStrike" dirty="0" err="1">
                <a:solidFill>
                  <a:srgbClr val="2A385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模型的路由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29"/>
          <p:cNvCxnSpPr/>
          <p:nvPr/>
        </p:nvCxnSpPr>
        <p:spPr>
          <a:xfrm rot="-11895">
            <a:off x="4959724" y="3651250"/>
            <a:ext cx="3670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8CBC">
                <a:alpha val="5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36" name="AutoShape 30"/>
          <p:cNvSpPr txBox="1"/>
          <p:nvPr/>
        </p:nvSpPr>
        <p:spPr>
          <a:xfrm>
            <a:off x="4851660" y="3782967"/>
            <a:ext cx="4024675" cy="71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457200">
              <a:lnSpc>
                <a:spcPct val="113000"/>
              </a:lnSpc>
              <a:defRPr/>
            </a:pP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监督微调分类器，路由逻辑编码进模型权重，不依赖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 LLM</a:t>
            </a:r>
            <a:endParaRPr lang="en-US" sz="1200" dirty="0"/>
          </a:p>
        </p:txBody>
      </p:sp>
      <p:sp>
        <p:nvSpPr>
          <p:cNvPr id="37" name="AutoShape 31"/>
          <p:cNvSpPr/>
          <p:nvPr/>
        </p:nvSpPr>
        <p:spPr>
          <a:xfrm>
            <a:off x="5562237" y="4285887"/>
            <a:ext cx="2349500" cy="203200"/>
          </a:xfrm>
          <a:prstGeom prst="roundRect">
            <a:avLst>
              <a:gd name="adj" fmla="val 50000"/>
            </a:avLst>
          </a:prstGeom>
          <a:solidFill>
            <a:srgbClr val="D1D9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确定性强</a:t>
            </a:r>
            <a:r>
              <a:rPr lang="en-US" sz="850" dirty="0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 · </a:t>
            </a:r>
            <a:r>
              <a:rPr lang="en-US" sz="850" dirty="0" err="1">
                <a:solidFill>
                  <a:srgbClr val="34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需训练数据</a:t>
            </a:r>
            <a:endParaRPr lang="en-US" sz="850" dirty="0">
              <a:solidFill>
                <a:srgbClr val="3442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Connector 32"/>
          <p:cNvCxnSpPr/>
          <p:nvPr/>
        </p:nvCxnSpPr>
        <p:spPr>
          <a:xfrm rot="-5240">
            <a:off x="406405" y="4972050"/>
            <a:ext cx="833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68CBC">
                <a:alpha val="4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286" y="275533"/>
            <a:ext cx="259404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基于LLM的路由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81000" y="762000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/>
        </p:nvSpPr>
        <p:spPr>
          <a:xfrm>
            <a:off x="495300" y="954130"/>
            <a:ext cx="965200" cy="304800"/>
          </a:xfrm>
          <a:prstGeom prst="roundRect">
            <a:avLst>
              <a:gd name="adj" fmla="val 5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6"/>
          <p:cNvSpPr txBox="1"/>
          <p:nvPr/>
        </p:nvSpPr>
        <p:spPr>
          <a:xfrm>
            <a:off x="1498600" y="850900"/>
            <a:ext cx="68580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由语言模型在推理时分析输入并输出目标类别标识符，系统据此把请求导向对应流程</a:t>
            </a:r>
            <a:endParaRPr lang="en-US" sz="1100" dirty="0"/>
          </a:p>
        </p:txBody>
      </p:sp>
      <p:sp>
        <p:nvSpPr>
          <p:cNvPr id="14" name="AutoShape 7"/>
          <p:cNvSpPr txBox="1"/>
          <p:nvPr/>
        </p:nvSpPr>
        <p:spPr>
          <a:xfrm>
            <a:off x="381000" y="1511300"/>
            <a:ext cx="254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工作流程</a:t>
            </a:r>
            <a:r>
              <a:rPr lang="zh-CN" altLang="en-US" sz="14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如下：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56152" y="1993900"/>
            <a:ext cx="2159000" cy="711200"/>
            <a:chOff x="381000" y="2413000"/>
            <a:chExt cx="2159000" cy="711200"/>
          </a:xfrm>
        </p:grpSpPr>
        <p:sp>
          <p:nvSpPr>
            <p:cNvPr id="15" name="AutoShape 8"/>
            <p:cNvSpPr/>
            <p:nvPr/>
          </p:nvSpPr>
          <p:spPr>
            <a:xfrm>
              <a:off x="381000" y="2413000"/>
              <a:ext cx="2159000" cy="711200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788865" y="2624211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构造分类提示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416810" y="1993900"/>
            <a:ext cx="2159000" cy="711200"/>
            <a:chOff x="2540000" y="2413000"/>
            <a:chExt cx="2159000" cy="711200"/>
          </a:xfrm>
        </p:grpSpPr>
        <p:sp>
          <p:nvSpPr>
            <p:cNvPr id="18" name="AutoShape 10"/>
            <p:cNvSpPr/>
            <p:nvPr/>
          </p:nvSpPr>
          <p:spPr>
            <a:xfrm>
              <a:off x="2540000" y="2413000"/>
              <a:ext cx="2159000" cy="711200"/>
            </a:xfrm>
            <a:prstGeom prst="chevron">
              <a:avLst/>
            </a:prstGeom>
            <a:solidFill>
              <a:srgbClr val="6078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11"/>
            <p:cNvSpPr txBox="1"/>
            <p:nvPr/>
          </p:nvSpPr>
          <p:spPr>
            <a:xfrm>
              <a:off x="2886516" y="2608580"/>
              <a:ext cx="1665358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400" b="1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模型分析输出类别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69850" y="1993900"/>
            <a:ext cx="2159000" cy="711200"/>
            <a:chOff x="4699000" y="2413000"/>
            <a:chExt cx="2159000" cy="711200"/>
          </a:xfrm>
        </p:grpSpPr>
        <p:sp>
          <p:nvSpPr>
            <p:cNvPr id="25" name="AutoShape 12"/>
            <p:cNvSpPr/>
            <p:nvPr/>
          </p:nvSpPr>
          <p:spPr>
            <a:xfrm>
              <a:off x="4699000" y="2413000"/>
              <a:ext cx="2159000" cy="711200"/>
            </a:xfrm>
            <a:prstGeom prst="chevron">
              <a:avLst/>
            </a:prstGeom>
            <a:solidFill>
              <a:srgbClr val="4C618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13"/>
            <p:cNvSpPr txBox="1"/>
            <p:nvPr/>
          </p:nvSpPr>
          <p:spPr>
            <a:xfrm>
              <a:off x="5026668" y="2595197"/>
              <a:ext cx="1651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读取标识符分流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736468" y="1993900"/>
            <a:ext cx="2159000" cy="711200"/>
            <a:chOff x="6858000" y="2413000"/>
            <a:chExt cx="2159000" cy="711200"/>
          </a:xfrm>
        </p:grpSpPr>
        <p:sp>
          <p:nvSpPr>
            <p:cNvPr id="32" name="AutoShape 14"/>
            <p:cNvSpPr/>
            <p:nvPr/>
          </p:nvSpPr>
          <p:spPr>
            <a:xfrm>
              <a:off x="6858000" y="2413000"/>
              <a:ext cx="2159000" cy="711200"/>
            </a:xfrm>
            <a:prstGeom prst="chevron">
              <a:avLst/>
            </a:prstGeom>
            <a:solidFill>
              <a:srgbClr val="384A72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15"/>
            <p:cNvSpPr txBox="1"/>
            <p:nvPr/>
          </p:nvSpPr>
          <p:spPr>
            <a:xfrm>
              <a:off x="7175018" y="2595197"/>
              <a:ext cx="1731892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1400" b="1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进入对应流程执行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78880" y="3086100"/>
            <a:ext cx="2931921" cy="1600200"/>
            <a:chOff x="176728" y="2962031"/>
            <a:chExt cx="2931921" cy="1600200"/>
          </a:xfrm>
        </p:grpSpPr>
        <p:sp>
          <p:nvSpPr>
            <p:cNvPr id="34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 dirty="0" err="1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关键特点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57" name="AutoShape 19"/>
            <p:cNvSpPr txBox="1"/>
            <p:nvPr/>
          </p:nvSpPr>
          <p:spPr>
            <a:xfrm>
              <a:off x="176728" y="3396343"/>
              <a:ext cx="2931921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sz="1300" b="0" i="0" u="none" strike="noStrike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语义理解强，适配开放与新颖输入</a:t>
              </a:r>
              <a:endPara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US" sz="1300" b="0" i="0" u="none" strike="noStrike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决策由模型推理驱动，灵活可调</a:t>
              </a:r>
              <a:endParaRPr lang="en-US" sz="13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61" name="AutoShape 23"/>
          <p:cNvSpPr txBox="1"/>
          <p:nvPr/>
        </p:nvSpPr>
        <p:spPr>
          <a:xfrm>
            <a:off x="3352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27"/>
          <p:cNvSpPr txBox="1"/>
          <p:nvPr/>
        </p:nvSpPr>
        <p:spPr>
          <a:xfrm>
            <a:off x="6146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211450" y="3086100"/>
            <a:ext cx="2826984" cy="1600200"/>
            <a:chOff x="254000" y="2962031"/>
            <a:chExt cx="2826984" cy="1600200"/>
          </a:xfrm>
        </p:grpSpPr>
        <p:sp>
          <p:nvSpPr>
            <p:cNvPr id="72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dirty="0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局限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75" name="AutoShape 19"/>
            <p:cNvSpPr txBox="1"/>
            <p:nvPr/>
          </p:nvSpPr>
          <p:spPr>
            <a:xfrm>
              <a:off x="396966" y="3396343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zh-CN" sz="13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依赖提示工程与推理成本</a:t>
              </a:r>
              <a:endPara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US" altLang="zh-CN" sz="13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输出偶发不一致，需兜底</a:t>
              </a:r>
              <a:endPara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33801" y="3086100"/>
            <a:ext cx="2757675" cy="1600200"/>
            <a:chOff x="254000" y="2962031"/>
            <a:chExt cx="2757675" cy="1600200"/>
          </a:xfrm>
        </p:grpSpPr>
        <p:sp>
          <p:nvSpPr>
            <p:cNvPr id="77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8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altLang="zh-CN" sz="1400" dirty="0" err="1">
                  <a:solidFill>
                    <a:srgbClr val="2A38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适用场景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 defTabSz="457200">
                <a:lnSpc>
                  <a:spcPct val="100000"/>
                </a:lnSpc>
                <a:defRPr/>
              </a:pP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80" name="AutoShape 19"/>
            <p:cNvSpPr txBox="1"/>
            <p:nvPr/>
          </p:nvSpPr>
          <p:spPr>
            <a:xfrm>
              <a:off x="327657" y="3396343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zh-CN" sz="13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客服机器人意图分类</a:t>
              </a:r>
              <a:endPara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lang="en-US" altLang="zh-CN" sz="13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开放域多分支路由</a:t>
              </a:r>
              <a:endParaRPr lang="en-US" altLang="zh-CN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286" y="275533"/>
            <a:ext cx="259404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基于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嵌入</a:t>
            </a:r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的路由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81000" y="762000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/>
        </p:nvSpPr>
        <p:spPr>
          <a:xfrm>
            <a:off x="495300" y="954130"/>
            <a:ext cx="965200" cy="304800"/>
          </a:xfrm>
          <a:prstGeom prst="roundRect">
            <a:avLst>
              <a:gd name="adj" fmla="val 5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6"/>
          <p:cNvSpPr txBox="1"/>
          <p:nvPr/>
        </p:nvSpPr>
        <p:spPr>
          <a:xfrm>
            <a:off x="1498600" y="850900"/>
            <a:ext cx="68580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把查询编码为向量，与各条路径的嵌入做相似度比对，路由到语义最接近的一条</a:t>
            </a:r>
            <a:endParaRPr lang="en-US" sz="1100" dirty="0"/>
          </a:p>
        </p:txBody>
      </p:sp>
      <p:sp>
        <p:nvSpPr>
          <p:cNvPr id="14" name="AutoShape 7"/>
          <p:cNvSpPr txBox="1"/>
          <p:nvPr/>
        </p:nvSpPr>
        <p:spPr>
          <a:xfrm>
            <a:off x="381000" y="1511300"/>
            <a:ext cx="254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工作流程</a:t>
            </a:r>
            <a:r>
              <a:rPr lang="zh-CN" altLang="en-US" sz="14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如下：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56152" y="1993900"/>
            <a:ext cx="2196032" cy="711200"/>
            <a:chOff x="381000" y="2413000"/>
            <a:chExt cx="2196032" cy="711200"/>
          </a:xfrm>
        </p:grpSpPr>
        <p:sp>
          <p:nvSpPr>
            <p:cNvPr id="15" name="AutoShape 8"/>
            <p:cNvSpPr/>
            <p:nvPr/>
          </p:nvSpPr>
          <p:spPr>
            <a:xfrm>
              <a:off x="381000" y="2413000"/>
              <a:ext cx="2159000" cy="711200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593663" y="2700021"/>
              <a:ext cx="1983369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3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为各路径预构建嵌入</a:t>
              </a:r>
            </a:p>
            <a:p>
              <a:pPr marL="0" indent="0" algn="ctr">
                <a:lnSpc>
                  <a:spcPct val="100000"/>
                </a:lnSpc>
                <a:defRPr/>
              </a:pPr>
              <a:endParaRPr lang="en-US" sz="14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416810" y="1993900"/>
            <a:ext cx="2235586" cy="711200"/>
            <a:chOff x="2540000" y="2413000"/>
            <a:chExt cx="2235586" cy="711200"/>
          </a:xfrm>
        </p:grpSpPr>
        <p:sp>
          <p:nvSpPr>
            <p:cNvPr id="18" name="AutoShape 10"/>
            <p:cNvSpPr/>
            <p:nvPr/>
          </p:nvSpPr>
          <p:spPr>
            <a:xfrm>
              <a:off x="2540000" y="2413000"/>
              <a:ext cx="2159000" cy="711200"/>
            </a:xfrm>
            <a:prstGeom prst="chevron">
              <a:avLst/>
            </a:prstGeom>
            <a:solidFill>
              <a:srgbClr val="6078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11"/>
            <p:cNvSpPr txBox="1"/>
            <p:nvPr/>
          </p:nvSpPr>
          <p:spPr>
            <a:xfrm>
              <a:off x="2700212" y="2709789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将输入查询编码为向量</a:t>
              </a:r>
            </a:p>
            <a:p>
              <a:pPr algn="ctr">
                <a:defRPr/>
              </a:pPr>
              <a:endParaRPr lang="en-US" sz="14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69850" y="1993900"/>
            <a:ext cx="2258446" cy="711200"/>
            <a:chOff x="4699000" y="2413000"/>
            <a:chExt cx="2258446" cy="711200"/>
          </a:xfrm>
        </p:grpSpPr>
        <p:sp>
          <p:nvSpPr>
            <p:cNvPr id="25" name="AutoShape 12"/>
            <p:cNvSpPr/>
            <p:nvPr/>
          </p:nvSpPr>
          <p:spPr>
            <a:xfrm>
              <a:off x="4699000" y="2413000"/>
              <a:ext cx="2159000" cy="711200"/>
            </a:xfrm>
            <a:prstGeom prst="chevron">
              <a:avLst/>
            </a:prstGeom>
            <a:solidFill>
              <a:srgbClr val="4C618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13"/>
            <p:cNvSpPr txBox="1"/>
            <p:nvPr/>
          </p:nvSpPr>
          <p:spPr>
            <a:xfrm>
              <a:off x="4882072" y="2705100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计算与各路径的相似度</a:t>
              </a:r>
            </a:p>
            <a:p>
              <a:pPr indent="0" algn="ctr">
                <a:lnSpc>
                  <a:spcPct val="100000"/>
                </a:lnSpc>
                <a:defRPr/>
              </a:pPr>
              <a:endParaRPr lang="en-US" sz="14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736468" y="1993900"/>
            <a:ext cx="2202423" cy="711200"/>
            <a:chOff x="6858000" y="2413000"/>
            <a:chExt cx="2202423" cy="711200"/>
          </a:xfrm>
        </p:grpSpPr>
        <p:sp>
          <p:nvSpPr>
            <p:cNvPr id="32" name="AutoShape 14"/>
            <p:cNvSpPr/>
            <p:nvPr/>
          </p:nvSpPr>
          <p:spPr>
            <a:xfrm>
              <a:off x="6858000" y="2413000"/>
              <a:ext cx="2159000" cy="711200"/>
            </a:xfrm>
            <a:prstGeom prst="chevron">
              <a:avLst/>
            </a:prstGeom>
            <a:solidFill>
              <a:srgbClr val="384A72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15"/>
            <p:cNvSpPr txBox="1"/>
            <p:nvPr/>
          </p:nvSpPr>
          <p:spPr>
            <a:xfrm>
              <a:off x="6993251" y="2603500"/>
              <a:ext cx="2067172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选相似度最高者执行</a:t>
              </a:r>
              <a:endPara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56152" y="3086100"/>
            <a:ext cx="2684018" cy="1600200"/>
            <a:chOff x="254000" y="2962031"/>
            <a:chExt cx="2684018" cy="1600200"/>
          </a:xfrm>
        </p:grpSpPr>
        <p:sp>
          <p:nvSpPr>
            <p:cNvPr id="34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 dirty="0" err="1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关键特点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57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依据语义而非关键词匹配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无需生成式模型在线推理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61" name="AutoShape 23"/>
          <p:cNvSpPr txBox="1"/>
          <p:nvPr/>
        </p:nvSpPr>
        <p:spPr>
          <a:xfrm>
            <a:off x="3352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27"/>
          <p:cNvSpPr txBox="1"/>
          <p:nvPr/>
        </p:nvSpPr>
        <p:spPr>
          <a:xfrm>
            <a:off x="6146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211450" y="3086100"/>
            <a:ext cx="2684018" cy="1600200"/>
            <a:chOff x="254000" y="2962031"/>
            <a:chExt cx="2684018" cy="1600200"/>
          </a:xfrm>
        </p:grpSpPr>
        <p:sp>
          <p:nvSpPr>
            <p:cNvPr id="72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17"/>
            <p:cNvSpPr txBox="1"/>
            <p:nvPr/>
          </p:nvSpPr>
          <p:spPr>
            <a:xfrm>
              <a:off x="362712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dirty="0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局限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75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依赖高质量的嵌入模型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语义相近类别区分有限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33801" y="3086100"/>
            <a:ext cx="2684018" cy="1600200"/>
            <a:chOff x="254000" y="2962031"/>
            <a:chExt cx="2684018" cy="1600200"/>
          </a:xfrm>
        </p:grpSpPr>
        <p:sp>
          <p:nvSpPr>
            <p:cNvPr id="77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8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altLang="zh-CN" sz="1400" dirty="0" err="1">
                  <a:solidFill>
                    <a:srgbClr val="2A38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适用场景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 defTabSz="457200">
                <a:lnSpc>
                  <a:spcPct val="100000"/>
                </a:lnSpc>
                <a:defRPr/>
              </a:pP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80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zh-C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常见问题解答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en-US" altLang="zh-C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 </a:t>
              </a: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多知识库检索路由</a:t>
              </a:r>
            </a:p>
            <a:p>
              <a:pPr>
                <a:lnSpc>
                  <a:spcPct val="200000"/>
                </a:lnSpc>
                <a:defRPr/>
              </a:pP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endParaRPr>
            </a:p>
            <a:p>
              <a:pPr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285" y="275533"/>
            <a:ext cx="323473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基于ML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模型</a:t>
            </a:r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的路由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81000" y="762000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/>
        </p:nvSpPr>
        <p:spPr>
          <a:xfrm>
            <a:off x="495300" y="954130"/>
            <a:ext cx="965200" cy="304800"/>
          </a:xfrm>
          <a:prstGeom prst="roundRect">
            <a:avLst>
              <a:gd name="adj" fmla="val 5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6"/>
          <p:cNvSpPr txBox="1"/>
          <p:nvPr/>
        </p:nvSpPr>
        <p:spPr>
          <a:xfrm>
            <a:off x="1498600" y="850900"/>
            <a:ext cx="68580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用小型标注语料监督微调分类器，路由逻辑编码进模型权重，推理时不依赖生成式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7"/>
          <p:cNvSpPr txBox="1"/>
          <p:nvPr/>
        </p:nvSpPr>
        <p:spPr>
          <a:xfrm>
            <a:off x="381000" y="1511300"/>
            <a:ext cx="254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工作流程</a:t>
            </a:r>
            <a:r>
              <a:rPr lang="zh-CN" altLang="en-US" sz="14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如下：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56152" y="1993900"/>
            <a:ext cx="2159000" cy="711200"/>
            <a:chOff x="381000" y="2413000"/>
            <a:chExt cx="2159000" cy="711200"/>
          </a:xfrm>
        </p:grpSpPr>
        <p:sp>
          <p:nvSpPr>
            <p:cNvPr id="15" name="AutoShape 8"/>
            <p:cNvSpPr/>
            <p:nvPr/>
          </p:nvSpPr>
          <p:spPr>
            <a:xfrm>
              <a:off x="381000" y="2413000"/>
              <a:ext cx="2159000" cy="711200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553560" y="2719266"/>
              <a:ext cx="1983369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3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收集并标注小型语料</a:t>
              </a:r>
            </a:p>
            <a:p>
              <a:pPr marL="0" indent="0" algn="ctr">
                <a:lnSpc>
                  <a:spcPct val="100000"/>
                </a:lnSpc>
                <a:defRPr/>
              </a:pPr>
              <a:endParaRPr lang="en-US" sz="14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416810" y="1993900"/>
            <a:ext cx="2197833" cy="711200"/>
            <a:chOff x="2540000" y="2413000"/>
            <a:chExt cx="2197833" cy="711200"/>
          </a:xfrm>
        </p:grpSpPr>
        <p:sp>
          <p:nvSpPr>
            <p:cNvPr id="18" name="AutoShape 10"/>
            <p:cNvSpPr/>
            <p:nvPr/>
          </p:nvSpPr>
          <p:spPr>
            <a:xfrm>
              <a:off x="2540000" y="2413000"/>
              <a:ext cx="2159000" cy="711200"/>
            </a:xfrm>
            <a:prstGeom prst="chevron">
              <a:avLst/>
            </a:prstGeom>
            <a:solidFill>
              <a:srgbClr val="6078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11"/>
            <p:cNvSpPr txBox="1"/>
            <p:nvPr/>
          </p:nvSpPr>
          <p:spPr>
            <a:xfrm>
              <a:off x="2662459" y="2613269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训练判别式分类器</a:t>
              </a:r>
              <a:endPara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69850" y="1993900"/>
            <a:ext cx="2190855" cy="711200"/>
            <a:chOff x="4699000" y="2413000"/>
            <a:chExt cx="2190855" cy="711200"/>
          </a:xfrm>
        </p:grpSpPr>
        <p:sp>
          <p:nvSpPr>
            <p:cNvPr id="25" name="AutoShape 12"/>
            <p:cNvSpPr/>
            <p:nvPr/>
          </p:nvSpPr>
          <p:spPr>
            <a:xfrm>
              <a:off x="4699000" y="2413000"/>
              <a:ext cx="2159000" cy="711200"/>
            </a:xfrm>
            <a:prstGeom prst="chevron">
              <a:avLst/>
            </a:prstGeom>
            <a:solidFill>
              <a:srgbClr val="4C618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13"/>
            <p:cNvSpPr txBox="1"/>
            <p:nvPr/>
          </p:nvSpPr>
          <p:spPr>
            <a:xfrm>
              <a:off x="4814481" y="2613269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部署微调模型分流</a:t>
              </a:r>
              <a:endPara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736468" y="1993900"/>
            <a:ext cx="2244333" cy="711200"/>
            <a:chOff x="6858000" y="2413000"/>
            <a:chExt cx="2244333" cy="711200"/>
          </a:xfrm>
        </p:grpSpPr>
        <p:sp>
          <p:nvSpPr>
            <p:cNvPr id="32" name="AutoShape 14"/>
            <p:cNvSpPr/>
            <p:nvPr/>
          </p:nvSpPr>
          <p:spPr>
            <a:xfrm>
              <a:off x="6858000" y="2413000"/>
              <a:ext cx="2159000" cy="711200"/>
            </a:xfrm>
            <a:prstGeom prst="chevron">
              <a:avLst/>
            </a:prstGeom>
            <a:solidFill>
              <a:srgbClr val="384A72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15"/>
            <p:cNvSpPr txBox="1"/>
            <p:nvPr/>
          </p:nvSpPr>
          <p:spPr>
            <a:xfrm>
              <a:off x="7035161" y="2605845"/>
              <a:ext cx="2067172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推理输出类别匹配分支</a:t>
              </a:r>
              <a:endPara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56152" y="3086100"/>
            <a:ext cx="2684018" cy="1600200"/>
            <a:chOff x="254000" y="2962031"/>
            <a:chExt cx="2684018" cy="1600200"/>
          </a:xfrm>
        </p:grpSpPr>
        <p:sp>
          <p:nvSpPr>
            <p:cNvPr id="34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 dirty="0" err="1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关键特点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57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确定、低延迟、可控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推理不依赖生成式模型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61" name="AutoShape 23"/>
          <p:cNvSpPr txBox="1"/>
          <p:nvPr/>
        </p:nvSpPr>
        <p:spPr>
          <a:xfrm>
            <a:off x="3352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27"/>
          <p:cNvSpPr txBox="1"/>
          <p:nvPr/>
        </p:nvSpPr>
        <p:spPr>
          <a:xfrm>
            <a:off x="6146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211450" y="3086100"/>
            <a:ext cx="2684018" cy="1600200"/>
            <a:chOff x="254000" y="2962031"/>
            <a:chExt cx="2684018" cy="1600200"/>
          </a:xfrm>
        </p:grpSpPr>
        <p:sp>
          <p:nvSpPr>
            <p:cNvPr id="72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zh-CN" altLang="en-US" sz="1400" dirty="0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局限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75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需训练数据与迭代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泛化受语料质量限制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33801" y="3086100"/>
            <a:ext cx="2684018" cy="1600200"/>
            <a:chOff x="254000" y="2962031"/>
            <a:chExt cx="2684018" cy="1600200"/>
          </a:xfrm>
        </p:grpSpPr>
        <p:sp>
          <p:nvSpPr>
            <p:cNvPr id="77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8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altLang="zh-CN" sz="1400" dirty="0" err="1">
                  <a:solidFill>
                    <a:srgbClr val="2A385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适用场景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 defTabSz="457200">
                <a:lnSpc>
                  <a:spcPct val="100000"/>
                </a:lnSpc>
                <a:defRPr/>
              </a:pP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80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高并发在线分流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需要确定性的生产路由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4"/>
          <p:cNvSpPr/>
          <p:nvPr/>
        </p:nvSpPr>
        <p:spPr>
          <a:xfrm>
            <a:off x="7131368" y="2487920"/>
            <a:ext cx="1399451" cy="434359"/>
          </a:xfrm>
          <a:prstGeom prst="chevron">
            <a:avLst/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矩形 4"/>
          <p:cNvSpPr/>
          <p:nvPr/>
        </p:nvSpPr>
        <p:spPr>
          <a:xfrm>
            <a:off x="411286" y="275533"/>
            <a:ext cx="259404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基于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规则</a:t>
            </a:r>
            <a:r>
              <a:rPr lang="en-US" altLang="zh-CN"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的路由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381000" y="762000"/>
            <a:ext cx="8382000" cy="660400"/>
          </a:xfrm>
          <a:prstGeom prst="roundRect">
            <a:avLst>
              <a:gd name="adj" fmla="val 15384"/>
            </a:avLst>
          </a:prstGeom>
          <a:solidFill>
            <a:srgbClr val="384A72">
              <a:alpha val="7000"/>
            </a:srgbClr>
          </a:solidFill>
          <a:ln w="12700" cap="flat" cmpd="sng">
            <a:solidFill>
              <a:srgbClr val="768CBC">
                <a:alpha val="6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5"/>
          <p:cNvSpPr/>
          <p:nvPr/>
        </p:nvSpPr>
        <p:spPr>
          <a:xfrm>
            <a:off x="495300" y="954130"/>
            <a:ext cx="965200" cy="304800"/>
          </a:xfrm>
          <a:prstGeom prst="roundRect">
            <a:avLst>
              <a:gd name="adj" fmla="val 50000"/>
            </a:avLst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4572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核心原理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6"/>
          <p:cNvSpPr txBox="1"/>
          <p:nvPr/>
        </p:nvSpPr>
        <p:spPr>
          <a:xfrm>
            <a:off x="1498600" y="850900"/>
            <a:ext cx="6858000" cy="533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457200">
              <a:lnSpc>
                <a:spcPct val="108000"/>
              </a:lnSpc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用预定义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if-else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规则，按关键词、模式或结构化数据直接决定请求去向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7"/>
          <p:cNvSpPr txBox="1"/>
          <p:nvPr/>
        </p:nvSpPr>
        <p:spPr>
          <a:xfrm>
            <a:off x="381000" y="1511300"/>
            <a:ext cx="2540000" cy="30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457200">
              <a:lnSpc>
                <a:spcPct val="100000"/>
              </a:lnSpc>
              <a:defRPr/>
            </a:pPr>
            <a:r>
              <a:rPr lang="en-US" sz="14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工作流程</a:t>
            </a:r>
            <a:r>
              <a:rPr lang="zh-CN" altLang="en-US" sz="14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如下：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56152" y="1993900"/>
            <a:ext cx="2200901" cy="711200"/>
            <a:chOff x="381000" y="2413000"/>
            <a:chExt cx="2200901" cy="711200"/>
          </a:xfrm>
        </p:grpSpPr>
        <p:sp>
          <p:nvSpPr>
            <p:cNvPr id="15" name="AutoShape 8"/>
            <p:cNvSpPr/>
            <p:nvPr/>
          </p:nvSpPr>
          <p:spPr>
            <a:xfrm>
              <a:off x="381000" y="2413000"/>
              <a:ext cx="2159000" cy="711200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598532" y="2696327"/>
              <a:ext cx="1983369" cy="348742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3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定义关键词或正则规则</a:t>
              </a:r>
              <a:endParaRPr lang="zh-CN" altLang="en-US" sz="12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ctr">
                <a:lnSpc>
                  <a:spcPct val="100000"/>
                </a:lnSpc>
                <a:defRPr/>
              </a:pPr>
              <a:endParaRPr lang="en-US" sz="14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416810" y="1993900"/>
            <a:ext cx="2247556" cy="711200"/>
            <a:chOff x="2540000" y="2413000"/>
            <a:chExt cx="2247556" cy="711200"/>
          </a:xfrm>
        </p:grpSpPr>
        <p:sp>
          <p:nvSpPr>
            <p:cNvPr id="18" name="AutoShape 10"/>
            <p:cNvSpPr/>
            <p:nvPr/>
          </p:nvSpPr>
          <p:spPr>
            <a:xfrm>
              <a:off x="2540000" y="2413000"/>
              <a:ext cx="2159000" cy="711200"/>
            </a:xfrm>
            <a:prstGeom prst="chevron">
              <a:avLst/>
            </a:prstGeom>
            <a:solidFill>
              <a:srgbClr val="6078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11"/>
            <p:cNvSpPr txBox="1"/>
            <p:nvPr/>
          </p:nvSpPr>
          <p:spPr>
            <a:xfrm>
              <a:off x="2712182" y="2691501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提取输入的特征与结构</a:t>
              </a:r>
            </a:p>
            <a:p>
              <a:pPr algn="ctr">
                <a:defRPr/>
              </a:pPr>
              <a:endParaRPr lang="en-US" sz="14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69850" y="1993900"/>
            <a:ext cx="2190855" cy="711200"/>
            <a:chOff x="4699000" y="2413000"/>
            <a:chExt cx="2190855" cy="711200"/>
          </a:xfrm>
        </p:grpSpPr>
        <p:sp>
          <p:nvSpPr>
            <p:cNvPr id="25" name="AutoShape 12"/>
            <p:cNvSpPr/>
            <p:nvPr/>
          </p:nvSpPr>
          <p:spPr>
            <a:xfrm>
              <a:off x="4699000" y="2413000"/>
              <a:ext cx="2159000" cy="711200"/>
            </a:xfrm>
            <a:prstGeom prst="chevron">
              <a:avLst/>
            </a:prstGeom>
            <a:solidFill>
              <a:srgbClr val="4C618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13"/>
            <p:cNvSpPr txBox="1"/>
            <p:nvPr/>
          </p:nvSpPr>
          <p:spPr>
            <a:xfrm>
              <a:off x="4814481" y="2711450"/>
              <a:ext cx="2075374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13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逐条匹配规则</a:t>
              </a:r>
            </a:p>
            <a:p>
              <a:pPr indent="0" algn="ctr">
                <a:lnSpc>
                  <a:spcPct val="100000"/>
                </a:lnSpc>
                <a:defRPr/>
              </a:pPr>
              <a:endParaRPr lang="en-US" sz="14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</p:grpSp>
      <p:sp>
        <p:nvSpPr>
          <p:cNvPr id="32" name="AutoShape 14"/>
          <p:cNvSpPr/>
          <p:nvPr/>
        </p:nvSpPr>
        <p:spPr>
          <a:xfrm>
            <a:off x="7101608" y="1762286"/>
            <a:ext cx="1399451" cy="434359"/>
          </a:xfrm>
          <a:prstGeom prst="chevron">
            <a:avLst/>
          </a:prstGeom>
          <a:solidFill>
            <a:srgbClr val="384A7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3" name="AutoShape 15"/>
          <p:cNvSpPr txBox="1"/>
          <p:nvPr/>
        </p:nvSpPr>
        <p:spPr>
          <a:xfrm>
            <a:off x="7180409" y="2536529"/>
            <a:ext cx="1339929" cy="35393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走兜底分支</a:t>
            </a:r>
            <a:endParaRPr lang="en-US" sz="13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256152" y="3086100"/>
            <a:ext cx="2684018" cy="1600200"/>
            <a:chOff x="254000" y="2962031"/>
            <a:chExt cx="2684018" cy="1600200"/>
          </a:xfrm>
        </p:grpSpPr>
        <p:sp>
          <p:nvSpPr>
            <p:cNvPr id="34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0" indent="0" algn="ctr" defTabSz="457200">
                <a:lnSpc>
                  <a:spcPct val="100000"/>
                </a:lnSpc>
                <a:defRPr/>
              </a:pPr>
              <a:r>
                <a:rPr lang="en-US" sz="1400" b="0" i="0" u="none" strike="noStrike" dirty="0" err="1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关键特点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57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快速、确定、可解释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零推理成本、易审计</a:t>
              </a:r>
            </a:p>
            <a:p>
              <a:pPr marL="171450" indent="-171450" algn="l" defTabSz="45720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61" name="AutoShape 23"/>
          <p:cNvSpPr txBox="1"/>
          <p:nvPr/>
        </p:nvSpPr>
        <p:spPr>
          <a:xfrm>
            <a:off x="3352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27"/>
          <p:cNvSpPr txBox="1"/>
          <p:nvPr/>
        </p:nvSpPr>
        <p:spPr>
          <a:xfrm>
            <a:off x="6146800" y="3962400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  <a:defRPr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211450" y="3086100"/>
            <a:ext cx="2684018" cy="1600200"/>
            <a:chOff x="254000" y="2962031"/>
            <a:chExt cx="2684018" cy="1600200"/>
          </a:xfrm>
        </p:grpSpPr>
        <p:sp>
          <p:nvSpPr>
            <p:cNvPr id="72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zh-CN" altLang="en-US" sz="1400" dirty="0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局限</a:t>
              </a:r>
              <a:endParaRPr lang="en-US" sz="1400" dirty="0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75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对新颖输入适应性弱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规则维护成本随规模上升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endParaRPr>
            </a:p>
            <a:p>
              <a:pPr algn="l"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33801" y="3086100"/>
            <a:ext cx="2684018" cy="1600200"/>
            <a:chOff x="254000" y="2962031"/>
            <a:chExt cx="2684018" cy="1600200"/>
          </a:xfrm>
        </p:grpSpPr>
        <p:sp>
          <p:nvSpPr>
            <p:cNvPr id="77" name="AutoShape 16"/>
            <p:cNvSpPr/>
            <p:nvPr/>
          </p:nvSpPr>
          <p:spPr>
            <a:xfrm>
              <a:off x="254000" y="2962031"/>
              <a:ext cx="2667000" cy="1600200"/>
            </a:xfrm>
            <a:prstGeom prst="roundRect">
              <a:avLst>
                <a:gd name="adj" fmla="val 6349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768CBC">
                  <a:alpha val="60000"/>
                </a:srgbClr>
              </a:solidFill>
              <a:prstDash val="solid"/>
              <a:miter lim="1000000"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8" name="AutoShape 17"/>
            <p:cNvSpPr txBox="1"/>
            <p:nvPr/>
          </p:nvSpPr>
          <p:spPr>
            <a:xfrm>
              <a:off x="381000" y="3057086"/>
              <a:ext cx="2311400" cy="2794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altLang="zh-CN" sz="1400" dirty="0" err="1">
                  <a:solidFill>
                    <a:srgbClr val="384A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适用场景</a:t>
              </a:r>
              <a:endParaRPr lang="en-US" altLang="zh-CN" sz="1400" dirty="0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indent="0" algn="l" defTabSz="457200">
                <a:lnSpc>
                  <a:spcPct val="100000"/>
                </a:lnSpc>
                <a:defRPr/>
              </a:pP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Connector 18"/>
            <p:cNvCxnSpPr/>
            <p:nvPr/>
          </p:nvCxnSpPr>
          <p:spPr>
            <a:xfrm rot="21581112">
              <a:off x="431799" y="3342836"/>
              <a:ext cx="23114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68CBC">
                  <a:alpha val="50000"/>
                </a:srgbClr>
              </a:solidFill>
              <a:prstDash val="solid"/>
              <a:miter lim="1000000"/>
              <a:headEnd type="none" w="med" len="med"/>
              <a:tailEnd type="none" w="med" len="med"/>
            </a:ln>
          </p:spPr>
        </p:cxnSp>
        <p:sp>
          <p:nvSpPr>
            <p:cNvPr id="80" name="AutoShape 19"/>
            <p:cNvSpPr txBox="1"/>
            <p:nvPr/>
          </p:nvSpPr>
          <p:spPr>
            <a:xfrm>
              <a:off x="254000" y="3390900"/>
              <a:ext cx="2684018" cy="9906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t" anchorCtr="0"/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高频确定性分流</a:t>
              </a: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ü"/>
                <a:defRPr/>
              </a:pPr>
              <a:r>
                <a:rPr lang="zh-CN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表单与结构化数据路由</a:t>
              </a:r>
              <a:endPara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defTabSz="457200">
                <a:lnSpc>
                  <a:spcPct val="200000"/>
                </a:lnSpc>
                <a:defRPr/>
              </a:pPr>
              <a:endParaRPr lang="en-US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1" name="AutoShape 15"/>
          <p:cNvSpPr txBox="1"/>
          <p:nvPr/>
        </p:nvSpPr>
        <p:spPr>
          <a:xfrm>
            <a:off x="7161130" y="1802499"/>
            <a:ext cx="1339929" cy="35393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分流</a:t>
            </a:r>
            <a:endParaRPr lang="en-US" sz="13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连接符: 曲线 22"/>
          <p:cNvCxnSpPr>
            <a:endCxn id="21" idx="1"/>
          </p:cNvCxnSpPr>
          <p:nvPr/>
        </p:nvCxnSpPr>
        <p:spPr>
          <a:xfrm flipV="1">
            <a:off x="6719418" y="1979465"/>
            <a:ext cx="441712" cy="365590"/>
          </a:xfrm>
          <a:prstGeom prst="curved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连接符: 曲线 35"/>
          <p:cNvCxnSpPr>
            <a:endCxn id="33" idx="1"/>
          </p:cNvCxnSpPr>
          <p:nvPr/>
        </p:nvCxnSpPr>
        <p:spPr>
          <a:xfrm>
            <a:off x="6719211" y="2345055"/>
            <a:ext cx="461198" cy="368440"/>
          </a:xfrm>
          <a:prstGeom prst="curved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 rot="18342595">
            <a:off x="6602554" y="1837669"/>
            <a:ext cx="653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命中</a:t>
            </a:r>
          </a:p>
        </p:txBody>
      </p:sp>
      <p:sp>
        <p:nvSpPr>
          <p:cNvPr id="47" name="文本框 46"/>
          <p:cNvSpPr txBox="1"/>
          <p:nvPr/>
        </p:nvSpPr>
        <p:spPr>
          <a:xfrm rot="2313885">
            <a:off x="6598462" y="2561385"/>
            <a:ext cx="653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未命中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8302" y="2054493"/>
            <a:ext cx="4023471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实例演示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: 形状 2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5" name="AutoShape 27"/>
          <p:cNvSpPr txBox="1"/>
          <p:nvPr/>
        </p:nvSpPr>
        <p:spPr>
          <a:xfrm>
            <a:off x="5841102" y="3432093"/>
            <a:ext cx="2311400" cy="990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171450" marR="0" lvl="0" indent="-1714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Noto Sans SC" panose="020B0200000000000000" charset="-122"/>
            </a:endParaRPr>
          </a:p>
        </p:txBody>
      </p:sp>
      <p:cxnSp>
        <p:nvCxnSpPr>
          <p:cNvPr id="9" name="直接箭头连接符 8"/>
          <p:cNvCxnSpPr>
            <a:stCxn id="10" idx="3"/>
            <a:endCxn id="19" idx="1"/>
          </p:cNvCxnSpPr>
          <p:nvPr/>
        </p:nvCxnSpPr>
        <p:spPr>
          <a:xfrm>
            <a:off x="2177152" y="2438158"/>
            <a:ext cx="514350" cy="0"/>
          </a:xfrm>
          <a:prstGeom prst="straightConnector1">
            <a:avLst/>
          </a:prstGeom>
          <a:ln w="23813"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 w="med" len="med"/>
          </a:ln>
        </p:spPr>
      </p:cxnSp>
      <p:sp>
        <p:nvSpPr>
          <p:cNvPr id="10" name="demo-request"/>
          <p:cNvSpPr>
            <a:spLocks noGrp="1"/>
          </p:cNvSpPr>
          <p:nvPr/>
        </p:nvSpPr>
        <p:spPr>
          <a:xfrm>
            <a:off x="576952" y="2133358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4288">
            <a:solidFill>
              <a:srgbClr val="E2E8F0"/>
            </a:solidFill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42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用户请求</a:t>
            </a:r>
            <a:endParaRPr sz="1600" dirty="0"/>
          </a:p>
        </p:txBody>
      </p:sp>
      <p:sp>
        <p:nvSpPr>
          <p:cNvPr id="19" name="demo-router"/>
          <p:cNvSpPr>
            <a:spLocks noGrp="1"/>
          </p:cNvSpPr>
          <p:nvPr/>
        </p:nvSpPr>
        <p:spPr>
          <a:xfrm>
            <a:off x="2691502" y="2057158"/>
            <a:ext cx="1695450" cy="762000"/>
          </a:xfrm>
          <a:prstGeom prst="roundRect">
            <a:avLst>
              <a:gd name="adj" fmla="val 10000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 lIns="57150" tIns="57150" rIns="57150" bIns="571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路由器</a:t>
            </a:r>
            <a:endParaRPr sz="1600" dirty="0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86952" y="2428633"/>
            <a:ext cx="4381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25102" y="1104658"/>
            <a:ext cx="23813" cy="2667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25102" y="1095133"/>
            <a:ext cx="285750" cy="23813"/>
          </a:xfrm>
          <a:prstGeom prst="rect">
            <a:avLst/>
          </a:prstGeom>
          <a:solidFill>
            <a:srgbClr val="818CF8"/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148952" y="818908"/>
            <a:ext cx="38100" cy="571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58502" y="837958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订单与物流</a:t>
            </a:r>
            <a:endParaRPr sz="1600" dirty="0"/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825102" y="1761883"/>
            <a:ext cx="2857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48952" y="1485658"/>
            <a:ext cx="38100" cy="571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358502" y="1504708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退换与退款</a:t>
            </a:r>
            <a:endParaRPr sz="1600" dirty="0"/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825102" y="2428633"/>
            <a:ext cx="2857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148952" y="2152408"/>
            <a:ext cx="38100" cy="571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358502" y="2171458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技术支持</a:t>
            </a:r>
            <a:endParaRPr sz="1600" dirty="0"/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25102" y="3095383"/>
            <a:ext cx="2857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148952" y="2819158"/>
            <a:ext cx="38100" cy="571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358502" y="2838208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产品咨询</a:t>
            </a:r>
            <a:endParaRPr sz="1600" dirty="0"/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825102" y="3762133"/>
            <a:ext cx="285750" cy="23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148952" y="3485908"/>
            <a:ext cx="38100" cy="571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358502" y="3504958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575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 dirty="0" err="1"/>
              <a:t>人工客服</a:t>
            </a:r>
            <a:endParaRPr sz="1600" dirty="0"/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5358502" y="1142758"/>
            <a:ext cx="202233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查订单状态、快递到哪了</a:t>
            </a:r>
            <a:endParaRPr sz="1200" dirty="0"/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358502" y="1850943"/>
            <a:ext cx="291646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退款、退货、换货、取消</a:t>
            </a:r>
            <a:endParaRPr sz="1200" dirty="0"/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5345802" y="2498643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闪退、登录失败、报错、卡顿</a:t>
            </a:r>
            <a:endParaRPr sz="1200" dirty="0"/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5358502" y="3184443"/>
            <a:ext cx="256691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价格、参数、库存、型号区别</a:t>
            </a:r>
            <a:endParaRPr sz="1200" dirty="0"/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5345802" y="3883584"/>
            <a:ext cx="325481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275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投诉、转人工、需要真人</a:t>
            </a:r>
            <a:endParaRPr sz="1200" dirty="0"/>
          </a:p>
        </p:txBody>
      </p:sp>
      <p:sp>
        <p:nvSpPr>
          <p:cNvPr id="2" name="矩形 1"/>
          <p:cNvSpPr/>
          <p:nvPr/>
        </p:nvSpPr>
        <p:spPr>
          <a:xfrm>
            <a:off x="411286" y="275533"/>
            <a:ext cx="26584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智能客服分流系统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514350" y="1106530"/>
            <a:ext cx="8115300" cy="60007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1106530"/>
            <a:ext cx="842963" cy="600075"/>
          </a:xfrm>
          <a:prstGeom prst="rect">
            <a:avLst/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85787" y="1292267"/>
            <a:ext cx="7000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</a:rPr>
              <a:t>用户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1763755"/>
            <a:ext cx="8115300" cy="600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14350" y="1763755"/>
            <a:ext cx="842963" cy="600075"/>
          </a:xfrm>
          <a:prstGeom prst="rect">
            <a:avLst/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85787" y="1949492"/>
            <a:ext cx="641227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</a:rPr>
              <a:t>路由器</a:t>
            </a:r>
            <a:r>
              <a:rPr sz="1400" dirty="0">
                <a:solidFill>
                  <a:schemeClr val="accent1"/>
                </a:solidFill>
              </a:rPr>
              <a:t>  </a:t>
            </a:r>
            <a:r>
              <a:rPr sz="1400" dirty="0" err="1">
                <a:solidFill>
                  <a:schemeClr val="accent1"/>
                </a:solidFill>
              </a:rPr>
              <a:t>协调器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4350" y="2420980"/>
            <a:ext cx="8115300" cy="105727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4350" y="2420980"/>
            <a:ext cx="842963" cy="1057275"/>
          </a:xfrm>
          <a:prstGeom prst="rect">
            <a:avLst/>
          </a:prstGeom>
          <a:solidFill>
            <a:srgbClr val="EEF2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0068" y="2835317"/>
            <a:ext cx="77152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1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>
                <a:solidFill>
                  <a:schemeClr val="accent1"/>
                </a:solidFill>
              </a:rPr>
              <a:t>子智能体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14" name="lane-request"/>
          <p:cNvSpPr>
            <a:spLocks noGrp="1"/>
          </p:cNvSpPr>
          <p:nvPr/>
        </p:nvSpPr>
        <p:spPr>
          <a:xfrm>
            <a:off x="1528762" y="1235117"/>
            <a:ext cx="1271588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提交请求</a:t>
            </a:r>
            <a:endParaRPr sz="1200" dirty="0"/>
          </a:p>
        </p:txBody>
      </p:sp>
      <p:sp>
        <p:nvSpPr>
          <p:cNvPr id="15" name="lane-reply"/>
          <p:cNvSpPr>
            <a:spLocks noGrp="1"/>
          </p:cNvSpPr>
          <p:nvPr/>
        </p:nvSpPr>
        <p:spPr>
          <a:xfrm>
            <a:off x="7072313" y="1235117"/>
            <a:ext cx="1428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350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收到应答</a:t>
            </a:r>
            <a:endParaRPr sz="1200" dirty="0"/>
          </a:p>
        </p:txBody>
      </p:sp>
      <p:sp>
        <p:nvSpPr>
          <p:cNvPr id="16" name="lane-analyze"/>
          <p:cNvSpPr>
            <a:spLocks noGrp="1"/>
          </p:cNvSpPr>
          <p:nvPr/>
        </p:nvSpPr>
        <p:spPr>
          <a:xfrm>
            <a:off x="3186113" y="1892342"/>
            <a:ext cx="16002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7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分析请求</a:t>
            </a:r>
            <a:r>
              <a:rPr sz="1200" dirty="0"/>
              <a:t> · </a:t>
            </a:r>
            <a:r>
              <a:rPr sz="1200" dirty="0" err="1"/>
              <a:t>识别意图</a:t>
            </a:r>
            <a:endParaRPr sz="1200" dirty="0"/>
          </a:p>
        </p:txBody>
      </p:sp>
      <p:sp>
        <p:nvSpPr>
          <p:cNvPr id="17" name="lane-decide"/>
          <p:cNvSpPr>
            <a:spLocks noGrp="1"/>
          </p:cNvSpPr>
          <p:nvPr/>
        </p:nvSpPr>
        <p:spPr>
          <a:xfrm>
            <a:off x="5086350" y="1892342"/>
            <a:ext cx="1400176" cy="342900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dirty="0" err="1"/>
              <a:t>路由决策</a:t>
            </a:r>
            <a:r>
              <a:rPr sz="1200" dirty="0"/>
              <a:t> · </a:t>
            </a:r>
            <a:r>
              <a:rPr sz="1200" dirty="0" err="1"/>
              <a:t>四选一</a:t>
            </a:r>
            <a:endParaRPr sz="1200" dirty="0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00350" y="1399424"/>
            <a:ext cx="200025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984302" y="1399424"/>
            <a:ext cx="17860" cy="6643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0" name="箭头: 右 19"/>
          <p:cNvSpPr>
            <a:spLocks noGrp="1"/>
          </p:cNvSpPr>
          <p:nvPr/>
        </p:nvSpPr>
        <p:spPr>
          <a:xfrm>
            <a:off x="2993232" y="1978067"/>
            <a:ext cx="192881" cy="17145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786312" y="2054863"/>
            <a:ext cx="300038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86525" y="2028790"/>
            <a:ext cx="300038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786563" y="2613861"/>
            <a:ext cx="17860" cy="728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786563" y="2606717"/>
            <a:ext cx="285750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5" name="branch-0"/>
          <p:cNvSpPr>
            <a:spLocks noGrp="1"/>
          </p:cNvSpPr>
          <p:nvPr/>
        </p:nvSpPr>
        <p:spPr>
          <a:xfrm>
            <a:off x="7072313" y="2506704"/>
            <a:ext cx="1428750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 dirty="0" err="1">
                <a:solidFill>
                  <a:schemeClr val="accent1"/>
                </a:solidFill>
              </a:rPr>
              <a:t>订单查询子智能体</a:t>
            </a:r>
            <a:endParaRPr sz="900" dirty="0">
              <a:solidFill>
                <a:schemeClr val="accen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786563" y="2849605"/>
            <a:ext cx="285750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7" name="branch-1"/>
          <p:cNvSpPr>
            <a:spLocks noGrp="1"/>
          </p:cNvSpPr>
          <p:nvPr/>
        </p:nvSpPr>
        <p:spPr>
          <a:xfrm>
            <a:off x="7072313" y="2749592"/>
            <a:ext cx="1428750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产品目录检索子智能体</a:t>
            </a:r>
            <a:endParaRPr sz="9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786563" y="3092492"/>
            <a:ext cx="285750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9" name="branch-2"/>
          <p:cNvSpPr>
            <a:spLocks noGrp="1"/>
          </p:cNvSpPr>
          <p:nvPr/>
        </p:nvSpPr>
        <p:spPr>
          <a:xfrm>
            <a:off x="7072313" y="2992479"/>
            <a:ext cx="1428750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故障排除手册</a:t>
            </a:r>
            <a:r>
              <a:rPr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9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转人工</a:t>
            </a:r>
            <a:endParaRPr sz="9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786563" y="3335380"/>
            <a:ext cx="285750" cy="1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31" name="branch-3"/>
          <p:cNvSpPr>
            <a:spLocks noGrp="1"/>
          </p:cNvSpPr>
          <p:nvPr/>
        </p:nvSpPr>
        <p:spPr>
          <a:xfrm>
            <a:off x="7072313" y="3235367"/>
            <a:ext cx="1428750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4288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lIns="42863" tIns="42863" rIns="42863" bIns="42863" anchor="ctr">
            <a:noAutofit/>
          </a:bodyPr>
          <a:lstStyle>
            <a:def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ctr">
              <a:defRPr sz="1200" b="0">
                <a:solidFill>
                  <a:srgbClr val="4338C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9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澄清子智能体</a:t>
            </a:r>
            <a:endParaRPr sz="9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765257" y="1799474"/>
            <a:ext cx="17860" cy="692944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3" name="箭头: 上 32"/>
          <p:cNvSpPr>
            <a:spLocks noGrp="1"/>
          </p:cNvSpPr>
          <p:nvPr/>
        </p:nvSpPr>
        <p:spPr>
          <a:xfrm>
            <a:off x="7686675" y="1592305"/>
            <a:ext cx="171450" cy="207169"/>
          </a:xfrm>
          <a:prstGeom prst="upArrow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58125" y="1949492"/>
            <a:ext cx="785813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</a:lstStyle>
          <a:p>
            <a:pPr algn="l">
              <a:defRPr sz="105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800" dirty="0" err="1"/>
              <a:t>应答返回</a:t>
            </a:r>
            <a:endParaRPr sz="800" dirty="0"/>
          </a:p>
        </p:txBody>
      </p:sp>
      <p:sp>
        <p:nvSpPr>
          <p:cNvPr id="39" name="任意多边形: 形状 38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786563" y="2056648"/>
            <a:ext cx="17860" cy="6643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" name="矩形 1"/>
          <p:cNvSpPr/>
          <p:nvPr/>
        </p:nvSpPr>
        <p:spPr>
          <a:xfrm>
            <a:off x="411286" y="275533"/>
            <a:ext cx="37492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智能客服分流系统泳道图</a:t>
            </a:r>
            <a:endParaRPr lang="en-US" altLang="zh-CN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8302" y="2054493"/>
            <a:ext cx="40234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代码实现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480" y="275590"/>
            <a:ext cx="7402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LangChain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15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：定义子智能体处理器</a:t>
              </a:r>
            </a:p>
          </p:txBody>
        </p:sp>
      </p:grpSp>
      <p:sp>
        <p:nvSpPr>
          <p:cNvPr id="20" name="AutoShape 11"/>
          <p:cNvSpPr txBox="1"/>
          <p:nvPr/>
        </p:nvSpPr>
        <p:spPr>
          <a:xfrm>
            <a:off x="513715" y="3594100"/>
            <a:ext cx="1665605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模型分析输出类别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9460" y="3656964"/>
            <a:ext cx="8190865" cy="1340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booking_handler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处理机票酒店预订类请求、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info_handler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处理普通信息问答、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unclear_handler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兜底分支，处理无法分类的请求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实现功能：三个智能体负责真正执行业务逻辑。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41" y="1571216"/>
            <a:ext cx="6605271" cy="69309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41" y="2252526"/>
            <a:ext cx="6588760" cy="7048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86" y="2963897"/>
            <a:ext cx="6605270" cy="7042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480" y="275590"/>
            <a:ext cx="7402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LangChain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15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：构建协调器路由链</a:t>
              </a:r>
            </a:p>
          </p:txBody>
        </p:sp>
      </p:grpSp>
      <p:sp>
        <p:nvSpPr>
          <p:cNvPr id="20" name="AutoShape 11"/>
          <p:cNvSpPr txBox="1"/>
          <p:nvPr/>
        </p:nvSpPr>
        <p:spPr>
          <a:xfrm>
            <a:off x="513715" y="3594100"/>
            <a:ext cx="1665605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模型分析输出类别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1027" y="3646805"/>
            <a:ext cx="7746365" cy="14093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提示词模板 +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+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字符串解析器，组成路由判断链</a:t>
            </a:r>
          </a:p>
          <a:p>
            <a:pPr marL="171450" indent="-171450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系统提示词约束模型只能输出单个单词：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booker/ info / unclear</a:t>
            </a:r>
          </a:p>
          <a:p>
            <a:pPr marL="171450" indent="-171450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实现功能：接收用户请求，交给大模型判断请求类型，输出分类标签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作为路由判断依据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6" y="1473835"/>
            <a:ext cx="7803424" cy="206013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480" y="275590"/>
            <a:ext cx="7402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LangChain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15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：定义任务委派逻辑，创建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RunnableBranch 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分支调度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79780" y="3651250"/>
            <a:ext cx="6938645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Wingdings" panose="05000000000000000000" charset="0"/>
              <a:buChar char="ü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RunnableBranch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是用来实现条件路由分支的核心工具。定义分支字典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branches，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把标签和对应的处理器绑定。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74" y="1571216"/>
            <a:ext cx="6570406" cy="1929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480" y="275590"/>
            <a:ext cx="7402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LangChain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15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：定义任务委派逻辑，创建 </a:t>
              </a: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RunnableBranch 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分支调度</a:t>
              </a:r>
            </a:p>
          </p:txBody>
        </p:sp>
      </p:grpSp>
      <p:sp>
        <p:nvSpPr>
          <p:cNvPr id="20" name="AutoShape 11"/>
          <p:cNvSpPr txBox="1"/>
          <p:nvPr/>
        </p:nvSpPr>
        <p:spPr>
          <a:xfrm>
            <a:off x="513715" y="3594100"/>
            <a:ext cx="1665605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模型分析输出类别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1027" y="3387975"/>
            <a:ext cx="7746365" cy="1413828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285750" indent="-285750" algn="l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实例化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RunnableBranch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设置条件判断 + 默认兜底分支</a:t>
            </a:r>
          </a:p>
          <a:p>
            <a:pPr marL="285750" indent="-285750" algn="l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组装完整链路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coordinator_agent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同时传递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decision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request</a:t>
            </a:r>
          </a:p>
          <a:p>
            <a:pPr marL="285750" indent="-285750" algn="l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实现功能：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RunnableBranch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decision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标签，自动分发原始用户请求到对应处理器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7" y="1549448"/>
            <a:ext cx="7175319" cy="95984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7" y="2524779"/>
            <a:ext cx="7175319" cy="91061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1480" y="275590"/>
            <a:ext cx="7402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LangChain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67005" y="898525"/>
            <a:ext cx="1939925" cy="522605"/>
            <a:chOff x="419658" y="2639720"/>
            <a:chExt cx="1654552" cy="815889"/>
          </a:xfrm>
        </p:grpSpPr>
        <p:sp>
          <p:nvSpPr>
            <p:cNvPr id="15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l">
                <a:defRPr/>
              </a:pPr>
              <a:endParaRPr/>
            </a:p>
          </p:txBody>
        </p:sp>
        <p:sp>
          <p:nvSpPr>
            <p:cNvPr id="1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altLang="zh-CN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 </a:t>
              </a:r>
              <a:r>
                <a:rPr lang="zh-CN" altLang="en-US" sz="1400" b="1" i="0" u="none" strike="noStrike" dirty="0" err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代码运行结果</a:t>
              </a:r>
            </a:p>
          </p:txBody>
        </p:sp>
      </p:grpSp>
      <p:sp>
        <p:nvSpPr>
          <p:cNvPr id="20" name="AutoShape 11"/>
          <p:cNvSpPr txBox="1"/>
          <p:nvPr/>
        </p:nvSpPr>
        <p:spPr>
          <a:xfrm>
            <a:off x="513715" y="3594100"/>
            <a:ext cx="1665605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sz="14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模型分析输出类别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7005" y="3806825"/>
            <a:ext cx="7746365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525905"/>
            <a:ext cx="6528435" cy="24599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8931" y="3985895"/>
            <a:ext cx="7976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LangChain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路由代码利用大模型做语义判断，构建一个协调智能体，最终实现自动把不同类型的用户请求，分发到对应的子智能体处理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411286" y="275533"/>
            <a:ext cx="4065463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 </a:t>
            </a:r>
            <a:r>
              <a:rPr sz="2400" dirty="0" err="1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/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node-user"/>
          <p:cNvSpPr>
            <a:spLocks noGrp="1"/>
          </p:cNvSpPr>
          <p:nvPr/>
        </p:nvSpPr>
        <p:spPr>
          <a:xfrm>
            <a:off x="719136" y="1911833"/>
            <a:ext cx="1333500" cy="704850"/>
          </a:xfrm>
          <a:prstGeom prst="roundRect">
            <a:avLst>
              <a:gd name="adj" fmla="val 16216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9D2E3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975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/>
              <a:t>用户请求</a:t>
            </a:r>
            <a:endParaRPr sz="1400" dirty="0"/>
          </a:p>
        </p:txBody>
      </p:sp>
      <p:sp>
        <p:nvSpPr>
          <p:cNvPr id="20" name="arrow-user"/>
          <p:cNvSpPr>
            <a:spLocks noGrp="1"/>
          </p:cNvSpPr>
          <p:nvPr/>
        </p:nvSpPr>
        <p:spPr>
          <a:xfrm>
            <a:off x="2147886" y="2149958"/>
            <a:ext cx="438150" cy="228600"/>
          </a:xfrm>
          <a:prstGeom prst="rightArrow">
            <a:avLst/>
          </a:prstGeom>
          <a:solidFill>
            <a:srgbClr val="8A98B8"/>
          </a:solidFill>
          <a:ln w="0">
            <a:solidFill>
              <a:srgbClr val="8A98B8"/>
            </a:solidFill>
          </a:ln>
        </p:spPr>
      </p:sp>
      <p:sp>
        <p:nvSpPr>
          <p:cNvPr id="21" name="node-coordinator"/>
          <p:cNvSpPr>
            <a:spLocks noGrp="1"/>
          </p:cNvSpPr>
          <p:nvPr/>
        </p:nvSpPr>
        <p:spPr>
          <a:xfrm>
            <a:off x="2662236" y="1368908"/>
            <a:ext cx="1809750" cy="1790700"/>
          </a:xfrm>
          <a:prstGeom prst="roundRect">
            <a:avLst>
              <a:gd name="adj" fmla="val 638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C9D2E3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125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/>
              <a:t>Coordinator</a:t>
            </a:r>
          </a:p>
          <a:p>
            <a:pPr algn="ctr">
              <a:buNone/>
              <a:defRPr sz="1125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/>
              <a:t>(</a:t>
            </a:r>
            <a:r>
              <a:rPr sz="1400" dirty="0" err="1"/>
              <a:t>LlmAgent</a:t>
            </a:r>
            <a:r>
              <a:rPr sz="1400" dirty="0"/>
              <a:t>)</a:t>
            </a:r>
          </a:p>
          <a:p>
            <a:pPr algn="ctr">
              <a:buNone/>
              <a:defRPr sz="1125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400" dirty="0"/>
          </a:p>
          <a:p>
            <a:pPr algn="ctr">
              <a:buNone/>
              <a:defRPr sz="1125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/>
              <a:t>只做判断与委派</a:t>
            </a:r>
            <a:endParaRPr sz="1400" dirty="0"/>
          </a:p>
        </p:txBody>
      </p:sp>
      <p:sp>
        <p:nvSpPr>
          <p:cNvPr id="22" name="arrow"/>
          <p:cNvSpPr>
            <a:spLocks noGrp="1"/>
          </p:cNvSpPr>
          <p:nvPr/>
        </p:nvSpPr>
        <p:spPr>
          <a:xfrm>
            <a:off x="4529136" y="1426058"/>
            <a:ext cx="533400" cy="228600"/>
          </a:xfrm>
          <a:prstGeom prst="rightArrow">
            <a:avLst/>
          </a:prstGeom>
          <a:solidFill>
            <a:srgbClr val="8A98B8"/>
          </a:solidFill>
          <a:ln w="0">
            <a:solidFill>
              <a:srgbClr val="8A98B8"/>
            </a:solidFill>
          </a:ln>
        </p:spPr>
      </p:sp>
      <p:sp>
        <p:nvSpPr>
          <p:cNvPr id="23" name="arrow"/>
          <p:cNvSpPr>
            <a:spLocks noGrp="1"/>
          </p:cNvSpPr>
          <p:nvPr/>
        </p:nvSpPr>
        <p:spPr>
          <a:xfrm>
            <a:off x="4529136" y="2149958"/>
            <a:ext cx="533400" cy="228600"/>
          </a:xfrm>
          <a:prstGeom prst="rightArrow">
            <a:avLst/>
          </a:prstGeom>
          <a:solidFill>
            <a:srgbClr val="8A98B8"/>
          </a:solidFill>
          <a:ln w="0">
            <a:solidFill>
              <a:srgbClr val="8A98B8"/>
            </a:solidFill>
          </a:ln>
        </p:spPr>
      </p:sp>
      <p:sp>
        <p:nvSpPr>
          <p:cNvPr id="24" name="arrow"/>
          <p:cNvSpPr>
            <a:spLocks noGrp="1"/>
          </p:cNvSpPr>
          <p:nvPr/>
        </p:nvSpPr>
        <p:spPr>
          <a:xfrm>
            <a:off x="4529136" y="2873858"/>
            <a:ext cx="533400" cy="228600"/>
          </a:xfrm>
          <a:prstGeom prst="rightArrow">
            <a:avLst/>
          </a:prstGeom>
          <a:solidFill>
            <a:srgbClr val="8A98B8"/>
          </a:solidFill>
          <a:ln w="0">
            <a:solidFill>
              <a:srgbClr val="8A98B8"/>
            </a:solidFill>
          </a:ln>
        </p:spPr>
      </p:sp>
      <p:sp>
        <p:nvSpPr>
          <p:cNvPr id="25" name="node-booker"/>
          <p:cNvSpPr>
            <a:spLocks noGrp="1"/>
          </p:cNvSpPr>
          <p:nvPr/>
        </p:nvSpPr>
        <p:spPr>
          <a:xfrm>
            <a:off x="5138736" y="1235558"/>
            <a:ext cx="1828800" cy="609600"/>
          </a:xfrm>
          <a:prstGeom prst="roundRect">
            <a:avLst>
              <a:gd name="adj" fmla="val 18750"/>
            </a:avLst>
          </a:prstGeom>
          <a:solidFill>
            <a:srgbClr val="E8ECF5"/>
          </a:solidFill>
          <a:ln w="9525">
            <a:solidFill>
              <a:srgbClr val="C9D2E3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/>
              <a:t>Booker</a:t>
            </a:r>
          </a:p>
          <a:p>
            <a:pPr algn="ctr">
              <a:buNone/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dirty="0" err="1"/>
              <a:t>预订子智能体</a:t>
            </a:r>
            <a:endParaRPr sz="1400" dirty="0"/>
          </a:p>
        </p:txBody>
      </p:sp>
      <p:sp>
        <p:nvSpPr>
          <p:cNvPr id="26" name="node-info"/>
          <p:cNvSpPr>
            <a:spLocks noGrp="1"/>
          </p:cNvSpPr>
          <p:nvPr/>
        </p:nvSpPr>
        <p:spPr>
          <a:xfrm>
            <a:off x="5138736" y="1959458"/>
            <a:ext cx="1828800" cy="609600"/>
          </a:xfrm>
          <a:prstGeom prst="roundRect">
            <a:avLst>
              <a:gd name="adj" fmla="val 18750"/>
            </a:avLst>
          </a:prstGeom>
          <a:solidFill>
            <a:srgbClr val="E8ECF5"/>
          </a:solidFill>
          <a:ln w="9525">
            <a:solidFill>
              <a:srgbClr val="C9D2E3"/>
            </a:solidFill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</a:p>
          <a:p>
            <a:pPr algn="ctr"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 err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信息子智能体</a:t>
            </a:r>
            <a:endParaRPr sz="1400" b="1" dirty="0">
              <a:solidFill>
                <a:srgbClr val="384A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node-clarifier"/>
          <p:cNvSpPr>
            <a:spLocks noGrp="1"/>
          </p:cNvSpPr>
          <p:nvPr/>
        </p:nvSpPr>
        <p:spPr>
          <a:xfrm>
            <a:off x="5138736" y="2683358"/>
            <a:ext cx="1828800" cy="609600"/>
          </a:xfrm>
          <a:prstGeom prst="roundRect">
            <a:avLst>
              <a:gd name="adj" fmla="val 18750"/>
            </a:avLst>
          </a:prstGeom>
          <a:solidFill>
            <a:srgbClr val="E8ECF5"/>
          </a:solidFill>
          <a:ln w="9525">
            <a:solidFill>
              <a:srgbClr val="C9D2E3"/>
            </a:solidFill>
          </a:ln>
        </p:spPr>
        <p:txBody>
          <a:bodyPr anchor="ctr">
            <a:noAutofit/>
          </a:bodyPr>
          <a:lstStyle/>
          <a:p>
            <a:pPr algn="ctr">
              <a:buNone/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Clarifier</a:t>
            </a:r>
          </a:p>
          <a:p>
            <a:pPr algn="ctr">
              <a:buNone/>
              <a:defRPr sz="1050" b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 err="1">
                <a:solidFill>
                  <a:srgbClr val="384A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兜底澄清</a:t>
            </a:r>
            <a:endParaRPr sz="1400" b="1" dirty="0">
              <a:solidFill>
                <a:srgbClr val="384A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abel-tool1"/>
          <p:cNvSpPr>
            <a:spLocks noGrp="1"/>
          </p:cNvSpPr>
          <p:nvPr/>
        </p:nvSpPr>
        <p:spPr>
          <a:xfrm>
            <a:off x="7043736" y="1405894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tools =</a:t>
            </a:r>
          </a:p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8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booking_tool</a:t>
            </a: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</a:p>
        </p:txBody>
      </p:sp>
      <p:sp>
        <p:nvSpPr>
          <p:cNvPr id="29" name="label-tool2"/>
          <p:cNvSpPr>
            <a:spLocks noGrp="1"/>
          </p:cNvSpPr>
          <p:nvPr/>
        </p:nvSpPr>
        <p:spPr>
          <a:xfrm>
            <a:off x="7043736" y="2083283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tools =</a:t>
            </a:r>
          </a:p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8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info_tool</a:t>
            </a: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</a:p>
        </p:txBody>
      </p:sp>
      <p:sp>
        <p:nvSpPr>
          <p:cNvPr id="30" name="label-tool3"/>
          <p:cNvSpPr>
            <a:spLocks noGrp="1"/>
          </p:cNvSpPr>
          <p:nvPr/>
        </p:nvSpPr>
        <p:spPr>
          <a:xfrm>
            <a:off x="7043736" y="283613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tools =</a:t>
            </a:r>
          </a:p>
          <a:p>
            <a:pPr>
              <a:buNone/>
              <a:defRPr sz="825">
                <a:solidFill>
                  <a:srgbClr val="D9E0F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[</a:t>
            </a:r>
            <a:r>
              <a:rPr sz="8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unclear_tool</a:t>
            </a:r>
            <a:r>
              <a:rPr sz="825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1523" y="3791686"/>
            <a:ext cx="7515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1400" dirty="0"/>
              <a:t>Coordinator </a:t>
            </a:r>
            <a:r>
              <a:rPr lang="zh-CN" altLang="en-US" sz="1400" dirty="0"/>
              <a:t>不做具体业务，只负责判断意图、把请求派给对的子智能体</a:t>
            </a:r>
            <a:r>
              <a:rPr lang="en-US" altLang="zh-CN" sz="1400" dirty="0"/>
              <a:t>Agent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411286" y="275533"/>
            <a:ext cx="46897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  <a:endParaRPr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/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3"/>
          <a:srcRect t="9273"/>
          <a:stretch>
            <a:fillRect/>
          </a:stretch>
        </p:blipFill>
        <p:spPr>
          <a:xfrm>
            <a:off x="339440" y="1495975"/>
            <a:ext cx="3886414" cy="3010989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6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1：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定义工具函数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72821" y="898525"/>
            <a:ext cx="3397249" cy="522605"/>
            <a:chOff x="419658" y="2639720"/>
            <a:chExt cx="1654552" cy="815889"/>
          </a:xfrm>
        </p:grpSpPr>
        <p:sp>
          <p:nvSpPr>
            <p:cNvPr id="9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</a:t>
              </a: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工具包装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38376"/>
          <a:stretch>
            <a:fillRect/>
          </a:stretch>
        </p:blipFill>
        <p:spPr>
          <a:xfrm>
            <a:off x="4972821" y="1495975"/>
            <a:ext cx="4070319" cy="53381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411286" y="275533"/>
            <a:ext cx="46897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  <a:endParaRPr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/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6"/>
          <p:cNvPicPr>
            <a:picLocks noChangeAspect="1"/>
          </p:cNvPicPr>
          <p:nvPr/>
        </p:nvPicPr>
        <p:blipFill>
          <a:blip r:embed="rId3"/>
          <a:srcRect t="12576"/>
          <a:stretch>
            <a:fillRect/>
          </a:stretch>
        </p:blipFill>
        <p:spPr>
          <a:xfrm>
            <a:off x="339538" y="1508692"/>
            <a:ext cx="3990800" cy="3378553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7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</a:t>
              </a:r>
              <a:r>
                <a:rPr lang="en-US" altLang="zh-CN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</a:t>
              </a: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：定义子智能体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972821" y="898525"/>
            <a:ext cx="3397249" cy="522605"/>
            <a:chOff x="419658" y="2639720"/>
            <a:chExt cx="1654552" cy="815889"/>
          </a:xfrm>
        </p:grpSpPr>
        <p:sp>
          <p:nvSpPr>
            <p:cNvPr id="13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 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4</a:t>
              </a: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：定义协调器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5" name="图片 6"/>
          <p:cNvPicPr>
            <a:picLocks noChangeAspect="1"/>
          </p:cNvPicPr>
          <p:nvPr/>
        </p:nvPicPr>
        <p:blipFill>
          <a:blip r:embed="rId4"/>
          <a:srcRect t="26129" b="5388"/>
          <a:stretch>
            <a:fillRect/>
          </a:stretch>
        </p:blipFill>
        <p:spPr>
          <a:xfrm>
            <a:off x="5042263" y="1508692"/>
            <a:ext cx="3570590" cy="203609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411286" y="275533"/>
            <a:ext cx="46897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ADK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路由实现</a:t>
            </a:r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代码演示</a:t>
            </a:r>
            <a:endParaRPr sz="2400" dirty="0">
              <a:ln w="3810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: 形状 16"/>
          <p:cNvSpPr>
            <a:spLocks noGrp="1"/>
          </p:cNvSpPr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/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35" y="1507907"/>
            <a:ext cx="3958240" cy="305594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3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5</a:t>
              </a: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：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main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函数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Grp="1"/>
          </p:cNvSpPr>
          <p:nvPr/>
        </p:nvSpPr>
        <p:spPr>
          <a:xfrm>
            <a:off x="411286" y="275533"/>
            <a:ext cx="2358543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400">
                <a:ln w="38100">
                  <a:noFill/>
                </a:ln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运行效果</a:t>
            </a:r>
          </a:p>
        </p:txBody>
      </p:sp>
      <p:sp>
        <p:nvSpPr>
          <p:cNvPr id="20" name="任意多边形: 形状 19"/>
          <p:cNvSpPr>
            <a:spLocks noGrp="1"/>
          </p:cNvSpPr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/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矩形: 圆角 68"/>
          <p:cNvSpPr>
            <a:spLocks noGrp="1"/>
          </p:cNvSpPr>
          <p:nvPr/>
        </p:nvSpPr>
        <p:spPr>
          <a:xfrm>
            <a:off x="350878" y="3448305"/>
            <a:ext cx="2525843" cy="1377695"/>
          </a:xfrm>
          <a:prstGeom prst="roundRect">
            <a:avLst>
              <a:gd name="adj" fmla="val 11691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矩形: 圆角 69"/>
          <p:cNvSpPr>
            <a:spLocks noGrp="1"/>
          </p:cNvSpPr>
          <p:nvPr/>
        </p:nvSpPr>
        <p:spPr>
          <a:xfrm>
            <a:off x="3285202" y="3448305"/>
            <a:ext cx="2525843" cy="1377695"/>
          </a:xfrm>
          <a:prstGeom prst="roundRect">
            <a:avLst>
              <a:gd name="adj" fmla="val 11691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矩形: 圆角 70"/>
          <p:cNvSpPr>
            <a:spLocks noGrp="1"/>
          </p:cNvSpPr>
          <p:nvPr/>
        </p:nvSpPr>
        <p:spPr>
          <a:xfrm>
            <a:off x="6365681" y="3448305"/>
            <a:ext cx="2525843" cy="1377695"/>
          </a:xfrm>
          <a:prstGeom prst="roundRect">
            <a:avLst>
              <a:gd name="adj" fmla="val 11691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文本框 71"/>
          <p:cNvSpPr>
            <a:spLocks noGrp="1"/>
          </p:cNvSpPr>
          <p:nvPr/>
        </p:nvSpPr>
        <p:spPr>
          <a:xfrm>
            <a:off x="437676" y="3963989"/>
            <a:ext cx="2409040" cy="79470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buClr>
                <a:schemeClr val="accent2"/>
              </a:buClr>
              <a:buNone/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「帮我在巴黎订一间酒店」→ 已调用「预订处理器」。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37676" y="3678721"/>
            <a:ext cx="125361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>
                <a:ln w="38100">
                  <a:noFill/>
                </a:ln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Booker</a:t>
            </a:r>
          </a:p>
        </p:txBody>
      </p:sp>
      <p:sp>
        <p:nvSpPr>
          <p:cNvPr id="79" name="文本框 78"/>
          <p:cNvSpPr>
            <a:spLocks noGrp="1"/>
          </p:cNvSpPr>
          <p:nvPr/>
        </p:nvSpPr>
        <p:spPr>
          <a:xfrm>
            <a:off x="3354901" y="3963989"/>
            <a:ext cx="2409040" cy="79470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buClr>
                <a:schemeClr val="accent2"/>
              </a:buClr>
              <a:buNone/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「世界最高的山是哪座」→ 已调用「信息处理器」。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3354901" y="3678721"/>
            <a:ext cx="125361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>
                <a:ln w="38100">
                  <a:noFill/>
                </a:ln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Info</a:t>
            </a:r>
          </a:p>
        </p:txBody>
      </p:sp>
      <p:sp>
        <p:nvSpPr>
          <p:cNvPr id="81" name="文本框 80"/>
          <p:cNvSpPr>
            <a:spLocks noGrp="1"/>
          </p:cNvSpPr>
          <p:nvPr/>
        </p:nvSpPr>
        <p:spPr>
          <a:xfrm>
            <a:off x="6443158" y="3963989"/>
            <a:ext cx="2409040" cy="79470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buClr>
                <a:schemeClr val="accent2"/>
              </a:buClr>
              <a:buNone/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判断不了时交给 Clarifier，请用户澄清。</a:t>
            </a: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443158" y="3678721"/>
            <a:ext cx="125361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600">
                <a:ln w="38100">
                  <a:noFill/>
                </a:ln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</a:rPr>
              <a:t>Clarifier</a:t>
            </a:r>
          </a:p>
        </p:txBody>
      </p:sp>
      <p:pic>
        <p:nvPicPr>
          <p:cNvPr id="99" name="图片 1"/>
          <p:cNvPicPr>
            <a:picLocks noChangeAspect="1"/>
          </p:cNvPicPr>
          <p:nvPr/>
        </p:nvPicPr>
        <p:blipFill>
          <a:blip r:embed="rId3"/>
          <a:srcRect r="4148" b="18185"/>
          <a:stretch>
            <a:fillRect/>
          </a:stretch>
        </p:blipFill>
        <p:spPr>
          <a:xfrm>
            <a:off x="350878" y="1545383"/>
            <a:ext cx="5398855" cy="516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03" r="4689"/>
          <a:stretch>
            <a:fillRect/>
          </a:stretch>
        </p:blipFill>
        <p:spPr>
          <a:xfrm>
            <a:off x="342663" y="2291869"/>
            <a:ext cx="6727301" cy="730208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67005" y="898525"/>
            <a:ext cx="3397249" cy="522605"/>
            <a:chOff x="419658" y="2639720"/>
            <a:chExt cx="1654552" cy="815889"/>
          </a:xfrm>
        </p:grpSpPr>
        <p:sp>
          <p:nvSpPr>
            <p:cNvPr id="6" name="AutoShape 8"/>
            <p:cNvSpPr/>
            <p:nvPr/>
          </p:nvSpPr>
          <p:spPr>
            <a:xfrm>
              <a:off x="419658" y="2639720"/>
              <a:ext cx="1654552" cy="815889"/>
            </a:xfrm>
            <a:prstGeom prst="chevron">
              <a:avLst/>
            </a:prstGeom>
            <a:solidFill>
              <a:srgbClr val="768CB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9"/>
            <p:cNvSpPr txBox="1"/>
            <p:nvPr/>
          </p:nvSpPr>
          <p:spPr>
            <a:xfrm>
              <a:off x="615369" y="2874034"/>
              <a:ext cx="1397000" cy="330200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</a:ln>
          </p:spPr>
          <p:txBody>
            <a:bodyPr vert="horz" wrap="square" lIns="91440" tIns="45720" rIns="91440" bIns="4572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模块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5</a:t>
              </a:r>
              <a:r>
                <a:rPr lang="zh-CN" alt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：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main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函数</a:t>
              </a:r>
              <a:endParaRPr 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78302" y="2054493"/>
            <a:ext cx="40234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总结与提问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11286" y="275533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关键要点总结</a:t>
            </a:r>
          </a:p>
        </p:txBody>
      </p:sp>
      <p:sp>
        <p:nvSpPr>
          <p:cNvPr id="28" name="矩形: 圆角 27"/>
          <p:cNvSpPr/>
          <p:nvPr>
            <p:custDataLst>
              <p:tags r:id="rId1"/>
            </p:custDataLst>
          </p:nvPr>
        </p:nvSpPr>
        <p:spPr>
          <a:xfrm rot="2700000">
            <a:off x="438780" y="1154328"/>
            <a:ext cx="878050" cy="878050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1677969" y="974847"/>
            <a:ext cx="197285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1400" dirty="0">
                <a:ln w="1905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动态决策能力</a:t>
            </a:r>
          </a:p>
          <a:p>
            <a:pPr defTabSz="914400"/>
            <a:endParaRPr lang="zh-CN" altLang="en-US" sz="1400" dirty="0">
              <a:ln w="1905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3"/>
            </p:custDataLst>
          </p:nvPr>
        </p:nvSpPr>
        <p:spPr>
          <a:xfrm>
            <a:off x="1677969" y="1317305"/>
            <a:ext cx="2505521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智能体可根据用户输入动态判断下一步执行路径，突破固定线性流程的限制，适配真实场景的复杂请求</a:t>
            </a:r>
          </a:p>
          <a:p>
            <a:pPr>
              <a:lnSpc>
                <a:spcPct val="150000"/>
              </a:lnSpc>
            </a:pPr>
            <a:endParaRPr lang="zh-CN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 panose="020B0400000000000000" charset="-122"/>
            </a:endParaRPr>
          </a:p>
        </p:txBody>
      </p:sp>
      <p:sp>
        <p:nvSpPr>
          <p:cNvPr id="31" name="矩形: 圆角 30"/>
          <p:cNvSpPr/>
          <p:nvPr>
            <p:custDataLst>
              <p:tags r:id="rId4"/>
            </p:custDataLst>
          </p:nvPr>
        </p:nvSpPr>
        <p:spPr>
          <a:xfrm rot="2700000">
            <a:off x="4975750" y="1124183"/>
            <a:ext cx="878050" cy="878050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5"/>
            </p:custDataLst>
          </p:nvPr>
        </p:nvSpPr>
        <p:spPr>
          <a:xfrm>
            <a:off x="6214939" y="974847"/>
            <a:ext cx="197285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1400" dirty="0">
                <a:ln w="1905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多路径分发</a:t>
            </a:r>
          </a:p>
          <a:p>
            <a:pPr defTabSz="914400"/>
            <a:endParaRPr lang="zh-CN" altLang="en-US" sz="1400" dirty="0">
              <a:ln w="1905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5" name="矩形 44"/>
          <p:cNvSpPr/>
          <p:nvPr>
            <p:custDataLst>
              <p:tags r:id="rId6"/>
            </p:custDataLst>
          </p:nvPr>
        </p:nvSpPr>
        <p:spPr>
          <a:xfrm>
            <a:off x="6214939" y="1317305"/>
            <a:ext cx="2505521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系统可同时对接多个专用子智能体/工具链，不同类型请求走专属处理路径，避免单流程臃肿低效</a:t>
            </a:r>
          </a:p>
          <a:p>
            <a:pPr>
              <a:lnSpc>
                <a:spcPct val="150000"/>
              </a:lnSpc>
            </a:pPr>
            <a:endParaRPr lang="zh-CN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 panose="020B0400000000000000" charset="-122"/>
            </a:endParaRPr>
          </a:p>
        </p:txBody>
      </p:sp>
      <p:sp>
        <p:nvSpPr>
          <p:cNvPr id="46" name="矩形: 圆角 45"/>
          <p:cNvSpPr/>
          <p:nvPr>
            <p:custDataLst>
              <p:tags r:id="rId7"/>
            </p:custDataLst>
          </p:nvPr>
        </p:nvSpPr>
        <p:spPr>
          <a:xfrm rot="2700000">
            <a:off x="438781" y="3083613"/>
            <a:ext cx="878050" cy="878050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8"/>
            </p:custDataLst>
          </p:nvPr>
        </p:nvSpPr>
        <p:spPr>
          <a:xfrm>
            <a:off x="1677970" y="2973142"/>
            <a:ext cx="197285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1400" dirty="0">
                <a:ln w="1905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灵活实现方式</a:t>
            </a:r>
          </a:p>
          <a:p>
            <a:pPr defTabSz="914400"/>
            <a:endParaRPr lang="zh-CN" altLang="en-US" sz="1400" dirty="0">
              <a:ln w="1905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8" name="矩形 47"/>
          <p:cNvSpPr/>
          <p:nvPr>
            <p:custDataLst>
              <p:tags r:id="rId9"/>
            </p:custDataLst>
          </p:nvPr>
        </p:nvSpPr>
        <p:spPr>
          <a:xfrm>
            <a:off x="1677670" y="3350260"/>
            <a:ext cx="272732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简单确定的任务用规则，追求语义理解用LLM，追求速度和成本平衡用Embedding或ML模型。</a:t>
            </a:r>
            <a:endParaRPr lang="zh-CN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 panose="020B04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 panose="020B0400000000000000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10"/>
            </p:custDataLst>
          </p:nvPr>
        </p:nvSpPr>
        <p:spPr>
          <a:xfrm rot="2700000">
            <a:off x="4975751" y="3053468"/>
            <a:ext cx="878050" cy="878050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>
            <p:custDataLst>
              <p:tags r:id="rId11"/>
            </p:custDataLst>
          </p:nvPr>
        </p:nvSpPr>
        <p:spPr>
          <a:xfrm>
            <a:off x="6214940" y="2973142"/>
            <a:ext cx="197285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1400" dirty="0">
                <a:ln w="1905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解耦架构收益</a:t>
            </a:r>
          </a:p>
          <a:p>
            <a:pPr defTabSz="914400"/>
            <a:endParaRPr lang="zh-CN" altLang="en-US" sz="1400" dirty="0">
              <a:ln w="19050">
                <a:noFill/>
              </a:ln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1" name="矩形 50"/>
          <p:cNvSpPr/>
          <p:nvPr>
            <p:custDataLst>
              <p:tags r:id="rId12"/>
            </p:custDataLst>
          </p:nvPr>
        </p:nvSpPr>
        <p:spPr>
          <a:xfrm>
            <a:off x="6214745" y="3350260"/>
            <a:ext cx="266319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</a:pPr>
            <a:r>
              <a:rPr lang="zh-CN" alt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各分支逻辑完全独立，修改单个分支不会影响其他路径，新增业务仅需新增对应处理模块，符合开闭原则</a:t>
            </a:r>
          </a:p>
          <a:p>
            <a:pPr>
              <a:lnSpc>
                <a:spcPct val="150000"/>
              </a:lnSpc>
            </a:pPr>
            <a:endParaRPr lang="zh-CN" altLang="en-US" sz="12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CN Normal" panose="020B0400000000000000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52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5189911" y="3270062"/>
            <a:ext cx="449731" cy="444862"/>
            <a:chOff x="2048" y="797"/>
            <a:chExt cx="1662" cy="1644"/>
          </a:xfrm>
          <a:solidFill>
            <a:schemeClr val="bg1"/>
          </a:solidFill>
        </p:grpSpPr>
        <p:sp>
          <p:nvSpPr>
            <p:cNvPr id="32" name="Freeform 53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2048" y="797"/>
              <a:ext cx="1257" cy="1256"/>
            </a:xfrm>
            <a:custGeom>
              <a:avLst/>
              <a:gdLst>
                <a:gd name="T0" fmla="*/ 264 w 528"/>
                <a:gd name="T1" fmla="*/ 528 h 528"/>
                <a:gd name="T2" fmla="*/ 0 w 528"/>
                <a:gd name="T3" fmla="*/ 264 h 528"/>
                <a:gd name="T4" fmla="*/ 264 w 528"/>
                <a:gd name="T5" fmla="*/ 0 h 528"/>
                <a:gd name="T6" fmla="*/ 528 w 528"/>
                <a:gd name="T7" fmla="*/ 264 h 528"/>
                <a:gd name="T8" fmla="*/ 264 w 528"/>
                <a:gd name="T9" fmla="*/ 528 h 528"/>
                <a:gd name="T10" fmla="*/ 264 w 528"/>
                <a:gd name="T11" fmla="*/ 43 h 528"/>
                <a:gd name="T12" fmla="*/ 43 w 528"/>
                <a:gd name="T13" fmla="*/ 264 h 528"/>
                <a:gd name="T14" fmla="*/ 264 w 528"/>
                <a:gd name="T15" fmla="*/ 485 h 528"/>
                <a:gd name="T16" fmla="*/ 485 w 528"/>
                <a:gd name="T17" fmla="*/ 264 h 528"/>
                <a:gd name="T18" fmla="*/ 264 w 528"/>
                <a:gd name="T19" fmla="*/ 43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8" h="528">
                  <a:moveTo>
                    <a:pt x="264" y="528"/>
                  </a:moveTo>
                  <a:cubicBezTo>
                    <a:pt x="118" y="528"/>
                    <a:pt x="0" y="410"/>
                    <a:pt x="0" y="264"/>
                  </a:cubicBezTo>
                  <a:cubicBezTo>
                    <a:pt x="0" y="118"/>
                    <a:pt x="118" y="0"/>
                    <a:pt x="264" y="0"/>
                  </a:cubicBezTo>
                  <a:cubicBezTo>
                    <a:pt x="410" y="0"/>
                    <a:pt x="528" y="118"/>
                    <a:pt x="528" y="264"/>
                  </a:cubicBezTo>
                  <a:cubicBezTo>
                    <a:pt x="528" y="410"/>
                    <a:pt x="410" y="528"/>
                    <a:pt x="264" y="528"/>
                  </a:cubicBezTo>
                  <a:close/>
                  <a:moveTo>
                    <a:pt x="264" y="43"/>
                  </a:moveTo>
                  <a:cubicBezTo>
                    <a:pt x="142" y="43"/>
                    <a:pt x="43" y="142"/>
                    <a:pt x="43" y="264"/>
                  </a:cubicBezTo>
                  <a:cubicBezTo>
                    <a:pt x="43" y="386"/>
                    <a:pt x="142" y="485"/>
                    <a:pt x="264" y="485"/>
                  </a:cubicBezTo>
                  <a:cubicBezTo>
                    <a:pt x="386" y="485"/>
                    <a:pt x="485" y="386"/>
                    <a:pt x="485" y="264"/>
                  </a:cubicBezTo>
                  <a:cubicBezTo>
                    <a:pt x="485" y="142"/>
                    <a:pt x="386" y="43"/>
                    <a:pt x="26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54"/>
            <p:cNvSpPr/>
            <p:nvPr>
              <p:custDataLst>
                <p:tags r:id="rId35"/>
              </p:custDataLst>
            </p:nvPr>
          </p:nvSpPr>
          <p:spPr bwMode="auto">
            <a:xfrm>
              <a:off x="2277" y="968"/>
              <a:ext cx="426" cy="262"/>
            </a:xfrm>
            <a:custGeom>
              <a:avLst/>
              <a:gdLst>
                <a:gd name="T0" fmla="*/ 12 w 179"/>
                <a:gd name="T1" fmla="*/ 110 h 110"/>
                <a:gd name="T2" fmla="*/ 6 w 179"/>
                <a:gd name="T3" fmla="*/ 109 h 110"/>
                <a:gd name="T4" fmla="*/ 3 w 179"/>
                <a:gd name="T5" fmla="*/ 94 h 110"/>
                <a:gd name="T6" fmla="*/ 168 w 179"/>
                <a:gd name="T7" fmla="*/ 0 h 110"/>
                <a:gd name="T8" fmla="*/ 179 w 179"/>
                <a:gd name="T9" fmla="*/ 11 h 110"/>
                <a:gd name="T10" fmla="*/ 168 w 179"/>
                <a:gd name="T11" fmla="*/ 21 h 110"/>
                <a:gd name="T12" fmla="*/ 21 w 179"/>
                <a:gd name="T13" fmla="*/ 105 h 110"/>
                <a:gd name="T14" fmla="*/ 12 w 179"/>
                <a:gd name="T15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110">
                  <a:moveTo>
                    <a:pt x="12" y="110"/>
                  </a:moveTo>
                  <a:cubicBezTo>
                    <a:pt x="10" y="110"/>
                    <a:pt x="8" y="110"/>
                    <a:pt x="6" y="109"/>
                  </a:cubicBezTo>
                  <a:cubicBezTo>
                    <a:pt x="1" y="106"/>
                    <a:pt x="0" y="99"/>
                    <a:pt x="3" y="94"/>
                  </a:cubicBezTo>
                  <a:cubicBezTo>
                    <a:pt x="37" y="36"/>
                    <a:pt x="101" y="0"/>
                    <a:pt x="168" y="0"/>
                  </a:cubicBezTo>
                  <a:cubicBezTo>
                    <a:pt x="174" y="0"/>
                    <a:pt x="179" y="5"/>
                    <a:pt x="179" y="11"/>
                  </a:cubicBezTo>
                  <a:cubicBezTo>
                    <a:pt x="179" y="16"/>
                    <a:pt x="174" y="21"/>
                    <a:pt x="168" y="21"/>
                  </a:cubicBezTo>
                  <a:cubicBezTo>
                    <a:pt x="108" y="21"/>
                    <a:pt x="52" y="53"/>
                    <a:pt x="21" y="105"/>
                  </a:cubicBezTo>
                  <a:cubicBezTo>
                    <a:pt x="19" y="108"/>
                    <a:pt x="16" y="110"/>
                    <a:pt x="12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55"/>
            <p:cNvSpPr/>
            <p:nvPr>
              <p:custDataLst>
                <p:tags r:id="rId36"/>
              </p:custDataLst>
            </p:nvPr>
          </p:nvSpPr>
          <p:spPr bwMode="auto">
            <a:xfrm>
              <a:off x="2219" y="1299"/>
              <a:ext cx="65" cy="136"/>
            </a:xfrm>
            <a:custGeom>
              <a:avLst/>
              <a:gdLst>
                <a:gd name="T0" fmla="*/ 11 w 27"/>
                <a:gd name="T1" fmla="*/ 57 h 57"/>
                <a:gd name="T2" fmla="*/ 0 w 27"/>
                <a:gd name="T3" fmla="*/ 47 h 57"/>
                <a:gd name="T4" fmla="*/ 5 w 27"/>
                <a:gd name="T5" fmla="*/ 9 h 57"/>
                <a:gd name="T6" fmla="*/ 18 w 27"/>
                <a:gd name="T7" fmla="*/ 1 h 57"/>
                <a:gd name="T8" fmla="*/ 26 w 27"/>
                <a:gd name="T9" fmla="*/ 14 h 57"/>
                <a:gd name="T10" fmla="*/ 21 w 27"/>
                <a:gd name="T11" fmla="*/ 47 h 57"/>
                <a:gd name="T12" fmla="*/ 11 w 27"/>
                <a:gd name="T1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57">
                  <a:moveTo>
                    <a:pt x="11" y="57"/>
                  </a:moveTo>
                  <a:cubicBezTo>
                    <a:pt x="5" y="57"/>
                    <a:pt x="0" y="53"/>
                    <a:pt x="0" y="47"/>
                  </a:cubicBezTo>
                  <a:cubicBezTo>
                    <a:pt x="0" y="31"/>
                    <a:pt x="2" y="23"/>
                    <a:pt x="5" y="9"/>
                  </a:cubicBezTo>
                  <a:cubicBezTo>
                    <a:pt x="6" y="3"/>
                    <a:pt x="12" y="0"/>
                    <a:pt x="18" y="1"/>
                  </a:cubicBezTo>
                  <a:cubicBezTo>
                    <a:pt x="24" y="2"/>
                    <a:pt x="27" y="8"/>
                    <a:pt x="26" y="14"/>
                  </a:cubicBezTo>
                  <a:cubicBezTo>
                    <a:pt x="23" y="27"/>
                    <a:pt x="21" y="34"/>
                    <a:pt x="21" y="47"/>
                  </a:cubicBezTo>
                  <a:cubicBezTo>
                    <a:pt x="21" y="53"/>
                    <a:pt x="17" y="57"/>
                    <a:pt x="11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56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2988" y="1727"/>
              <a:ext cx="722" cy="714"/>
            </a:xfrm>
            <a:custGeom>
              <a:avLst/>
              <a:gdLst>
                <a:gd name="T0" fmla="*/ 238 w 303"/>
                <a:gd name="T1" fmla="*/ 300 h 300"/>
                <a:gd name="T2" fmla="*/ 192 w 303"/>
                <a:gd name="T3" fmla="*/ 281 h 300"/>
                <a:gd name="T4" fmla="*/ 18 w 303"/>
                <a:gd name="T5" fmla="*/ 107 h 300"/>
                <a:gd name="T6" fmla="*/ 6 w 303"/>
                <a:gd name="T7" fmla="*/ 60 h 300"/>
                <a:gd name="T8" fmla="*/ 29 w 303"/>
                <a:gd name="T9" fmla="*/ 26 h 300"/>
                <a:gd name="T10" fmla="*/ 77 w 303"/>
                <a:gd name="T11" fmla="*/ 0 h 300"/>
                <a:gd name="T12" fmla="*/ 110 w 303"/>
                <a:gd name="T13" fmla="*/ 15 h 300"/>
                <a:gd name="T14" fmla="*/ 284 w 303"/>
                <a:gd name="T15" fmla="*/ 189 h 300"/>
                <a:gd name="T16" fmla="*/ 303 w 303"/>
                <a:gd name="T17" fmla="*/ 235 h 300"/>
                <a:gd name="T18" fmla="*/ 284 w 303"/>
                <a:gd name="T19" fmla="*/ 281 h 300"/>
                <a:gd name="T20" fmla="*/ 238 w 303"/>
                <a:gd name="T21" fmla="*/ 300 h 300"/>
                <a:gd name="T22" fmla="*/ 47 w 303"/>
                <a:gd name="T23" fmla="*/ 74 h 300"/>
                <a:gd name="T24" fmla="*/ 49 w 303"/>
                <a:gd name="T25" fmla="*/ 76 h 300"/>
                <a:gd name="T26" fmla="*/ 223 w 303"/>
                <a:gd name="T27" fmla="*/ 250 h 300"/>
                <a:gd name="T28" fmla="*/ 253 w 303"/>
                <a:gd name="T29" fmla="*/ 250 h 300"/>
                <a:gd name="T30" fmla="*/ 260 w 303"/>
                <a:gd name="T31" fmla="*/ 235 h 300"/>
                <a:gd name="T32" fmla="*/ 253 w 303"/>
                <a:gd name="T33" fmla="*/ 220 h 300"/>
                <a:gd name="T34" fmla="*/ 79 w 303"/>
                <a:gd name="T35" fmla="*/ 46 h 300"/>
                <a:gd name="T36" fmla="*/ 77 w 303"/>
                <a:gd name="T37" fmla="*/ 44 h 300"/>
                <a:gd name="T38" fmla="*/ 60 w 303"/>
                <a:gd name="T39" fmla="*/ 56 h 300"/>
                <a:gd name="T40" fmla="*/ 47 w 303"/>
                <a:gd name="T41" fmla="*/ 74 h 300"/>
                <a:gd name="T42" fmla="*/ 47 w 303"/>
                <a:gd name="T43" fmla="*/ 74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3" h="300">
                  <a:moveTo>
                    <a:pt x="238" y="300"/>
                  </a:moveTo>
                  <a:cubicBezTo>
                    <a:pt x="221" y="300"/>
                    <a:pt x="205" y="293"/>
                    <a:pt x="192" y="281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5" y="93"/>
                    <a:pt x="0" y="77"/>
                    <a:pt x="6" y="60"/>
                  </a:cubicBezTo>
                  <a:cubicBezTo>
                    <a:pt x="10" y="46"/>
                    <a:pt x="21" y="34"/>
                    <a:pt x="29" y="26"/>
                  </a:cubicBezTo>
                  <a:cubicBezTo>
                    <a:pt x="42" y="13"/>
                    <a:pt x="57" y="0"/>
                    <a:pt x="77" y="0"/>
                  </a:cubicBezTo>
                  <a:cubicBezTo>
                    <a:pt x="85" y="0"/>
                    <a:pt x="98" y="3"/>
                    <a:pt x="110" y="15"/>
                  </a:cubicBezTo>
                  <a:cubicBezTo>
                    <a:pt x="284" y="189"/>
                    <a:pt x="284" y="189"/>
                    <a:pt x="284" y="189"/>
                  </a:cubicBezTo>
                  <a:cubicBezTo>
                    <a:pt x="296" y="201"/>
                    <a:pt x="303" y="218"/>
                    <a:pt x="303" y="235"/>
                  </a:cubicBezTo>
                  <a:cubicBezTo>
                    <a:pt x="303" y="252"/>
                    <a:pt x="296" y="269"/>
                    <a:pt x="284" y="281"/>
                  </a:cubicBezTo>
                  <a:cubicBezTo>
                    <a:pt x="272" y="293"/>
                    <a:pt x="255" y="300"/>
                    <a:pt x="238" y="300"/>
                  </a:cubicBezTo>
                  <a:close/>
                  <a:moveTo>
                    <a:pt x="47" y="74"/>
                  </a:moveTo>
                  <a:cubicBezTo>
                    <a:pt x="47" y="74"/>
                    <a:pt x="47" y="75"/>
                    <a:pt x="49" y="76"/>
                  </a:cubicBezTo>
                  <a:cubicBezTo>
                    <a:pt x="223" y="250"/>
                    <a:pt x="223" y="250"/>
                    <a:pt x="223" y="250"/>
                  </a:cubicBezTo>
                  <a:cubicBezTo>
                    <a:pt x="231" y="258"/>
                    <a:pt x="245" y="258"/>
                    <a:pt x="253" y="250"/>
                  </a:cubicBezTo>
                  <a:cubicBezTo>
                    <a:pt x="257" y="246"/>
                    <a:pt x="260" y="241"/>
                    <a:pt x="260" y="235"/>
                  </a:cubicBezTo>
                  <a:cubicBezTo>
                    <a:pt x="260" y="229"/>
                    <a:pt x="257" y="224"/>
                    <a:pt x="253" y="220"/>
                  </a:cubicBezTo>
                  <a:cubicBezTo>
                    <a:pt x="79" y="46"/>
                    <a:pt x="79" y="46"/>
                    <a:pt x="79" y="46"/>
                  </a:cubicBezTo>
                  <a:cubicBezTo>
                    <a:pt x="78" y="44"/>
                    <a:pt x="77" y="44"/>
                    <a:pt x="77" y="44"/>
                  </a:cubicBezTo>
                  <a:cubicBezTo>
                    <a:pt x="76" y="44"/>
                    <a:pt x="72" y="44"/>
                    <a:pt x="60" y="56"/>
                  </a:cubicBezTo>
                  <a:cubicBezTo>
                    <a:pt x="47" y="69"/>
                    <a:pt x="47" y="73"/>
                    <a:pt x="47" y="74"/>
                  </a:cubicBezTo>
                  <a:cubicBezTo>
                    <a:pt x="47" y="74"/>
                    <a:pt x="47" y="74"/>
                    <a:pt x="47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Group 59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662734" y="3308588"/>
            <a:ext cx="430145" cy="428100"/>
            <a:chOff x="2039" y="775"/>
            <a:chExt cx="1683" cy="1675"/>
          </a:xfrm>
          <a:solidFill>
            <a:schemeClr val="bg1"/>
          </a:solidFill>
        </p:grpSpPr>
        <p:sp>
          <p:nvSpPr>
            <p:cNvPr id="37" name="Freeform 60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2039" y="775"/>
              <a:ext cx="1683" cy="1675"/>
            </a:xfrm>
            <a:custGeom>
              <a:avLst/>
              <a:gdLst>
                <a:gd name="T0" fmla="*/ 485 w 707"/>
                <a:gd name="T1" fmla="*/ 704 h 704"/>
                <a:gd name="T2" fmla="*/ 419 w 707"/>
                <a:gd name="T3" fmla="*/ 672 h 704"/>
                <a:gd name="T4" fmla="*/ 37 w 707"/>
                <a:gd name="T5" fmla="*/ 290 h 704"/>
                <a:gd name="T6" fmla="*/ 7 w 707"/>
                <a:gd name="T7" fmla="*/ 206 h 704"/>
                <a:gd name="T8" fmla="*/ 74 w 707"/>
                <a:gd name="T9" fmla="*/ 149 h 704"/>
                <a:gd name="T10" fmla="*/ 595 w 707"/>
                <a:gd name="T11" fmla="*/ 10 h 704"/>
                <a:gd name="T12" fmla="*/ 688 w 707"/>
                <a:gd name="T13" fmla="*/ 33 h 704"/>
                <a:gd name="T14" fmla="*/ 699 w 707"/>
                <a:gd name="T15" fmla="*/ 114 h 704"/>
                <a:gd name="T16" fmla="*/ 560 w 707"/>
                <a:gd name="T17" fmla="*/ 635 h 704"/>
                <a:gd name="T18" fmla="*/ 485 w 707"/>
                <a:gd name="T19" fmla="*/ 704 h 704"/>
                <a:gd name="T20" fmla="*/ 627 w 707"/>
                <a:gd name="T21" fmla="*/ 49 h 704"/>
                <a:gd name="T22" fmla="*/ 606 w 707"/>
                <a:gd name="T23" fmla="*/ 52 h 704"/>
                <a:gd name="T24" fmla="*/ 85 w 707"/>
                <a:gd name="T25" fmla="*/ 191 h 704"/>
                <a:gd name="T26" fmla="*/ 49 w 707"/>
                <a:gd name="T27" fmla="*/ 218 h 704"/>
                <a:gd name="T28" fmla="*/ 68 w 707"/>
                <a:gd name="T29" fmla="*/ 259 h 704"/>
                <a:gd name="T30" fmla="*/ 449 w 707"/>
                <a:gd name="T31" fmla="*/ 641 h 704"/>
                <a:gd name="T32" fmla="*/ 485 w 707"/>
                <a:gd name="T33" fmla="*/ 660 h 704"/>
                <a:gd name="T34" fmla="*/ 517 w 707"/>
                <a:gd name="T35" fmla="*/ 623 h 704"/>
                <a:gd name="T36" fmla="*/ 656 w 707"/>
                <a:gd name="T37" fmla="*/ 103 h 704"/>
                <a:gd name="T38" fmla="*/ 653 w 707"/>
                <a:gd name="T39" fmla="*/ 60 h 704"/>
                <a:gd name="T40" fmla="*/ 627 w 707"/>
                <a:gd name="T41" fmla="*/ 4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7" h="704">
                  <a:moveTo>
                    <a:pt x="485" y="704"/>
                  </a:moveTo>
                  <a:cubicBezTo>
                    <a:pt x="462" y="704"/>
                    <a:pt x="439" y="693"/>
                    <a:pt x="419" y="672"/>
                  </a:cubicBezTo>
                  <a:cubicBezTo>
                    <a:pt x="37" y="290"/>
                    <a:pt x="37" y="290"/>
                    <a:pt x="37" y="290"/>
                  </a:cubicBezTo>
                  <a:cubicBezTo>
                    <a:pt x="10" y="264"/>
                    <a:pt x="0" y="234"/>
                    <a:pt x="7" y="206"/>
                  </a:cubicBezTo>
                  <a:cubicBezTo>
                    <a:pt x="15" y="179"/>
                    <a:pt x="38" y="159"/>
                    <a:pt x="74" y="149"/>
                  </a:cubicBezTo>
                  <a:cubicBezTo>
                    <a:pt x="595" y="10"/>
                    <a:pt x="595" y="10"/>
                    <a:pt x="595" y="10"/>
                  </a:cubicBezTo>
                  <a:cubicBezTo>
                    <a:pt x="634" y="0"/>
                    <a:pt x="669" y="8"/>
                    <a:pt x="688" y="33"/>
                  </a:cubicBezTo>
                  <a:cubicBezTo>
                    <a:pt x="703" y="54"/>
                    <a:pt x="707" y="82"/>
                    <a:pt x="699" y="114"/>
                  </a:cubicBezTo>
                  <a:cubicBezTo>
                    <a:pt x="560" y="635"/>
                    <a:pt x="560" y="635"/>
                    <a:pt x="560" y="635"/>
                  </a:cubicBezTo>
                  <a:cubicBezTo>
                    <a:pt x="548" y="678"/>
                    <a:pt x="520" y="704"/>
                    <a:pt x="485" y="704"/>
                  </a:cubicBezTo>
                  <a:close/>
                  <a:moveTo>
                    <a:pt x="627" y="49"/>
                  </a:moveTo>
                  <a:cubicBezTo>
                    <a:pt x="620" y="49"/>
                    <a:pt x="613" y="50"/>
                    <a:pt x="606" y="52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66" y="197"/>
                    <a:pt x="53" y="206"/>
                    <a:pt x="49" y="218"/>
                  </a:cubicBezTo>
                  <a:cubicBezTo>
                    <a:pt x="46" y="229"/>
                    <a:pt x="53" y="245"/>
                    <a:pt x="68" y="259"/>
                  </a:cubicBezTo>
                  <a:cubicBezTo>
                    <a:pt x="449" y="641"/>
                    <a:pt x="449" y="641"/>
                    <a:pt x="449" y="641"/>
                  </a:cubicBezTo>
                  <a:cubicBezTo>
                    <a:pt x="462" y="653"/>
                    <a:pt x="474" y="660"/>
                    <a:pt x="485" y="660"/>
                  </a:cubicBezTo>
                  <a:cubicBezTo>
                    <a:pt x="505" y="660"/>
                    <a:pt x="515" y="634"/>
                    <a:pt x="517" y="623"/>
                  </a:cubicBezTo>
                  <a:cubicBezTo>
                    <a:pt x="656" y="103"/>
                    <a:pt x="656" y="103"/>
                    <a:pt x="656" y="103"/>
                  </a:cubicBezTo>
                  <a:cubicBezTo>
                    <a:pt x="661" y="84"/>
                    <a:pt x="660" y="69"/>
                    <a:pt x="653" y="60"/>
                  </a:cubicBezTo>
                  <a:cubicBezTo>
                    <a:pt x="646" y="51"/>
                    <a:pt x="635" y="49"/>
                    <a:pt x="627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61"/>
            <p:cNvSpPr/>
            <p:nvPr>
              <p:custDataLst>
                <p:tags r:id="rId31"/>
              </p:custDataLst>
            </p:nvPr>
          </p:nvSpPr>
          <p:spPr bwMode="auto">
            <a:xfrm>
              <a:off x="3265" y="1815"/>
              <a:ext cx="59" cy="64"/>
            </a:xfrm>
            <a:custGeom>
              <a:avLst/>
              <a:gdLst>
                <a:gd name="T0" fmla="*/ 12 w 25"/>
                <a:gd name="T1" fmla="*/ 27 h 27"/>
                <a:gd name="T2" fmla="*/ 10 w 25"/>
                <a:gd name="T3" fmla="*/ 27 h 27"/>
                <a:gd name="T4" fmla="*/ 2 w 25"/>
                <a:gd name="T5" fmla="*/ 14 h 27"/>
                <a:gd name="T6" fmla="*/ 3 w 25"/>
                <a:gd name="T7" fmla="*/ 9 h 27"/>
                <a:gd name="T8" fmla="*/ 16 w 25"/>
                <a:gd name="T9" fmla="*/ 1 h 27"/>
                <a:gd name="T10" fmla="*/ 24 w 25"/>
                <a:gd name="T11" fmla="*/ 15 h 27"/>
                <a:gd name="T12" fmla="*/ 23 w 25"/>
                <a:gd name="T13" fmla="*/ 19 h 27"/>
                <a:gd name="T14" fmla="*/ 12 w 25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27">
                  <a:moveTo>
                    <a:pt x="12" y="27"/>
                  </a:moveTo>
                  <a:cubicBezTo>
                    <a:pt x="11" y="27"/>
                    <a:pt x="10" y="27"/>
                    <a:pt x="10" y="27"/>
                  </a:cubicBezTo>
                  <a:cubicBezTo>
                    <a:pt x="4" y="25"/>
                    <a:pt x="0" y="19"/>
                    <a:pt x="2" y="1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3"/>
                    <a:pt x="10" y="0"/>
                    <a:pt x="16" y="1"/>
                  </a:cubicBezTo>
                  <a:cubicBezTo>
                    <a:pt x="22" y="3"/>
                    <a:pt x="25" y="9"/>
                    <a:pt x="24" y="1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4"/>
                    <a:pt x="17" y="27"/>
                    <a:pt x="12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62"/>
            <p:cNvSpPr/>
            <p:nvPr>
              <p:custDataLst>
                <p:tags r:id="rId32"/>
              </p:custDataLst>
            </p:nvPr>
          </p:nvSpPr>
          <p:spPr bwMode="auto">
            <a:xfrm>
              <a:off x="3193" y="1891"/>
              <a:ext cx="112" cy="267"/>
            </a:xfrm>
            <a:custGeom>
              <a:avLst/>
              <a:gdLst>
                <a:gd name="T0" fmla="*/ 12 w 47"/>
                <a:gd name="T1" fmla="*/ 112 h 112"/>
                <a:gd name="T2" fmla="*/ 9 w 47"/>
                <a:gd name="T3" fmla="*/ 112 h 112"/>
                <a:gd name="T4" fmla="*/ 1 w 47"/>
                <a:gd name="T5" fmla="*/ 99 h 112"/>
                <a:gd name="T6" fmla="*/ 25 w 47"/>
                <a:gd name="T7" fmla="*/ 9 h 112"/>
                <a:gd name="T8" fmla="*/ 38 w 47"/>
                <a:gd name="T9" fmla="*/ 1 h 112"/>
                <a:gd name="T10" fmla="*/ 46 w 47"/>
                <a:gd name="T11" fmla="*/ 14 h 112"/>
                <a:gd name="T12" fmla="*/ 22 w 47"/>
                <a:gd name="T13" fmla="*/ 104 h 112"/>
                <a:gd name="T14" fmla="*/ 12 w 47"/>
                <a:gd name="T1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112">
                  <a:moveTo>
                    <a:pt x="12" y="112"/>
                  </a:moveTo>
                  <a:cubicBezTo>
                    <a:pt x="11" y="112"/>
                    <a:pt x="10" y="112"/>
                    <a:pt x="9" y="112"/>
                  </a:cubicBezTo>
                  <a:cubicBezTo>
                    <a:pt x="3" y="110"/>
                    <a:pt x="0" y="104"/>
                    <a:pt x="1" y="9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3"/>
                    <a:pt x="32" y="0"/>
                    <a:pt x="38" y="1"/>
                  </a:cubicBezTo>
                  <a:cubicBezTo>
                    <a:pt x="44" y="3"/>
                    <a:pt x="47" y="9"/>
                    <a:pt x="46" y="1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21" y="109"/>
                    <a:pt x="17" y="112"/>
                    <a:pt x="12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63"/>
            <p:cNvSpPr/>
            <p:nvPr>
              <p:custDataLst>
                <p:tags r:id="rId33"/>
              </p:custDataLst>
            </p:nvPr>
          </p:nvSpPr>
          <p:spPr bwMode="auto">
            <a:xfrm>
              <a:off x="2569" y="1487"/>
              <a:ext cx="462" cy="457"/>
            </a:xfrm>
            <a:custGeom>
              <a:avLst/>
              <a:gdLst>
                <a:gd name="T0" fmla="*/ 24 w 194"/>
                <a:gd name="T1" fmla="*/ 192 h 192"/>
                <a:gd name="T2" fmla="*/ 8 w 194"/>
                <a:gd name="T3" fmla="*/ 186 h 192"/>
                <a:gd name="T4" fmla="*/ 8 w 194"/>
                <a:gd name="T5" fmla="*/ 155 h 192"/>
                <a:gd name="T6" fmla="*/ 155 w 194"/>
                <a:gd name="T7" fmla="*/ 8 h 192"/>
                <a:gd name="T8" fmla="*/ 186 w 194"/>
                <a:gd name="T9" fmla="*/ 8 h 192"/>
                <a:gd name="T10" fmla="*/ 186 w 194"/>
                <a:gd name="T11" fmla="*/ 39 h 192"/>
                <a:gd name="T12" fmla="*/ 39 w 194"/>
                <a:gd name="T13" fmla="*/ 186 h 192"/>
                <a:gd name="T14" fmla="*/ 24 w 194"/>
                <a:gd name="T1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4" h="192">
                  <a:moveTo>
                    <a:pt x="24" y="192"/>
                  </a:moveTo>
                  <a:cubicBezTo>
                    <a:pt x="18" y="192"/>
                    <a:pt x="13" y="190"/>
                    <a:pt x="8" y="186"/>
                  </a:cubicBezTo>
                  <a:cubicBezTo>
                    <a:pt x="0" y="177"/>
                    <a:pt x="0" y="163"/>
                    <a:pt x="8" y="155"/>
                  </a:cubicBezTo>
                  <a:cubicBezTo>
                    <a:pt x="155" y="8"/>
                    <a:pt x="155" y="8"/>
                    <a:pt x="155" y="8"/>
                  </a:cubicBezTo>
                  <a:cubicBezTo>
                    <a:pt x="164" y="0"/>
                    <a:pt x="177" y="0"/>
                    <a:pt x="186" y="8"/>
                  </a:cubicBezTo>
                  <a:cubicBezTo>
                    <a:pt x="194" y="17"/>
                    <a:pt x="194" y="31"/>
                    <a:pt x="186" y="39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5" y="190"/>
                    <a:pt x="29" y="192"/>
                    <a:pt x="24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Group 66" descr="e7d195523061f1c09e9d68d7cf438b91ef959ecb14fc25d26BBA7F7DBC18E55DFF4014AF651F0BF2569D4B6C1DA7F1A4683A481403BD872FC687266AD13265C1DE7C373772FD8728ABDD69ADD03BFF5BE2862BC891DBB79E58D088E34357A3F345A9534864FDC11340AE3B71A34A7A1F7BD2127AAE3642502E0D4AD8564642CBC6FC46C984D10741322C9CACD20D41DC"/>
          <p:cNvGrpSpPr>
            <a:grpSpLocks noChangeAspect="1"/>
          </p:cNvGrpSpPr>
          <p:nvPr>
            <p:custDataLst>
              <p:tags r:id="rId15"/>
            </p:custDataLst>
          </p:nvPr>
        </p:nvGrpSpPr>
        <p:grpSpPr>
          <a:xfrm>
            <a:off x="5190128" y="1339234"/>
            <a:ext cx="449295" cy="447948"/>
            <a:chOff x="2043" y="790"/>
            <a:chExt cx="1667" cy="1662"/>
          </a:xfrm>
          <a:solidFill>
            <a:schemeClr val="bg1"/>
          </a:solidFill>
        </p:grpSpPr>
        <p:sp>
          <p:nvSpPr>
            <p:cNvPr id="42" name="Freeform 67"/>
            <p:cNvSpPr/>
            <p:nvPr>
              <p:custDataLst>
                <p:tags r:id="rId25"/>
              </p:custDataLst>
            </p:nvPr>
          </p:nvSpPr>
          <p:spPr bwMode="auto">
            <a:xfrm>
              <a:off x="2043" y="790"/>
              <a:ext cx="1667" cy="1662"/>
            </a:xfrm>
            <a:custGeom>
              <a:avLst/>
              <a:gdLst>
                <a:gd name="T0" fmla="*/ 199 w 701"/>
                <a:gd name="T1" fmla="*/ 698 h 698"/>
                <a:gd name="T2" fmla="*/ 185 w 701"/>
                <a:gd name="T3" fmla="*/ 693 h 698"/>
                <a:gd name="T4" fmla="*/ 179 w 701"/>
                <a:gd name="T5" fmla="*/ 668 h 698"/>
                <a:gd name="T6" fmla="*/ 204 w 701"/>
                <a:gd name="T7" fmla="*/ 609 h 698"/>
                <a:gd name="T8" fmla="*/ 212 w 701"/>
                <a:gd name="T9" fmla="*/ 585 h 698"/>
                <a:gd name="T10" fmla="*/ 215 w 701"/>
                <a:gd name="T11" fmla="*/ 558 h 698"/>
                <a:gd name="T12" fmla="*/ 245 w 701"/>
                <a:gd name="T13" fmla="*/ 558 h 698"/>
                <a:gd name="T14" fmla="*/ 244 w 701"/>
                <a:gd name="T15" fmla="*/ 627 h 698"/>
                <a:gd name="T16" fmla="*/ 243 w 701"/>
                <a:gd name="T17" fmla="*/ 628 h 698"/>
                <a:gd name="T18" fmla="*/ 341 w 701"/>
                <a:gd name="T19" fmla="*/ 574 h 698"/>
                <a:gd name="T20" fmla="*/ 352 w 701"/>
                <a:gd name="T21" fmla="*/ 571 h 698"/>
                <a:gd name="T22" fmla="*/ 657 w 701"/>
                <a:gd name="T23" fmla="*/ 302 h 698"/>
                <a:gd name="T24" fmla="*/ 352 w 701"/>
                <a:gd name="T25" fmla="*/ 44 h 698"/>
                <a:gd name="T26" fmla="*/ 46 w 701"/>
                <a:gd name="T27" fmla="*/ 303 h 698"/>
                <a:gd name="T28" fmla="*/ 160 w 701"/>
                <a:gd name="T29" fmla="*/ 512 h 698"/>
                <a:gd name="T30" fmla="*/ 166 w 701"/>
                <a:gd name="T31" fmla="*/ 542 h 698"/>
                <a:gd name="T32" fmla="*/ 135 w 701"/>
                <a:gd name="T33" fmla="*/ 547 h 698"/>
                <a:gd name="T34" fmla="*/ 3 w 701"/>
                <a:gd name="T35" fmla="*/ 301 h 698"/>
                <a:gd name="T36" fmla="*/ 352 w 701"/>
                <a:gd name="T37" fmla="*/ 0 h 698"/>
                <a:gd name="T38" fmla="*/ 701 w 701"/>
                <a:gd name="T39" fmla="*/ 302 h 698"/>
                <a:gd name="T40" fmla="*/ 358 w 701"/>
                <a:gd name="T41" fmla="*/ 615 h 698"/>
                <a:gd name="T42" fmla="*/ 210 w 701"/>
                <a:gd name="T43" fmla="*/ 696 h 698"/>
                <a:gd name="T44" fmla="*/ 199 w 701"/>
                <a:gd name="T45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1" h="698">
                  <a:moveTo>
                    <a:pt x="199" y="698"/>
                  </a:moveTo>
                  <a:cubicBezTo>
                    <a:pt x="194" y="698"/>
                    <a:pt x="189" y="696"/>
                    <a:pt x="185" y="693"/>
                  </a:cubicBezTo>
                  <a:cubicBezTo>
                    <a:pt x="178" y="687"/>
                    <a:pt x="176" y="677"/>
                    <a:pt x="179" y="668"/>
                  </a:cubicBezTo>
                  <a:cubicBezTo>
                    <a:pt x="204" y="609"/>
                    <a:pt x="204" y="609"/>
                    <a:pt x="204" y="609"/>
                  </a:cubicBezTo>
                  <a:cubicBezTo>
                    <a:pt x="208" y="600"/>
                    <a:pt x="211" y="589"/>
                    <a:pt x="212" y="585"/>
                  </a:cubicBezTo>
                  <a:cubicBezTo>
                    <a:pt x="206" y="576"/>
                    <a:pt x="207" y="565"/>
                    <a:pt x="215" y="558"/>
                  </a:cubicBezTo>
                  <a:cubicBezTo>
                    <a:pt x="223" y="549"/>
                    <a:pt x="237" y="549"/>
                    <a:pt x="245" y="558"/>
                  </a:cubicBezTo>
                  <a:cubicBezTo>
                    <a:pt x="264" y="576"/>
                    <a:pt x="252" y="609"/>
                    <a:pt x="244" y="627"/>
                  </a:cubicBezTo>
                  <a:cubicBezTo>
                    <a:pt x="243" y="628"/>
                    <a:pt x="243" y="628"/>
                    <a:pt x="243" y="628"/>
                  </a:cubicBezTo>
                  <a:cubicBezTo>
                    <a:pt x="341" y="574"/>
                    <a:pt x="341" y="574"/>
                    <a:pt x="341" y="574"/>
                  </a:cubicBezTo>
                  <a:cubicBezTo>
                    <a:pt x="345" y="572"/>
                    <a:pt x="348" y="571"/>
                    <a:pt x="352" y="571"/>
                  </a:cubicBezTo>
                  <a:cubicBezTo>
                    <a:pt x="520" y="571"/>
                    <a:pt x="657" y="451"/>
                    <a:pt x="657" y="302"/>
                  </a:cubicBezTo>
                  <a:cubicBezTo>
                    <a:pt x="657" y="164"/>
                    <a:pt x="515" y="44"/>
                    <a:pt x="352" y="44"/>
                  </a:cubicBezTo>
                  <a:cubicBezTo>
                    <a:pt x="190" y="44"/>
                    <a:pt x="51" y="162"/>
                    <a:pt x="46" y="303"/>
                  </a:cubicBezTo>
                  <a:cubicBezTo>
                    <a:pt x="44" y="383"/>
                    <a:pt x="86" y="459"/>
                    <a:pt x="160" y="512"/>
                  </a:cubicBezTo>
                  <a:cubicBezTo>
                    <a:pt x="170" y="519"/>
                    <a:pt x="173" y="532"/>
                    <a:pt x="166" y="542"/>
                  </a:cubicBezTo>
                  <a:cubicBezTo>
                    <a:pt x="159" y="552"/>
                    <a:pt x="145" y="554"/>
                    <a:pt x="135" y="547"/>
                  </a:cubicBezTo>
                  <a:cubicBezTo>
                    <a:pt x="48" y="486"/>
                    <a:pt x="0" y="396"/>
                    <a:pt x="3" y="301"/>
                  </a:cubicBezTo>
                  <a:cubicBezTo>
                    <a:pt x="8" y="138"/>
                    <a:pt x="168" y="0"/>
                    <a:pt x="352" y="0"/>
                  </a:cubicBezTo>
                  <a:cubicBezTo>
                    <a:pt x="541" y="0"/>
                    <a:pt x="701" y="139"/>
                    <a:pt x="701" y="302"/>
                  </a:cubicBezTo>
                  <a:cubicBezTo>
                    <a:pt x="701" y="473"/>
                    <a:pt x="547" y="612"/>
                    <a:pt x="358" y="615"/>
                  </a:cubicBezTo>
                  <a:cubicBezTo>
                    <a:pt x="210" y="696"/>
                    <a:pt x="210" y="696"/>
                    <a:pt x="210" y="696"/>
                  </a:cubicBezTo>
                  <a:cubicBezTo>
                    <a:pt x="206" y="697"/>
                    <a:pt x="203" y="698"/>
                    <a:pt x="199" y="6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68"/>
            <p:cNvSpPr/>
            <p:nvPr>
              <p:custDataLst>
                <p:tags r:id="rId26"/>
              </p:custDataLst>
            </p:nvPr>
          </p:nvSpPr>
          <p:spPr bwMode="auto">
            <a:xfrm>
              <a:off x="2521" y="1364"/>
              <a:ext cx="516" cy="50"/>
            </a:xfrm>
            <a:custGeom>
              <a:avLst/>
              <a:gdLst>
                <a:gd name="T0" fmla="*/ 206 w 217"/>
                <a:gd name="T1" fmla="*/ 21 h 21"/>
                <a:gd name="T2" fmla="*/ 11 w 217"/>
                <a:gd name="T3" fmla="*/ 21 h 21"/>
                <a:gd name="T4" fmla="*/ 0 w 217"/>
                <a:gd name="T5" fmla="*/ 10 h 21"/>
                <a:gd name="T6" fmla="*/ 11 w 217"/>
                <a:gd name="T7" fmla="*/ 0 h 21"/>
                <a:gd name="T8" fmla="*/ 206 w 217"/>
                <a:gd name="T9" fmla="*/ 0 h 21"/>
                <a:gd name="T10" fmla="*/ 217 w 217"/>
                <a:gd name="T11" fmla="*/ 10 h 21"/>
                <a:gd name="T12" fmla="*/ 206 w 217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6" h="21">
                  <a:moveTo>
                    <a:pt x="206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5" y="21"/>
                    <a:pt x="0" y="16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12" y="0"/>
                    <a:pt x="217" y="4"/>
                    <a:pt x="217" y="10"/>
                  </a:cubicBezTo>
                  <a:cubicBezTo>
                    <a:pt x="217" y="16"/>
                    <a:pt x="212" y="21"/>
                    <a:pt x="206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69"/>
            <p:cNvSpPr/>
            <p:nvPr>
              <p:custDataLst>
                <p:tags r:id="rId27"/>
              </p:custDataLst>
            </p:nvPr>
          </p:nvSpPr>
          <p:spPr bwMode="auto">
            <a:xfrm>
              <a:off x="3116" y="1364"/>
              <a:ext cx="128" cy="50"/>
            </a:xfrm>
            <a:custGeom>
              <a:avLst/>
              <a:gdLst>
                <a:gd name="T0" fmla="*/ 43 w 54"/>
                <a:gd name="T1" fmla="*/ 21 h 21"/>
                <a:gd name="T2" fmla="*/ 10 w 54"/>
                <a:gd name="T3" fmla="*/ 21 h 21"/>
                <a:gd name="T4" fmla="*/ 0 w 54"/>
                <a:gd name="T5" fmla="*/ 10 h 21"/>
                <a:gd name="T6" fmla="*/ 10 w 54"/>
                <a:gd name="T7" fmla="*/ 0 h 21"/>
                <a:gd name="T8" fmla="*/ 43 w 54"/>
                <a:gd name="T9" fmla="*/ 0 h 21"/>
                <a:gd name="T10" fmla="*/ 54 w 54"/>
                <a:gd name="T11" fmla="*/ 10 h 21"/>
                <a:gd name="T12" fmla="*/ 43 w 54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1">
                  <a:moveTo>
                    <a:pt x="43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4" y="21"/>
                    <a:pt x="0" y="16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9" y="0"/>
                    <a:pt x="54" y="4"/>
                    <a:pt x="54" y="10"/>
                  </a:cubicBezTo>
                  <a:cubicBezTo>
                    <a:pt x="54" y="16"/>
                    <a:pt x="49" y="21"/>
                    <a:pt x="43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70"/>
            <p:cNvSpPr/>
            <p:nvPr>
              <p:custDataLst>
                <p:tags r:id="rId28"/>
              </p:custDataLst>
            </p:nvPr>
          </p:nvSpPr>
          <p:spPr bwMode="auto">
            <a:xfrm>
              <a:off x="2547" y="1621"/>
              <a:ext cx="335" cy="53"/>
            </a:xfrm>
            <a:custGeom>
              <a:avLst/>
              <a:gdLst>
                <a:gd name="T0" fmla="*/ 130 w 141"/>
                <a:gd name="T1" fmla="*/ 22 h 22"/>
                <a:gd name="T2" fmla="*/ 11 w 141"/>
                <a:gd name="T3" fmla="*/ 22 h 22"/>
                <a:gd name="T4" fmla="*/ 0 w 141"/>
                <a:gd name="T5" fmla="*/ 11 h 22"/>
                <a:gd name="T6" fmla="*/ 11 w 141"/>
                <a:gd name="T7" fmla="*/ 0 h 22"/>
                <a:gd name="T8" fmla="*/ 130 w 141"/>
                <a:gd name="T9" fmla="*/ 0 h 22"/>
                <a:gd name="T10" fmla="*/ 141 w 141"/>
                <a:gd name="T11" fmla="*/ 11 h 22"/>
                <a:gd name="T12" fmla="*/ 130 w 14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22">
                  <a:moveTo>
                    <a:pt x="13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6" y="0"/>
                    <a:pt x="141" y="5"/>
                    <a:pt x="141" y="11"/>
                  </a:cubicBezTo>
                  <a:cubicBezTo>
                    <a:pt x="141" y="17"/>
                    <a:pt x="136" y="22"/>
                    <a:pt x="13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71"/>
            <p:cNvSpPr/>
            <p:nvPr>
              <p:custDataLst>
                <p:tags r:id="rId29"/>
              </p:custDataLst>
            </p:nvPr>
          </p:nvSpPr>
          <p:spPr bwMode="auto">
            <a:xfrm>
              <a:off x="2935" y="1621"/>
              <a:ext cx="102" cy="53"/>
            </a:xfrm>
            <a:custGeom>
              <a:avLst/>
              <a:gdLst>
                <a:gd name="T0" fmla="*/ 32 w 43"/>
                <a:gd name="T1" fmla="*/ 22 h 22"/>
                <a:gd name="T2" fmla="*/ 10 w 43"/>
                <a:gd name="T3" fmla="*/ 22 h 22"/>
                <a:gd name="T4" fmla="*/ 0 w 43"/>
                <a:gd name="T5" fmla="*/ 11 h 22"/>
                <a:gd name="T6" fmla="*/ 10 w 43"/>
                <a:gd name="T7" fmla="*/ 0 h 22"/>
                <a:gd name="T8" fmla="*/ 32 w 43"/>
                <a:gd name="T9" fmla="*/ 0 h 22"/>
                <a:gd name="T10" fmla="*/ 43 w 43"/>
                <a:gd name="T11" fmla="*/ 11 h 22"/>
                <a:gd name="T12" fmla="*/ 32 w 43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22">
                  <a:moveTo>
                    <a:pt x="32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8" y="0"/>
                    <a:pt x="43" y="5"/>
                    <a:pt x="43" y="11"/>
                  </a:cubicBezTo>
                  <a:cubicBezTo>
                    <a:pt x="43" y="17"/>
                    <a:pt x="38" y="22"/>
                    <a:pt x="3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665080" y="1390396"/>
            <a:ext cx="425450" cy="405914"/>
            <a:chOff x="2516370" y="4435326"/>
            <a:chExt cx="136481" cy="130214"/>
          </a:xfrm>
          <a:solidFill>
            <a:schemeClr val="bg1"/>
          </a:solidFill>
        </p:grpSpPr>
        <p:sp>
          <p:nvSpPr>
            <p:cNvPr id="56" name="Freeform 75"/>
            <p:cNvSpPr/>
            <p:nvPr>
              <p:custDataLst>
                <p:tags r:id="rId17"/>
              </p:custDataLst>
            </p:nvPr>
          </p:nvSpPr>
          <p:spPr bwMode="auto">
            <a:xfrm>
              <a:off x="2553898" y="4557313"/>
              <a:ext cx="64088" cy="8227"/>
            </a:xfrm>
            <a:custGeom>
              <a:avLst/>
              <a:gdLst>
                <a:gd name="T0" fmla="*/ 321 w 344"/>
                <a:gd name="T1" fmla="*/ 44 h 44"/>
                <a:gd name="T2" fmla="*/ 22 w 344"/>
                <a:gd name="T3" fmla="*/ 44 h 44"/>
                <a:gd name="T4" fmla="*/ 0 w 344"/>
                <a:gd name="T5" fmla="*/ 22 h 44"/>
                <a:gd name="T6" fmla="*/ 22 w 344"/>
                <a:gd name="T7" fmla="*/ 0 h 44"/>
                <a:gd name="T8" fmla="*/ 321 w 344"/>
                <a:gd name="T9" fmla="*/ 0 h 44"/>
                <a:gd name="T10" fmla="*/ 344 w 344"/>
                <a:gd name="T11" fmla="*/ 22 h 44"/>
                <a:gd name="T12" fmla="*/ 321 w 344"/>
                <a:gd name="T1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4" h="44">
                  <a:moveTo>
                    <a:pt x="321" y="44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34" y="0"/>
                    <a:pt x="344" y="10"/>
                    <a:pt x="344" y="22"/>
                  </a:cubicBezTo>
                  <a:cubicBezTo>
                    <a:pt x="344" y="34"/>
                    <a:pt x="334" y="44"/>
                    <a:pt x="321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Freeform 76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2516370" y="4435326"/>
              <a:ext cx="136481" cy="105378"/>
            </a:xfrm>
            <a:custGeom>
              <a:avLst/>
              <a:gdLst>
                <a:gd name="T0" fmla="*/ 732 w 732"/>
                <a:gd name="T1" fmla="*/ 488 h 565"/>
                <a:gd name="T2" fmla="*/ 655 w 732"/>
                <a:gd name="T3" fmla="*/ 565 h 565"/>
                <a:gd name="T4" fmla="*/ 77 w 732"/>
                <a:gd name="T5" fmla="*/ 565 h 565"/>
                <a:gd name="T6" fmla="*/ 0 w 732"/>
                <a:gd name="T7" fmla="*/ 488 h 565"/>
                <a:gd name="T8" fmla="*/ 0 w 732"/>
                <a:gd name="T9" fmla="*/ 77 h 565"/>
                <a:gd name="T10" fmla="*/ 77 w 732"/>
                <a:gd name="T11" fmla="*/ 0 h 565"/>
                <a:gd name="T12" fmla="*/ 655 w 732"/>
                <a:gd name="T13" fmla="*/ 0 h 565"/>
                <a:gd name="T14" fmla="*/ 732 w 732"/>
                <a:gd name="T15" fmla="*/ 77 h 565"/>
                <a:gd name="T16" fmla="*/ 732 w 732"/>
                <a:gd name="T17" fmla="*/ 488 h 565"/>
                <a:gd name="T18" fmla="*/ 687 w 732"/>
                <a:gd name="T19" fmla="*/ 77 h 565"/>
                <a:gd name="T20" fmla="*/ 655 w 732"/>
                <a:gd name="T21" fmla="*/ 44 h 565"/>
                <a:gd name="T22" fmla="*/ 77 w 732"/>
                <a:gd name="T23" fmla="*/ 44 h 565"/>
                <a:gd name="T24" fmla="*/ 45 w 732"/>
                <a:gd name="T25" fmla="*/ 77 h 565"/>
                <a:gd name="T26" fmla="*/ 45 w 732"/>
                <a:gd name="T27" fmla="*/ 488 h 565"/>
                <a:gd name="T28" fmla="*/ 77 w 732"/>
                <a:gd name="T29" fmla="*/ 521 h 565"/>
                <a:gd name="T30" fmla="*/ 655 w 732"/>
                <a:gd name="T31" fmla="*/ 521 h 565"/>
                <a:gd name="T32" fmla="*/ 687 w 732"/>
                <a:gd name="T33" fmla="*/ 488 h 565"/>
                <a:gd name="T34" fmla="*/ 687 w 732"/>
                <a:gd name="T35" fmla="*/ 77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2" h="565">
                  <a:moveTo>
                    <a:pt x="732" y="488"/>
                  </a:moveTo>
                  <a:cubicBezTo>
                    <a:pt x="732" y="531"/>
                    <a:pt x="697" y="565"/>
                    <a:pt x="655" y="565"/>
                  </a:cubicBezTo>
                  <a:cubicBezTo>
                    <a:pt x="77" y="565"/>
                    <a:pt x="77" y="565"/>
                    <a:pt x="77" y="565"/>
                  </a:cubicBezTo>
                  <a:cubicBezTo>
                    <a:pt x="35" y="565"/>
                    <a:pt x="0" y="531"/>
                    <a:pt x="0" y="48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655" y="0"/>
                    <a:pt x="655" y="0"/>
                    <a:pt x="655" y="0"/>
                  </a:cubicBezTo>
                  <a:cubicBezTo>
                    <a:pt x="697" y="0"/>
                    <a:pt x="732" y="34"/>
                    <a:pt x="732" y="77"/>
                  </a:cubicBezTo>
                  <a:cubicBezTo>
                    <a:pt x="732" y="488"/>
                    <a:pt x="732" y="488"/>
                    <a:pt x="732" y="488"/>
                  </a:cubicBezTo>
                  <a:close/>
                  <a:moveTo>
                    <a:pt x="687" y="77"/>
                  </a:moveTo>
                  <a:cubicBezTo>
                    <a:pt x="687" y="59"/>
                    <a:pt x="673" y="44"/>
                    <a:pt x="655" y="44"/>
                  </a:cubicBezTo>
                  <a:cubicBezTo>
                    <a:pt x="77" y="44"/>
                    <a:pt x="77" y="44"/>
                    <a:pt x="77" y="44"/>
                  </a:cubicBezTo>
                  <a:cubicBezTo>
                    <a:pt x="59" y="44"/>
                    <a:pt x="45" y="59"/>
                    <a:pt x="45" y="77"/>
                  </a:cubicBezTo>
                  <a:cubicBezTo>
                    <a:pt x="45" y="488"/>
                    <a:pt x="45" y="488"/>
                    <a:pt x="45" y="488"/>
                  </a:cubicBezTo>
                  <a:cubicBezTo>
                    <a:pt x="45" y="506"/>
                    <a:pt x="59" y="521"/>
                    <a:pt x="77" y="521"/>
                  </a:cubicBezTo>
                  <a:cubicBezTo>
                    <a:pt x="655" y="521"/>
                    <a:pt x="655" y="521"/>
                    <a:pt x="655" y="521"/>
                  </a:cubicBezTo>
                  <a:cubicBezTo>
                    <a:pt x="673" y="521"/>
                    <a:pt x="687" y="506"/>
                    <a:pt x="687" y="488"/>
                  </a:cubicBezTo>
                  <a:lnTo>
                    <a:pt x="687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77"/>
            <p:cNvSpPr/>
            <p:nvPr>
              <p:custDataLst>
                <p:tags r:id="rId19"/>
              </p:custDataLst>
            </p:nvPr>
          </p:nvSpPr>
          <p:spPr bwMode="auto">
            <a:xfrm>
              <a:off x="2518799" y="4513830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78"/>
            <p:cNvSpPr/>
            <p:nvPr>
              <p:custDataLst>
                <p:tags r:id="rId20"/>
              </p:custDataLst>
            </p:nvPr>
          </p:nvSpPr>
          <p:spPr bwMode="auto">
            <a:xfrm>
              <a:off x="2518799" y="4453973"/>
              <a:ext cx="132250" cy="4152"/>
            </a:xfrm>
            <a:custGeom>
              <a:avLst/>
              <a:gdLst>
                <a:gd name="T0" fmla="*/ 698 w 709"/>
                <a:gd name="T1" fmla="*/ 22 h 22"/>
                <a:gd name="T2" fmla="*/ 11 w 709"/>
                <a:gd name="T3" fmla="*/ 22 h 22"/>
                <a:gd name="T4" fmla="*/ 0 w 709"/>
                <a:gd name="T5" fmla="*/ 11 h 22"/>
                <a:gd name="T6" fmla="*/ 11 w 709"/>
                <a:gd name="T7" fmla="*/ 0 h 22"/>
                <a:gd name="T8" fmla="*/ 698 w 709"/>
                <a:gd name="T9" fmla="*/ 0 h 22"/>
                <a:gd name="T10" fmla="*/ 709 w 709"/>
                <a:gd name="T11" fmla="*/ 11 h 22"/>
                <a:gd name="T12" fmla="*/ 698 w 709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22">
                  <a:moveTo>
                    <a:pt x="698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98" y="0"/>
                    <a:pt x="698" y="0"/>
                    <a:pt x="698" y="0"/>
                  </a:cubicBezTo>
                  <a:cubicBezTo>
                    <a:pt x="704" y="0"/>
                    <a:pt x="709" y="5"/>
                    <a:pt x="709" y="11"/>
                  </a:cubicBezTo>
                  <a:cubicBezTo>
                    <a:pt x="709" y="17"/>
                    <a:pt x="704" y="22"/>
                    <a:pt x="69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Freeform 79"/>
            <p:cNvSpPr/>
            <p:nvPr>
              <p:custDataLst>
                <p:tags r:id="rId21"/>
              </p:custDataLst>
            </p:nvPr>
          </p:nvSpPr>
          <p:spPr bwMode="auto">
            <a:xfrm>
              <a:off x="2575130" y="4482335"/>
              <a:ext cx="5249" cy="5954"/>
            </a:xfrm>
            <a:custGeom>
              <a:avLst/>
              <a:gdLst>
                <a:gd name="T0" fmla="*/ 12 w 28"/>
                <a:gd name="T1" fmla="*/ 32 h 32"/>
                <a:gd name="T2" fmla="*/ 8 w 28"/>
                <a:gd name="T3" fmla="*/ 31 h 32"/>
                <a:gd name="T4" fmla="*/ 2 w 28"/>
                <a:gd name="T5" fmla="*/ 16 h 32"/>
                <a:gd name="T6" fmla="*/ 5 w 28"/>
                <a:gd name="T7" fmla="*/ 9 h 32"/>
                <a:gd name="T8" fmla="*/ 19 w 28"/>
                <a:gd name="T9" fmla="*/ 2 h 32"/>
                <a:gd name="T10" fmla="*/ 26 w 28"/>
                <a:gd name="T11" fmla="*/ 17 h 32"/>
                <a:gd name="T12" fmla="*/ 23 w 28"/>
                <a:gd name="T13" fmla="*/ 24 h 32"/>
                <a:gd name="T14" fmla="*/ 12 w 28"/>
                <a:gd name="T1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2">
                  <a:moveTo>
                    <a:pt x="12" y="32"/>
                  </a:moveTo>
                  <a:cubicBezTo>
                    <a:pt x="11" y="32"/>
                    <a:pt x="10" y="31"/>
                    <a:pt x="8" y="31"/>
                  </a:cubicBezTo>
                  <a:cubicBezTo>
                    <a:pt x="3" y="29"/>
                    <a:pt x="0" y="22"/>
                    <a:pt x="2" y="16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3"/>
                    <a:pt x="14" y="0"/>
                    <a:pt x="19" y="2"/>
                  </a:cubicBezTo>
                  <a:cubicBezTo>
                    <a:pt x="25" y="5"/>
                    <a:pt x="28" y="11"/>
                    <a:pt x="26" y="17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1" y="29"/>
                    <a:pt x="17" y="32"/>
                    <a:pt x="12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80"/>
            <p:cNvSpPr/>
            <p:nvPr>
              <p:custDataLst>
                <p:tags r:id="rId22"/>
              </p:custDataLst>
            </p:nvPr>
          </p:nvSpPr>
          <p:spPr bwMode="auto">
            <a:xfrm>
              <a:off x="2567139" y="4489073"/>
              <a:ext cx="10577" cy="19352"/>
            </a:xfrm>
            <a:custGeom>
              <a:avLst/>
              <a:gdLst>
                <a:gd name="T0" fmla="*/ 13 w 57"/>
                <a:gd name="T1" fmla="*/ 104 h 104"/>
                <a:gd name="T2" fmla="*/ 9 w 57"/>
                <a:gd name="T3" fmla="*/ 103 h 104"/>
                <a:gd name="T4" fmla="*/ 3 w 57"/>
                <a:gd name="T5" fmla="*/ 89 h 104"/>
                <a:gd name="T6" fmla="*/ 34 w 57"/>
                <a:gd name="T7" fmla="*/ 8 h 104"/>
                <a:gd name="T8" fmla="*/ 48 w 57"/>
                <a:gd name="T9" fmla="*/ 2 h 104"/>
                <a:gd name="T10" fmla="*/ 55 w 57"/>
                <a:gd name="T11" fmla="*/ 16 h 104"/>
                <a:gd name="T12" fmla="*/ 23 w 57"/>
                <a:gd name="T13" fmla="*/ 97 h 104"/>
                <a:gd name="T14" fmla="*/ 13 w 57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3" y="104"/>
                  </a:moveTo>
                  <a:cubicBezTo>
                    <a:pt x="12" y="104"/>
                    <a:pt x="10" y="104"/>
                    <a:pt x="9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6" y="3"/>
                    <a:pt x="43" y="0"/>
                    <a:pt x="48" y="2"/>
                  </a:cubicBezTo>
                  <a:cubicBezTo>
                    <a:pt x="54" y="4"/>
                    <a:pt x="57" y="11"/>
                    <a:pt x="55" y="16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22" y="101"/>
                    <a:pt x="17" y="104"/>
                    <a:pt x="13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81"/>
            <p:cNvSpPr/>
            <p:nvPr>
              <p:custDataLst>
                <p:tags r:id="rId23"/>
              </p:custDataLst>
            </p:nvPr>
          </p:nvSpPr>
          <p:spPr bwMode="auto">
            <a:xfrm>
              <a:off x="2558913" y="4467997"/>
              <a:ext cx="13241" cy="26482"/>
            </a:xfrm>
            <a:custGeom>
              <a:avLst/>
              <a:gdLst>
                <a:gd name="T0" fmla="*/ 12 w 71"/>
                <a:gd name="T1" fmla="*/ 142 h 142"/>
                <a:gd name="T2" fmla="*/ 8 w 71"/>
                <a:gd name="T3" fmla="*/ 141 h 142"/>
                <a:gd name="T4" fmla="*/ 2 w 71"/>
                <a:gd name="T5" fmla="*/ 127 h 142"/>
                <a:gd name="T6" fmla="*/ 48 w 71"/>
                <a:gd name="T7" fmla="*/ 9 h 142"/>
                <a:gd name="T8" fmla="*/ 62 w 71"/>
                <a:gd name="T9" fmla="*/ 2 h 142"/>
                <a:gd name="T10" fmla="*/ 68 w 71"/>
                <a:gd name="T11" fmla="*/ 17 h 142"/>
                <a:gd name="T12" fmla="*/ 22 w 71"/>
                <a:gd name="T13" fmla="*/ 135 h 142"/>
                <a:gd name="T14" fmla="*/ 12 w 71"/>
                <a:gd name="T1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42">
                  <a:moveTo>
                    <a:pt x="12" y="142"/>
                  </a:moveTo>
                  <a:cubicBezTo>
                    <a:pt x="11" y="142"/>
                    <a:pt x="9" y="141"/>
                    <a:pt x="8" y="141"/>
                  </a:cubicBezTo>
                  <a:cubicBezTo>
                    <a:pt x="2" y="139"/>
                    <a:pt x="0" y="132"/>
                    <a:pt x="2" y="127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3"/>
                    <a:pt x="56" y="0"/>
                    <a:pt x="62" y="2"/>
                  </a:cubicBezTo>
                  <a:cubicBezTo>
                    <a:pt x="68" y="4"/>
                    <a:pt x="71" y="11"/>
                    <a:pt x="68" y="17"/>
                  </a:cubicBezTo>
                  <a:cubicBezTo>
                    <a:pt x="22" y="135"/>
                    <a:pt x="22" y="135"/>
                    <a:pt x="22" y="135"/>
                  </a:cubicBezTo>
                  <a:cubicBezTo>
                    <a:pt x="21" y="139"/>
                    <a:pt x="17" y="142"/>
                    <a:pt x="12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82"/>
            <p:cNvSpPr/>
            <p:nvPr>
              <p:custDataLst>
                <p:tags r:id="rId24"/>
              </p:custDataLst>
            </p:nvPr>
          </p:nvSpPr>
          <p:spPr bwMode="auto">
            <a:xfrm>
              <a:off x="2554839" y="4497064"/>
              <a:ext cx="5954" cy="7678"/>
            </a:xfrm>
            <a:custGeom>
              <a:avLst/>
              <a:gdLst>
                <a:gd name="T0" fmla="*/ 13 w 32"/>
                <a:gd name="T1" fmla="*/ 41 h 41"/>
                <a:gd name="T2" fmla="*/ 9 w 32"/>
                <a:gd name="T3" fmla="*/ 40 h 41"/>
                <a:gd name="T4" fmla="*/ 2 w 32"/>
                <a:gd name="T5" fmla="*/ 26 h 41"/>
                <a:gd name="T6" fmla="*/ 9 w 32"/>
                <a:gd name="T7" fmla="*/ 9 h 41"/>
                <a:gd name="T8" fmla="*/ 23 w 32"/>
                <a:gd name="T9" fmla="*/ 2 h 41"/>
                <a:gd name="T10" fmla="*/ 30 w 32"/>
                <a:gd name="T11" fmla="*/ 17 h 41"/>
                <a:gd name="T12" fmla="*/ 23 w 32"/>
                <a:gd name="T13" fmla="*/ 34 h 41"/>
                <a:gd name="T14" fmla="*/ 13 w 32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13" y="41"/>
                  </a:moveTo>
                  <a:cubicBezTo>
                    <a:pt x="11" y="41"/>
                    <a:pt x="10" y="41"/>
                    <a:pt x="9" y="40"/>
                  </a:cubicBezTo>
                  <a:cubicBezTo>
                    <a:pt x="3" y="38"/>
                    <a:pt x="0" y="32"/>
                    <a:pt x="2" y="2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1" y="3"/>
                    <a:pt x="18" y="0"/>
                    <a:pt x="23" y="2"/>
                  </a:cubicBezTo>
                  <a:cubicBezTo>
                    <a:pt x="29" y="4"/>
                    <a:pt x="32" y="11"/>
                    <a:pt x="30" y="17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1" y="38"/>
                    <a:pt x="17" y="41"/>
                    <a:pt x="13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11286" y="275533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互动</a:t>
            </a:r>
          </a:p>
        </p:txBody>
      </p:sp>
      <p:sp>
        <p:nvSpPr>
          <p:cNvPr id="20" name="任意多边形: 形状 1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 rot="2700000">
            <a:off x="298573" y="1163578"/>
            <a:ext cx="324471" cy="326599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5807" y="975360"/>
            <a:ext cx="8363468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1400" dirty="0"/>
              <a:t>Q</a:t>
            </a:r>
            <a:r>
              <a:rPr lang="zh-CN" altLang="en-US" sz="1400" dirty="0"/>
              <a:t>：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在智能体设计中，路由机制有三种常见实现方式：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基于规则（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Rule-based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基于嵌入（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Embedding-based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基于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LLM（LLM-based）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请问：针对以下两个场景，分别最适合哪种路由方式？并说明理由。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场景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A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：用户输入“我的订单号是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12345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，请帮我查一下物流”，系统必须精准且极速分流到“物流查询工具”。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场景 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+mj-lt"/>
                <a:cs typeface="+mj-lt"/>
              </a:rPr>
              <a:t>B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：用户输入“我最近压力好大，想听点轻松的”，系统需识别出这是一种隐含的“情感闲聊”需求，分流到“情感陪伴智能体”。</a:t>
            </a:r>
          </a:p>
          <a:p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11286" y="275533"/>
            <a:ext cx="2358543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互动</a:t>
            </a:r>
          </a:p>
        </p:txBody>
      </p:sp>
      <p:sp>
        <p:nvSpPr>
          <p:cNvPr id="20" name="任意多边形: 形状 19"/>
          <p:cNvSpPr/>
          <p:nvPr/>
        </p:nvSpPr>
        <p:spPr>
          <a:xfrm rot="2700000">
            <a:off x="-75230" y="-281928"/>
            <a:ext cx="513706" cy="927104"/>
          </a:xfrm>
          <a:custGeom>
            <a:avLst/>
            <a:gdLst>
              <a:gd name="connsiteX0" fmla="*/ 463552 w 513706"/>
              <a:gd name="connsiteY0" fmla="*/ 0 h 927104"/>
              <a:gd name="connsiteX1" fmla="*/ 500249 w 513706"/>
              <a:gd name="connsiteY1" fmla="*/ 54430 h 927104"/>
              <a:gd name="connsiteX2" fmla="*/ 513706 w 513706"/>
              <a:gd name="connsiteY2" fmla="*/ 121084 h 927104"/>
              <a:gd name="connsiteX3" fmla="*/ 513706 w 513706"/>
              <a:gd name="connsiteY3" fmla="*/ 806020 h 927104"/>
              <a:gd name="connsiteX4" fmla="*/ 500249 w 513706"/>
              <a:gd name="connsiteY4" fmla="*/ 872674 h 927104"/>
              <a:gd name="connsiteX5" fmla="*/ 463552 w 513706"/>
              <a:gd name="connsiteY5" fmla="*/ 927104 h 927104"/>
              <a:gd name="connsiteX6" fmla="*/ 0 w 513706"/>
              <a:gd name="connsiteY6" fmla="*/ 463553 h 927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706" h="927104">
                <a:moveTo>
                  <a:pt x="463552" y="0"/>
                </a:moveTo>
                <a:lnTo>
                  <a:pt x="500249" y="54430"/>
                </a:lnTo>
                <a:cubicBezTo>
                  <a:pt x="508914" y="74917"/>
                  <a:pt x="513706" y="97441"/>
                  <a:pt x="513706" y="121084"/>
                </a:cubicBezTo>
                <a:lnTo>
                  <a:pt x="513706" y="806020"/>
                </a:lnTo>
                <a:cubicBezTo>
                  <a:pt x="513706" y="829663"/>
                  <a:pt x="508914" y="852187"/>
                  <a:pt x="500249" y="872674"/>
                </a:cubicBezTo>
                <a:lnTo>
                  <a:pt x="463552" y="927104"/>
                </a:lnTo>
                <a:lnTo>
                  <a:pt x="0" y="46355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 rot="2700000">
            <a:off x="298573" y="1058168"/>
            <a:ext cx="324471" cy="326599"/>
          </a:xfrm>
          <a:prstGeom prst="roundRect">
            <a:avLst/>
          </a:pr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882" y="870585"/>
            <a:ext cx="8363468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/>
              <a:t>A</a:t>
            </a:r>
            <a:r>
              <a:rPr lang="zh-CN" altLang="en-US" sz="1200" dirty="0"/>
              <a:t>：</a:t>
            </a:r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场景 </a:t>
            </a:r>
            <a:r>
              <a:rPr lang="en-US" altLang="zh-CN" sz="1400" b="1" dirty="0">
                <a:solidFill>
                  <a:srgbClr val="0F1115"/>
                </a:solidFill>
                <a:latin typeface="+mj-lt"/>
                <a:cs typeface="+mj-lt"/>
              </a:rPr>
              <a:t>A </a:t>
            </a:r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适合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：基于规则的路由（或结合简单关键词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正则）。</a:t>
            </a:r>
          </a:p>
          <a:p>
            <a:pPr marL="0" lvl="1" indent="457200">
              <a:lnSpc>
                <a:spcPct val="200000"/>
              </a:lnSpc>
            </a:pP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理由：输入有极度明确的特征（订单号、固定句式），规则路由的确定性最强、延迟最低（毫秒级），完全不需要消耗 </a:t>
            </a:r>
            <a:r>
              <a:rPr lang="en-US" altLang="zh-CN" sz="1400" dirty="0">
                <a:solidFill>
                  <a:srgbClr val="0F1115"/>
                </a:solidFill>
                <a:latin typeface="+mj-lt"/>
                <a:cs typeface="+mj-lt"/>
              </a:rPr>
              <a:t>LLM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算力。</a:t>
            </a:r>
          </a:p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rgbClr val="0F1115"/>
                </a:solidFill>
                <a:latin typeface="quote-cjk-patch"/>
              </a:rPr>
              <a:t>    </a:t>
            </a:r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场景 </a:t>
            </a:r>
            <a:r>
              <a:rPr lang="en-US" altLang="zh-CN" sz="1400" b="1" dirty="0">
                <a:solidFill>
                  <a:srgbClr val="0F1115"/>
                </a:solidFill>
                <a:latin typeface="+mj-lt"/>
                <a:cs typeface="+mj-lt"/>
              </a:rPr>
              <a:t>B </a:t>
            </a:r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适合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：基于嵌入（</a:t>
            </a:r>
            <a:r>
              <a:rPr lang="en-US" altLang="zh-CN" sz="1400" dirty="0">
                <a:solidFill>
                  <a:srgbClr val="0F1115"/>
                </a:solidFill>
                <a:latin typeface="+mj-lt"/>
                <a:cs typeface="+mj-lt"/>
              </a:rPr>
              <a:t>Embedding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）或基于 </a:t>
            </a:r>
            <a:r>
              <a:rPr lang="en-US" altLang="zh-CN" sz="1400" dirty="0">
                <a:solidFill>
                  <a:srgbClr val="0F1115"/>
                </a:solidFill>
                <a:latin typeface="+mj-lt"/>
                <a:cs typeface="+mj-lt"/>
              </a:rPr>
              <a:t>LLM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的路由。</a:t>
            </a:r>
          </a:p>
          <a:p>
            <a:pPr marL="0" lvl="1" indent="457200">
              <a:lnSpc>
                <a:spcPct val="200000"/>
              </a:lnSpc>
            </a:pP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理由：用户表述千变万化，没有固定关键词，需要理解“压力大”和“轻松”背后的语义（压力大暗示需要情感安抚，轻松对应情感陪伴）。基于嵌入的路由可以快速找到语义相近的路径；基于 </a:t>
            </a:r>
            <a:r>
              <a:rPr lang="en-US" altLang="zh-CN" sz="1400" dirty="0">
                <a:solidFill>
                  <a:srgbClr val="0F1115"/>
                </a:solidFill>
                <a:latin typeface="+mj-lt"/>
                <a:cs typeface="+mj-lt"/>
              </a:rPr>
              <a:t>LLM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的路由则能处理更复杂的隐含意图。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endParaRPr lang="zh-CN" altLang="en-US" sz="12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 rot="2700000">
            <a:off x="6362442" y="1214420"/>
            <a:ext cx="1756664" cy="1756664"/>
          </a:xfrm>
          <a:prstGeom prst="roundRect">
            <a:avLst/>
          </a:pr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440710" y="1921451"/>
            <a:ext cx="402347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ln w="38100">
                  <a:noFill/>
                </a:ln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+mn-lt"/>
              </a:rPr>
              <a:t>谢谢！</a:t>
            </a:r>
          </a:p>
        </p:txBody>
      </p:sp>
      <p:sp>
        <p:nvSpPr>
          <p:cNvPr id="29" name="椭圆 28"/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/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/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2FDFF-4A71-B62F-06EA-936048CA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5FB327F-65B0-3947-FB00-10505E778615}"/>
              </a:ext>
            </a:extLst>
          </p:cNvPr>
          <p:cNvSpPr/>
          <p:nvPr/>
        </p:nvSpPr>
        <p:spPr>
          <a:xfrm rot="2700000">
            <a:off x="7607174" y="-195248"/>
            <a:ext cx="1998921" cy="1651886"/>
          </a:xfrm>
          <a:custGeom>
            <a:avLst/>
            <a:gdLst>
              <a:gd name="connsiteX0" fmla="*/ 0 w 1998921"/>
              <a:gd name="connsiteY0" fmla="*/ 933466 h 1651886"/>
              <a:gd name="connsiteX1" fmla="*/ 933466 w 1998921"/>
              <a:gd name="connsiteY1" fmla="*/ 0 h 1651886"/>
              <a:gd name="connsiteX2" fmla="*/ 1998921 w 1998921"/>
              <a:gd name="connsiteY2" fmla="*/ 1065455 h 1651886"/>
              <a:gd name="connsiteX3" fmla="*/ 1998921 w 1998921"/>
              <a:gd name="connsiteY3" fmla="*/ 1318726 h 1651886"/>
              <a:gd name="connsiteX4" fmla="*/ 1665761 w 1998921"/>
              <a:gd name="connsiteY4" fmla="*/ 1651886 h 1651886"/>
              <a:gd name="connsiteX5" fmla="*/ 333160 w 1998921"/>
              <a:gd name="connsiteY5" fmla="*/ 1651886 h 1651886"/>
              <a:gd name="connsiteX6" fmla="*/ 0 w 1998921"/>
              <a:gd name="connsiteY6" fmla="*/ 1318726 h 16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8921" h="1651886">
                <a:moveTo>
                  <a:pt x="0" y="933466"/>
                </a:moveTo>
                <a:lnTo>
                  <a:pt x="933466" y="0"/>
                </a:lnTo>
                <a:lnTo>
                  <a:pt x="1998921" y="1065455"/>
                </a:lnTo>
                <a:lnTo>
                  <a:pt x="1998921" y="1318726"/>
                </a:lnTo>
                <a:cubicBezTo>
                  <a:pt x="1998921" y="1502725"/>
                  <a:pt x="1849760" y="1651886"/>
                  <a:pt x="1665761" y="1651886"/>
                </a:cubicBezTo>
                <a:lnTo>
                  <a:pt x="333160" y="1651886"/>
                </a:lnTo>
                <a:cubicBezTo>
                  <a:pt x="149161" y="1651886"/>
                  <a:pt x="0" y="1502725"/>
                  <a:pt x="0" y="131872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CCE7BA16-C68A-F5C7-0103-B6997A47111C}"/>
              </a:ext>
            </a:extLst>
          </p:cNvPr>
          <p:cNvSpPr/>
          <p:nvPr/>
        </p:nvSpPr>
        <p:spPr>
          <a:xfrm rot="2700000">
            <a:off x="7928110" y="2644551"/>
            <a:ext cx="1996373" cy="1996372"/>
          </a:xfrm>
          <a:custGeom>
            <a:avLst/>
            <a:gdLst>
              <a:gd name="connsiteX0" fmla="*/ 97581 w 1996373"/>
              <a:gd name="connsiteY0" fmla="*/ 95031 h 1996372"/>
              <a:gd name="connsiteX1" fmla="*/ 266016 w 1996373"/>
              <a:gd name="connsiteY1" fmla="*/ 4220 h 1996372"/>
              <a:gd name="connsiteX2" fmla="*/ 307879 w 1996373"/>
              <a:gd name="connsiteY2" fmla="*/ 0 h 1996372"/>
              <a:gd name="connsiteX3" fmla="*/ 1996373 w 1996373"/>
              <a:gd name="connsiteY3" fmla="*/ 1688493 h 1996372"/>
              <a:gd name="connsiteX4" fmla="*/ 1992152 w 1996373"/>
              <a:gd name="connsiteY4" fmla="*/ 1730356 h 1996372"/>
              <a:gd name="connsiteX5" fmla="*/ 1665761 w 1996373"/>
              <a:gd name="connsiteY5" fmla="*/ 1996372 h 1996372"/>
              <a:gd name="connsiteX6" fmla="*/ 333160 w 1996373"/>
              <a:gd name="connsiteY6" fmla="*/ 1996372 h 1996372"/>
              <a:gd name="connsiteX7" fmla="*/ 0 w 1996373"/>
              <a:gd name="connsiteY7" fmla="*/ 1663212 h 1996372"/>
              <a:gd name="connsiteX8" fmla="*/ 0 w 1996373"/>
              <a:gd name="connsiteY8" fmla="*/ 330611 h 1996372"/>
              <a:gd name="connsiteX9" fmla="*/ 97581 w 1996373"/>
              <a:gd name="connsiteY9" fmla="*/ 95031 h 199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96373" h="1996372">
                <a:moveTo>
                  <a:pt x="97581" y="95031"/>
                </a:moveTo>
                <a:cubicBezTo>
                  <a:pt x="142798" y="49814"/>
                  <a:pt x="200953" y="17534"/>
                  <a:pt x="266016" y="4220"/>
                </a:cubicBezTo>
                <a:lnTo>
                  <a:pt x="307879" y="0"/>
                </a:lnTo>
                <a:lnTo>
                  <a:pt x="1996373" y="1688493"/>
                </a:lnTo>
                <a:lnTo>
                  <a:pt x="1992152" y="1730356"/>
                </a:lnTo>
                <a:cubicBezTo>
                  <a:pt x="1961086" y="1882171"/>
                  <a:pt x="1826761" y="1996372"/>
                  <a:pt x="1665761" y="1996372"/>
                </a:cubicBezTo>
                <a:lnTo>
                  <a:pt x="333160" y="1996372"/>
                </a:lnTo>
                <a:cubicBezTo>
                  <a:pt x="149161" y="1996372"/>
                  <a:pt x="0" y="1847211"/>
                  <a:pt x="0" y="1663212"/>
                </a:cubicBezTo>
                <a:lnTo>
                  <a:pt x="0" y="330611"/>
                </a:lnTo>
                <a:cubicBezTo>
                  <a:pt x="1" y="238611"/>
                  <a:pt x="37291" y="155321"/>
                  <a:pt x="97581" y="95031"/>
                </a:cubicBezTo>
                <a:close/>
              </a:path>
            </a:pathLst>
          </a:custGeom>
          <a:noFill/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C9B84B66-1F54-BD49-3124-51EC4112D6D7}"/>
              </a:ext>
            </a:extLst>
          </p:cNvPr>
          <p:cNvSpPr/>
          <p:nvPr/>
        </p:nvSpPr>
        <p:spPr>
          <a:xfrm rot="2700000">
            <a:off x="6487837" y="4252011"/>
            <a:ext cx="1761051" cy="1761051"/>
          </a:xfrm>
          <a:custGeom>
            <a:avLst/>
            <a:gdLst>
              <a:gd name="connsiteX0" fmla="*/ 97580 w 1761051"/>
              <a:gd name="connsiteY0" fmla="*/ 97580 h 1761051"/>
              <a:gd name="connsiteX1" fmla="*/ 333160 w 1761051"/>
              <a:gd name="connsiteY1" fmla="*/ 0 h 1761051"/>
              <a:gd name="connsiteX2" fmla="*/ 1665761 w 1761051"/>
              <a:gd name="connsiteY2" fmla="*/ 0 h 1761051"/>
              <a:gd name="connsiteX3" fmla="*/ 1732904 w 1761051"/>
              <a:gd name="connsiteY3" fmla="*/ 6769 h 1761051"/>
              <a:gd name="connsiteX4" fmla="*/ 1761051 w 1761051"/>
              <a:gd name="connsiteY4" fmla="*/ 15506 h 1761051"/>
              <a:gd name="connsiteX5" fmla="*/ 15506 w 1761051"/>
              <a:gd name="connsiteY5" fmla="*/ 1761051 h 1761051"/>
              <a:gd name="connsiteX6" fmla="*/ 6768 w 1761051"/>
              <a:gd name="connsiteY6" fmla="*/ 1732905 h 1761051"/>
              <a:gd name="connsiteX7" fmla="*/ 0 w 1761051"/>
              <a:gd name="connsiteY7" fmla="*/ 1665761 h 1761051"/>
              <a:gd name="connsiteX8" fmla="*/ 0 w 1761051"/>
              <a:gd name="connsiteY8" fmla="*/ 333160 h 1761051"/>
              <a:gd name="connsiteX9" fmla="*/ 97580 w 1761051"/>
              <a:gd name="connsiteY9" fmla="*/ 97580 h 176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1049" h="1761049">
                <a:moveTo>
                  <a:pt x="97580" y="97580"/>
                </a:moveTo>
                <a:cubicBezTo>
                  <a:pt x="157870" y="37290"/>
                  <a:pt x="241160" y="0"/>
                  <a:pt x="333160" y="0"/>
                </a:cubicBezTo>
                <a:lnTo>
                  <a:pt x="1665761" y="0"/>
                </a:lnTo>
                <a:cubicBezTo>
                  <a:pt x="1688761" y="1"/>
                  <a:pt x="1711217" y="2331"/>
                  <a:pt x="1732904" y="6769"/>
                </a:cubicBezTo>
                <a:lnTo>
                  <a:pt x="1761051" y="15506"/>
                </a:lnTo>
                <a:lnTo>
                  <a:pt x="15506" y="1761051"/>
                </a:lnTo>
                <a:lnTo>
                  <a:pt x="6768" y="1732905"/>
                </a:lnTo>
                <a:cubicBezTo>
                  <a:pt x="2331" y="1711217"/>
                  <a:pt x="0" y="1688761"/>
                  <a:pt x="0" y="1665761"/>
                </a:cubicBezTo>
                <a:lnTo>
                  <a:pt x="0" y="333160"/>
                </a:lnTo>
                <a:cubicBezTo>
                  <a:pt x="0" y="241160"/>
                  <a:pt x="37290" y="157870"/>
                  <a:pt x="97580" y="97580"/>
                </a:cubicBezTo>
                <a:close/>
              </a:path>
            </a:pathLst>
          </a:custGeom>
          <a:solidFill>
            <a:srgbClr val="384A7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6199AB1-CA99-123E-C75F-F26BA9CCF8EE}"/>
              </a:ext>
            </a:extLst>
          </p:cNvPr>
          <p:cNvSpPr/>
          <p:nvPr/>
        </p:nvSpPr>
        <p:spPr>
          <a:xfrm rot="2700000">
            <a:off x="5758799" y="2976020"/>
            <a:ext cx="1033361" cy="1033361"/>
          </a:xfrm>
          <a:prstGeom prst="roundRect">
            <a:avLst/>
          </a:prstGeom>
          <a:solidFill>
            <a:srgbClr val="384A72"/>
          </a:solidFill>
          <a:ln w="127000">
            <a:solidFill>
              <a:srgbClr val="384A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D287C25-B9C5-A577-EF75-D2D4C812BE8E}"/>
              </a:ext>
            </a:extLst>
          </p:cNvPr>
          <p:cNvSpPr/>
          <p:nvPr/>
        </p:nvSpPr>
        <p:spPr>
          <a:xfrm>
            <a:off x="1286538" y="4568455"/>
            <a:ext cx="308345" cy="3083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4ACF2B4-1CB5-26BF-558C-B8478DB7C5F9}"/>
              </a:ext>
            </a:extLst>
          </p:cNvPr>
          <p:cNvSpPr/>
          <p:nvPr/>
        </p:nvSpPr>
        <p:spPr>
          <a:xfrm>
            <a:off x="1722472" y="4568456"/>
            <a:ext cx="308345" cy="3083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2DFC72D-A79B-1F65-D81A-603337925127}"/>
              </a:ext>
            </a:extLst>
          </p:cNvPr>
          <p:cNvSpPr/>
          <p:nvPr/>
        </p:nvSpPr>
        <p:spPr>
          <a:xfrm>
            <a:off x="829338" y="4568456"/>
            <a:ext cx="308345" cy="30834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735AC17-8608-B979-0CCF-C8BE9E0A8D79}"/>
              </a:ext>
            </a:extLst>
          </p:cNvPr>
          <p:cNvSpPr/>
          <p:nvPr/>
        </p:nvSpPr>
        <p:spPr>
          <a:xfrm rot="5400000">
            <a:off x="8782172" y="548569"/>
            <a:ext cx="145928" cy="14592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5D13447-4127-DAED-737C-EF380F792A67}"/>
              </a:ext>
            </a:extLst>
          </p:cNvPr>
          <p:cNvSpPr/>
          <p:nvPr/>
        </p:nvSpPr>
        <p:spPr>
          <a:xfrm rot="5400000">
            <a:off x="8533535" y="548569"/>
            <a:ext cx="145928" cy="145928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E9ACDE2-02FD-3771-5F25-8281160B4EF3}"/>
              </a:ext>
            </a:extLst>
          </p:cNvPr>
          <p:cNvGrpSpPr/>
          <p:nvPr/>
        </p:nvGrpSpPr>
        <p:grpSpPr>
          <a:xfrm>
            <a:off x="328835" y="293802"/>
            <a:ext cx="668908" cy="668908"/>
            <a:chOff x="254875" y="164022"/>
            <a:chExt cx="791965" cy="791965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EEAD2EE-7BB3-CB96-D7DA-82312CDDF692}"/>
                </a:ext>
              </a:extLst>
            </p:cNvPr>
            <p:cNvSpPr/>
            <p:nvPr/>
          </p:nvSpPr>
          <p:spPr>
            <a:xfrm rot="2700000">
              <a:off x="254875" y="164022"/>
              <a:ext cx="791965" cy="791965"/>
            </a:xfrm>
            <a:prstGeom prst="roundRect">
              <a:avLst/>
            </a:prstGeom>
            <a:solidFill>
              <a:srgbClr val="384A7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FA850C1-1EC8-FCA7-FC1B-9F6C240EE874}"/>
                </a:ext>
              </a:extLst>
            </p:cNvPr>
            <p:cNvSpPr txBox="1"/>
            <p:nvPr/>
          </p:nvSpPr>
          <p:spPr>
            <a:xfrm>
              <a:off x="268276" y="327968"/>
              <a:ext cx="765162" cy="3279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 spc="-15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endParaRPr lang="en-US" altLang="zh-CN" sz="1200" spc="0" dirty="0">
                <a:solidFill>
                  <a:schemeClr val="bg1"/>
                </a:solidFill>
                <a:effectLst/>
                <a:latin typeface="思源宋体 CN Heavy" pitchFamily="18" charset="-122"/>
                <a:ea typeface="思源宋体 CN Heavy" pitchFamily="18" charset="-122"/>
                <a:sym typeface="思源黑体 CN Normal" panose="020B0400000000000000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9EF49122-4B3A-97A3-538D-7B7E6473208D}"/>
              </a:ext>
            </a:extLst>
          </p:cNvPr>
          <p:cNvSpPr/>
          <p:nvPr/>
        </p:nvSpPr>
        <p:spPr>
          <a:xfrm>
            <a:off x="1089133" y="388937"/>
            <a:ext cx="15133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erif SC" panose="02020200000000000000" charset="-122"/>
              </a:rPr>
              <a:t>小组分工</a:t>
            </a:r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0557F-4B47-2119-B36F-4F143A2B4ADF}"/>
              </a:ext>
            </a:extLst>
          </p:cNvPr>
          <p:cNvSpPr txBox="1"/>
          <p:nvPr/>
        </p:nvSpPr>
        <p:spPr>
          <a:xfrm>
            <a:off x="858390" y="920102"/>
            <a:ext cx="6402022" cy="277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范秋裕（组长）：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四种路由机制部分制作、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汇总美化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赵小芹：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讲解、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总结与提问部分制作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庞   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代码演示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部分、要点总结部分制作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汪子翾：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代码演示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ADK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部分制作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黄晓龙：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概述、实例演示部分制作</a:t>
            </a:r>
          </a:p>
        </p:txBody>
      </p:sp>
    </p:spTree>
    <p:extLst>
      <p:ext uri="{BB962C8B-B14F-4D97-AF65-F5344CB8AC3E}">
        <p14:creationId xmlns:p14="http://schemas.microsoft.com/office/powerpoint/2010/main" val="33691616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GU2ZjNlMTA1ZDAzOTM1NTk4ZDgzNjMxOTgwNTE2YWQi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8267716535433,&quot;left&quot;:313.3118897637795,&quot;top&quot;:42.24858267716535,&quot;width&quot;:330.014015748031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0.3505597811692,&quot;left&quot;:20.230700061350557,&quot;top&quot;:74.19944021883086,&quot;width&quot;:678.819299938649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90055978116914,&quot;left&quot;:20.230700061350557,&quot;top&quot;:74.19944021883086,&quot;width&quot;:678.819299938649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90055978116914,&quot;left&quot;:20.230700061350557,&quot;top&quot;:74.19944021883086,&quot;width&quot;:678.8192999386495}"/>
</p:tagLst>
</file>

<file path=ppt/theme/theme1.xml><?xml version="1.0" encoding="utf-8"?>
<a:theme xmlns:a="http://schemas.openxmlformats.org/drawingml/2006/main" name="第一PPT，www.1ppt.com">
  <a:themeElements>
    <a:clrScheme name="自定义 996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84A72"/>
      </a:accent1>
      <a:accent2>
        <a:srgbClr val="E0A366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1思源黑体">
      <a:majorFont>
        <a:latin typeface="Arial"/>
        <a:ea typeface="思源黑体 CN Heavy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12</TotalTime>
  <Words>2336</Words>
  <Application>Microsoft Office PowerPoint</Application>
  <PresentationFormat>全屏显示(16:9)</PresentationFormat>
  <Paragraphs>247</Paragraphs>
  <Slides>31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Noto Sans SC</vt:lpstr>
      <vt:lpstr>quote-cjk-patch</vt:lpstr>
      <vt:lpstr>思源宋体 CN Heavy</vt:lpstr>
      <vt:lpstr>微软雅黑</vt:lpstr>
      <vt:lpstr>Arial</vt:lpstr>
      <vt:lpstr>Consolas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</dc:title>
  <dc:creator>第一PPT</dc:creator>
  <cp:keywords>www.1ppt.com</cp:keywords>
  <dc:description>www.1ppt.com</dc:description>
  <cp:lastModifiedBy>秋裕 范</cp:lastModifiedBy>
  <cp:revision>34</cp:revision>
  <dcterms:created xsi:type="dcterms:W3CDTF">2022-07-19T09:04:00Z</dcterms:created>
  <dcterms:modified xsi:type="dcterms:W3CDTF">2026-10-12T13:05:10Z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3B58EDE5E9514908AB30219335FF3168</vt:lpwstr>
  </property>
  <property fmtid="{D5CDD505-2E9C-101B-9397-08002B2CF9AE}" pid="3" name="KSOProductBuildVer">
    <vt:lpwstr>2052-12.1.0.29161</vt:lpwstr>
  </property>
  <property fmtid="{D5CDD505-2E9C-101B-9397-08002B2CF9AE}" pid="4" name="KSOTemplateUUID">
    <vt:lpwstr>v1.0_mb_wpjpfxFDr5H2UmXDoaLpzg==</vt:lpwstr>
  </property>
</Properties>
</file>