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1" r:id="rId8"/>
    <p:sldMasterId id="2147483674" r:id="rId9"/>
    <p:sldMasterId id="2147483677" r:id="rId10"/>
    <p:sldMasterId id="2147483680" r:id="rId11"/>
    <p:sldMasterId id="2147483683" r:id="rId12"/>
    <p:sldMasterId id="2147483686" r:id="rId13"/>
    <p:sldMasterId id="2147483689" r:id="rId14"/>
    <p:sldMasterId id="2147483692" r:id="rId15"/>
    <p:sldMasterId id="2147483695" r:id="rId16"/>
    <p:sldMasterId id="2147483698" r:id="rId17"/>
    <p:sldMasterId id="2147483701" r:id="rId18"/>
    <p:sldMasterId id="2147483704" r:id="rId19"/>
    <p:sldMasterId id="2147483706" r:id="rId20"/>
    <p:sldMasterId id="2147483708" r:id="rId21"/>
  </p:sldMasterIdLst>
  <p:notesMasterIdLst>
    <p:notesMasterId r:id="rId23"/>
  </p:notesMasterIdLst>
  <p:sldIdLst>
    <p:sldId id="256" r:id="rId22"/>
    <p:sldId id="257" r:id="rId24"/>
    <p:sldId id="258" r:id="rId25"/>
    <p:sldId id="275" r:id="rId26"/>
    <p:sldId id="276" r:id="rId27"/>
    <p:sldId id="278" r:id="rId28"/>
    <p:sldId id="279" r:id="rId29"/>
    <p:sldId id="262" r:id="rId30"/>
    <p:sldId id="263" r:id="rId31"/>
    <p:sldId id="264" r:id="rId32"/>
    <p:sldId id="281" r:id="rId33"/>
    <p:sldId id="265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70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80" r:id="rId5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93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93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30.xml"/><Relationship Id="rId51" Type="http://schemas.openxmlformats.org/officeDocument/2006/relationships/slide" Target="slides/slide29.xml"/><Relationship Id="rId50" Type="http://schemas.openxmlformats.org/officeDocument/2006/relationships/slide" Target="slides/slide28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7.xml"/><Relationship Id="rId48" Type="http://schemas.openxmlformats.org/officeDocument/2006/relationships/slide" Target="slides/slide26.xml"/><Relationship Id="rId47" Type="http://schemas.openxmlformats.org/officeDocument/2006/relationships/slide" Target="slides/slide25.xml"/><Relationship Id="rId46" Type="http://schemas.openxmlformats.org/officeDocument/2006/relationships/slide" Target="slides/slide24.xml"/><Relationship Id="rId45" Type="http://schemas.openxmlformats.org/officeDocument/2006/relationships/slide" Target="slides/slide23.xml"/><Relationship Id="rId44" Type="http://schemas.openxmlformats.org/officeDocument/2006/relationships/slide" Target="slides/slide22.xml"/><Relationship Id="rId43" Type="http://schemas.openxmlformats.org/officeDocument/2006/relationships/slide" Target="slides/slide21.xml"/><Relationship Id="rId42" Type="http://schemas.openxmlformats.org/officeDocument/2006/relationships/slide" Target="slides/slide20.xml"/><Relationship Id="rId41" Type="http://schemas.openxmlformats.org/officeDocument/2006/relationships/slide" Target="slides/slide19.xml"/><Relationship Id="rId40" Type="http://schemas.openxmlformats.org/officeDocument/2006/relationships/slide" Target="slides/slide1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7.xml"/><Relationship Id="rId38" Type="http://schemas.openxmlformats.org/officeDocument/2006/relationships/slide" Target="slides/slide16.xml"/><Relationship Id="rId37" Type="http://schemas.openxmlformats.org/officeDocument/2006/relationships/slide" Target="slides/slide15.xml"/><Relationship Id="rId36" Type="http://schemas.openxmlformats.org/officeDocument/2006/relationships/slide" Target="slides/slide14.xml"/><Relationship Id="rId35" Type="http://schemas.openxmlformats.org/officeDocument/2006/relationships/slide" Target="slides/slide13.xml"/><Relationship Id="rId34" Type="http://schemas.openxmlformats.org/officeDocument/2006/relationships/slide" Target="slides/slide12.xml"/><Relationship Id="rId33" Type="http://schemas.openxmlformats.org/officeDocument/2006/relationships/slide" Target="slides/slide11.xml"/><Relationship Id="rId32" Type="http://schemas.openxmlformats.org/officeDocument/2006/relationships/slide" Target="slides/slide10.xml"/><Relationship Id="rId31" Type="http://schemas.openxmlformats.org/officeDocument/2006/relationships/slide" Target="slides/slide9.xml"/><Relationship Id="rId30" Type="http://schemas.openxmlformats.org/officeDocument/2006/relationships/slide" Target="slides/slide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7.xml"/><Relationship Id="rId28" Type="http://schemas.openxmlformats.org/officeDocument/2006/relationships/slide" Target="slides/slide6.xml"/><Relationship Id="rId27" Type="http://schemas.openxmlformats.org/officeDocument/2006/relationships/slide" Target="slides/slide5.xml"/><Relationship Id="rId26" Type="http://schemas.openxmlformats.org/officeDocument/2006/relationships/slide" Target="slides/slide4.xml"/><Relationship Id="rId25" Type="http://schemas.openxmlformats.org/officeDocument/2006/relationships/slide" Target="slides/slide3.xml"/><Relationship Id="rId24" Type="http://schemas.openxmlformats.org/officeDocument/2006/relationships/slide" Target="slides/slide2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开场页。1号负责开场，介绍小组分工与本章主题。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目录页。1号负责开场，按四部分介绍汇报结构。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1号章节引题。抛出驱动问题：为什么需要规划？后续3页分别回答概念、原理、场景。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讲述建议，约55秒】Planning的核心是让智能体形成一系列行动，从初始状态走向目标状态。复杂任务通常包含多个步骤、依赖关系和不确定信息，所以智能体不能只对当前输入做一次反应。图中初始状态表示已有资源和约束，行动序列负责拆解、排序和协调，目标状态表示最终结果。一般来说，当任务无法靠一次行动完成、步骤之间相互依赖，或者‘如何做’还不明确时，Planning更有价值。如果步骤早已固定并可重复，固定工作流反而更稳定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【原文对应】Chapter 6 PDF第1页：Chapter 6 Planning；Planning Pattern Overview。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讲述建议，约70秒】用一个贴近研究生日常的例子理解Planning。用户只说‘帮我准备下周的研究生组会汇报’，这给出了目标，但没有规定具体做法。普通问答式AI可能直接生成一段汇报文字；具备Planning能力的智能体会先拆解任务，例如确定主题、阅读相关论文、整理核心内容、制作PPT。完成后还要检查结果，必要时调整计划。它之所以体现Planning，不只是因为列出了四个步骤，而是因为AI知道最终目标、能够拆解子任务、安排先后依赖，并在新信息出现时修改计划。这是教学示例，不是原文案例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【内容性质】教学示例，用于解释Planning概念。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【讲述建议，约60秒】Planning有三个核心特点。Goal-oriented表示行为围绕目标状态展开；Task Decomposition表示把高层目标拆成可执行步骤；Adaptability表示计划遇到新约束后可以重新评估。这里还要强调使用边界。固定工作流把步骤预先写好，更适合明确、重复性高的任务，优点是稳定和可预测。动态Planning根据任务和环境生成或调整路径，更适合‘如何做’尚未确定的复杂问题。它更灵活，但也带来不确定性。因此Planning不是任何场景下都优于固定流程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【原文对应】Chapter 6 PDF第1页：Planning Pattern Overview；第9页：At a Glance；第10页：Key Takeaways。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讲述建议，约55秒】原文给出四类典型应用。业务流程自动化需要管理步骤依赖，例如新员工入职；机器人和自主导航需要规划路径并遵守环境约束；研究报告生成需要分阶段收集、分析和组织信息；客户服务则常常包含诊断、解决和升级等多个步骤。它们的共同点是最终结果依赖一组连贯、相互关联的操作。讲到这里可以自然过渡到下一位同学的CrewAI代码实践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【原文对应】Chapter 6 PDF第1–2页：Practical Applications &amp; Use Cases。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2号章节引题。抛出CrewAI如何落地Planning模式。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2号框架概览页。讲清Agent/Task/Crew/LLM/kickoff五要素，右侧黑底框说明本例具体目标。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2号核心代码页。左侧深色代码块还原PDF原文，右侧逐条解读关键参数。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2号执行流程页。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封面标题和内容沿用用户提供 PPT 首页；视觉改为浅蓝科技风。右侧流程说明研究计划、多轮检索、结构化报告，所有文字、线条与图形均为可编辑 PPT 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先讲清两个概念：Deep Research 是“先计划、再多步检索、最后出带引用报告”的智能体；Planning 是其中把目标拆成可执行动作序列并动态调整的能力。强调它和普通单轮问答的本质区别——有计划、有工具、有证据核验。右侧用欧洲风投案例预告后面几页的流程。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顺着原图讲：用户给出目标，Prompt 承载要求，Agent 生成 Plans；执行过程中计划可以反馈回 Agent 修订，最终 Output 返回用户。关键是强调“计划可修订”，它区别于固定的脚本式工作流。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这是一张我们自己抽象的教学框架：从上到下是交互、规划、工具、验证、产出五层。要特别向听众说明，这不是 Google 内部架构图，而是根据章节描述和公开文档归纳的理解模型。底部虚线表示异步任务和状态反馈贯穿全程。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对着原图讲 6 个子任务：从总量、领先国家、增速，到增长最快国家、原因分析和行业驱动。重点指出界面下方的 Edit plan 和 Start research——用户在执行前可以改计划，这是“先审阅再执行”的人工参与节点。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左侧原图是研究执行时的思考推演和正在阅读的网站列表。右侧用闭环讲清：搜索、阅读、评估；如果有缺口或冲突就改写查询回到搜索，证据充分才综合写报告。强调截图只是过程示例，不能反推内部算法。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左侧是最终报告截图。右侧讲核验链：每个结论都能回溯到具体数据和来源。用报告里真实出现的冲突数字举例——同一年总量在 Crunchbase、Invest Europe、GoingVC、PitchBook 口径下完全不同，正说明保留来源、年份和统计定义的必要性。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一页讲怎么设计一个好的研究任务。左边是输入侧：把主题、时间、地域、比较对象、交付格式都限定清楚；右边是验收侧：来源权威、交叉核验、冲突并列、未知项明说。底部用一行小闭环把前面几页串起来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代码只做三件事：plan 拿计划、refine 改计划、run 批准后异步执行并轮询到完成，最后导出报告。关键参数是 agent 标识、collaborative_planning、previous_interaction_id 和 background。要说明这是公开 API 流程，不代表复刻 Google 内部实现。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4号章节引题。抛出OpenAI Deep Research API怎么调怎么收。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 Planning Design Pattern 的完整流程图。左侧是垂直的七个节点：从用户高层目标开始，经过 Planner 拆解、Plan Validation 校验、Executor 执行、Observation 观察、Re-planning 修正，最后到达 Final Outcome。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注意左侧的虚线反馈回路——当观察到信息不足或来源矛盾时，会回到 Planner 重新制定计划。这是闭环控制的关键。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 Deep Research API 的映射关系：Planner 对应生成研究计划，Executor 对应调用网页搜索和代码解释器，Observation 对应分析搜索结果，Re-planning 对应补充查询与交叉验证，Final Outcome 对应生成带引用的研究报告。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小组分工总览页。依次介绍四位成员负责的章节范围、讲述重点和协作职责。全组均上台，每人讲述时间控制在约4至5分钟。最后强调各自制作、统一合并、集体排练和时间平衡四个协作环节。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40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41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6" Type="http://schemas.openxmlformats.org/officeDocument/2006/relationships/notesSlide" Target="../notesSlides/notesSlide15.xml"/><Relationship Id="rId25" Type="http://schemas.openxmlformats.org/officeDocument/2006/relationships/slideLayout" Target="../slideLayouts/slideLayout22.xml"/><Relationship Id="rId24" Type="http://schemas.openxmlformats.org/officeDocument/2006/relationships/tags" Target="../tags/tag38.xml"/><Relationship Id="rId23" Type="http://schemas.openxmlformats.org/officeDocument/2006/relationships/tags" Target="../tags/tag37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10.png"/><Relationship Id="rId2" Type="http://schemas.openxmlformats.org/officeDocument/2006/relationships/hyperlink" Target="&#26032;&#24314;%20&#25991;&#26412;&#25991;&#26723;.html" TargetMode="Externa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3" Type="http://schemas.openxmlformats.org/officeDocument/2006/relationships/slideLayout" Target="../slideLayouts/slideLayout35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1270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AGENTIC DESIGN PATTERNS · CHAPTER 6</a:t>
            </a:r>
            <a:endParaRPr lang="en-US" sz="24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77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Planning：智能体的规划能力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79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从原理到CrewAI/Google Deep Research/OpenAI API的工程实践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8647">
            <a:off x="10160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970280" y="397891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</a:t>
            </a:r>
            <a:endParaRPr lang="en-US" sz="2400" b="1" i="0" u="none" strike="noStrike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016000" y="4645025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齐凡</a:t>
            </a:r>
            <a:r>
              <a:rPr lang="en-US" sz="20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·　</a:t>
            </a:r>
            <a:r>
              <a:rPr lang="zh-CN" altLang="en-US" sz="20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刘芼宏</a:t>
            </a:r>
            <a:r>
              <a:rPr lang="en-US" sz="20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·　</a:t>
            </a:r>
            <a:r>
              <a:rPr lang="en-US" sz="20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刘佳乐</a:t>
            </a:r>
            <a:r>
              <a:rPr lang="en-US" sz="20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·　</a:t>
            </a:r>
            <a:r>
              <a:rPr lang="zh-CN" altLang="en-US" sz="20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杨志鹏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985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CONTENTS/汇报目录</a:t>
            </a:r>
            <a:endParaRPr lang="en-US" sz="36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614249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905000" y="2614249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Planning 基本原理</a:t>
            </a:r>
            <a:endParaRPr lang="en-US" sz="2400"/>
          </a:p>
        </p:txBody>
      </p:sp>
      <p:sp>
        <p:nvSpPr>
          <p:cNvPr id="7" name="AutoShape 7"/>
          <p:cNvSpPr txBox="1"/>
          <p:nvPr/>
        </p:nvSpPr>
        <p:spPr>
          <a:xfrm>
            <a:off x="1905000" y="2969849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齐凡</a:t>
            </a:r>
            <a:r>
              <a:rPr 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|　概念 · 工作原理 · 应用场景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614249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239000" y="2614249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CrewAI 代码实践</a:t>
            </a:r>
            <a:endParaRPr lang="en-US" sz="2400"/>
          </a:p>
        </p:txBody>
      </p:sp>
      <p:sp>
        <p:nvSpPr>
          <p:cNvPr id="10" name="AutoShape 10"/>
          <p:cNvSpPr txBox="1"/>
          <p:nvPr/>
        </p:nvSpPr>
        <p:spPr>
          <a:xfrm>
            <a:off x="7239000" y="2969849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刘芼宏</a:t>
            </a:r>
            <a:r>
              <a:rPr 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|　框架 · 核心代码 · 执行流程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3884249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905000" y="3884249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Google Deep Research 案例</a:t>
            </a:r>
            <a:endParaRPr lang="en-US" sz="2400"/>
          </a:p>
        </p:txBody>
      </p:sp>
      <p:sp>
        <p:nvSpPr>
          <p:cNvPr id="13" name="AutoShape 13"/>
          <p:cNvSpPr txBox="1"/>
          <p:nvPr/>
        </p:nvSpPr>
        <p:spPr>
          <a:xfrm>
            <a:off x="1905000" y="4239849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刘佳乐</a:t>
            </a:r>
            <a:r>
              <a:rPr 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|　</a:t>
            </a:r>
            <a:r>
              <a:rPr lang="zh-CN" alt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基础概念</a:t>
            </a:r>
            <a:r>
              <a:rPr 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设计方法</a:t>
            </a:r>
            <a:r>
              <a:rPr 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案例分析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3884249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239000" y="3884249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OpenAI Deep Research API</a:t>
            </a:r>
            <a:endParaRPr lang="en-US" sz="2400"/>
          </a:p>
        </p:txBody>
      </p:sp>
      <p:sp>
        <p:nvSpPr>
          <p:cNvPr id="16" name="AutoShape 16"/>
          <p:cNvSpPr txBox="1"/>
          <p:nvPr/>
        </p:nvSpPr>
        <p:spPr>
          <a:xfrm>
            <a:off x="7239000" y="4239849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杨志鹏</a:t>
            </a:r>
            <a:r>
              <a:rPr lang="en-US" sz="12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|　API 流程 · 代码作用 · 本章总结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016000" y="6350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· Planning　|　小组汇报　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397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01 · 汇报人：</a:t>
            </a:r>
            <a:r>
              <a:rPr lang="en-US" sz="1200" b="1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齐凡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2032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为什么智能体需要"规划"，而不是直接行动？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5016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本章从概念、工作原理与应用场景三个层面，讲清 Planning 模式如何把"反应式"智能体升级为"目标导向"智能体。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6350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· Planning　|　01 基本原理　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2" name="直接箭头连接符 11"/>
          <p:cNvCxnSpPr>
            <a:stCxn id="9" idx="3"/>
            <a:endCxn id="10" idx="1"/>
          </p:cNvCxnSpPr>
          <p:nvPr/>
        </p:nvCxnSpPr>
        <p:spPr>
          <a:xfrm>
            <a:off x="9696450" y="2838450"/>
            <a:ext cx="5143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1" name="直接箭头连接符 10"/>
          <p:cNvCxnSpPr>
            <a:stCxn id="8" idx="3"/>
            <a:endCxn id="9" idx="1"/>
          </p:cNvCxnSpPr>
          <p:nvPr/>
        </p:nvCxnSpPr>
        <p:spPr>
          <a:xfrm>
            <a:off x="7086600" y="2838450"/>
            <a:ext cx="5143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21" name="section-1"/>
          <p:cNvSpPr>
            <a:spLocks noGrp="1"/>
          </p:cNvSpPr>
          <p:nvPr/>
        </p:nvSpPr>
        <p:spPr>
          <a:xfrm>
            <a:off x="1016032" y="571500"/>
            <a:ext cx="5905500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SECTION 01 · 概念与定义</a:t>
            </a:r>
            <a:endParaRPr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title-1"/>
          <p:cNvSpPr>
            <a:spLocks noGrp="1"/>
          </p:cNvSpPr>
          <p:nvPr/>
        </p:nvSpPr>
        <p:spPr>
          <a:xfrm>
            <a:off x="1016032" y="952500"/>
            <a:ext cx="10160032" cy="5079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Planning模式：让智能体学会规划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itle-divider-1"/>
          <p:cNvSpPr>
            <a:spLocks noGrp="1"/>
          </p:cNvSpPr>
          <p:nvPr/>
        </p:nvSpPr>
        <p:spPr>
          <a:xfrm>
            <a:off x="1016032" y="1619250"/>
            <a:ext cx="10160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footer-1"/>
          <p:cNvSpPr>
            <a:spLocks noGrp="1"/>
          </p:cNvSpPr>
          <p:nvPr/>
        </p:nvSpPr>
        <p:spPr>
          <a:xfrm>
            <a:off x="1016032" y="6350032"/>
            <a:ext cx="10160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来源：PDF 第1页 · Planning Pattern Overview　</a:t>
            </a:r>
            <a:endParaRPr sz="11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definition-label"/>
          <p:cNvSpPr>
            <a:spLocks noGrp="1"/>
          </p:cNvSpPr>
          <p:nvPr/>
        </p:nvSpPr>
        <p:spPr>
          <a:xfrm>
            <a:off x="1016032" y="20002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核心定义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definition-main"/>
          <p:cNvSpPr>
            <a:spLocks noGrp="1"/>
          </p:cNvSpPr>
          <p:nvPr/>
        </p:nvSpPr>
        <p:spPr>
          <a:xfrm>
            <a:off x="1016032" y="2381250"/>
            <a:ext cx="390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Planning让智能体形成一系列行动，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从初始状态逐步走向目标状态。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definition-detail"/>
          <p:cNvSpPr>
            <a:spLocks noGrp="1"/>
          </p:cNvSpPr>
          <p:nvPr/>
        </p:nvSpPr>
        <p:spPr>
          <a:xfrm>
            <a:off x="1016032" y="3562350"/>
            <a:ext cx="3905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复杂任务通常包含多个步骤、前后依赖和不确定信息。规划把高层目标转成可执行的步骤与顺序。</a:t>
            </a:r>
            <a:endParaRPr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initial-state"/>
          <p:cNvSpPr>
            <a:spLocks noGrp="1"/>
          </p:cNvSpPr>
          <p:nvPr/>
        </p:nvSpPr>
        <p:spPr>
          <a:xfrm>
            <a:off x="5505450" y="2247900"/>
            <a:ext cx="1581150" cy="1181100"/>
          </a:xfrm>
          <a:prstGeom prst="roundRect">
            <a:avLst>
              <a:gd name="adj" fmla="val 403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初始状态</a:t>
            </a:r>
            <a:endParaRPr sz="12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sz="1275">
              <a:sym typeface="+mn-ea"/>
            </a:endParaRPr>
          </a:p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资源、约束</a:t>
            </a:r>
            <a:endParaRPr sz="12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当前条件</a:t>
            </a:r>
            <a:endParaRPr sz="12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action-sequence"/>
          <p:cNvSpPr>
            <a:spLocks noGrp="1"/>
          </p:cNvSpPr>
          <p:nvPr/>
        </p:nvSpPr>
        <p:spPr>
          <a:xfrm>
            <a:off x="7600950" y="2076450"/>
            <a:ext cx="2095500" cy="152400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9525">
            <a:solidFill>
              <a:srgbClr val="60A5FA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行动序列</a:t>
            </a:r>
            <a:endParaRPr sz="12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sz="1275">
              <a:sym typeface="+mn-ea"/>
            </a:endParaRPr>
          </a:p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拆解子任务</a:t>
            </a:r>
            <a:endParaRPr sz="12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安排先后顺序</a:t>
            </a:r>
            <a:endParaRPr sz="12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协调依赖关系</a:t>
            </a:r>
            <a:endParaRPr sz="12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goal-state"/>
          <p:cNvSpPr>
            <a:spLocks noGrp="1"/>
          </p:cNvSpPr>
          <p:nvPr/>
        </p:nvSpPr>
        <p:spPr>
          <a:xfrm>
            <a:off x="10210800" y="2247900"/>
            <a:ext cx="1238250" cy="1181100"/>
          </a:xfrm>
          <a:prstGeom prst="roundRect">
            <a:avLst>
              <a:gd name="adj" fmla="val 403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目标状态</a:t>
            </a:r>
            <a:endParaRPr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sz="1275">
              <a:sym typeface="+mn-ea"/>
            </a:endParaRPr>
          </a:p>
          <a:p>
            <a:pPr algn="ctr">
              <a:def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预期结果</a:t>
            </a:r>
            <a:endParaRPr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def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已经达成</a:t>
            </a:r>
            <a:endParaRPr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when-label"/>
          <p:cNvSpPr>
            <a:spLocks noGrp="1"/>
          </p:cNvSpPr>
          <p:nvPr/>
        </p:nvSpPr>
        <p:spPr>
          <a:xfrm>
            <a:off x="1016032" y="48196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何时需要Planning</a:t>
            </a:r>
            <a:endParaRPr sz="14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condition-num-0"/>
          <p:cNvSpPr>
            <a:spLocks noGrp="1"/>
          </p:cNvSpPr>
          <p:nvPr/>
        </p:nvSpPr>
        <p:spPr>
          <a:xfrm>
            <a:off x="1016032" y="52578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condition-text-0"/>
          <p:cNvSpPr>
            <a:spLocks noGrp="1"/>
          </p:cNvSpPr>
          <p:nvPr/>
        </p:nvSpPr>
        <p:spPr>
          <a:xfrm>
            <a:off x="1435132" y="5257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一次行动无法完成</a:t>
            </a:r>
            <a:endParaRPr sz="1350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condition-num-1"/>
          <p:cNvSpPr>
            <a:spLocks noGrp="1"/>
          </p:cNvSpPr>
          <p:nvPr/>
        </p:nvSpPr>
        <p:spPr>
          <a:xfrm>
            <a:off x="4521232" y="52578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condition-text-1"/>
          <p:cNvSpPr>
            <a:spLocks noGrp="1"/>
          </p:cNvSpPr>
          <p:nvPr/>
        </p:nvSpPr>
        <p:spPr>
          <a:xfrm>
            <a:off x="4940332" y="5257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步骤之间存在依赖</a:t>
            </a:r>
            <a:endParaRPr sz="1350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condition-num-2"/>
          <p:cNvSpPr>
            <a:spLocks noGrp="1"/>
          </p:cNvSpPr>
          <p:nvPr/>
        </p:nvSpPr>
        <p:spPr>
          <a:xfrm>
            <a:off x="8026432" y="52578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</a:t>
            </a:r>
            <a:endParaRPr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condition-text-2"/>
          <p:cNvSpPr>
            <a:spLocks noGrp="1"/>
          </p:cNvSpPr>
          <p:nvPr/>
        </p:nvSpPr>
        <p:spPr>
          <a:xfrm>
            <a:off x="8445532" y="5257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“如何做”需要探索</a:t>
            </a:r>
            <a:endParaRPr sz="1350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boundary"/>
          <p:cNvSpPr>
            <a:spLocks noGrp="1"/>
          </p:cNvSpPr>
          <p:nvPr/>
        </p:nvSpPr>
        <p:spPr>
          <a:xfrm>
            <a:off x="1016032" y="5829300"/>
            <a:ext cx="1016003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如果步骤早已明确且可重复，固定工作流通常更稳定。</a:t>
            </a:r>
            <a:endParaRPr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section-4"/>
          <p:cNvSpPr>
            <a:spLocks noGrp="1"/>
          </p:cNvSpPr>
          <p:nvPr/>
        </p:nvSpPr>
        <p:spPr>
          <a:xfrm>
            <a:off x="1016032" y="571500"/>
            <a:ext cx="5905500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SECTION 01 · 教学案例</a:t>
            </a:r>
            <a:endParaRPr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title-4"/>
          <p:cNvSpPr>
            <a:spLocks noGrp="1"/>
          </p:cNvSpPr>
          <p:nvPr/>
        </p:nvSpPr>
        <p:spPr>
          <a:xfrm>
            <a:off x="1016032" y="952500"/>
            <a:ext cx="10160032" cy="5079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教学案例：准备研究生组会汇报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itle-divider-4"/>
          <p:cNvSpPr>
            <a:spLocks noGrp="1"/>
          </p:cNvSpPr>
          <p:nvPr/>
        </p:nvSpPr>
        <p:spPr>
          <a:xfrm>
            <a:off x="1016032" y="1619250"/>
            <a:ext cx="10160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footer-4"/>
          <p:cNvSpPr>
            <a:spLocks noGrp="1"/>
          </p:cNvSpPr>
          <p:nvPr/>
        </p:nvSpPr>
        <p:spPr>
          <a:xfrm>
            <a:off x="1016032" y="6350032"/>
            <a:ext cx="10160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教学示例，非原文案例　</a:t>
            </a:r>
            <a:endParaRPr sz="11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example-intro"/>
          <p:cNvSpPr>
            <a:spLocks noGrp="1"/>
          </p:cNvSpPr>
          <p:nvPr/>
        </p:nvSpPr>
        <p:spPr>
          <a:xfrm>
            <a:off x="1016032" y="19240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用户对AI说：帮我准备下周的研究生组会汇报。</a:t>
            </a:r>
            <a:endParaRPr sz="1425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example-contrast"/>
          <p:cNvSpPr>
            <a:spLocks noGrp="1"/>
          </p:cNvSpPr>
          <p:nvPr/>
        </p:nvSpPr>
        <p:spPr>
          <a:xfrm>
            <a:off x="1016032" y="2324100"/>
            <a:ext cx="685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普通问答式AI可能直接生成一段文字；具备Planning能力的智能体会先考虑整个任务需要什么。</a:t>
            </a:r>
            <a:endParaRPr sz="12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goal-banner"/>
          <p:cNvSpPr>
            <a:spLocks noGrp="1"/>
          </p:cNvSpPr>
          <p:nvPr/>
        </p:nvSpPr>
        <p:spPr>
          <a:xfrm>
            <a:off x="1016032" y="2990850"/>
            <a:ext cx="6858000" cy="4762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8" name="goal-banner-text"/>
          <p:cNvSpPr>
            <a:spLocks noGrp="1"/>
          </p:cNvSpPr>
          <p:nvPr/>
        </p:nvSpPr>
        <p:spPr>
          <a:xfrm>
            <a:off x="1206532" y="3114675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用户目标：准备组会汇报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example-step-1"/>
          <p:cNvSpPr>
            <a:spLocks noGrp="1"/>
          </p:cNvSpPr>
          <p:nvPr/>
        </p:nvSpPr>
        <p:spPr>
          <a:xfrm>
            <a:off x="1016032" y="3714750"/>
            <a:ext cx="32194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确定汇报主题</a:t>
            </a:r>
            <a:endParaRPr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example-step-2"/>
          <p:cNvSpPr>
            <a:spLocks noGrp="1"/>
          </p:cNvSpPr>
          <p:nvPr/>
        </p:nvSpPr>
        <p:spPr>
          <a:xfrm>
            <a:off x="4654582" y="3714750"/>
            <a:ext cx="32194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阅读相关论文</a:t>
            </a:r>
            <a:endParaRPr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example-step-3"/>
          <p:cNvSpPr>
            <a:spLocks noGrp="1"/>
          </p:cNvSpPr>
          <p:nvPr/>
        </p:nvSpPr>
        <p:spPr>
          <a:xfrm>
            <a:off x="1016032" y="4419600"/>
            <a:ext cx="32194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整理核心内容</a:t>
            </a:r>
            <a:endParaRPr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example-step-4"/>
          <p:cNvSpPr>
            <a:spLocks noGrp="1"/>
          </p:cNvSpPr>
          <p:nvPr/>
        </p:nvSpPr>
        <p:spPr>
          <a:xfrm>
            <a:off x="4654582" y="4419600"/>
            <a:ext cx="32194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>
            <a:def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制作汇报PPT</a:t>
            </a:r>
            <a:endParaRPr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review-step"/>
          <p:cNvSpPr>
            <a:spLocks noGrp="1"/>
          </p:cNvSpPr>
          <p:nvPr/>
        </p:nvSpPr>
        <p:spPr>
          <a:xfrm>
            <a:off x="2381250" y="5200650"/>
            <a:ext cx="4133850" cy="45720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4" name="review-step-text"/>
          <p:cNvSpPr>
            <a:spLocks noGrp="1"/>
          </p:cNvSpPr>
          <p:nvPr/>
        </p:nvSpPr>
        <p:spPr>
          <a:xfrm>
            <a:off x="2571750" y="5314950"/>
            <a:ext cx="3752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检查结果，必要时调整计划</a:t>
            </a:r>
            <a:endParaRPr sz="13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example-target"/>
          <p:cNvSpPr>
            <a:spLocks noGrp="1"/>
          </p:cNvSpPr>
          <p:nvPr/>
        </p:nvSpPr>
        <p:spPr>
          <a:xfrm>
            <a:off x="2381250" y="5810250"/>
            <a:ext cx="4133850" cy="40005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6" name="example-target-text"/>
          <p:cNvSpPr>
            <a:spLocks noGrp="1"/>
          </p:cNvSpPr>
          <p:nvPr/>
        </p:nvSpPr>
        <p:spPr>
          <a:xfrm>
            <a:off x="2571750" y="590550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00" b="1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00" b="1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目标：完成组会准备</a:t>
            </a:r>
            <a:endParaRPr sz="1300" b="1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why-planning"/>
          <p:cNvSpPr>
            <a:spLocks noGrp="1"/>
          </p:cNvSpPr>
          <p:nvPr/>
        </p:nvSpPr>
        <p:spPr>
          <a:xfrm>
            <a:off x="8382000" y="20193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为什么这是Planning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reason-dot-0"/>
          <p:cNvSpPr>
            <a:spLocks noGrp="1"/>
          </p:cNvSpPr>
          <p:nvPr/>
        </p:nvSpPr>
        <p:spPr>
          <a:xfrm>
            <a:off x="8401050" y="2676525"/>
            <a:ext cx="247650" cy="247650"/>
          </a:xfrm>
          <a:prstGeom prst="ellipse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reason-text-0"/>
          <p:cNvSpPr>
            <a:spLocks noGrp="1"/>
          </p:cNvSpPr>
          <p:nvPr/>
        </p:nvSpPr>
        <p:spPr>
          <a:xfrm>
            <a:off x="8801100" y="264795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AI知道最终目标是什么</a:t>
            </a:r>
            <a:endParaRPr sz="1275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reason-dot-1"/>
          <p:cNvSpPr>
            <a:spLocks noGrp="1"/>
          </p:cNvSpPr>
          <p:nvPr/>
        </p:nvSpPr>
        <p:spPr>
          <a:xfrm>
            <a:off x="8401050" y="3457575"/>
            <a:ext cx="247650" cy="247650"/>
          </a:xfrm>
          <a:prstGeom prst="ellipse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reason-text-1"/>
          <p:cNvSpPr>
            <a:spLocks noGrp="1"/>
          </p:cNvSpPr>
          <p:nvPr/>
        </p:nvSpPr>
        <p:spPr>
          <a:xfrm>
            <a:off x="8801100" y="342900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AI把目标拆解为较小任务</a:t>
            </a:r>
            <a:endParaRPr sz="1275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reason-dot-2"/>
          <p:cNvSpPr>
            <a:spLocks noGrp="1"/>
          </p:cNvSpPr>
          <p:nvPr/>
        </p:nvSpPr>
        <p:spPr>
          <a:xfrm>
            <a:off x="8401050" y="4238625"/>
            <a:ext cx="247650" cy="247650"/>
          </a:xfrm>
          <a:prstGeom prst="ellipse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reason-text-2"/>
          <p:cNvSpPr>
            <a:spLocks noGrp="1"/>
          </p:cNvSpPr>
          <p:nvPr/>
        </p:nvSpPr>
        <p:spPr>
          <a:xfrm>
            <a:off x="8801100" y="421005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AI安排任务的先后关系</a:t>
            </a:r>
            <a:endParaRPr sz="1275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reason-dot-3"/>
          <p:cNvSpPr>
            <a:spLocks noGrp="1"/>
          </p:cNvSpPr>
          <p:nvPr/>
        </p:nvSpPr>
        <p:spPr>
          <a:xfrm>
            <a:off x="8401050" y="5019675"/>
            <a:ext cx="247650" cy="2476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reason-text-3"/>
          <p:cNvSpPr>
            <a:spLocks noGrp="1"/>
          </p:cNvSpPr>
          <p:nvPr/>
        </p:nvSpPr>
        <p:spPr>
          <a:xfrm>
            <a:off x="8801100" y="499110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遇到新情况时可重新制定计划</a:t>
            </a:r>
            <a:endParaRPr sz="1275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example-note"/>
          <p:cNvSpPr>
            <a:spLocks noGrp="1"/>
          </p:cNvSpPr>
          <p:nvPr/>
        </p:nvSpPr>
        <p:spPr>
          <a:xfrm>
            <a:off x="8382000" y="5810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用于理解Planning的教学示例，并非书中原始案例。</a:t>
            </a:r>
            <a:endParaRPr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section-3"/>
          <p:cNvSpPr>
            <a:spLocks noGrp="1"/>
          </p:cNvSpPr>
          <p:nvPr/>
        </p:nvSpPr>
        <p:spPr>
          <a:xfrm>
            <a:off x="1016032" y="571500"/>
            <a:ext cx="5905500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SECTION 01 · 核心特点与边界</a:t>
            </a:r>
            <a:endParaRPr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title-3"/>
          <p:cNvSpPr>
            <a:spLocks noGrp="1"/>
          </p:cNvSpPr>
          <p:nvPr/>
        </p:nvSpPr>
        <p:spPr>
          <a:xfrm>
            <a:off x="1016032" y="952500"/>
            <a:ext cx="10160032" cy="5079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Planning的核心特点与适用边界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itle-divider-3"/>
          <p:cNvSpPr>
            <a:spLocks noGrp="1"/>
          </p:cNvSpPr>
          <p:nvPr/>
        </p:nvSpPr>
        <p:spPr>
          <a:xfrm>
            <a:off x="1016032" y="1619250"/>
            <a:ext cx="10160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footer-3"/>
          <p:cNvSpPr>
            <a:spLocks noGrp="1"/>
          </p:cNvSpPr>
          <p:nvPr/>
        </p:nvSpPr>
        <p:spPr>
          <a:xfrm>
            <a:off x="1016032" y="6350032"/>
            <a:ext cx="10160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来源： At a Glance / Key Takeaways　</a:t>
            </a:r>
            <a:endParaRPr sz="11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016032" y="2057400"/>
            <a:ext cx="295275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" name="Goal-oriented-name"/>
          <p:cNvSpPr>
            <a:spLocks noGrp="1"/>
          </p:cNvSpPr>
          <p:nvPr/>
        </p:nvSpPr>
        <p:spPr>
          <a:xfrm>
            <a:off x="1016032" y="22098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Goal-oriented</a:t>
            </a:r>
            <a:endParaRPr sz="1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Goal-oriented-cn"/>
          <p:cNvSpPr>
            <a:spLocks noGrp="1"/>
          </p:cNvSpPr>
          <p:nvPr/>
        </p:nvSpPr>
        <p:spPr>
          <a:xfrm>
            <a:off x="1016032" y="2476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目标导向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Goal-oriented-detail"/>
          <p:cNvSpPr>
            <a:spLocks noGrp="1"/>
          </p:cNvSpPr>
          <p:nvPr/>
        </p:nvSpPr>
        <p:spPr>
          <a:xfrm>
            <a:off x="1016032" y="2857500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围绕目标状态组织行动，而不是只响应当前输入</a:t>
            </a:r>
            <a:endParaRPr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4524375" y="2057400"/>
            <a:ext cx="295275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0" name="Task Decomposition-name"/>
          <p:cNvSpPr>
            <a:spLocks noGrp="1"/>
          </p:cNvSpPr>
          <p:nvPr/>
        </p:nvSpPr>
        <p:spPr>
          <a:xfrm>
            <a:off x="4524375" y="22098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Task Decomposition</a:t>
            </a:r>
            <a:endParaRPr sz="1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Task Decomposition-cn"/>
          <p:cNvSpPr>
            <a:spLocks noGrp="1"/>
          </p:cNvSpPr>
          <p:nvPr/>
        </p:nvSpPr>
        <p:spPr>
          <a:xfrm>
            <a:off x="4524375" y="2476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任务拆解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Task Decomposition-detail"/>
          <p:cNvSpPr>
            <a:spLocks noGrp="1"/>
          </p:cNvSpPr>
          <p:nvPr/>
        </p:nvSpPr>
        <p:spPr>
          <a:xfrm>
            <a:off x="4524375" y="2857500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把高层目标转成更小、可执行且相互衔接的步骤</a:t>
            </a:r>
            <a:endParaRPr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032718" y="2057400"/>
            <a:ext cx="295275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4" name="Adaptability-name"/>
          <p:cNvSpPr>
            <a:spLocks noGrp="1"/>
          </p:cNvSpPr>
          <p:nvPr/>
        </p:nvSpPr>
        <p:spPr>
          <a:xfrm>
            <a:off x="8032718" y="22098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Adaptability</a:t>
            </a:r>
            <a:endParaRPr sz="1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Adaptability-cn"/>
          <p:cNvSpPr>
            <a:spLocks noGrp="1"/>
          </p:cNvSpPr>
          <p:nvPr/>
        </p:nvSpPr>
        <p:spPr>
          <a:xfrm>
            <a:off x="8032718" y="2476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适应性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Adaptability-detail"/>
          <p:cNvSpPr>
            <a:spLocks noGrp="1"/>
          </p:cNvSpPr>
          <p:nvPr/>
        </p:nvSpPr>
        <p:spPr>
          <a:xfrm>
            <a:off x="8032718" y="2857500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遇到新约束时重新评估选项，必要时调整计划</a:t>
            </a:r>
            <a:endParaRPr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comparison-label"/>
          <p:cNvSpPr>
            <a:spLocks noGrp="1"/>
          </p:cNvSpPr>
          <p:nvPr/>
        </p:nvSpPr>
        <p:spPr>
          <a:xfrm>
            <a:off x="1016032" y="37338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动态Planning与固定工作流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fixed-workflow"/>
          <p:cNvSpPr>
            <a:spLocks noGrp="1"/>
          </p:cNvSpPr>
          <p:nvPr/>
        </p:nvSpPr>
        <p:spPr>
          <a:xfrm>
            <a:off x="1016032" y="4238625"/>
            <a:ext cx="4819650" cy="139065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fixed-title"/>
          <p:cNvSpPr>
            <a:spLocks noGrp="1"/>
          </p:cNvSpPr>
          <p:nvPr/>
        </p:nvSpPr>
        <p:spPr>
          <a:xfrm>
            <a:off x="1257300" y="4457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固定工作流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fixed-body"/>
          <p:cNvSpPr>
            <a:spLocks noGrp="1"/>
          </p:cNvSpPr>
          <p:nvPr/>
        </p:nvSpPr>
        <p:spPr>
          <a:xfrm>
            <a:off x="1257300" y="4914900"/>
            <a:ext cx="4171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步骤预先确定</a:t>
            </a:r>
            <a:endParaRPr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适合路径明确、重复性高的任务</a:t>
            </a:r>
            <a:endParaRPr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优势是结果稳定、可预测</a:t>
            </a:r>
            <a:endParaRPr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dynamic-planning"/>
          <p:cNvSpPr>
            <a:spLocks noGrp="1"/>
          </p:cNvSpPr>
          <p:nvPr/>
        </p:nvSpPr>
        <p:spPr>
          <a:xfrm>
            <a:off x="6350032" y="4238625"/>
            <a:ext cx="4819650" cy="1390650"/>
          </a:xfrm>
          <a:prstGeom prst="roundRect">
            <a:avLst>
              <a:gd name="adj" fmla="val 274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2" name="dynamic-title"/>
          <p:cNvSpPr>
            <a:spLocks noGrp="1"/>
          </p:cNvSpPr>
          <p:nvPr/>
        </p:nvSpPr>
        <p:spPr>
          <a:xfrm>
            <a:off x="6591300" y="44577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动态Planning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dynamic-body"/>
          <p:cNvSpPr>
            <a:spLocks noGrp="1"/>
          </p:cNvSpPr>
          <p:nvPr/>
        </p:nvSpPr>
        <p:spPr>
          <a:xfrm>
            <a:off x="6591300" y="4914900"/>
            <a:ext cx="4171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根据任务和环境生成或调整计划</a:t>
            </a:r>
            <a:endParaRPr sz="1275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适合路径不确定的复杂任务</a:t>
            </a:r>
            <a:endParaRPr sz="1275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优势是灵活，但需要控制不确定性</a:t>
            </a:r>
            <a:endParaRPr sz="1275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replan-caveat"/>
          <p:cNvSpPr>
            <a:spLocks noGrp="1"/>
          </p:cNvSpPr>
          <p:nvPr/>
        </p:nvSpPr>
        <p:spPr>
          <a:xfrm>
            <a:off x="1016032" y="5867400"/>
            <a:ext cx="1016003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section-5"/>
          <p:cNvSpPr>
            <a:spLocks noGrp="1"/>
          </p:cNvSpPr>
          <p:nvPr/>
        </p:nvSpPr>
        <p:spPr>
          <a:xfrm>
            <a:off x="1016032" y="571500"/>
            <a:ext cx="5905500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SECTION 01 · 应用场景</a:t>
            </a:r>
            <a:endParaRPr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title-5"/>
          <p:cNvSpPr>
            <a:spLocks noGrp="1"/>
          </p:cNvSpPr>
          <p:nvPr/>
        </p:nvSpPr>
        <p:spPr>
          <a:xfrm>
            <a:off x="1016032" y="952500"/>
            <a:ext cx="10160032" cy="5079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Planning的典型应用场景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itle-divider-5"/>
          <p:cNvSpPr>
            <a:spLocks noGrp="1"/>
          </p:cNvSpPr>
          <p:nvPr/>
        </p:nvSpPr>
        <p:spPr>
          <a:xfrm>
            <a:off x="1016032" y="1619250"/>
            <a:ext cx="10160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footer-5"/>
          <p:cNvSpPr>
            <a:spLocks noGrp="1"/>
          </p:cNvSpPr>
          <p:nvPr/>
        </p:nvSpPr>
        <p:spPr>
          <a:xfrm>
            <a:off x="1016032" y="6350032"/>
            <a:ext cx="10160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来源： Practical Applications &amp; Use Cases　</a:t>
            </a:r>
            <a:endParaRPr sz="11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onboarding-card"/>
          <p:cNvSpPr>
            <a:spLocks noGrp="1"/>
          </p:cNvSpPr>
          <p:nvPr/>
        </p:nvSpPr>
        <p:spPr>
          <a:xfrm>
            <a:off x="1016032" y="2019300"/>
            <a:ext cx="4819650" cy="1524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onboarding-accent"/>
          <p:cNvSpPr>
            <a:spLocks noGrp="1"/>
          </p:cNvSpPr>
          <p:nvPr/>
        </p:nvSpPr>
        <p:spPr>
          <a:xfrm>
            <a:off x="1016032" y="2019300"/>
            <a:ext cx="47625" cy="1524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onboarding-icon"/>
          <p:cNvSpPr>
            <a:spLocks noGrp="1"/>
          </p:cNvSpPr>
          <p:nvPr/>
        </p:nvSpPr>
        <p:spPr>
          <a:xfrm>
            <a:off x="1244632" y="2419350"/>
            <a:ext cx="685800" cy="685800"/>
          </a:xfrm>
          <a:prstGeom prst="ellipse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onboarding-title"/>
          <p:cNvSpPr>
            <a:spLocks noGrp="1"/>
          </p:cNvSpPr>
          <p:nvPr/>
        </p:nvSpPr>
        <p:spPr>
          <a:xfrm>
            <a:off x="2159032" y="22860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业务流程自动化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onboarding-body"/>
          <p:cNvSpPr>
            <a:spLocks noGrp="1"/>
          </p:cNvSpPr>
          <p:nvPr/>
        </p:nvSpPr>
        <p:spPr>
          <a:xfrm>
            <a:off x="2159032" y="270510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新员工入职中，按依赖关系安排账号创建、培训分配和部门协同。</a:t>
            </a:r>
            <a:endParaRPr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navigation-card"/>
          <p:cNvSpPr>
            <a:spLocks noGrp="1"/>
          </p:cNvSpPr>
          <p:nvPr/>
        </p:nvSpPr>
        <p:spPr>
          <a:xfrm>
            <a:off x="6350032" y="2019300"/>
            <a:ext cx="4819650" cy="1524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navigation-accent"/>
          <p:cNvSpPr>
            <a:spLocks noGrp="1"/>
          </p:cNvSpPr>
          <p:nvPr/>
        </p:nvSpPr>
        <p:spPr>
          <a:xfrm>
            <a:off x="6350032" y="2019300"/>
            <a:ext cx="47625" cy="1524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navigation-icon"/>
          <p:cNvSpPr>
            <a:spLocks noGrp="1"/>
          </p:cNvSpPr>
          <p:nvPr/>
        </p:nvSpPr>
        <p:spPr>
          <a:xfrm>
            <a:off x="6578632" y="2419350"/>
            <a:ext cx="685800" cy="685800"/>
          </a:xfrm>
          <a:prstGeom prst="ellipse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航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navigation-title"/>
          <p:cNvSpPr>
            <a:spLocks noGrp="1"/>
          </p:cNvSpPr>
          <p:nvPr/>
        </p:nvSpPr>
        <p:spPr>
          <a:xfrm>
            <a:off x="7493032" y="22860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机器人与自主导航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navigation-body"/>
          <p:cNvSpPr>
            <a:spLocks noGrp="1"/>
          </p:cNvSpPr>
          <p:nvPr/>
        </p:nvSpPr>
        <p:spPr>
          <a:xfrm>
            <a:off x="7493032" y="270510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规划从初始状态到目标状态的路径，同时考虑时间、能耗、避障与规则。</a:t>
            </a:r>
            <a:endParaRPr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research-card"/>
          <p:cNvSpPr>
            <a:spLocks noGrp="1"/>
          </p:cNvSpPr>
          <p:nvPr/>
        </p:nvSpPr>
        <p:spPr>
          <a:xfrm>
            <a:off x="1016032" y="3733800"/>
            <a:ext cx="4819650" cy="1524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research-accent"/>
          <p:cNvSpPr>
            <a:spLocks noGrp="1"/>
          </p:cNvSpPr>
          <p:nvPr/>
        </p:nvSpPr>
        <p:spPr>
          <a:xfrm>
            <a:off x="1016032" y="3733800"/>
            <a:ext cx="47625" cy="1524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research-icon"/>
          <p:cNvSpPr>
            <a:spLocks noGrp="1"/>
          </p:cNvSpPr>
          <p:nvPr/>
        </p:nvSpPr>
        <p:spPr>
          <a:xfrm>
            <a:off x="1244632" y="4133850"/>
            <a:ext cx="685800" cy="685800"/>
          </a:xfrm>
          <a:prstGeom prst="ellipse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research-title"/>
          <p:cNvSpPr>
            <a:spLocks noGrp="1"/>
          </p:cNvSpPr>
          <p:nvPr/>
        </p:nvSpPr>
        <p:spPr>
          <a:xfrm>
            <a:off x="2159032" y="40005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研究报告生成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research-body"/>
          <p:cNvSpPr>
            <a:spLocks noGrp="1"/>
          </p:cNvSpPr>
          <p:nvPr/>
        </p:nvSpPr>
        <p:spPr>
          <a:xfrm>
            <a:off x="2159032" y="441960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依次规划信息收集、摘要分析、内容组织与迭代完善。</a:t>
            </a:r>
            <a:endParaRPr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service-card"/>
          <p:cNvSpPr>
            <a:spLocks noGrp="1"/>
          </p:cNvSpPr>
          <p:nvPr/>
        </p:nvSpPr>
        <p:spPr>
          <a:xfrm>
            <a:off x="6350032" y="3733800"/>
            <a:ext cx="4819650" cy="1524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ervice-accent"/>
          <p:cNvSpPr>
            <a:spLocks noGrp="1"/>
          </p:cNvSpPr>
          <p:nvPr/>
        </p:nvSpPr>
        <p:spPr>
          <a:xfrm>
            <a:off x="6350032" y="3733800"/>
            <a:ext cx="47625" cy="1524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service-icon"/>
          <p:cNvSpPr>
            <a:spLocks noGrp="1"/>
          </p:cNvSpPr>
          <p:nvPr/>
        </p:nvSpPr>
        <p:spPr>
          <a:xfrm>
            <a:off x="6578632" y="4133850"/>
            <a:ext cx="685800" cy="685800"/>
          </a:xfrm>
          <a:prstGeom prst="ellipse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service-title"/>
          <p:cNvSpPr>
            <a:spLocks noGrp="1"/>
          </p:cNvSpPr>
          <p:nvPr/>
        </p:nvSpPr>
        <p:spPr>
          <a:xfrm>
            <a:off x="7493032" y="40005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客户服务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service-body"/>
          <p:cNvSpPr>
            <a:spLocks noGrp="1"/>
          </p:cNvSpPr>
          <p:nvPr/>
        </p:nvSpPr>
        <p:spPr>
          <a:xfrm>
            <a:off x="7493032" y="441960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为多步骤问题建立诊断、解决方案实施和升级路径。</a:t>
            </a:r>
            <a:endParaRPr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397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02 · 汇报人：</a:t>
            </a:r>
            <a:r>
              <a:rPr lang="zh-CN" altLang="en-US" sz="1200" b="1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刘芼宏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2032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CrewAI 如何把"规划"写成可运行的代码？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5016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从框架概念、核心代码到执行流程，看 Planner 模式在 CrewAI 中的工程落地。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6350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· Planning　|　02 CrewAI 代码实践　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微软雅黑" panose="020B0503020204020204" charset="-122"/>
              </a:rPr>
              <a:t>SECTION · 本节导览</a:t>
            </a:r>
            <a:endParaRPr sz="1300" b="1" i="0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3"/>
          <p:cNvCxnSpPr/>
          <p:nvPr/>
        </p:nvCxnSpPr>
        <p:spPr>
          <a:xfrm>
            <a:off x="548640" y="1554480"/>
            <a:ext cx="110916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4"/>
          <p:cNvSpPr/>
          <p:nvPr/>
        </p:nvSpPr>
        <p:spPr>
          <a:xfrm>
            <a:off x="548640" y="21031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28600" rtlCol="0" anchor="ctr"/>
          <a:lstStyle/>
          <a:p>
            <a:pPr algn="ctr"/>
            <a:r>
              <a:rPr sz="3000" b="1" i="0">
                <a:solidFill>
                  <a:srgbClr val="60A5FA"/>
                </a:solidFill>
                <a:latin typeface="Consolas" panose="020B0609020204030204"/>
              </a:rPr>
              <a:t>01</a:t>
            </a:r>
            <a:endParaRPr sz="3000" b="1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spcBef>
                <a:spcPts val="800"/>
              </a:spcBef>
            </a:pPr>
            <a:r>
              <a:rPr sz="1800" b="1" i="0">
                <a:solidFill>
                  <a:srgbClr val="0F172A"/>
                </a:solidFill>
                <a:latin typeface="微软雅黑" panose="020B0503020204020204" charset="-122"/>
              </a:rPr>
              <a:t>框架概念</a:t>
            </a:r>
            <a:endParaRPr sz="18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CrewAI 是什么？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Agent / Task / Crew / Process 四大核心概念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261103" y="21031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28600" rtlCol="0" anchor="ctr"/>
          <a:lstStyle/>
          <a:p>
            <a:pPr algn="ctr"/>
            <a:r>
              <a:rPr sz="3000" b="1" i="0">
                <a:solidFill>
                  <a:srgbClr val="60A5FA"/>
                </a:solidFill>
                <a:latin typeface="Consolas" panose="020B0609020204030204"/>
              </a:rPr>
              <a:t>02</a:t>
            </a:r>
            <a:endParaRPr sz="3000" b="1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spcBef>
                <a:spcPts val="800"/>
              </a:spcBef>
            </a:pPr>
            <a:r>
              <a:rPr sz="1800" b="1" i="0">
                <a:solidFill>
                  <a:srgbClr val="0F172A"/>
                </a:solidFill>
                <a:latin typeface="微软雅黑" panose="020B0503020204020204" charset="-122"/>
              </a:rPr>
              <a:t>核心代码（重点）</a:t>
            </a:r>
            <a:endParaRPr sz="18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四步代码逐行注释，搞清每一行的意思与作用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6"/>
          <p:cNvSpPr/>
          <p:nvPr/>
        </p:nvSpPr>
        <p:spPr>
          <a:xfrm>
            <a:off x="7973567" y="21031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28600" rtlCol="0" anchor="ctr"/>
          <a:lstStyle/>
          <a:p>
            <a:pPr algn="ctr"/>
            <a:r>
              <a:rPr sz="3000" b="1" i="0">
                <a:solidFill>
                  <a:srgbClr val="60A5FA"/>
                </a:solidFill>
                <a:latin typeface="Consolas" panose="020B0609020204030204"/>
              </a:rPr>
              <a:t>03</a:t>
            </a:r>
            <a:endParaRPr sz="3000" b="1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spcBef>
                <a:spcPts val="800"/>
              </a:spcBef>
            </a:pPr>
            <a:r>
              <a:rPr sz="1800" b="1" i="0">
                <a:solidFill>
                  <a:srgbClr val="0F172A"/>
                </a:solidFill>
                <a:latin typeface="微软雅黑" panose="020B0503020204020204" charset="-122"/>
              </a:rPr>
              <a:t>执行流程</a:t>
            </a:r>
            <a:endParaRPr sz="18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kickoff() 之后，CrewAI 内部发生了什么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微软雅黑" panose="020B0503020204020204" charset="-122"/>
              </a:rPr>
              <a:t>第 1 步 · 框架概念</a:t>
            </a:r>
            <a:endParaRPr sz="1300" b="1" i="0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CrewAI：一个「搭班子干活」的多智能体框架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3"/>
          <p:cNvCxnSpPr/>
          <p:nvPr/>
        </p:nvCxnSpPr>
        <p:spPr>
          <a:xfrm>
            <a:off x="548640" y="1554480"/>
            <a:ext cx="110916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4"/>
          <p:cNvSpPr/>
          <p:nvPr/>
        </p:nvSpPr>
        <p:spPr>
          <a:xfrm>
            <a:off x="548640" y="196596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bIns="109728" rtlCol="0" anchor="ctr"/>
          <a:lstStyle/>
          <a:p>
            <a:pPr algn="ctr"/>
            <a:r>
              <a:rPr sz="1900" b="1" i="0">
                <a:solidFill>
                  <a:srgbClr val="2563EB"/>
                </a:solidFill>
                <a:latin typeface="Consolas" panose="020B0609020204030204"/>
              </a:rPr>
              <a:t>Agent</a:t>
            </a:r>
            <a:r>
              <a:rPr sz="1400" b="1" i="0">
                <a:solidFill>
                  <a:srgbClr val="64748B"/>
                </a:solidFill>
                <a:latin typeface="微软雅黑" panose="020B0503020204020204" charset="-122"/>
              </a:rPr>
              <a:t>　（员工）</a:t>
            </a:r>
            <a:endParaRPr sz="1400" b="1" i="0">
              <a:solidFill>
                <a:srgbClr val="64748B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有角色、目标、背景故事的智能体，并绑定一个 LL</a:t>
            </a:r>
            <a:r>
              <a:rPr lang="en-US" sz="1300" b="0" i="0">
                <a:solidFill>
                  <a:srgbClr val="334155"/>
                </a:solidFill>
                <a:latin typeface="微软雅黑" panose="020B0503020204020204" charset="-122"/>
              </a:rPr>
              <a:t>M</a:t>
            </a:r>
            <a:endParaRPr lang="en-US"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6126480" y="196596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bIns="109728" rtlCol="0" anchor="ctr"/>
          <a:lstStyle/>
          <a:p>
            <a:pPr algn="ctr"/>
            <a:r>
              <a:rPr sz="1900" b="1" i="0">
                <a:solidFill>
                  <a:srgbClr val="2563EB"/>
                </a:solidFill>
                <a:latin typeface="Consolas" panose="020B0609020204030204"/>
              </a:rPr>
              <a:t>Task</a:t>
            </a:r>
            <a:r>
              <a:rPr sz="1400" b="1" i="0">
                <a:solidFill>
                  <a:srgbClr val="64748B"/>
                </a:solidFill>
                <a:latin typeface="微软雅黑" panose="020B0503020204020204" charset="-122"/>
              </a:rPr>
              <a:t>　（工单）</a:t>
            </a:r>
            <a:endParaRPr sz="1400" b="1" i="0">
              <a:solidFill>
                <a:srgbClr val="64748B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写清 description（做什么）与 expected_output（产出什么样）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6"/>
          <p:cNvSpPr/>
          <p:nvPr/>
        </p:nvSpPr>
        <p:spPr>
          <a:xfrm>
            <a:off x="548640" y="393192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bIns="109728" rtlCol="0" anchor="ctr"/>
          <a:lstStyle/>
          <a:p>
            <a:pPr algn="ctr"/>
            <a:r>
              <a:rPr sz="1900" b="1" i="0">
                <a:solidFill>
                  <a:srgbClr val="2563EB"/>
                </a:solidFill>
                <a:latin typeface="Consolas" panose="020B0609020204030204"/>
              </a:rPr>
              <a:t>Crew</a:t>
            </a:r>
            <a:r>
              <a:rPr sz="1400" b="1" i="0">
                <a:solidFill>
                  <a:srgbClr val="64748B"/>
                </a:solidFill>
                <a:latin typeface="微软雅黑" panose="020B0503020204020204" charset="-122"/>
              </a:rPr>
              <a:t>　（项目组）</a:t>
            </a:r>
            <a:endParaRPr sz="1400" b="1" i="0">
              <a:solidFill>
                <a:srgbClr val="64748B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把 Agent 与 Task 组装成团队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7"/>
          <p:cNvSpPr/>
          <p:nvPr/>
        </p:nvSpPr>
        <p:spPr>
          <a:xfrm>
            <a:off x="6126480" y="393192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bIns="109728" rtlCol="0" anchor="ctr"/>
          <a:lstStyle/>
          <a:p>
            <a:pPr algn="ctr"/>
            <a:r>
              <a:rPr sz="1900" b="1" i="0">
                <a:solidFill>
                  <a:srgbClr val="2563EB"/>
                </a:solidFill>
                <a:latin typeface="Consolas" panose="020B0609020204030204"/>
              </a:rPr>
              <a:t>Process</a:t>
            </a:r>
            <a:r>
              <a:rPr sz="1400" b="1" i="0">
                <a:solidFill>
                  <a:srgbClr val="64748B"/>
                </a:solidFill>
                <a:latin typeface="微软雅黑" panose="020B0503020204020204" charset="-122"/>
              </a:rPr>
              <a:t>　（流程）</a:t>
            </a:r>
            <a:endParaRPr sz="1400" b="1" i="0">
              <a:solidFill>
                <a:srgbClr val="64748B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300" b="0" i="0">
                <a:solidFill>
                  <a:srgbClr val="334155"/>
                </a:solidFill>
                <a:latin typeface="微软雅黑" panose="020B0503020204020204" charset="-122"/>
              </a:rPr>
              <a:t>sequential 顺序执行，或 hierarchical 层级委派</a:t>
            </a:r>
            <a:endParaRPr sz="13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微软雅黑" panose="020B0503020204020204" charset="-122"/>
              </a:rPr>
              <a:t>第 2 步 · 核心代码 · 全景</a:t>
            </a:r>
            <a:endParaRPr sz="1300" b="1" i="0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完整代码：四步写出 Planner 智能体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554480"/>
            <a:ext cx="110916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70865" y="1874520"/>
            <a:ext cx="7018655" cy="4620895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201168" bIns="128016" rtlCol="0" anchor="t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1050" b="0" i="0">
                <a:solidFill>
                  <a:srgbClr val="60A5FA"/>
                </a:solidFill>
                <a:latin typeface="Consolas" panose="020B0609020204030204"/>
              </a:rPr>
              <a:t># ① 加载环境变量与 </a:t>
            </a:r>
            <a:r>
              <a:rPr lang="en-US" altLang="zh-CN" sz="1050" b="0" i="0">
                <a:solidFill>
                  <a:srgbClr val="60A5FA"/>
                </a:solidFill>
                <a:latin typeface="Consolas" panose="020B0609020204030204"/>
              </a:rPr>
              <a:t>LLM</a:t>
            </a:r>
            <a:endParaRPr lang="en-US" altLang="zh-CN" sz="1050" b="0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050" b="0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from crewai import Agent, Task, Crew, Process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from langchain_openai import ChatOpenAI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load_dotenv()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llm = ChatOpenAI(model=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"gpt-4-turbo"</a:t>
            </a: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)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0A5FA"/>
                </a:solidFill>
                <a:latin typeface="微软雅黑" panose="020B0503020204020204" charset="-122"/>
              </a:rPr>
              <a:t># ② 定义规划型 Agent</a:t>
            </a:r>
            <a:endParaRPr sz="1050" b="0" i="0">
              <a:solidFill>
                <a:srgbClr val="60A5FA"/>
              </a:solidFill>
              <a:latin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planner_writer_agent = Agent(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role=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"Article Planner and Writer"</a:t>
            </a: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,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goal=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"Plan then write a concise summary"</a:t>
            </a: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,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backstory=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"You are an expert technical writer."</a:t>
            </a: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,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verbose=True, allow_delegation=False, llm=llm)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0A5FA"/>
                </a:solidFill>
                <a:latin typeface="微软雅黑" panose="020B0503020204020204" charset="-122"/>
              </a:rPr>
              <a:t># ③ 定义任务：先规划、后写作</a:t>
            </a:r>
            <a:endParaRPr sz="1050" b="0" i="0">
              <a:solidFill>
                <a:srgbClr val="60A5FA"/>
              </a:solidFill>
              <a:latin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topic = 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"The importance of Reinforcement Learning in AI"</a:t>
            </a:r>
            <a:endParaRPr sz="1050" b="0" i="0">
              <a:solidFill>
                <a:srgbClr val="7DD3FC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high_level_task = Task(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description=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"1. 列计划  2. 按计划写 200 词"</a:t>
            </a: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,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expected_output=</a:t>
            </a:r>
            <a:r>
              <a:rPr sz="1050" b="0" i="0">
                <a:solidFill>
                  <a:srgbClr val="7DD3FC"/>
                </a:solidFill>
                <a:latin typeface="Consolas" panose="020B0609020204030204"/>
              </a:rPr>
              <a:t>"### Plan + ### Summary"</a:t>
            </a: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,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agent=planner_writer_agent)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0A5FA"/>
                </a:solidFill>
                <a:latin typeface="微软雅黑" panose="020B0503020204020204" charset="-122"/>
              </a:rPr>
              <a:t># ④ 组装 Crew 并顺序执行</a:t>
            </a:r>
            <a:endParaRPr sz="1050" b="0" i="0">
              <a:solidFill>
                <a:srgbClr val="60A5FA"/>
              </a:solidFill>
              <a:latin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crew = Crew(agents=[planner_writer_agent], tasks=[high_level_task],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            process=Process.sequential)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2E8F0"/>
                </a:solidFill>
                <a:latin typeface="Consolas" panose="020B0609020204030204"/>
              </a:rPr>
              <a:t>result = crew.kickoff()</a:t>
            </a:r>
            <a:endParaRPr sz="1050" b="0" i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8120" y="1965960"/>
            <a:ext cx="3840480" cy="292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2563EB"/>
                </a:solidFill>
                <a:latin typeface="微软雅黑" panose="020B0503020204020204" charset="-122"/>
              </a:rPr>
              <a:t>① 加载 LLM</a:t>
            </a:r>
            <a:endParaRPr sz="1500" b="1" i="0">
              <a:solidFill>
                <a:srgbClr val="2563EB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微软雅黑" panose="020B0503020204020204" charset="-122"/>
              </a:rPr>
              <a:t>load_dotenv + ChatOpenAI，先备好「大脑」</a:t>
            </a: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2563EB"/>
                </a:solidFill>
                <a:latin typeface="微软雅黑" panose="020B0503020204020204" charset="-122"/>
              </a:rPr>
              <a:t>② 定义 Agent</a:t>
            </a:r>
            <a:endParaRPr sz="1500" b="1" i="0">
              <a:solidFill>
                <a:srgbClr val="2563EB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微软雅黑" panose="020B0503020204020204" charset="-122"/>
              </a:rPr>
              <a:t>角色 + 目标 + 人设 + 绑定 LLM</a:t>
            </a: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2563EB"/>
                </a:solidFill>
                <a:latin typeface="微软雅黑" panose="020B0503020204020204" charset="-122"/>
              </a:rPr>
              <a:t>③ 定义 Task</a:t>
            </a:r>
            <a:endParaRPr sz="1500" b="1" i="0">
              <a:solidFill>
                <a:srgbClr val="2563EB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微软雅黑" panose="020B0503020204020204" charset="-122"/>
              </a:rPr>
              <a:t>description 里写死「先规划、后写作」</a:t>
            </a: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2563EB"/>
                </a:solidFill>
                <a:latin typeface="微软雅黑" panose="020B0503020204020204" charset="-122"/>
              </a:rPr>
              <a:t>④ 组装 Crew</a:t>
            </a:r>
            <a:endParaRPr sz="1500" b="1" i="0">
              <a:solidFill>
                <a:srgbClr val="2563EB"/>
              </a:solidFill>
              <a:latin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微软雅黑" panose="020B0503020204020204" charset="-122"/>
              </a:rPr>
              <a:t>Crew + sequential，最后 kickoff() 开工</a:t>
            </a:r>
            <a:endParaRPr sz="125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微软雅黑" panose="020B0503020204020204" charset="-122"/>
              </a:rPr>
              <a:t>第 3 步 · 执行流程</a:t>
            </a:r>
            <a:endParaRPr sz="1300" b="1" i="0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4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kickoff() 之后，CrewAI 内部发生了什么？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45" name="Connector 3"/>
          <p:cNvCxnSpPr/>
          <p:nvPr/>
        </p:nvCxnSpPr>
        <p:spPr>
          <a:xfrm>
            <a:off x="548640" y="1554480"/>
            <a:ext cx="110916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"/>
          <p:cNvSpPr/>
          <p:nvPr/>
        </p:nvSpPr>
        <p:spPr>
          <a:xfrm>
            <a:off x="548640" y="2286000"/>
            <a:ext cx="2487168" cy="2651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46304" rtlCol="0" anchor="ctr"/>
          <a:lstStyle/>
          <a:p>
            <a:pPr algn="ctr"/>
            <a:r>
              <a:rPr sz="2400" b="1" i="0">
                <a:solidFill>
                  <a:srgbClr val="60A5FA"/>
                </a:solidFill>
                <a:latin typeface="Consolas" panose="020B0609020204030204"/>
              </a:rPr>
              <a:t>01</a:t>
            </a:r>
            <a:endParaRPr sz="2400" b="1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F172A"/>
                </a:solidFill>
                <a:latin typeface="微软雅黑" panose="020B0503020204020204" charset="-122"/>
              </a:rPr>
              <a:t>加载 LLM</a:t>
            </a:r>
            <a:endParaRPr sz="16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200" b="0" i="0">
                <a:solidFill>
                  <a:srgbClr val="334155"/>
                </a:solidFill>
                <a:latin typeface="微软雅黑" panose="020B0503020204020204" charset="-122"/>
              </a:rPr>
              <a:t>load_dotenv 读 API Key，初始化 ChatOpenAI</a:t>
            </a:r>
            <a:endParaRPr sz="12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cxnSp>
        <p:nvCxnSpPr>
          <p:cNvPr id="47" name="Connector 5"/>
          <p:cNvCxnSpPr/>
          <p:nvPr/>
        </p:nvCxnSpPr>
        <p:spPr>
          <a:xfrm>
            <a:off x="3035808" y="3611880"/>
            <a:ext cx="292608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6"/>
          <p:cNvSpPr/>
          <p:nvPr/>
        </p:nvSpPr>
        <p:spPr>
          <a:xfrm>
            <a:off x="3328416" y="2286000"/>
            <a:ext cx="2487168" cy="2651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46304" rtlCol="0" anchor="ctr"/>
          <a:lstStyle/>
          <a:p>
            <a:pPr algn="ctr"/>
            <a:r>
              <a:rPr sz="2400" b="1" i="0">
                <a:solidFill>
                  <a:srgbClr val="60A5FA"/>
                </a:solidFill>
                <a:latin typeface="Consolas" panose="020B0609020204030204"/>
              </a:rPr>
              <a:t>02</a:t>
            </a:r>
            <a:endParaRPr sz="2400" b="1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F172A"/>
                </a:solidFill>
                <a:latin typeface="微软雅黑" panose="020B0503020204020204" charset="-122"/>
              </a:rPr>
              <a:t>规划任务</a:t>
            </a:r>
            <a:endParaRPr sz="16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200" b="0" i="0">
                <a:solidFill>
                  <a:srgbClr val="334155"/>
                </a:solidFill>
                <a:latin typeface="微软雅黑" panose="020B0503020204020204" charset="-122"/>
              </a:rPr>
              <a:t>Agent 先 bullet-point 列出写作计划</a:t>
            </a:r>
            <a:endParaRPr sz="12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cxnSp>
        <p:nvCxnSpPr>
          <p:cNvPr id="49" name="Connector 7"/>
          <p:cNvCxnSpPr/>
          <p:nvPr/>
        </p:nvCxnSpPr>
        <p:spPr>
          <a:xfrm>
            <a:off x="5815584" y="3611880"/>
            <a:ext cx="292608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8"/>
          <p:cNvSpPr/>
          <p:nvPr/>
        </p:nvSpPr>
        <p:spPr>
          <a:xfrm>
            <a:off x="6108192" y="2286000"/>
            <a:ext cx="2487168" cy="2651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46304" rtlCol="0" anchor="ctr"/>
          <a:lstStyle/>
          <a:p>
            <a:pPr algn="ctr"/>
            <a:r>
              <a:rPr sz="2400" b="1" i="0">
                <a:solidFill>
                  <a:srgbClr val="60A5FA"/>
                </a:solidFill>
                <a:latin typeface="Consolas" panose="020B0609020204030204"/>
              </a:rPr>
              <a:t>03</a:t>
            </a:r>
            <a:endParaRPr sz="2400" b="1" i="0">
              <a:solidFill>
                <a:srgbClr val="60A5FA"/>
              </a:solidFill>
              <a:latin typeface="Consolas" panose="020B0609020204030204"/>
            </a:endParaRP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F172A"/>
                </a:solidFill>
                <a:latin typeface="微软雅黑" panose="020B0503020204020204" charset="-122"/>
              </a:rPr>
              <a:t>执行写作</a:t>
            </a:r>
            <a:endParaRPr sz="16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200" b="0" i="0">
                <a:solidFill>
                  <a:srgbClr val="334155"/>
                </a:solidFill>
                <a:latin typeface="微软雅黑" panose="020B0503020204020204" charset="-122"/>
              </a:rPr>
              <a:t>按计划写约 200 词摘要，分两个小节</a:t>
            </a:r>
            <a:endParaRPr sz="1200" b="0" i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cxnSp>
        <p:nvCxnSpPr>
          <p:cNvPr id="51" name="Connector 9"/>
          <p:cNvCxnSpPr/>
          <p:nvPr/>
        </p:nvCxnSpPr>
        <p:spPr>
          <a:xfrm>
            <a:off x="8595360" y="3611880"/>
            <a:ext cx="292607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11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微软雅黑" panose="020B0503020204020204" charset="-122"/>
              </a:rPr>
              <a:t>关键点　</a:t>
            </a:r>
            <a:r>
              <a:rPr sz="1300" b="0" i="0">
                <a:solidFill>
                  <a:srgbClr val="0F172A"/>
                </a:solidFill>
                <a:latin typeface="微软雅黑" panose="020B0503020204020204" charset="-122"/>
              </a:rPr>
              <a:t>「先规划、后写作」被明确写进任务描述，成为硬性要求，而非靠模型自觉。</a:t>
            </a:r>
            <a:endParaRPr sz="13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9778365" y="3348355"/>
            <a:ext cx="309880" cy="306705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55" name="Rounded Rectangle 8"/>
          <p:cNvSpPr/>
          <p:nvPr/>
        </p:nvSpPr>
        <p:spPr>
          <a:xfrm>
            <a:off x="9016046" y="2286046"/>
            <a:ext cx="2487168" cy="2651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46304" rtlCol="0" anchor="ctr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60A5FA"/>
                </a:solidFill>
                <a:latin typeface="Consolas" panose="020B0609020204030204"/>
                <a:ea typeface="Arial" panose="020B0604020202020204"/>
                <a:cs typeface="Arial" panose="020B0604020202020204"/>
                <a:sym typeface="+mn-ea"/>
              </a:rPr>
              <a:t>0</a:t>
            </a:r>
            <a:r>
              <a:rPr lang="en-US" altLang="zh-CN" sz="2400" b="1">
                <a:solidFill>
                  <a:srgbClr val="60A5FA"/>
                </a:solidFill>
                <a:latin typeface="Consolas" panose="020B0609020204030204"/>
                <a:ea typeface="Arial" panose="020B0604020202020204"/>
                <a:cs typeface="Arial" panose="020B0604020202020204" pitchFamily="34" charset="0"/>
                <a:sym typeface="+mn-ea"/>
              </a:rPr>
              <a:t>4</a:t>
            </a:r>
            <a:endParaRPr sz="2400" b="1">
              <a:solidFill>
                <a:srgbClr val="60A5FA"/>
              </a:solidFill>
              <a:latin typeface="Consolas" panose="020B0609020204030204"/>
              <a:ea typeface="Arial" panose="020B0604020202020204"/>
              <a:cs typeface="Arial" panose="020B0604020202020204"/>
              <a:sym typeface="+mn-ea"/>
            </a:endParaRPr>
          </a:p>
          <a:p>
            <a:pPr algn="ctr">
              <a:spcBef>
                <a:spcPts val="0"/>
              </a:spcBef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+mn-ea"/>
              </a:rPr>
              <a:t>结果返回</a:t>
            </a:r>
            <a:endParaRPr sz="1600" b="1" i="0">
              <a:solidFill>
                <a:schemeClr val="tx1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+mn-ea"/>
              </a:rPr>
              <a:t>kickoff() 返回结果字符串</a:t>
            </a:r>
            <a:endParaRPr sz="1200" b="0" i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63D4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439025" y="0"/>
            <a:ext cx="4752975" cy="6858000"/>
          </a:xfrm>
          <a:prstGeom prst="rect">
            <a:avLst/>
          </a:prstGeom>
          <a:solidFill>
            <a:srgbClr val="E6F3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 flipH="1">
            <a:off x="7505700" y="0"/>
            <a:ext cx="5310505" cy="6858000"/>
          </a:xfrm>
          <a:prstGeom prst="rect">
            <a:avLst/>
          </a:prstGeom>
          <a:solidFill>
            <a:schemeClr val="accent5"/>
          </a:solidFill>
          <a:ln w="0">
            <a:solidFill>
              <a:srgbClr val="00B0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057900"/>
            <a:ext cx="7439025" cy="19050"/>
          </a:xfrm>
          <a:prstGeom prst="rect">
            <a:avLst/>
          </a:prstGeom>
          <a:solidFill>
            <a:srgbClr val="D3E9FA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47725" y="942975"/>
            <a:ext cx="623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AGENTIC DESIGN PATTERNS/CHAPTER 6</a:t>
            </a:r>
            <a:r>
              <a:rPr lang="en-US" sz="18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PLANNING</a:t>
            </a:r>
            <a:endParaRPr lang="en-US" sz="1800" b="1">
              <a:solidFill>
                <a:srgbClr val="1E63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7725" y="1819275"/>
            <a:ext cx="6648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Deep Research</a:t>
            </a:r>
            <a:endParaRPr sz="40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7725" y="2609850"/>
            <a:ext cx="657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75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研究可规划、可追溯</a:t>
            </a:r>
            <a:endParaRPr sz="3075" b="1">
              <a:solidFill>
                <a:srgbClr val="1E63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495675"/>
            <a:ext cx="1181100" cy="47625"/>
          </a:xfrm>
          <a:prstGeom prst="rect">
            <a:avLst/>
          </a:prstGeom>
          <a:solidFill>
            <a:srgbClr val="38A9EC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47725" y="4235450"/>
            <a:ext cx="6438900" cy="575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F172A"/>
                </a:solidFill>
                <a:sym typeface="+mn-ea"/>
              </a:rPr>
              <a:t>基础概念-设计方法-案例分析</a:t>
            </a:r>
            <a:endParaRPr lang="en-US" sz="2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32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025" b="0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3200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7725" y="4561840"/>
            <a:ext cx="6334125" cy="356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>
              <a:solidFill>
                <a:srgbClr val="5772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7725" y="4514850"/>
            <a:ext cx="5915025" cy="964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汇报人：刘佳乐</a:t>
            </a:r>
            <a:endParaRPr sz="24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34325" y="1057275"/>
            <a:ext cx="3648075" cy="473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3E9F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934325" y="1057275"/>
            <a:ext cx="3648075" cy="66675"/>
          </a:xfrm>
          <a:prstGeom prst="rect">
            <a:avLst/>
          </a:prstGeom>
          <a:solidFill>
            <a:srgbClr val="38A9EC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67700" y="14287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E63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RESEARCH PIPELINE</a:t>
            </a:r>
            <a:endParaRPr sz="1350" b="1">
              <a:solidFill>
                <a:srgbClr val="1E63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67700" y="1790700"/>
            <a:ext cx="2971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从问题到带引用的研究报告</a:t>
            </a:r>
            <a:endParaRPr sz="1350" b="0">
              <a:solidFill>
                <a:srgbClr val="5772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267700" y="2409825"/>
            <a:ext cx="609600" cy="609600"/>
          </a:xfrm>
          <a:prstGeom prst="ellipse">
            <a:avLst/>
          </a:prstGeom>
          <a:solidFill>
            <a:srgbClr val="1E63D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53425" y="2524125"/>
            <a:ext cx="438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086850" y="2419350"/>
            <a:ext cx="2114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</a:t>
            </a:r>
            <a:endParaRPr sz="20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086850" y="274320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明确问题，审阅计划</a:t>
            </a:r>
            <a:endParaRPr sz="1275" b="0">
              <a:solidFill>
                <a:srgbClr val="5772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267700" y="3552825"/>
            <a:ext cx="609600" cy="609600"/>
          </a:xfrm>
          <a:prstGeom prst="ellipse">
            <a:avLst/>
          </a:prstGeom>
          <a:solidFill>
            <a:srgbClr val="1E63D4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353425" y="3667125"/>
            <a:ext cx="438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086850" y="3562350"/>
            <a:ext cx="2114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SEARCH</a:t>
            </a:r>
            <a:endParaRPr sz="20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086850" y="388620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多轮检索，核对信息</a:t>
            </a:r>
            <a:endParaRPr sz="1275" b="0">
              <a:solidFill>
                <a:srgbClr val="5772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67700" y="4695825"/>
            <a:ext cx="609600" cy="609600"/>
          </a:xfrm>
          <a:prstGeom prst="ellipse">
            <a:avLst/>
          </a:prstGeom>
          <a:solidFill>
            <a:srgbClr val="1E63D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353425" y="4810125"/>
            <a:ext cx="438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086850" y="4705350"/>
            <a:ext cx="2114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</a:t>
            </a:r>
            <a:endParaRPr sz="20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086850" y="502920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5772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形成报告，保留引用</a:t>
            </a:r>
            <a:endParaRPr lang="zh-CN" altLang="en-US" sz="18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562975" y="3019425"/>
            <a:ext cx="28575" cy="533400"/>
          </a:xfrm>
          <a:prstGeom prst="rect">
            <a:avLst/>
          </a:prstGeom>
          <a:solidFill>
            <a:srgbClr val="8CC5F0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562975" y="4162425"/>
            <a:ext cx="28575" cy="533400"/>
          </a:xfrm>
          <a:prstGeom prst="rect">
            <a:avLst/>
          </a:prstGeom>
          <a:solidFill>
            <a:srgbClr val="8CC5F0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01930"/>
            <a:ext cx="7620000" cy="610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01 · 基础概念</a:t>
            </a:r>
            <a:endParaRPr lang="en-US" sz="24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16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Deep Research与Planning：先计划，再检索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96139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22325" y="1721485"/>
            <a:ext cx="6039485" cy="1704975"/>
          </a:xfrm>
          <a:prstGeom prst="roundRect">
            <a:avLst>
              <a:gd name="adj" fmla="val 89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>
              <a:ea typeface="宋体" panose="02010600030101010101" pitchFamily="2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107440" y="1793875"/>
            <a:ext cx="3354705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什么是Deep Research</a:t>
            </a:r>
            <a:r>
              <a:rPr lang="zh-CN" altLang="en-US" sz="20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？</a:t>
            </a:r>
            <a:endParaRPr lang="zh-CN" altLang="en-US" sz="2000" b="1" i="0" u="none" strike="noStrike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1690" y="3606800"/>
            <a:ext cx="6039485" cy="1574800"/>
          </a:xfrm>
          <a:prstGeom prst="roundRect">
            <a:avLst>
              <a:gd name="adj" fmla="val 89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015365" y="3784600"/>
            <a:ext cx="5461635" cy="251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Planning：从初始状态走向目标状态的动作序列</a:t>
            </a:r>
            <a:endParaRPr lang="en-US" sz="2000"/>
          </a:p>
        </p:txBody>
      </p:sp>
      <p:sp>
        <p:nvSpPr>
          <p:cNvPr id="12" name="AutoShape 12"/>
          <p:cNvSpPr/>
          <p:nvPr/>
        </p:nvSpPr>
        <p:spPr>
          <a:xfrm>
            <a:off x="821690" y="5330190"/>
            <a:ext cx="10966450" cy="1150620"/>
          </a:xfrm>
          <a:prstGeom prst="roundRect">
            <a:avLst>
              <a:gd name="adj" fmla="val 11111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89470" y="1793875"/>
            <a:ext cx="4551680" cy="3391535"/>
          </a:xfrm>
          <a:prstGeom prst="roundRect">
            <a:avLst>
              <a:gd name="adj" fmla="val 375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7494905" y="1828165"/>
            <a:ext cx="3681095" cy="486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</a:t>
            </a:r>
            <a:endParaRPr lang="en-US" sz="2400"/>
          </a:p>
        </p:txBody>
      </p:sp>
      <p:sp>
        <p:nvSpPr>
          <p:cNvPr id="16" name="AutoShape 16"/>
          <p:cNvSpPr txBox="1"/>
          <p:nvPr/>
        </p:nvSpPr>
        <p:spPr>
          <a:xfrm>
            <a:off x="7495540" y="2159635"/>
            <a:ext cx="4376420" cy="791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zh-CN" altLang="en-US" sz="18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用户提问</a:t>
            </a:r>
            <a:r>
              <a:rPr lang="en-US" b="0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/>
          </a:p>
          <a:p>
            <a:pPr marL="0" indent="0" algn="l">
              <a:lnSpc>
                <a:spcPct val="113000"/>
              </a:lnSpc>
            </a:pPr>
            <a:r>
              <a:rPr lang="en-US" b="0" i="1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“欧洲风投的总量是多少？哪些国家在加速增长？”</a:t>
            </a:r>
            <a:endParaRPr lang="en-US" b="0" i="1" u="none" strike="noStrike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12455">
            <a:off x="7670812" y="2982595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7366000" y="3042285"/>
            <a:ext cx="4578350" cy="1979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buNone/>
            </a:pPr>
            <a:r>
              <a:rPr lang="zh-CN" altLang="en-US" sz="2400" b="0" i="0" u="none" strike="noStrik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①智能体先给出一份研究计划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25000"/>
              </a:lnSpc>
              <a:buSzTx/>
              <a:buNone/>
            </a:pPr>
            <a:r>
              <a:rPr lang="zh-CN" altLang="en-US" sz="2400" b="0" i="0" u="none" strike="noStrik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②用户审阅、修改研究方向</a:t>
            </a:r>
            <a:endParaRPr lang="zh-CN" altLang="en-US" sz="2400" b="0" i="0" u="none" strike="noStrik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2400" b="0" i="0" u="none" strike="noStrik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③批准后多轮搜索、阅读网页</a:t>
            </a:r>
            <a:endParaRPr lang="zh-CN" altLang="en-US" sz="2400" b="0" i="0" u="none" strike="noStrik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2400" b="0" i="0" u="none" strike="noStrik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④综合成带引用的研究报告</a:t>
            </a:r>
            <a:endParaRPr lang="en-US" sz="2400" b="0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1016000" y="6477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Planning · Google Deep Research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22" name="文本框 21"/>
          <p:cNvSpPr txBox="1"/>
          <p:nvPr/>
        </p:nvSpPr>
        <p:spPr>
          <a:xfrm>
            <a:off x="1016000" y="2258695"/>
            <a:ext cx="58451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以研究目标为输入，先形成研究计划，再调用搜索与网页阅读等工具，多轮检索、评估并综合信息，最终产出带引用、可追溯的结构化报告。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14730" y="4117975"/>
            <a:ext cx="5789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智能体先把目标拆成可执行的动作序列，并在执行中根据反馈动态修订——计划是活的，不等于固定工作流。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69670" y="5454650"/>
            <a:ext cx="99517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普通单轮问答：一次提问→一次回答，无计划、无来源核验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2800" b="1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多步研究：计划→检索→评估缺口→再检索→带引用报告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52400"/>
            <a:ext cx="762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01 · 设计模式 · 参考 Fig.4</a:t>
            </a:r>
            <a:endParaRPr lang="en-US" sz="24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16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Planning 设计模式：目标→计划→可修订执行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67385" y="2032000"/>
            <a:ext cx="6108065" cy="4243705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l="15647" t="22805" r="13761" b="15782"/>
          <a:stretch>
            <a:fillRect/>
          </a:stretch>
        </p:blipFill>
        <p:spPr>
          <a:xfrm>
            <a:off x="1016000" y="2308860"/>
            <a:ext cx="5578475" cy="33674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7025640" y="1751330"/>
            <a:ext cx="4251960" cy="5600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图中各节点的含义</a:t>
            </a:r>
            <a:endParaRPr lang="en-US" sz="2000"/>
          </a:p>
        </p:txBody>
      </p:sp>
      <p:sp>
        <p:nvSpPr>
          <p:cNvPr id="10" name="AutoShape 10"/>
          <p:cNvSpPr/>
          <p:nvPr/>
        </p:nvSpPr>
        <p:spPr>
          <a:xfrm>
            <a:off x="7004685" y="257429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360285" y="2311400"/>
            <a:ext cx="466153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User→Prompt</a:t>
            </a:r>
            <a:r>
              <a:rPr lang="en-US" sz="18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18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用户给出研究目标与约束</a:t>
            </a:r>
            <a:endParaRPr lang="en-US" sz="1800" b="0" i="0" u="none" strike="noStrike">
              <a:solidFill>
                <a:srgbClr val="475569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025640" y="324993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7360285" y="3073400"/>
            <a:ext cx="406336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</a:t>
            </a:r>
            <a:r>
              <a:rPr lang="en-US" sz="18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18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理解目标，生成候选计划</a:t>
            </a:r>
            <a:endParaRPr lang="en-US" sz="1800"/>
          </a:p>
        </p:txBody>
      </p:sp>
      <p:sp>
        <p:nvSpPr>
          <p:cNvPr id="14" name="AutoShape 14"/>
          <p:cNvSpPr/>
          <p:nvPr/>
        </p:nvSpPr>
        <p:spPr>
          <a:xfrm>
            <a:off x="7058025" y="3996055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7365365" y="3790950"/>
            <a:ext cx="4064635" cy="837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Plans（Plan 1/2/3…）</a:t>
            </a:r>
            <a:r>
              <a:rPr lang="zh-CN" altLang="en-US" sz="18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：一组计划，可反馈给</a:t>
            </a:r>
            <a:r>
              <a:rPr lang="zh-CN" altLang="en-US" sz="18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Agent</a:t>
            </a:r>
            <a:r>
              <a:rPr lang="zh-CN" altLang="en-US" sz="18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修订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058025" y="4827905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366635" y="4622800"/>
            <a:ext cx="4063365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Output→User</a:t>
            </a:r>
            <a:r>
              <a:rPr lang="en-US" sz="18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18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研究结果返回给用户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058025" y="5233670"/>
            <a:ext cx="4791710" cy="1083310"/>
          </a:xfrm>
          <a:prstGeom prst="roundRect">
            <a:avLst>
              <a:gd name="adj" fmla="val 1212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7274560" y="5257165"/>
            <a:ext cx="4438650" cy="929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强调：计划可修订、可迭代，并非一次写死的固定工作流</a:t>
            </a:r>
            <a:r>
              <a:rPr lang="en-US" sz="1800" b="0" i="0" u="none" strike="noStrike">
                <a:solidFill>
                  <a:srgbClr val="1E40A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1016000" y="6477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Planning · Google Deep Research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22" name="文本框 21"/>
          <p:cNvSpPr txBox="1"/>
          <p:nvPr/>
        </p:nvSpPr>
        <p:spPr>
          <a:xfrm>
            <a:off x="2540635" y="5435600"/>
            <a:ext cx="31007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Fig.4 Planning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模式示意图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30200"/>
            <a:ext cx="762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02 · 工作框架</a:t>
            </a:r>
            <a:endParaRPr lang="en-US"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16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Google Deep Research 五层工作框架（教学抽象）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6319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524000" y="1981200"/>
            <a:ext cx="9187815" cy="635635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1524000" y="1981200"/>
            <a:ext cx="1905000" cy="635000"/>
          </a:xfrm>
          <a:prstGeom prst="roundRect">
            <a:avLst>
              <a:gd name="adj" fmla="val 16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1524000" y="19812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交互层</a:t>
            </a:r>
            <a:endParaRPr lang="en-US" sz="20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3530600" y="2039620"/>
            <a:ext cx="7053580" cy="483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输入问题与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约束；审阅并修改计划（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Edit plan/Start research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10"/>
          <p:cNvCxnSpPr/>
          <p:nvPr>
            <p:custDataLst>
              <p:tags r:id="rId5"/>
            </p:custDataLst>
          </p:nvPr>
        </p:nvCxnSpPr>
        <p:spPr>
          <a:xfrm rot="5057364">
            <a:off x="5524500" y="2673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1524000" y="2743200"/>
            <a:ext cx="9187815" cy="612775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1524000" y="2743200"/>
            <a:ext cx="1905000" cy="635000"/>
          </a:xfrm>
          <a:prstGeom prst="roundRect">
            <a:avLst>
              <a:gd name="adj" fmla="val 16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1524000" y="27432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规划层</a:t>
            </a:r>
            <a:endParaRPr lang="en-US" sz="2000"/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3530600" y="2743200"/>
            <a:ext cx="423672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把目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标拆成子问题，明确每个子问题需要的证据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5"/>
          <p:cNvCxnSpPr/>
          <p:nvPr>
            <p:custDataLst>
              <p:tags r:id="rId10"/>
            </p:custDataLst>
          </p:nvPr>
        </p:nvCxnSpPr>
        <p:spPr>
          <a:xfrm rot="5057364">
            <a:off x="5524500" y="3435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1524000" y="3505200"/>
            <a:ext cx="9188450" cy="63627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1524000" y="3505200"/>
            <a:ext cx="1905000" cy="635000"/>
          </a:xfrm>
          <a:prstGeom prst="roundRect">
            <a:avLst>
              <a:gd name="adj" fmla="val 1600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>
            <p:custDataLst>
              <p:tags r:id="rId13"/>
            </p:custDataLst>
          </p:nvPr>
        </p:nvSpPr>
        <p:spPr>
          <a:xfrm>
            <a:off x="1524000" y="35052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工具层</a:t>
            </a:r>
            <a:endParaRPr lang="en-US" sz="2000"/>
          </a:p>
        </p:txBody>
      </p:sp>
      <p:sp>
        <p:nvSpPr>
          <p:cNvPr id="19" name="AutoShape 19"/>
          <p:cNvSpPr txBox="1"/>
          <p:nvPr>
            <p:custDataLst>
              <p:tags r:id="rId14"/>
            </p:custDataLst>
          </p:nvPr>
        </p:nvSpPr>
        <p:spPr>
          <a:xfrm>
            <a:off x="3530600" y="3505200"/>
            <a:ext cx="40481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调用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Google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搜索、打开并阅读网页来源</a:t>
            </a:r>
            <a:endParaRPr lang="en-US" sz="2000"/>
          </a:p>
        </p:txBody>
      </p:sp>
      <p:cxnSp>
        <p:nvCxnSpPr>
          <p:cNvPr id="20" name="Connector 20"/>
          <p:cNvCxnSpPr/>
          <p:nvPr>
            <p:custDataLst>
              <p:tags r:id="rId15"/>
            </p:custDataLst>
          </p:nvPr>
        </p:nvCxnSpPr>
        <p:spPr>
          <a:xfrm rot="5057364">
            <a:off x="5524500" y="4197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>
            <p:custDataLst>
              <p:tags r:id="rId16"/>
            </p:custDataLst>
          </p:nvPr>
        </p:nvSpPr>
        <p:spPr>
          <a:xfrm>
            <a:off x="1524000" y="4267200"/>
            <a:ext cx="9188450" cy="649605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7"/>
            </p:custDataLst>
          </p:nvPr>
        </p:nvSpPr>
        <p:spPr>
          <a:xfrm>
            <a:off x="1524000" y="4267200"/>
            <a:ext cx="1905000" cy="635000"/>
          </a:xfrm>
          <a:prstGeom prst="roundRect">
            <a:avLst>
              <a:gd name="adj" fmla="val 16000"/>
            </a:avLst>
          </a:prstGeom>
          <a:solidFill>
            <a:srgbClr val="93C5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>
            <p:custDataLst>
              <p:tags r:id="rId18"/>
            </p:custDataLst>
          </p:nvPr>
        </p:nvSpPr>
        <p:spPr>
          <a:xfrm>
            <a:off x="1524000" y="42672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验证层</a:t>
            </a:r>
            <a:endParaRPr lang="en-US" sz="2000"/>
          </a:p>
        </p:txBody>
      </p:sp>
      <p:sp>
        <p:nvSpPr>
          <p:cNvPr id="24" name="AutoShape 24"/>
          <p:cNvSpPr txBox="1"/>
          <p:nvPr>
            <p:custDataLst>
              <p:tags r:id="rId19"/>
            </p:custDataLst>
          </p:nvPr>
        </p:nvSpPr>
        <p:spPr>
          <a:xfrm>
            <a:off x="3531235" y="4267200"/>
            <a:ext cx="475170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评估知识缺口与数据冲突，回查来源、年份与口径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Connector 25"/>
          <p:cNvCxnSpPr/>
          <p:nvPr>
            <p:custDataLst>
              <p:tags r:id="rId20"/>
            </p:custDataLst>
          </p:nvPr>
        </p:nvCxnSpPr>
        <p:spPr>
          <a:xfrm rot="5057364">
            <a:off x="5524500" y="4959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>
            <p:custDataLst>
              <p:tags r:id="rId21"/>
            </p:custDataLst>
          </p:nvPr>
        </p:nvSpPr>
        <p:spPr>
          <a:xfrm>
            <a:off x="1524000" y="5029200"/>
            <a:ext cx="9188450" cy="65659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2"/>
            </p:custDataLst>
          </p:nvPr>
        </p:nvSpPr>
        <p:spPr>
          <a:xfrm>
            <a:off x="1524000" y="5029200"/>
            <a:ext cx="1905000" cy="635000"/>
          </a:xfrm>
          <a:prstGeom prst="roundRect">
            <a:avLst>
              <a:gd name="adj" fmla="val 16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>
            <p:custDataLst>
              <p:tags r:id="rId23"/>
            </p:custDataLst>
          </p:nvPr>
        </p:nvSpPr>
        <p:spPr>
          <a:xfrm>
            <a:off x="1524000" y="50292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产出层</a:t>
            </a:r>
            <a:endParaRPr lang="en-US" sz="2000"/>
          </a:p>
        </p:txBody>
      </p:sp>
      <p:sp>
        <p:nvSpPr>
          <p:cNvPr id="29" name="AutoShape 29"/>
          <p:cNvSpPr txBox="1"/>
          <p:nvPr>
            <p:custDataLst>
              <p:tags r:id="rId24"/>
            </p:custDataLst>
          </p:nvPr>
        </p:nvSpPr>
        <p:spPr>
          <a:xfrm>
            <a:off x="3580765" y="5029200"/>
            <a:ext cx="43173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生成分节论述、结论与可点击引用的结构化报告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524000" y="5791200"/>
            <a:ext cx="9187815" cy="380365"/>
          </a:xfrm>
          <a:prstGeom prst="roundRect">
            <a:avLst>
              <a:gd name="adj" fmla="val 23076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 txBox="1"/>
          <p:nvPr/>
        </p:nvSpPr>
        <p:spPr>
          <a:xfrm>
            <a:off x="1524000" y="5775960"/>
            <a:ext cx="8404225" cy="3956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异步任务（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ackground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）与实时状态反馈：贯穿以上所有层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AutoShape 32"/>
          <p:cNvSpPr txBox="1"/>
          <p:nvPr/>
        </p:nvSpPr>
        <p:spPr>
          <a:xfrm>
            <a:off x="1016000" y="64770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说明：此为依据章节与公开文档抽象的教学框架，非</a:t>
            </a:r>
            <a:r>
              <a:rPr lang="en-US" sz="1200" b="0" i="0" u="none" strike="noStrike">
                <a:solidFill>
                  <a:srgbClr val="94A3B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Google</a:t>
            </a:r>
            <a:r>
              <a:rPr lang="en-US" sz="12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未公开的内部架构图</a:t>
            </a:r>
            <a:endParaRPr lang="en-US" sz="1200"/>
          </a:p>
        </p:txBody>
      </p:sp>
      <p:sp>
        <p:nvSpPr>
          <p:cNvPr id="33" name="AutoShape 33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26720"/>
            <a:ext cx="7620000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SECTION 03</a:t>
            </a: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研究计划 · 参考Fig.3</a:t>
            </a:r>
            <a:endParaRPr lang="en-US"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先审阅再执行：把宽泛问题拆成 6 个检索子任务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07085" y="1831340"/>
            <a:ext cx="4977765" cy="4610735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l="42" r="42"/>
          <a:stretch>
            <a:fillRect/>
          </a:stretch>
        </p:blipFill>
        <p:spPr>
          <a:xfrm>
            <a:off x="1016000" y="1911985"/>
            <a:ext cx="4571365" cy="418528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1168400" y="5994400"/>
            <a:ext cx="4267200" cy="4470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6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Fig.3 </a:t>
            </a:r>
            <a:r>
              <a:rPr lang="zh-CN" altLang="en-US" sz="16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研究计划审阅界面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5969000" y="1828800"/>
            <a:ext cx="520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计划中的6个检索子任务</a:t>
            </a:r>
            <a:endParaRPr lang="en-US" sz="2000"/>
          </a:p>
        </p:txBody>
      </p:sp>
      <p:sp>
        <p:nvSpPr>
          <p:cNvPr id="10" name="AutoShape 10"/>
          <p:cNvSpPr/>
          <p:nvPr/>
        </p:nvSpPr>
        <p:spPr>
          <a:xfrm>
            <a:off x="5969000" y="2413000"/>
            <a:ext cx="279400" cy="279400"/>
          </a:xfrm>
          <a:prstGeom prst="roundRect">
            <a:avLst>
              <a:gd name="adj" fmla="val 18181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969000" y="2413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375400" y="24130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搜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2025与2024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欧洲风投的总量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969000" y="2870200"/>
            <a:ext cx="279400" cy="279400"/>
          </a:xfrm>
          <a:prstGeom prst="roundRect">
            <a:avLst>
              <a:gd name="adj" fmla="val 18181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5969000" y="28702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75400" y="28702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找出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按风投额领先的欧洲国家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69000" y="3327400"/>
            <a:ext cx="279400" cy="279400"/>
          </a:xfrm>
          <a:prstGeom prst="roundRect">
            <a:avLst>
              <a:gd name="adj" fmla="val 18181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5969000" y="33274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375400" y="33274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查各国风投的同比增速数据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969000" y="3784600"/>
            <a:ext cx="279400" cy="279400"/>
          </a:xfrm>
          <a:prstGeom prst="roundRect">
            <a:avLst>
              <a:gd name="adj" fmla="val 18181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5969000" y="37846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375400" y="37846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找出近期百分比增幅最大的国家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969000" y="4241800"/>
            <a:ext cx="279400" cy="279400"/>
          </a:xfrm>
          <a:prstGeom prst="roundRect">
            <a:avLst>
              <a:gd name="adj" fmla="val 18181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5969000" y="42418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6375400" y="42418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专门分析“加速增长”的欧洲国家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969000" y="4699000"/>
            <a:ext cx="279400" cy="279400"/>
          </a:xfrm>
          <a:prstGeom prst="roundRect">
            <a:avLst>
              <a:gd name="adj" fmla="val 18181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969000" y="4699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375400" y="46990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驱动增长的具体行业与赛道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969000" y="5156835"/>
            <a:ext cx="5504180" cy="1287780"/>
          </a:xfrm>
          <a:prstGeom prst="roundRect">
            <a:avLst>
              <a:gd name="adj" fmla="val 1212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/>
        </p:nvSpPr>
        <p:spPr>
          <a:xfrm>
            <a:off x="6197600" y="5156835"/>
            <a:ext cx="5274945" cy="11163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Edit plan让人修改研究方向；</a:t>
            </a:r>
            <a:endParaRPr lang="en-US" sz="2000" b="1" i="0" u="none" strike="noStrike">
              <a:solidFill>
                <a:srgbClr val="2563E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Start research才批准执行——这是人工参与研究的关键节点。</a:t>
            </a:r>
            <a:endParaRPr lang="en-US" sz="2000" b="1">
              <a:solidFill>
                <a:srgbClr val="2563EB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0" name="AutoShape 30"/>
          <p:cNvSpPr txBox="1"/>
          <p:nvPr/>
        </p:nvSpPr>
        <p:spPr>
          <a:xfrm>
            <a:off x="1016000" y="6477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Planning · Google Deep Research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30200"/>
            <a:ext cx="7620000" cy="367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03 · 执行流程 · 参考 Fig.1</a:t>
            </a:r>
            <a:endParaRPr lang="en-US"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检索—阅读—迭代：边搜边读补全证据链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885829" y="161290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08025" y="1666875"/>
            <a:ext cx="5523865" cy="480568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1001" b="1001"/>
          <a:stretch>
            <a:fillRect/>
          </a:stretch>
        </p:blipFill>
        <p:spPr>
          <a:xfrm>
            <a:off x="967105" y="1751965"/>
            <a:ext cx="5130800" cy="422021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1168400" y="5918200"/>
            <a:ext cx="4775200" cy="367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6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Fig.1 </a:t>
            </a:r>
            <a:r>
              <a:rPr lang="zh-CN" altLang="en-US" sz="16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研究进度与正在阅读的网站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1866900"/>
            <a:ext cx="4826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执行中的迭代闭环</a:t>
            </a:r>
            <a:endParaRPr lang="en-US" sz="2400"/>
          </a:p>
        </p:txBody>
      </p:sp>
      <p:sp>
        <p:nvSpPr>
          <p:cNvPr id="10" name="AutoShape 10"/>
          <p:cNvSpPr/>
          <p:nvPr/>
        </p:nvSpPr>
        <p:spPr>
          <a:xfrm>
            <a:off x="6350000" y="2413000"/>
            <a:ext cx="5187950" cy="533400"/>
          </a:xfrm>
          <a:prstGeom prst="roundRect">
            <a:avLst>
              <a:gd name="adj" fmla="val 1904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502400" y="2390775"/>
            <a:ext cx="4380865" cy="518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搜索：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按子问题构造查询，调用搜索</a:t>
            </a:r>
            <a:endParaRPr lang="en-US" sz="2000"/>
          </a:p>
        </p:txBody>
      </p:sp>
      <p:cxnSp>
        <p:nvCxnSpPr>
          <p:cNvPr id="12" name="Connector 12"/>
          <p:cNvCxnSpPr/>
          <p:nvPr/>
        </p:nvCxnSpPr>
        <p:spPr>
          <a:xfrm rot="5114181">
            <a:off x="8686800" y="3016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6350000" y="3124200"/>
            <a:ext cx="5187950" cy="542290"/>
          </a:xfrm>
          <a:prstGeom prst="roundRect">
            <a:avLst>
              <a:gd name="adj" fmla="val 1904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6502400" y="3124200"/>
            <a:ext cx="4380230" cy="471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阅读：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打开网页，提取相关要点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114181">
            <a:off x="8686800" y="3727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6350000" y="3835400"/>
            <a:ext cx="5187950" cy="557530"/>
          </a:xfrm>
          <a:prstGeom prst="roundRect">
            <a:avLst>
              <a:gd name="adj" fmla="val 1904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502400" y="3835400"/>
            <a:ext cx="4381500" cy="4813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③ 评估：</a:t>
            </a:r>
            <a:r>
              <a:rPr lang="zh-CN" altLang="en-US" sz="2000" b="0" i="0" u="none" strike="noStrike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证据充分吗？有无缺口或冲突？</a:t>
            </a:r>
            <a:endParaRPr lang="en-US" sz="2000"/>
          </a:p>
        </p:txBody>
      </p:sp>
      <p:sp>
        <p:nvSpPr>
          <p:cNvPr id="18" name="AutoShape 18"/>
          <p:cNvSpPr/>
          <p:nvPr/>
        </p:nvSpPr>
        <p:spPr>
          <a:xfrm>
            <a:off x="6286500" y="4610735"/>
            <a:ext cx="2523490" cy="1177925"/>
          </a:xfrm>
          <a:prstGeom prst="roundRect">
            <a:avLst>
              <a:gd name="adj" fmla="val 14285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6477000" y="4696460"/>
            <a:ext cx="2162810" cy="969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证据充分</a:t>
            </a:r>
            <a:br>
              <a:rPr lang="en-US" sz="1800" b="0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→综合并撰写报告</a:t>
            </a:r>
            <a:endParaRPr lang="en-US" sz="1800"/>
          </a:p>
        </p:txBody>
      </p:sp>
      <p:sp>
        <p:nvSpPr>
          <p:cNvPr id="20" name="AutoShape 20"/>
          <p:cNvSpPr/>
          <p:nvPr/>
        </p:nvSpPr>
        <p:spPr>
          <a:xfrm>
            <a:off x="8864600" y="4597400"/>
            <a:ext cx="2861945" cy="1202055"/>
          </a:xfrm>
          <a:prstGeom prst="roundRect">
            <a:avLst>
              <a:gd name="adj" fmla="val 14285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8998585" y="4681220"/>
            <a:ext cx="2727325" cy="9956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缺口/冲突</a:t>
            </a:r>
            <a:br>
              <a:rPr lang="en-US" sz="1800" b="0" i="0" u="none" strike="noStrike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→改写查询，回到①再搜</a:t>
            </a:r>
            <a:endParaRPr lang="en-US" sz="1800"/>
          </a:p>
        </p:txBody>
      </p:sp>
      <p:sp>
        <p:nvSpPr>
          <p:cNvPr id="22" name="AutoShape 22"/>
          <p:cNvSpPr txBox="1"/>
          <p:nvPr/>
        </p:nvSpPr>
        <p:spPr>
          <a:xfrm>
            <a:off x="6350000" y="596455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截图仅是过程示例，不据此推断内部排序算法；直到证据足够才停止检索。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16000" y="6477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Planning · Google Deep Research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30200"/>
            <a:ext cx="7038975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SECTION </a:t>
            </a: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· 最终报告 · 参考 Fig.2</a:t>
            </a:r>
            <a:endParaRPr lang="en-US"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结论回到证据：保留来源、年份与统计口径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9812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541" b="541"/>
          <a:stretch>
            <a:fillRect/>
          </a:stretch>
        </p:blipFill>
        <p:spPr>
          <a:xfrm>
            <a:off x="1422400" y="2184400"/>
            <a:ext cx="4267200" cy="3657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1168400" y="5918200"/>
            <a:ext cx="4775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6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Fig.2 </a:t>
            </a:r>
            <a:r>
              <a:rPr lang="zh-CN" altLang="en-US" sz="16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已生成研究报告正文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20066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“结论—数据—来源”核验链</a:t>
            </a:r>
            <a:endParaRPr lang="en-US" sz="2000"/>
          </a:p>
        </p:txBody>
      </p:sp>
      <p:sp>
        <p:nvSpPr>
          <p:cNvPr id="10" name="AutoShape 10"/>
          <p:cNvSpPr/>
          <p:nvPr/>
        </p:nvSpPr>
        <p:spPr>
          <a:xfrm>
            <a:off x="6350000" y="2438400"/>
            <a:ext cx="1371600" cy="508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350000" y="2438400"/>
            <a:ext cx="1322070" cy="449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结论</a:t>
            </a:r>
            <a:endParaRPr lang="en-US" sz="2000"/>
          </a:p>
        </p:txBody>
      </p:sp>
      <p:cxnSp>
        <p:nvCxnSpPr>
          <p:cNvPr id="12" name="Connector 12"/>
          <p:cNvCxnSpPr/>
          <p:nvPr/>
        </p:nvCxnSpPr>
        <p:spPr>
          <a:xfrm rot="-190789">
            <a:off x="7721776" y="2686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8001000" y="2438400"/>
            <a:ext cx="1371600" cy="508000"/>
          </a:xfrm>
          <a:prstGeom prst="roundRect">
            <a:avLst>
              <a:gd name="adj" fmla="val 2000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8001000" y="2438400"/>
            <a:ext cx="1310640" cy="448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90789">
            <a:off x="9372776" y="2686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9652000" y="2438400"/>
            <a:ext cx="1371600" cy="508000"/>
          </a:xfrm>
          <a:prstGeom prst="roundRect">
            <a:avLst>
              <a:gd name="adj" fmla="val 20000"/>
            </a:avLst>
          </a:prstGeom>
          <a:solidFill>
            <a:srgbClr val="93C5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9652000" y="2438400"/>
            <a:ext cx="1343025" cy="467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</a:t>
            </a:r>
            <a:endParaRPr lang="en-US" sz="2000" b="1" i="0" u="none" strike="noStrik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3200400"/>
            <a:ext cx="4826000" cy="2235200"/>
          </a:xfrm>
          <a:prstGeom prst="roundRect">
            <a:avLst>
              <a:gd name="adj" fmla="val 568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6553200" y="3327400"/>
            <a:ext cx="447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同一报告里 2024 年欧洲风投总量的不同口径</a:t>
            </a:r>
            <a:endParaRPr 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6553200" y="3657600"/>
            <a:ext cx="4470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Cr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unchbase：约 $51B（同比−5%）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Invest Europe：约 €18B（同比+26%）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GoingVC：约 $10B（同比−39%）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PitchBook：约 €57.3B</a:t>
            </a:r>
            <a:endParaRPr lang="en-US" sz="1800" b="0" i="0" u="none" strike="noStrike">
              <a:solidFill>
                <a:srgbClr val="475569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6350000" y="5494655"/>
            <a:ext cx="5175250" cy="979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数字不一致源于统计范</a:t>
            </a:r>
            <a:r>
              <a:rPr lang="en-US" sz="1800" b="1" i="0" u="none" strike="noStrike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围、门槛与时点不同——报告必须保留来源、年份与定义，才能回查原网页。</a:t>
            </a:r>
            <a:endParaRPr lang="en-US" sz="1800"/>
          </a:p>
        </p:txBody>
      </p:sp>
      <p:sp>
        <p:nvSpPr>
          <p:cNvPr id="22" name="AutoShape 22"/>
          <p:cNvSpPr txBox="1"/>
          <p:nvPr/>
        </p:nvSpPr>
        <p:spPr>
          <a:xfrm>
            <a:off x="1016000" y="6477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Planning · Google Deep Research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4965"/>
            <a:ext cx="7620000" cy="344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04 · 设计方法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把研究目标写成可验证的任务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981200"/>
            <a:ext cx="4953000" cy="3200400"/>
          </a:xfrm>
          <a:prstGeom prst="roundRect">
            <a:avLst>
              <a:gd name="adj" fmla="val 396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981200"/>
            <a:ext cx="4953000" cy="508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016000" y="19812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设计输入：把问题限定清楚</a:t>
            </a:r>
            <a:endParaRPr lang="en-US" sz="2000"/>
          </a:p>
        </p:txBody>
      </p:sp>
      <p:sp>
        <p:nvSpPr>
          <p:cNvPr id="9" name="AutoShape 9"/>
          <p:cNvSpPr txBox="1"/>
          <p:nvPr/>
        </p:nvSpPr>
        <p:spPr>
          <a:xfrm>
            <a:off x="1320800" y="2569845"/>
            <a:ext cx="4470400" cy="25355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主题：欧洲风投规模与增长国家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42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时间范围：2024全年至2025 Q1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地域：欧洲主要经济体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比较对象：各国总量与同比增速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交付格式：带引用的结构化报告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981200"/>
            <a:ext cx="4953000" cy="3200400"/>
          </a:xfrm>
          <a:prstGeom prst="roundRect">
            <a:avLst>
              <a:gd name="adj" fmla="val 396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981200"/>
            <a:ext cx="4953000" cy="508000"/>
          </a:xfrm>
          <a:prstGeom prst="roundRect">
            <a:avLst>
              <a:gd name="adj" fmla="val 25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223000" y="19812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验收标准：让结果可被核验</a:t>
            </a:r>
            <a:endParaRPr lang="en-US" sz="1800"/>
          </a:p>
        </p:txBody>
      </p:sp>
      <p:sp>
        <p:nvSpPr>
          <p:cNvPr id="13" name="AutoShape 13"/>
          <p:cNvSpPr txBox="1"/>
          <p:nvPr/>
        </p:nvSpPr>
        <p:spPr>
          <a:xfrm>
            <a:off x="6527800" y="2569210"/>
            <a:ext cx="4470400" cy="2401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42000"/>
              </a:lnSpc>
              <a:buSzTx/>
              <a:buNone/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来源权威性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：优先行业机构与权威媒体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algn="l">
              <a:lnSpc>
                <a:spcPct val="142000"/>
              </a:lnSpc>
              <a:buSzTx/>
              <a:buNone/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交叉核验：关键数字至少两个来源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algn="l">
              <a:lnSpc>
                <a:spcPct val="142000"/>
              </a:lnSpc>
              <a:buSzTx/>
              <a:buNone/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冲突处理：并列不同口径并说明差异</a:t>
            </a:r>
            <a:endParaRPr lang="zh-CN" altLang="en-US" sz="20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0" algn="l">
              <a:lnSpc>
                <a:spcPct val="142000"/>
              </a:lnSpc>
              <a:buSzTx/>
              <a:buNone/>
            </a:pP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未知项标注：查不到就明说，不编造</a:t>
            </a:r>
            <a:endParaRPr lang="en-US" sz="1250" b="0" i="0" u="none" strike="noStrike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016000" y="5255895"/>
            <a:ext cx="2540000" cy="357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研究闭环</a:t>
            </a:r>
            <a:endParaRPr lang="en-US" sz="2400"/>
          </a:p>
        </p:txBody>
      </p:sp>
      <p:sp>
        <p:nvSpPr>
          <p:cNvPr id="15" name="AutoShape 15"/>
          <p:cNvSpPr/>
          <p:nvPr/>
        </p:nvSpPr>
        <p:spPr>
          <a:xfrm>
            <a:off x="1102360" y="5689600"/>
            <a:ext cx="1722755" cy="645160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1016000" y="5794375"/>
            <a:ext cx="1879600" cy="344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问题与约束</a:t>
            </a:r>
            <a:endParaRPr lang="en-US" sz="2000" b="1" i="0" u="none" strike="noStrike">
              <a:solidFill>
                <a:srgbClr val="2563E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214580">
            <a:off x="2895798" y="59880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3267075" y="5704840"/>
            <a:ext cx="1553210" cy="629920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3351530" y="5753735"/>
            <a:ext cx="1322070" cy="4432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生成计划</a:t>
            </a:r>
            <a:endParaRPr lang="en-US" sz="2000"/>
          </a:p>
        </p:txBody>
      </p:sp>
      <p:cxnSp>
        <p:nvCxnSpPr>
          <p:cNvPr id="20" name="Connector 20"/>
          <p:cNvCxnSpPr/>
          <p:nvPr/>
        </p:nvCxnSpPr>
        <p:spPr>
          <a:xfrm rot="-214580">
            <a:off x="4894143" y="59880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5200650" y="5688965"/>
            <a:ext cx="1595755" cy="646430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5318125" y="5753100"/>
            <a:ext cx="1330960" cy="4895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搜索阅读</a:t>
            </a:r>
            <a:endParaRPr lang="en-US" sz="2000" b="1">
              <a:solidFill>
                <a:srgbClr val="2563E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214580">
            <a:off x="6832163" y="59880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7136765" y="5689600"/>
            <a:ext cx="1717040" cy="672465"/>
          </a:xfrm>
          <a:prstGeom prst="roundRect">
            <a:avLst>
              <a:gd name="adj" fmla="val 2222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7136130" y="5764530"/>
            <a:ext cx="1572895" cy="477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评估缺口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14580">
            <a:off x="8897818" y="60134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7" name="AutoShape 27"/>
          <p:cNvSpPr/>
          <p:nvPr/>
        </p:nvSpPr>
        <p:spPr>
          <a:xfrm>
            <a:off x="9194165" y="5765800"/>
            <a:ext cx="1967865" cy="508000"/>
          </a:xfrm>
          <a:prstGeom prst="roundRect">
            <a:avLst>
              <a:gd name="adj" fmla="val 22222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/>
        </p:nvSpPr>
        <p:spPr>
          <a:xfrm>
            <a:off x="9278620" y="5765800"/>
            <a:ext cx="176593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报告与引用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AutoShape 29"/>
          <p:cNvSpPr txBox="1"/>
          <p:nvPr/>
        </p:nvSpPr>
        <p:spPr>
          <a:xfrm>
            <a:off x="1016000" y="6477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Planning · Google Deep Research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77495"/>
            <a:ext cx="7620000" cy="5353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SECTION 0</a:t>
            </a:r>
            <a:r>
              <a:rPr 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· 代码</a:t>
            </a:r>
            <a:r>
              <a:rPr lang="zh-CN" altLang="en-US" sz="2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讲解</a:t>
            </a:r>
            <a:endParaRPr lang="zh-CN" altLang="en-US" sz="24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8382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Gemini Deep Research API：plan→refine→run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61381">
            <a:off x="1016057" y="14668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981200"/>
            <a:ext cx="6604000" cy="4368800"/>
          </a:xfrm>
          <a:prstGeom prst="roundRect">
            <a:avLst>
              <a:gd name="adj" fmla="val 2906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270000" y="2133600"/>
            <a:ext cx="622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deep_research_repro.py</a:t>
            </a:r>
            <a:endParaRPr lang="en-US" sz="1600"/>
          </a:p>
        </p:txBody>
      </p:sp>
      <p:sp>
        <p:nvSpPr>
          <p:cNvPr id="8" name="AutoShape 8"/>
          <p:cNvSpPr txBox="1"/>
          <p:nvPr/>
        </p:nvSpPr>
        <p:spPr>
          <a:xfrm>
            <a:off x="1270000" y="2463800"/>
            <a:ext cx="6172200" cy="375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google import genai</a:t>
            </a:r>
            <a:endParaRPr lang="en-US" sz="16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client = genai.Client()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64748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1) plan：可审阅计划</a:t>
            </a:r>
            <a:endParaRPr lang="en-US" sz="1600" b="0" i="0" u="none" strike="noStrike">
              <a:solidFill>
                <a:srgbClr val="64748B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plan = client.interactions.create(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agent=</a:t>
            </a:r>
            <a:r>
              <a:rPr lang="en-US" sz="1600" b="0" i="0" u="none" strike="noStrike">
                <a:solidFill>
                  <a:srgbClr val="FACC1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"deep-research-preview-04-2026"</a:t>
            </a: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prompt=</a:t>
            </a:r>
            <a:r>
              <a:rPr lang="en-US" sz="1600" b="0" i="0" u="none" strike="noStrike">
                <a:solidFill>
                  <a:srgbClr val="FACC1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"欧洲风投规模及增长国家"</a:t>
            </a: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64748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2) refine：修改计划（省略）</a:t>
            </a:r>
            <a:endParaRPr lang="en-US" sz="1600" b="0" i="0" u="none" strike="noStrike">
              <a:solidFill>
                <a:srgbClr val="64748B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64748B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3) run：批准后异步执行</a:t>
            </a:r>
            <a:endParaRPr lang="en-US" sz="1600" b="0" i="0" u="none" strike="noStrike">
              <a:solidFill>
                <a:srgbClr val="64748B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job = client.interactions.run(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previous_interaction_id=plan.id,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background=True)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job.poll().export().save(</a:t>
            </a:r>
            <a:r>
              <a:rPr lang="en-US" sz="1600" b="0" i="0" u="none" strike="noStrike">
                <a:solidFill>
                  <a:srgbClr val="FACC1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"report.md"</a:t>
            </a:r>
            <a:r>
              <a:rPr lang="en-US" sz="1600" b="0" i="0" u="none" strike="noStrike">
                <a:solidFill>
                  <a:srgbClr val="E2E8F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US" sz="1600" b="0" i="0" u="none" strike="noStrike">
              <a:solidFill>
                <a:srgbClr val="E2E8F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874000" y="20066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三步动作</a:t>
            </a:r>
            <a:endParaRPr lang="en-US" sz="2400"/>
          </a:p>
        </p:txBody>
      </p:sp>
      <p:sp>
        <p:nvSpPr>
          <p:cNvPr id="10" name="AutoShape 10"/>
          <p:cNvSpPr/>
          <p:nvPr/>
        </p:nvSpPr>
        <p:spPr>
          <a:xfrm>
            <a:off x="7874000" y="2413000"/>
            <a:ext cx="33020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8077200" y="2413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plan</a:t>
            </a:r>
            <a:r>
              <a:rPr lang="en-US" sz="11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请求可审阅计划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3149600"/>
            <a:ext cx="33020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8077200" y="31496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refine</a:t>
            </a:r>
            <a:r>
              <a:rPr lang="en-US" sz="11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zh-CN" altLang="en-US" sz="20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微软雅黑" panose="020B0503020204020204" charset="-122"/>
              </a:rPr>
              <a:t>按反馈调整计划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874000" y="3886200"/>
            <a:ext cx="3302000" cy="635000"/>
          </a:xfrm>
          <a:prstGeom prst="roundRect">
            <a:avLst>
              <a:gd name="adj" fmla="val 16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8077200" y="38862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run</a:t>
            </a:r>
            <a:r>
              <a:rPr lang="en-US" sz="1100" b="0" i="0" u="none" strike="noStrike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2000" b="0" i="0" u="none" strike="noStrike">
                <a:solidFill>
                  <a:srgbClr val="DBEAFE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批准后异步执行轮询</a:t>
            </a:r>
            <a:endParaRPr lang="en-US" sz="2000" b="0" i="0" u="none" strike="noStrike">
              <a:solidFill>
                <a:srgbClr val="DBEAFE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7874000" y="4699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关键参数</a:t>
            </a:r>
            <a:endParaRPr lang="en-US" sz="2400"/>
          </a:p>
        </p:txBody>
      </p:sp>
      <p:sp>
        <p:nvSpPr>
          <p:cNvPr id="17" name="AutoShape 17"/>
          <p:cNvSpPr txBox="1"/>
          <p:nvPr/>
        </p:nvSpPr>
        <p:spPr>
          <a:xfrm>
            <a:off x="7874000" y="5003800"/>
            <a:ext cx="3884930" cy="142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agent=de</a:t>
            </a:r>
            <a:r>
              <a:rPr lang="zh-CN" altLang="en-US" sz="18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Courier New" panose="02070309020205020404"/>
              </a:rPr>
              <a:t>ep-research-preview-04-2026</a:t>
            </a:r>
            <a:endParaRPr lang="zh-CN" altLang="en-US" sz="1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8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Courier New" panose="02070309020205020404"/>
              </a:rPr>
              <a:t>collaborative_planning=True</a:t>
            </a:r>
            <a:endParaRPr lang="zh-CN" altLang="en-US" sz="18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Courier New" panose="02070309020205020404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8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Courier New" panose="02070309020205020404"/>
              </a:rPr>
              <a:t>previous_interaction_id</a:t>
            </a:r>
            <a:endParaRPr lang="zh-CN" altLang="en-US" sz="18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Courier New" panose="02070309020205020404"/>
            </a:endParaRPr>
          </a:p>
          <a:p>
            <a:pPr marL="0" indent="0" algn="l">
              <a:lnSpc>
                <a:spcPct val="125000"/>
              </a:lnSpc>
            </a:pPr>
            <a:r>
              <a:rPr lang="zh-CN" altLang="en-US" sz="1800" b="0" i="0" u="none" strike="noStrike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Courier New" panose="02070309020205020404"/>
              </a:rPr>
              <a:t>background=True</a:t>
            </a:r>
            <a:endParaRPr lang="zh-CN" altLang="en-US" sz="1800" b="0" i="0" u="none" strike="noStrike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Courier New" panose="02070309020205020404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10160000" y="64770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397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SECTION 04 · 汇报人：</a:t>
            </a:r>
            <a:r>
              <a:rPr lang="zh-CN" altLang="en-US" sz="1200" b="1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杨志鹏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2032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OpenAI Deep Research API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6350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Chapter 6 · Planning　|　04 OpenAI API 与总结　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762000" y="93726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OpenAI Deep Research API</a:t>
            </a:r>
            <a:r>
              <a:rPr lang="en-US" sz="1400" b="1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</a:t>
            </a:r>
            <a:r>
              <a:rPr lang="zh-CN" altLang="en-US" b="1">
                <a:solidFill>
                  <a:srgbClr val="0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面向复杂研究任务的自动化，依托能够独立推理、规划并从真实世界来源综合信息的高级智能体模型。</a:t>
            </a:r>
            <a:endParaRPr lang="en-US"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6096000" y="1651000"/>
            <a:ext cx="5728" cy="349568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762000" y="1691005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普通问答模型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444750"/>
            <a:ext cx="4826000" cy="50800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762000" y="245618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用户问题 → 模型生成回答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30580" y="315468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70000"/>
              </a:lnSpc>
              <a:buClr>
                <a:srgbClr val="475569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面向单轮问题回答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不会主动拆分复杂任务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搜索过程和信息来源不透明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输出重点是"回答问题"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475569"/>
              </a:buClr>
              <a:buChar char="•"/>
            </a:pPr>
            <a:r>
              <a:rPr lang="en-US" sz="13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适合事实查询、概念解释</a:t>
            </a:r>
            <a:endParaRPr lang="en-US" sz="13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604000" y="167386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OpenAI Deep Research API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2439035"/>
            <a:ext cx="4826000" cy="508000"/>
          </a:xfrm>
          <a:prstGeom prst="roundRect">
            <a:avLst>
              <a:gd name="adj" fmla="val 1500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604000" y="243332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高层目标 → 自主规划 → 多工具检索 → </a:t>
            </a:r>
            <a:r>
              <a:rPr lang="zh-CN" altLang="en-US" sz="13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结构化</a:t>
            </a:r>
            <a:r>
              <a:rPr lang="en-US" sz="13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报告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6666865" y="3183255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70000"/>
              </a:lnSpc>
              <a:buClr>
                <a:srgbClr val="1E293B"/>
              </a:buClr>
              <a:buChar char="•"/>
              <a:defRPr/>
            </a:pPr>
            <a:r>
              <a:rPr lang="en-US" sz="1300" b="0" i="0" u="none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面向复杂、多步骤研究任务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1E293B"/>
              </a:buClr>
              <a:buChar char="•"/>
            </a:pPr>
            <a:r>
              <a:rPr lang="en-US" sz="1300" b="0" i="0" u="none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能自主规划、搜索、推理和综合</a:t>
            </a:r>
            <a:endParaRPr lang="en-US" sz="1300" b="0" i="0" u="none" strike="noStrike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1E293B"/>
              </a:buClr>
              <a:buChar char="•"/>
            </a:pPr>
            <a:r>
              <a:rPr lang="en-US" sz="1300" b="0" i="0" u="none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支持网页搜索、代码解释器、MCP 工具</a:t>
            </a:r>
            <a:endParaRPr lang="en-US" sz="1300" b="0" i="0" u="none" strike="noStrike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1E293B"/>
              </a:buClr>
              <a:buChar char="•"/>
            </a:pPr>
            <a:r>
              <a:rPr lang="en-US" sz="1300" b="0" i="0" u="none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输出结构化、引用丰富的研究报告</a:t>
            </a:r>
            <a:endParaRPr lang="en-US" sz="1300" b="0" i="0" u="none" strike="noStrike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70000"/>
              </a:lnSpc>
              <a:buClr>
                <a:srgbClr val="1E293B"/>
              </a:buClr>
              <a:buChar char="•"/>
            </a:pPr>
            <a:r>
              <a:rPr lang="en-US" sz="1300" b="0" i="0" u="none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可查看搜索查询、推理摘要和代码步骤</a:t>
            </a:r>
            <a:endParaRPr lang="en-US" sz="1300" b="0" i="0" u="none" strike="noStrike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702935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1016000" y="5680075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系统定位：</a:t>
            </a:r>
            <a:r>
              <a:rPr lang="en-US" sz="1400" b="0" i="0" u="none" strike="noStrike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面向复杂研究任务的可编程智能体系统——将"问题理解 → 计划制定 → 信息检索 → 证据评估 → 报告生成"整合为自动化研究流程。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oShape 3"/>
          <p:cNvSpPr txBox="1"/>
          <p:nvPr/>
        </p:nvSpPr>
        <p:spPr>
          <a:xfrm>
            <a:off x="403225" y="18034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从普通问答到自主研究系统</a:t>
            </a:r>
            <a:endParaRPr lang="en-US" sz="2400" b="1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762000" y="978535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智能体配置</a:t>
            </a: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：通过系统消息、用户问题和模型配置，定义一个"专业研究智能体"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zh-CN" alt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527810"/>
            <a:ext cx="5521325" cy="29400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4467860"/>
            <a:ext cx="5520690" cy="21259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AutoShape 3"/>
          <p:cNvSpPr txBox="1"/>
          <p:nvPr/>
        </p:nvSpPr>
        <p:spPr>
          <a:xfrm>
            <a:off x="403225" y="174625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从普通问答到自主研究系统</a:t>
            </a:r>
            <a:endParaRPr lang="en-US" sz="2400" b="1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858000" y="1905000"/>
            <a:ext cx="1460500" cy="3556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858000" y="1905000"/>
            <a:ext cx="146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B2A4A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407400" y="1905000"/>
            <a:ext cx="1460500" cy="3556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8407400" y="1905000"/>
            <a:ext cx="146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B2A4A"/>
                </a:solidFill>
                <a:latin typeface="Roboto Mono"/>
                <a:ea typeface="Roboto Mono"/>
                <a:cs typeface="Roboto Mono"/>
                <a:sym typeface="Roboto Mono"/>
              </a:rPr>
              <a:t>system_message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956800" y="1905000"/>
            <a:ext cx="1473200" cy="355600"/>
          </a:xfrm>
          <a:prstGeom prst="roundRect">
            <a:avLst>
              <a:gd name="adj" fmla="val 14285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9956800" y="1905000"/>
            <a:ext cx="147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B2A4A"/>
                </a:solidFill>
                <a:latin typeface="Roboto Mono"/>
                <a:ea typeface="Roboto Mono"/>
                <a:cs typeface="Roboto Mono"/>
                <a:sym typeface="Roboto Mono"/>
              </a:rPr>
              <a:t>user_query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228255">
            <a:off x="9144000" y="2406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AutoShape 15"/>
          <p:cNvSpPr/>
          <p:nvPr/>
        </p:nvSpPr>
        <p:spPr>
          <a:xfrm>
            <a:off x="7112000" y="2590800"/>
            <a:ext cx="4064635" cy="711200"/>
          </a:xfrm>
          <a:prstGeom prst="roundRect">
            <a:avLst>
              <a:gd name="adj" fmla="val 7142"/>
            </a:avLst>
          </a:prstGeom>
          <a:solidFill>
            <a:srgbClr val="0B2A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6"/>
          <p:cNvSpPr txBox="1"/>
          <p:nvPr/>
        </p:nvSpPr>
        <p:spPr>
          <a:xfrm>
            <a:off x="7524115" y="2578735"/>
            <a:ext cx="3427095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 Research Agent</a:t>
            </a:r>
            <a:endParaRPr lang="en-US" sz="1100"/>
          </a:p>
        </p:txBody>
      </p:sp>
      <p:cxnSp>
        <p:nvCxnSpPr>
          <p:cNvPr id="20" name="Connector 17"/>
          <p:cNvCxnSpPr/>
          <p:nvPr/>
        </p:nvCxnSpPr>
        <p:spPr>
          <a:xfrm rot="5298918">
            <a:off x="7340600" y="3537043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A5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1" name="Connector 18"/>
          <p:cNvCxnSpPr/>
          <p:nvPr/>
        </p:nvCxnSpPr>
        <p:spPr>
          <a:xfrm rot="5298918">
            <a:off x="8895080" y="3549743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A5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3" name="Connector 19"/>
          <p:cNvCxnSpPr/>
          <p:nvPr/>
        </p:nvCxnSpPr>
        <p:spPr>
          <a:xfrm rot="5298918">
            <a:off x="10515600" y="3549108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A5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4" name="AutoShape 20"/>
          <p:cNvSpPr/>
          <p:nvPr/>
        </p:nvSpPr>
        <p:spPr>
          <a:xfrm>
            <a:off x="6858000" y="3810000"/>
            <a:ext cx="1397000" cy="711200"/>
          </a:xfrm>
          <a:prstGeom prst="roundRect">
            <a:avLst>
              <a:gd name="adj" fmla="val 7142"/>
            </a:avLst>
          </a:prstGeom>
          <a:solidFill>
            <a:srgbClr val="E0F2F1">
              <a:alpha val="100000"/>
            </a:srgbClr>
          </a:solidFill>
          <a:ln w="25400" cap="flat" cmpd="sng">
            <a:solidFill>
              <a:srgbClr val="0E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1"/>
          <p:cNvSpPr txBox="1"/>
          <p:nvPr/>
        </p:nvSpPr>
        <p:spPr>
          <a:xfrm>
            <a:off x="6858000" y="38100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8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Search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必需</a:t>
            </a:r>
            <a:endParaRPr lang="en-US" sz="900" b="1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2"/>
          <p:cNvSpPr/>
          <p:nvPr/>
        </p:nvSpPr>
        <p:spPr>
          <a:xfrm>
            <a:off x="8445500" y="3810000"/>
            <a:ext cx="1397000" cy="7112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3"/>
          <p:cNvSpPr txBox="1"/>
          <p:nvPr/>
        </p:nvSpPr>
        <p:spPr>
          <a:xfrm>
            <a:off x="8445500" y="38100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Interpreter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</a:t>
            </a:r>
            <a:endParaRPr lang="en-US" sz="900" b="1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4"/>
          <p:cNvSpPr/>
          <p:nvPr/>
        </p:nvSpPr>
        <p:spPr>
          <a:xfrm>
            <a:off x="10033000" y="3810000"/>
            <a:ext cx="1397000" cy="7112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A5A5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5"/>
          <p:cNvSpPr txBox="1"/>
          <p:nvPr/>
        </p:nvSpPr>
        <p:spPr>
          <a:xfrm>
            <a:off x="10033000" y="38100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0B2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工具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自定义接入</a:t>
            </a:r>
            <a:endParaRPr lang="en-US" sz="900" b="1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26"/>
          <p:cNvCxnSpPr/>
          <p:nvPr/>
        </p:nvCxnSpPr>
        <p:spPr>
          <a:xfrm rot="5267844">
            <a:off x="8920480" y="480961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1" name="AutoShape 27"/>
          <p:cNvSpPr/>
          <p:nvPr/>
        </p:nvSpPr>
        <p:spPr>
          <a:xfrm>
            <a:off x="7112000" y="5064760"/>
            <a:ext cx="4064000" cy="558800"/>
          </a:xfrm>
          <a:prstGeom prst="roundRect">
            <a:avLst>
              <a:gd name="adj" fmla="val 9090"/>
            </a:avLst>
          </a:prstGeom>
          <a:solidFill>
            <a:srgbClr val="F0F9F9">
              <a:alpha val="100000"/>
            </a:srgbClr>
          </a:solidFill>
          <a:ln w="12700" cap="flat" cmpd="sng">
            <a:solidFill>
              <a:srgbClr val="0E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28"/>
          <p:cNvSpPr txBox="1"/>
          <p:nvPr/>
        </p:nvSpPr>
        <p:spPr>
          <a:xfrm>
            <a:off x="7112000" y="511048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08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结构化研究报告 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1865630"/>
            <a:ext cx="5923915" cy="37915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3" name="文本框 22"/>
          <p:cNvSpPr txBox="1"/>
          <p:nvPr/>
        </p:nvSpPr>
        <p:spPr>
          <a:xfrm>
            <a:off x="6880225" y="2664460"/>
            <a:ext cx="4723765" cy="2447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提取最终报告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提取并解析行内引用 (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Citations)</a:t>
            </a: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，被引用的原文片段、来源标题、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URL </a:t>
            </a: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及字符位置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/>
          </a:p>
          <a:p>
            <a:endParaRPr lang="en-US"/>
          </a:p>
          <a:p>
            <a:endParaRPr lang="zh-CN" altLang="en-US"/>
          </a:p>
        </p:txBody>
      </p:sp>
      <p:sp>
        <p:nvSpPr>
          <p:cNvPr id="5" name="AutoShape 4"/>
          <p:cNvSpPr txBox="1"/>
          <p:nvPr/>
        </p:nvSpPr>
        <p:spPr>
          <a:xfrm>
            <a:off x="723265" y="108204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响应解析：通过响应对象提取最终报告文本，并解析内联引用的标注元数据。</a:t>
            </a:r>
            <a:endParaRPr lang="zh-CN" alt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3"/>
          <p:cNvSpPr txBox="1"/>
          <p:nvPr/>
        </p:nvSpPr>
        <p:spPr>
          <a:xfrm>
            <a:off x="403225" y="18034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从普通问答到自主研究系统</a:t>
            </a:r>
            <a:endParaRPr lang="en-US" sz="2400" b="1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文本框 22"/>
          <p:cNvSpPr txBox="1"/>
          <p:nvPr/>
        </p:nvSpPr>
        <p:spPr>
          <a:xfrm>
            <a:off x="7103110" y="2832100"/>
            <a:ext cx="4723765" cy="2447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提取推理步骤 (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Reasoning Steps)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提取网络搜索记录 (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Search Calls)</a:t>
            </a:r>
            <a:endParaRPr lang="en-US" altLang="zh-CN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提取代码执行记录 (</a:t>
            </a:r>
            <a:r>
              <a:rPr lang="en-US" altLang="zh-CN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Execution)</a:t>
            </a:r>
            <a:r>
              <a:rPr lang="en-US" sz="1800" b="1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endParaRPr lang="en-US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/>
          </a:p>
          <a:p>
            <a:endParaRPr 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30" y="1841500"/>
            <a:ext cx="6174740" cy="42424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AutoShape 4"/>
          <p:cNvSpPr txBox="1"/>
          <p:nvPr/>
        </p:nvSpPr>
        <p:spPr>
          <a:xfrm>
            <a:off x="723265" y="1014095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响应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解析：解析响应流，提取推理步骤、搜索查询与代码执行记录。</a:t>
            </a:r>
            <a:endParaRPr lang="zh-CN" alt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3"/>
          <p:cNvSpPr txBox="1"/>
          <p:nvPr/>
        </p:nvSpPr>
        <p:spPr>
          <a:xfrm>
            <a:off x="403225" y="18034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从普通问答到自主研究系统</a:t>
            </a:r>
            <a:endParaRPr lang="en-US" sz="2400" b="1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 txBox="1"/>
          <p:nvPr/>
        </p:nvSpPr>
        <p:spPr>
          <a:xfrm>
            <a:off x="403225" y="18034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从普通问答到自主研究系统</a:t>
            </a:r>
            <a:endParaRPr lang="en-US" sz="2400" b="1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70" y="1971040"/>
            <a:ext cx="7886700" cy="36766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65810" y="1005840"/>
            <a:ext cx="2615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案例运行结果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885" y="495681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 txBox="1"/>
          <p:nvPr/>
        </p:nvSpPr>
        <p:spPr>
          <a:xfrm>
            <a:off x="403225" y="18034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从普通问答到自主研究系统</a:t>
            </a:r>
            <a:endParaRPr lang="en-US" sz="2400" b="1" i="0" u="none" strike="noStrike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4"/>
          <p:cNvSpPr txBox="1"/>
          <p:nvPr/>
        </p:nvSpPr>
        <p:spPr>
          <a:xfrm>
            <a:off x="762000" y="93726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OpenAI Deep Research API</a:t>
            </a:r>
            <a:endParaRPr lang="en-US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24585" y="1777365"/>
            <a:ext cx="876681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开发者只需描述研究角色、输出标准和高层问题，具体的研究路径由智能体动态生成。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结构化与引用输出： 生成条理清晰的报告，行内引用与来源元数据相对应，使论断可核实、有数据支撑。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透明性： 与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中高度抽象的过程不同，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暴露完整中间步骤，包括智能体推理、实际执行的网页检索查询以及所运行代码，便于调试、复盘并理解最终答案的构成方式。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可扩展性： 支持模型上下文协议（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MCP），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开发者可将智能体接入私有知识库与内部数据源，将公开网页研究与专有信息相结合。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398" y="365760"/>
            <a:ext cx="10972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A1A1A"/>
                </a:solidFill>
                <a:latin typeface="Georgia" panose="02040502050405020303"/>
              </a:rPr>
              <a:t>Planning</a:t>
            </a:r>
            <a:r>
              <a:rPr sz="2200" b="1" i="0">
                <a:solidFill>
                  <a:srgbClr val="0B5E5E"/>
                </a:solidFill>
                <a:latin typeface="微软雅黑" panose="020B0503020204020204" charset="-122"/>
              </a:rPr>
              <a:t>  规划模式</a:t>
            </a:r>
            <a:endParaRPr sz="2200" b="1" i="0">
              <a:solidFill>
                <a:srgbClr val="0B5E5E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398" y="1417320"/>
            <a:ext cx="1097280" cy="38100"/>
          </a:xfrm>
          <a:prstGeom prst="rect">
            <a:avLst/>
          </a:prstGeom>
          <a:solidFill>
            <a:srgbClr val="B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83398" y="1417320"/>
            <a:ext cx="10469880" cy="12700"/>
          </a:xfrm>
          <a:prstGeom prst="rect">
            <a:avLst/>
          </a:prstGeom>
          <a:solidFill>
            <a:srgbClr val="DD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398" y="1691640"/>
            <a:ext cx="10972800" cy="1051560"/>
          </a:xfrm>
          <a:prstGeom prst="roundRect">
            <a:avLst/>
          </a:prstGeom>
          <a:solidFill>
            <a:srgbClr val="E8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875" y="2004695"/>
            <a:ext cx="1069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B8862D"/>
                </a:solidFill>
                <a:latin typeface="微软雅黑" panose="020B0503020204020204" charset="-122"/>
              </a:rPr>
              <a:t>核心论点  </a:t>
            </a:r>
            <a:r>
              <a:rPr sz="1800" b="1" i="0">
                <a:solidFill>
                  <a:srgbClr val="1A1A1A"/>
                </a:solidFill>
                <a:latin typeface="微软雅黑" panose="020B0503020204020204" charset="-122"/>
              </a:rPr>
              <a:t>规划不是智能体的「可选项」，而是其从「反应式工具」进化为「目标导向执行者」的分水岭。</a:t>
            </a:r>
            <a:endParaRPr sz="1800" b="1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40398" y="2971800"/>
            <a:ext cx="352044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640398" y="2971800"/>
            <a:ext cx="3520440" cy="50800"/>
          </a:xfrm>
          <a:prstGeom prst="rect">
            <a:avLst/>
          </a:prstGeom>
          <a:solidFill>
            <a:srgbClr val="0B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868998" y="3136392"/>
            <a:ext cx="30632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B5E5E"/>
                </a:solidFill>
                <a:latin typeface="Georgia" panose="02040502050405020303"/>
              </a:rPr>
              <a:t>01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</a:rPr>
              <a:t>为什么需要规划</a:t>
            </a:r>
            <a:endParaRPr sz="1500" b="1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68998" y="3749039"/>
            <a:ext cx="3063240" cy="126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0B5E5E"/>
                </a:solidFill>
                <a:latin typeface="微软雅黑" panose="020B0503020204020204" charset="-122"/>
              </a:rPr>
              <a:t>▸ 复杂目标 → 可执行步骤</a:t>
            </a:r>
            <a:endParaRPr sz="1150" b="1" i="0">
              <a:solidFill>
                <a:srgbClr val="0B5E5E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5A5A5A"/>
                </a:solidFill>
                <a:latin typeface="微软雅黑" panose="020B0503020204020204" charset="-122"/>
              </a:rPr>
              <a:t>将模糊意图拆解为清晰、有序的 action sequence</a:t>
            </a:r>
            <a:endParaRPr sz="1050" b="0" i="0">
              <a:solidFill>
                <a:srgbClr val="5A5A5A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0B5E5E"/>
                </a:solidFill>
                <a:latin typeface="微软雅黑" panose="020B0503020204020204" charset="-122"/>
              </a:rPr>
              <a:t>▸ 三大关键场景</a:t>
            </a:r>
            <a:endParaRPr sz="1150" b="1" i="0">
              <a:solidFill>
                <a:srgbClr val="0B5E5E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5A5A5A"/>
                </a:solidFill>
                <a:latin typeface="微软雅黑" panose="020B0503020204020204" charset="-122"/>
              </a:rPr>
              <a:t>多步任务 · 工作流自动化 · 复杂环境寻路</a:t>
            </a:r>
            <a:endParaRPr sz="1050" b="0" i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62006" y="2971800"/>
            <a:ext cx="352044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362006" y="2971800"/>
            <a:ext cx="3520440" cy="50800"/>
          </a:xfrm>
          <a:prstGeom prst="rect">
            <a:avLst/>
          </a:prstGeom>
          <a:solidFill>
            <a:srgbClr val="B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90606" y="3136392"/>
            <a:ext cx="30632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B8862D"/>
                </a:solidFill>
                <a:latin typeface="Georgia" panose="02040502050405020303"/>
              </a:rPr>
              <a:t>02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</a:rPr>
              <a:t>规划如何实现</a:t>
            </a:r>
            <a:endParaRPr sz="1500" b="1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90606" y="3749039"/>
            <a:ext cx="3063240" cy="126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B8862D"/>
                </a:solidFill>
                <a:latin typeface="微软雅黑" panose="020B0503020204020204" charset="-122"/>
              </a:rPr>
              <a:t>▸ LLM 自主生成方案</a:t>
            </a:r>
            <a:endParaRPr sz="1150" b="1" i="0">
              <a:solidFill>
                <a:srgbClr val="B8862D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5A5A5A"/>
                </a:solidFill>
                <a:latin typeface="微软雅黑" panose="020B0503020204020204" charset="-122"/>
              </a:rPr>
              <a:t>基于任务描述，输出 step-by-step 执行路径</a:t>
            </a:r>
            <a:endParaRPr sz="1050" b="0" i="0">
              <a:solidFill>
                <a:srgbClr val="5A5A5A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B8862D"/>
                </a:solidFill>
                <a:latin typeface="微软雅黑" panose="020B0503020204020204" charset="-122"/>
              </a:rPr>
              <a:t>▸ 显式设计强化行为</a:t>
            </a:r>
            <a:endParaRPr sz="1150" b="1" i="0">
              <a:solidFill>
                <a:srgbClr val="B8862D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5A5A5A"/>
                </a:solidFill>
                <a:latin typeface="微软雅黑" panose="020B0503020204020204" charset="-122"/>
              </a:rPr>
              <a:t>在 prompt/任务中强制要求规划环节，形成稳定模式</a:t>
            </a:r>
            <a:endParaRPr sz="1050" b="0" i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83614" y="2971800"/>
            <a:ext cx="352044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083614" y="2971800"/>
            <a:ext cx="3520440" cy="50800"/>
          </a:xfrm>
          <a:prstGeom prst="rect">
            <a:avLst/>
          </a:prstGeom>
          <a:solidFill>
            <a:srgbClr val="6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312214" y="3136392"/>
            <a:ext cx="30632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6B4E9E"/>
                </a:solidFill>
                <a:latin typeface="Georgia" panose="02040502050405020303"/>
              </a:rPr>
              <a:t>03  </a:t>
            </a:r>
            <a:r>
              <a:rPr sz="1500" b="1" i="0">
                <a:solidFill>
                  <a:srgbClr val="1A1A1A"/>
                </a:solidFill>
                <a:latin typeface="微软雅黑" panose="020B0503020204020204" charset="-122"/>
              </a:rPr>
              <a:t>典型范式</a:t>
            </a:r>
            <a:endParaRPr sz="1500" b="1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312214" y="3749039"/>
            <a:ext cx="3063240" cy="126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6B4E9E"/>
                </a:solidFill>
                <a:latin typeface="微软雅黑" panose="020B0503020204020204" charset="-122"/>
              </a:rPr>
              <a:t>▸ CrewAI：线性规划</a:t>
            </a:r>
            <a:endParaRPr sz="1150" b="1" i="0">
              <a:solidFill>
                <a:srgbClr val="6B4E9E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5A5A5A"/>
                </a:solidFill>
                <a:latin typeface="微软雅黑" panose="020B0503020204020204" charset="-122"/>
              </a:rPr>
              <a:t>制定写作计划 → 按序执行，验证基础能力</a:t>
            </a:r>
            <a:endParaRPr sz="1050" b="0" i="0">
              <a:solidFill>
                <a:srgbClr val="5A5A5A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6B4E9E"/>
                </a:solidFill>
                <a:latin typeface="微软雅黑" panose="020B0503020204020204" charset="-122"/>
              </a:rPr>
              <a:t>▸ Deep Research：动态迭代</a:t>
            </a:r>
            <a:endParaRPr sz="1150" b="1" i="0">
              <a:solidFill>
                <a:srgbClr val="6B4E9E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5A5A5A"/>
                </a:solidFill>
                <a:latin typeface="微软雅黑" panose="020B0503020204020204" charset="-122"/>
              </a:rPr>
              <a:t>以搜索为工具，边收集信息边反思、调整、再规划</a:t>
            </a:r>
            <a:endParaRPr sz="1050" b="0" i="0">
              <a:solidFill>
                <a:srgbClr val="5A5A5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398" y="6035040"/>
            <a:ext cx="109728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5E5E"/>
                </a:solidFill>
                <a:latin typeface="微软雅黑" panose="020B0503020204020204" charset="-122"/>
              </a:rPr>
              <a:t>—  先规划，再执行：规划让智能体知道「下一步做什么」，更知道「为什么做」  —</a:t>
            </a:r>
            <a:endParaRPr sz="1200" b="1" i="0">
              <a:solidFill>
                <a:srgbClr val="0B5E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eyebrow"/>
          <p:cNvSpPr>
            <a:spLocks noGrp="1"/>
          </p:cNvSpPr>
          <p:nvPr/>
        </p:nvSpPr>
        <p:spPr>
          <a:xfrm>
            <a:off x="1016032" y="6667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TEAM ROLES/小组分工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1016032" y="10668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Planning小组分工与汇报结构</a:t>
            </a:r>
            <a:endParaRPr sz="3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itle-divider"/>
          <p:cNvSpPr>
            <a:spLocks noGrp="1"/>
          </p:cNvSpPr>
          <p:nvPr/>
        </p:nvSpPr>
        <p:spPr>
          <a:xfrm>
            <a:off x="1016032" y="1885950"/>
            <a:ext cx="10160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member-01-number"/>
          <p:cNvSpPr>
            <a:spLocks noGrp="1"/>
          </p:cNvSpPr>
          <p:nvPr/>
        </p:nvSpPr>
        <p:spPr>
          <a:xfrm>
            <a:off x="1016032" y="219075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</a:t>
            </a:r>
            <a:endParaRPr sz="2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member-01-title"/>
          <p:cNvSpPr>
            <a:spLocks noGrp="1"/>
          </p:cNvSpPr>
          <p:nvPr/>
        </p:nvSpPr>
        <p:spPr>
          <a:xfrm>
            <a:off x="1892332" y="22098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Planning基本原理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member-01-name"/>
          <p:cNvSpPr>
            <a:spLocks noGrp="1"/>
          </p:cNvSpPr>
          <p:nvPr/>
        </p:nvSpPr>
        <p:spPr>
          <a:xfrm>
            <a:off x="1892332" y="257175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汇报人：</a:t>
            </a:r>
            <a:r>
              <a:rPr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齐凡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member-01-focus-duty"/>
          <p:cNvSpPr>
            <a:spLocks noGrp="1"/>
          </p:cNvSpPr>
          <p:nvPr/>
        </p:nvSpPr>
        <p:spPr>
          <a:xfrm>
            <a:off x="1892332" y="3124200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概念 · 工作原理 · 应用场景　|　</a:t>
            </a:r>
            <a:r>
              <a:rPr lang="zh-CN" altLang="en-US"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分工、</a:t>
            </a:r>
            <a:r>
              <a: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开场与目录</a:t>
            </a:r>
            <a:endParaRPr sz="110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member-02-number"/>
          <p:cNvSpPr>
            <a:spLocks noGrp="1"/>
          </p:cNvSpPr>
          <p:nvPr/>
        </p:nvSpPr>
        <p:spPr>
          <a:xfrm>
            <a:off x="6350032" y="219075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</a:t>
            </a:r>
            <a:endParaRPr sz="2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member-02-title"/>
          <p:cNvSpPr>
            <a:spLocks noGrp="1"/>
          </p:cNvSpPr>
          <p:nvPr/>
        </p:nvSpPr>
        <p:spPr>
          <a:xfrm>
            <a:off x="7226332" y="22098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CrewAI代码实践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member-02-name"/>
          <p:cNvSpPr>
            <a:spLocks noGrp="1"/>
          </p:cNvSpPr>
          <p:nvPr/>
        </p:nvSpPr>
        <p:spPr>
          <a:xfrm>
            <a:off x="7226332" y="257175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汇报人：</a:t>
            </a:r>
            <a:r>
              <a:rPr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刘芼宏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member-02-focus-duty"/>
          <p:cNvSpPr>
            <a:spLocks noGrp="1"/>
          </p:cNvSpPr>
          <p:nvPr/>
        </p:nvSpPr>
        <p:spPr>
          <a:xfrm>
            <a:off x="7226332" y="3124200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框架 · 核心代码 · 执行流程　|　统一模板</a:t>
            </a:r>
            <a:endParaRPr sz="110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member-03-number"/>
          <p:cNvSpPr>
            <a:spLocks noGrp="1"/>
          </p:cNvSpPr>
          <p:nvPr/>
        </p:nvSpPr>
        <p:spPr>
          <a:xfrm>
            <a:off x="1016032" y="363855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</a:t>
            </a:r>
            <a:endParaRPr sz="2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member-03-title"/>
          <p:cNvSpPr>
            <a:spLocks noGrp="1"/>
          </p:cNvSpPr>
          <p:nvPr/>
        </p:nvSpPr>
        <p:spPr>
          <a:xfrm>
            <a:off x="1892332" y="36576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 Deep Research案例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member-03-name"/>
          <p:cNvSpPr>
            <a:spLocks noGrp="1"/>
          </p:cNvSpPr>
          <p:nvPr/>
        </p:nvSpPr>
        <p:spPr>
          <a:xfrm>
            <a:off x="1892332" y="401955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汇报人：</a:t>
            </a:r>
            <a:r>
              <a:rPr lang="zh-CN" altLang="en-US"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刘佳乐</a:t>
            </a:r>
            <a:endParaRPr sz="1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member-03-focus-duty"/>
          <p:cNvSpPr>
            <a:spLocks noGrp="1"/>
          </p:cNvSpPr>
          <p:nvPr/>
        </p:nvSpPr>
        <p:spPr>
          <a:xfrm>
            <a:off x="1892332" y="4572000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基础概念 · 设计方法 · 案例分析</a:t>
            </a:r>
            <a:r>
              <a: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|　合并文件</a:t>
            </a:r>
            <a:endParaRPr sz="110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member-04-number"/>
          <p:cNvSpPr>
            <a:spLocks noGrp="1"/>
          </p:cNvSpPr>
          <p:nvPr/>
        </p:nvSpPr>
        <p:spPr>
          <a:xfrm>
            <a:off x="6350032" y="3638550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</a:t>
            </a:r>
            <a:endParaRPr sz="2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member-04-title"/>
          <p:cNvSpPr>
            <a:spLocks noGrp="1"/>
          </p:cNvSpPr>
          <p:nvPr/>
        </p:nvSpPr>
        <p:spPr>
          <a:xfrm>
            <a:off x="7226332" y="36576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OpenAI Deep Research API与总结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member-04-name"/>
          <p:cNvSpPr>
            <a:spLocks noGrp="1"/>
          </p:cNvSpPr>
          <p:nvPr/>
        </p:nvSpPr>
        <p:spPr>
          <a:xfrm>
            <a:off x="7226332" y="401955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汇报人：</a:t>
            </a:r>
            <a:r>
              <a:rPr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杨志鹏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member-04-focus-duty"/>
          <p:cNvSpPr>
            <a:spLocks noGrp="1"/>
          </p:cNvSpPr>
          <p:nvPr/>
        </p:nvSpPr>
        <p:spPr>
          <a:xfrm>
            <a:off x="7226332" y="4572000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API调用流程 · 代码作用 · 本章总结　|　最终检查</a:t>
            </a:r>
            <a:endParaRPr sz="110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middle-divider"/>
          <p:cNvSpPr>
            <a:spLocks noGrp="1"/>
          </p:cNvSpPr>
          <p:nvPr/>
        </p:nvSpPr>
        <p:spPr>
          <a:xfrm>
            <a:off x="6096000" y="2190750"/>
            <a:ext cx="0" cy="2667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row-divider"/>
          <p:cNvSpPr>
            <a:spLocks noGrp="1"/>
          </p:cNvSpPr>
          <p:nvPr/>
        </p:nvSpPr>
        <p:spPr>
          <a:xfrm>
            <a:off x="1016032" y="3476625"/>
            <a:ext cx="101600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collaboration-band"/>
          <p:cNvSpPr>
            <a:spLocks noGrp="1"/>
          </p:cNvSpPr>
          <p:nvPr/>
        </p:nvSpPr>
        <p:spPr>
          <a:xfrm>
            <a:off x="1016032" y="5219700"/>
            <a:ext cx="10160032" cy="7810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collab-label"/>
          <p:cNvSpPr>
            <a:spLocks noGrp="1"/>
          </p:cNvSpPr>
          <p:nvPr/>
        </p:nvSpPr>
        <p:spPr>
          <a:xfrm>
            <a:off x="1238250" y="5391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协作流程</a:t>
            </a:r>
            <a:endParaRPr sz="12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stage-0"/>
          <p:cNvSpPr>
            <a:spLocks noGrp="1"/>
          </p:cNvSpPr>
          <p:nvPr/>
        </p:nvSpPr>
        <p:spPr>
          <a:xfrm>
            <a:off x="2609850" y="53911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各自制作与讲稿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stage-link-0"/>
          <p:cNvSpPr>
            <a:spLocks noGrp="1"/>
          </p:cNvSpPr>
          <p:nvPr/>
        </p:nvSpPr>
        <p:spPr>
          <a:xfrm>
            <a:off x="4324350" y="5534025"/>
            <a:ext cx="32385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1" name="stage-1"/>
          <p:cNvSpPr>
            <a:spLocks noGrp="1"/>
          </p:cNvSpPr>
          <p:nvPr/>
        </p:nvSpPr>
        <p:spPr>
          <a:xfrm>
            <a:off x="4724400" y="53911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统一合并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stage-link-1"/>
          <p:cNvSpPr>
            <a:spLocks noGrp="1"/>
          </p:cNvSpPr>
          <p:nvPr/>
        </p:nvSpPr>
        <p:spPr>
          <a:xfrm>
            <a:off x="6438900" y="5534025"/>
            <a:ext cx="32385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3" name="stage-2"/>
          <p:cNvSpPr>
            <a:spLocks noGrp="1"/>
          </p:cNvSpPr>
          <p:nvPr/>
        </p:nvSpPr>
        <p:spPr>
          <a:xfrm>
            <a:off x="6838950" y="53911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集体排练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stage-link-2"/>
          <p:cNvSpPr>
            <a:spLocks noGrp="1"/>
          </p:cNvSpPr>
          <p:nvPr/>
        </p:nvSpPr>
        <p:spPr>
          <a:xfrm>
            <a:off x="8553450" y="5534025"/>
            <a:ext cx="32385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5" name="stage-3"/>
          <p:cNvSpPr>
            <a:spLocks noGrp="1"/>
          </p:cNvSpPr>
          <p:nvPr/>
        </p:nvSpPr>
        <p:spPr>
          <a:xfrm>
            <a:off x="8953500" y="53911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时间平衡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footer"/>
          <p:cNvSpPr>
            <a:spLocks noGrp="1"/>
          </p:cNvSpPr>
          <p:nvPr/>
        </p:nvSpPr>
        <p:spPr>
          <a:xfrm>
            <a:off x="1016032" y="6350032"/>
            <a:ext cx="10160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Chapter 6 · Planning　|　小组汇报　|　分工</a:t>
            </a:r>
            <a:endParaRPr sz="11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2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3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4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5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6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7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8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9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10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11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12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13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14.xml><?xml version="1.0" encoding="utf-8"?>
<p:tagLst xmlns:p="http://schemas.openxmlformats.org/presentationml/2006/main">
  <p:tag name="KSO_WM_DIAGRAM_VIRTUALLY_FRAME" val="{&quot;height&quot;:228.75,&quot;left&quot;:651,&quot;top&quot;:189.75,&quot;width&quot;:231.75}"/>
</p:tagLst>
</file>

<file path=ppt/tags/tag15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16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17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18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19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0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1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2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3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4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5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6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7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8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29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0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1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2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3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4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5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6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7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8.xml><?xml version="1.0" encoding="utf-8"?>
<p:tagLst xmlns:p="http://schemas.openxmlformats.org/presentationml/2006/main">
  <p:tag name="KSO_WM_DIAGRAM_VIRTUALLY_FRAME" val="{&quot;height&quot;:291.7,&quot;left&quot;:80.6,&quot;top&quot;:156,&quot;width&quot;:773.4}"/>
</p:tagLst>
</file>

<file path=ppt/tags/tag39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0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1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2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3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4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5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6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7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8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49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ags/tag50.xml><?xml version="1.0" encoding="utf-8"?>
<p:tagLst xmlns:p="http://schemas.openxmlformats.org/presentationml/2006/main">
  <p:tag name="KSO_WM_DIAGRAM_VIRTUALLY_FRAME" val="{&quot;height&quot;:223.2,&quot;left&quot;:50.425,&quot;top&quot;:234,&quot;width&quot;:863.2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7436</Words>
  <Application>WPS 演示</Application>
  <PresentationFormat/>
  <Paragraphs>752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20</vt:i4>
      </vt:variant>
      <vt:variant>
        <vt:lpstr>幻灯片标题</vt:lpstr>
      </vt:variant>
      <vt:variant>
        <vt:i4>30</vt:i4>
      </vt:variant>
    </vt:vector>
  </HeadingPairs>
  <TitlesOfParts>
    <vt:vector size="67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Times New Roman</vt:lpstr>
      <vt:lpstr>Courier New</vt:lpstr>
      <vt:lpstr>Noto Sans SC</vt:lpstr>
      <vt:lpstr>Roboto Mono</vt:lpstr>
      <vt:lpstr>Segoe Print</vt:lpstr>
      <vt:lpstr>Georgia</vt:lpstr>
      <vt:lpstr>Consolas</vt:lpstr>
      <vt:lpstr>Courier New</vt:lpstr>
      <vt:lpstr>Georgia</vt:lpstr>
      <vt:lpstr>Roboto Mono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13_默认主题</vt:lpstr>
      <vt:lpstr>14_默认主题</vt:lpstr>
      <vt:lpstr>15_默认主题</vt:lpstr>
      <vt:lpstr>16_默认主题</vt:lpstr>
      <vt:lpstr>17_默认主题</vt:lpstr>
      <vt:lpstr>18_默认主题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Ezreal</cp:lastModifiedBy>
  <cp:revision>4</cp:revision>
  <dcterms:created xsi:type="dcterms:W3CDTF">2026-10-19T04:42:00Z</dcterms:created>
  <dcterms:modified xsi:type="dcterms:W3CDTF">2026-10-19T06:56:25Z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8D3B4F91FECA4EBC8B56A0FDB2FE275A_13</vt:lpwstr>
  </property>
  <property fmtid="{D5CDD505-2E9C-101B-9397-08002B2CF9AE}" pid="3" name="KSOProductBuildVer">
    <vt:lpwstr>2052-12.1.0.29161</vt:lpwstr>
  </property>
</Properties>
</file>