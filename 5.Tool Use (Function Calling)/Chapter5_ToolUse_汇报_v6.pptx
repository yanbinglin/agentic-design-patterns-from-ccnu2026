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2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56"/>
  </p:normalViewPr>
  <p:slideViewPr>
    <p:cSldViewPr snapToGrid="0" snapToObjects="1" showGuides="1">
      <p:cViewPr varScale="1">
        <p:scale>
          <a:sx n="112" d="100"/>
          <a:sy n="112" d="100"/>
        </p:scale>
        <p:origin x="600" y="184"/>
      </p:cViewPr>
      <p:guideLst>
        <p:guide orient="horz" pos="2160"/>
        <p:guide pos="288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开场（60 秒）。先说一句为什么值得听：“如果只能一句话概括这一章：它讲的不是模型变聪明了，而是模型第一次能把事情做完。”</a:t>
            </a:r>
          </a:p>
          <a:p>
            <a:r>
              <a:t>再读主张，最后交代：20 分钟，三问一判断，不演示真实 API。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引入（60 秒），面向没读过书的同学。先给坐标：左边四章都在智能体内部调度信息，这是章节原话；第五章第一次把手伸到模型外面。再解释“范式”不是框架的 API。</a:t>
            </a:r>
          </a:p>
          <a:p>
            <a:r>
              <a:t>落点：在此之前它只会说，在此之后它开始做。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路线（60 </a:t>
            </a:r>
            <a:r>
              <a:rPr dirty="0" err="1"/>
              <a:t>秒</a:t>
            </a:r>
            <a:r>
              <a:rPr dirty="0"/>
              <a:t>）。</a:t>
            </a:r>
            <a:r>
              <a:rPr dirty="0" err="1"/>
              <a:t>三个问题：缺什么、谁在干、怎么写。失败恢复只在第</a:t>
            </a:r>
            <a:r>
              <a:rPr dirty="0"/>
              <a:t> 12 </a:t>
            </a:r>
            <a:r>
              <a:rPr dirty="0" err="1"/>
              <a:t>页用一页收掉</a:t>
            </a:r>
            <a:r>
              <a:rPr dirty="0"/>
              <a:t>——</a:t>
            </a:r>
            <a:r>
              <a:rPr dirty="0" err="1"/>
              <a:t>因为章节本身只给了一个示范，不值得占三页。最后落到模式层面：这些拼起来，到底是一个什么样的设计模式</a:t>
            </a:r>
            <a:r>
              <a:rPr dirty="0"/>
              <a:t>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机制问题（85 秒）。先承认模型的强项，再说明接工具不是为了让它变聪明。四个卡片各一个具体例子：昨天的股价、我们库里的工单、含税总价的分摊、把邮件真的发出去。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核心页（60 </a:t>
            </a:r>
            <a:r>
              <a:rPr dirty="0" err="1"/>
              <a:t>秒</a:t>
            </a:r>
            <a:r>
              <a:rPr dirty="0"/>
              <a:t>）。</a:t>
            </a:r>
            <a:r>
              <a:rPr dirty="0" err="1"/>
              <a:t>手指沿环走一圈，只在第四步加重语气。第三步产出的是</a:t>
            </a:r>
            <a:r>
              <a:rPr dirty="0"/>
              <a:t> </a:t>
            </a:r>
            <a:r>
              <a:rPr dirty="0" err="1"/>
              <a:t>JSON，不是执行；第四步才是唯一真正动手的地方。第六步章节标为</a:t>
            </a:r>
            <a:r>
              <a:rPr dirty="0"/>
              <a:t> optional but </a:t>
            </a:r>
            <a:r>
              <a:rPr dirty="0" err="1"/>
              <a:t>common，但让六步成为闭环的是那条回环箭头</a:t>
            </a:r>
            <a:r>
              <a:rPr dirty="0"/>
              <a:t>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过渡页（70 秒）。只讲一件事：这段 JSON 是数据。因为它是数据，所以可以被记录、拦截、拒绝、重放——这四件事是“可治理”的全部来源。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约 60 秒。左边三件事是模型能做的全部：选、填，以及不知道。右边是编排层必须做的：解析校验、鉴权超时审计、回写上下文。收益是可测试、可审计、可回滚；代价是多一次往返、多一个失败点。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约 65 秒。这页解决一个措辞问题：为什么章节坚持用 tool calling。因为信封里装的可以不是函数。重点是最后一条：当工具是另一个智能体时，返回值不可复现，须当不可信输入校验。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约 65 秒，全场机制支点。上面一层 Schema 是机器可判的，写错会报错，错误是响亮的；下面一层描述是给模型读的，写错不会报错，只是选错工具，错误是安静的。这种不对称，就是描述层最难验收的地方。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约 65 秒。左右两段代码签名完全一样。模型能看到的唯一差别就是 docstring。读一遍左边，然后问：删成 Search documents，谁会发现选错了？停三秒。此处必须口头说明：章节没有对照实验，这是逻辑论证。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40 秒。建议横着读：每一行里“不该用”和“代价”其实是同一个成本结构的两面。第一列基本来自章节的 rule of thumb；第二、三列章节没写，是我们反向推的。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50 秒。先说清楚：这一章没有专门的失败恢复小节，所以不给它三页。</a:t>
            </a:r>
          </a:p>
          <a:p>
            <a:r>
              <a:t>左边三类失败，空结果最危险，因为它格式合法。右边四种策略，每种都带前置条件。底下这一条是章节真正给的：CrewAI 例子里抛异常 + 任务描述写死措辞，异常与指令成对。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120 </a:t>
            </a:r>
            <a:r>
              <a:rPr dirty="0" err="1"/>
              <a:t>秒。这是全场的收束，六格按顺序点，每格一句话，不要展开。重点停在「结构</a:t>
            </a:r>
            <a:r>
              <a:rPr dirty="0"/>
              <a:t>」——</a:t>
            </a:r>
            <a:r>
              <a:rPr dirty="0" err="1"/>
              <a:t>闭环靠最后那条回环，不靠六个格子；以及「参与者</a:t>
            </a:r>
            <a:r>
              <a:rPr dirty="0"/>
              <a:t>」——</a:t>
            </a:r>
            <a:r>
              <a:rPr dirty="0" err="1"/>
              <a:t>分工在第</a:t>
            </a:r>
            <a:r>
              <a:rPr dirty="0"/>
              <a:t> 3 </a:t>
            </a:r>
            <a:r>
              <a:rPr dirty="0" err="1"/>
              <a:t>步和第</a:t>
            </a:r>
            <a:r>
              <a:rPr dirty="0"/>
              <a:t> 4 </a:t>
            </a:r>
            <a:r>
              <a:rPr dirty="0" err="1"/>
              <a:t>步之间就已经定下。最后一句念慢：模式的价值在于把一次跨边界调用切成可拦截的意图，加一个受控的边界</a:t>
            </a:r>
            <a:r>
              <a:rPr dirty="0"/>
              <a:t>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10 </a:t>
            </a:r>
            <a:r>
              <a:rPr dirty="0" err="1"/>
              <a:t>秒，收尾。不必逐条念，指向板面即可，然后致谢、把时间交回给老师</a:t>
            </a:r>
            <a:r>
              <a:rPr dirty="0"/>
              <a:t>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48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tags" Target="../tags/tag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15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E6A6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896112"/>
            <a:ext cx="822960" cy="54864"/>
          </a:xfrm>
          <a:prstGeom prst="rect">
            <a:avLst/>
          </a:prstGeom>
          <a:solidFill>
            <a:srgbClr val="0E6A6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8595360" cy="290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高级数据库</a:t>
            </a:r>
            <a:endParaRPr sz="15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133856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54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工具使用</a:t>
            </a:r>
            <a:r>
              <a:rPr sz="35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Tool Use</a:t>
            </a:r>
            <a:endParaRPr sz="35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2103120"/>
            <a:ext cx="106070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让语言模型从「会说话」到「能动手」</a:t>
            </a:r>
            <a:endParaRPr sz="31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8843" y="3025902"/>
            <a:ext cx="10607040" cy="996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Agentic Design Patterns · Part One｜Chapter 5: </a:t>
            </a:r>
            <a:endParaRPr sz="24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 Use (Function Calling)</a:t>
            </a:r>
            <a:endParaRPr sz="24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4907661"/>
            <a:ext cx="10863072" cy="859536"/>
          </a:xfrm>
          <a:prstGeom prst="roundRect">
            <a:avLst>
              <a:gd name="adj" fmla="val 5000"/>
            </a:avLst>
          </a:prstGeom>
          <a:solidFill>
            <a:srgbClr val="E5F1F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815" y="4151630"/>
            <a:ext cx="5893287" cy="5289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800" b="1" dirty="0" err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主张：</a:t>
            </a:r>
            <a:r>
              <a:rPr sz="1800" b="1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工具调用不是一项模型能力，而是一份接口协议</a:t>
            </a:r>
            <a:r>
              <a:rPr sz="1800" b="1" dirty="0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800" b="1" dirty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658368" y="5138928"/>
            <a:ext cx="10863072" cy="0"/>
          </a:xfrm>
          <a:prstGeom prst="line">
            <a:avLst/>
          </a:prstGeom>
          <a:ln w="9525">
            <a:solidFill>
              <a:srgbClr val="DCE2E7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895985" y="5183505"/>
            <a:ext cx="4246880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组别</a:t>
            </a:r>
            <a:r>
              <a:rPr lang="en-US" sz="20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20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0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第五小组</a:t>
            </a:r>
            <a:r>
              <a:rPr lang="en-US" altLang="zh-CN" sz="20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00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汇报人</a:t>
            </a:r>
            <a:r>
              <a:rPr lang="en-US" sz="200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00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：刘涛</a:t>
            </a:r>
            <a:endParaRPr lang="en-US" altLang="zh-CN" sz="20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E6A6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9692640" cy="467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承上启下：前四章管信息流，第五章第一次伸出</a:t>
            </a:r>
            <a:r>
              <a:rPr lang="en-US" sz="29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sz="29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</a:t>
            </a:r>
            <a:r>
              <a:rPr lang="en-US" sz="29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sz="29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1152144"/>
            <a:ext cx="10881360" cy="0"/>
          </a:xfrm>
          <a:prstGeom prst="line">
            <a:avLst/>
          </a:prstGeom>
          <a:ln w="9525">
            <a:solidFill>
              <a:srgbClr val="DCE2E7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658368" y="640080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5 · Tool Use (Function Calling)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588" y="1572768"/>
            <a:ext cx="4956048" cy="2688336"/>
          </a:xfrm>
          <a:prstGeom prst="roundRect">
            <a:avLst>
              <a:gd name="adj" fmla="val 5000"/>
            </a:avLst>
          </a:prstGeom>
          <a:solidFill>
            <a:srgbClr val="E4EF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908" y="1755648"/>
            <a:ext cx="4480560" cy="464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1–4 章 · 在内部调度信息</a:t>
            </a:r>
            <a:endParaRPr sz="2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14273" y="2521331"/>
            <a:ext cx="1005840" cy="49377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链式</a:t>
            </a:r>
            <a:endParaRPr sz="1350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029841" y="2521331"/>
            <a:ext cx="1005840" cy="49377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</a:t>
            </a:r>
            <a:endParaRPr sz="1350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145409" y="2521331"/>
            <a:ext cx="1005840" cy="49377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</a:t>
            </a:r>
            <a:endParaRPr sz="1350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60977" y="2521331"/>
            <a:ext cx="1005840" cy="49377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反思</a:t>
            </a:r>
            <a:endParaRPr sz="1350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5035" y="3315970"/>
            <a:ext cx="4480560" cy="8718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回答的是：怎么排队、怎么分工、怎么自查。</a:t>
            </a:r>
            <a:endParaRPr sz="16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对象：文本与信息流。</a:t>
            </a:r>
            <a:endParaRPr sz="14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742940" y="2926080"/>
            <a:ext cx="585216" cy="0"/>
          </a:xfrm>
          <a:prstGeom prst="line">
            <a:avLst/>
          </a:prstGeom>
          <a:ln w="27940">
            <a:solidFill>
              <a:srgbClr val="1B2431"/>
            </a:solidFill>
            <a:tailEnd type="triangle" w="med" len="med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5502910" y="2983865"/>
            <a:ext cx="93472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越界</a:t>
            </a:r>
            <a:endParaRPr sz="200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37884" y="1572768"/>
            <a:ext cx="5065776" cy="2688336"/>
          </a:xfrm>
          <a:prstGeom prst="roundRect">
            <a:avLst>
              <a:gd name="adj" fmla="val 5000"/>
            </a:avLst>
          </a:prstGeom>
          <a:solidFill>
            <a:srgbClr val="FCEAD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2204" y="1755648"/>
            <a:ext cx="4572000" cy="464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856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5 章 · 把手伸到模型外面</a:t>
            </a:r>
            <a:endParaRPr sz="2400" b="1">
              <a:solidFill>
                <a:srgbClr val="A8560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804914" y="2521331"/>
            <a:ext cx="1499616" cy="49377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856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外部事实</a:t>
            </a:r>
            <a:endParaRPr sz="1350" b="0">
              <a:solidFill>
                <a:srgbClr val="A8560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450834" y="2521331"/>
            <a:ext cx="1499616" cy="49377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856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外部动作</a:t>
            </a:r>
            <a:endParaRPr sz="1350" b="0">
              <a:solidFill>
                <a:srgbClr val="A8560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11950" y="3315970"/>
            <a:ext cx="4572000" cy="7600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回答的是：查不到、算不准、做不了的事。</a:t>
            </a:r>
            <a:endParaRPr sz="16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对象：外部系统与真实动作。</a:t>
            </a:r>
            <a:endParaRPr sz="14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0588" y="4882007"/>
            <a:ext cx="10863072" cy="1042415"/>
          </a:xfrm>
          <a:prstGeom prst="roundRect">
            <a:avLst>
              <a:gd name="adj" fmla="val 5000"/>
            </a:avLst>
          </a:prstGeom>
          <a:solidFill>
            <a:srgbClr val="1B2431"/>
          </a:solidFill>
          <a:ln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范式是可复用的协作结构，不是某个框架的</a:t>
            </a:r>
            <a:r>
              <a:rPr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API（LangChain</a:t>
            </a:r>
            <a:r>
              <a:rPr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ADK / </a:t>
            </a:r>
            <a:r>
              <a:rPr sz="16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CrewAI</a:t>
            </a:r>
            <a:r>
              <a:rPr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只是载体</a:t>
            </a:r>
            <a:r>
              <a:rPr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C8D2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第五章就是那条分界线：在此之前，智能体只会“</a:t>
            </a:r>
            <a:r>
              <a:rPr sz="1400" b="0" dirty="0" err="1">
                <a:solidFill>
                  <a:srgbClr val="C8D2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</a:t>
            </a:r>
            <a:r>
              <a:rPr sz="1400" b="0" dirty="0">
                <a:solidFill>
                  <a:srgbClr val="C8D2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”；</a:t>
            </a:r>
            <a:r>
              <a:rPr sz="1400" b="0" dirty="0" err="1">
                <a:solidFill>
                  <a:srgbClr val="C8D2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在此之后，它开始“做</a:t>
            </a:r>
            <a:r>
              <a:rPr sz="1400" b="0" dirty="0">
                <a:solidFill>
                  <a:srgbClr val="C8D2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”。</a:t>
            </a:r>
            <a:endParaRPr sz="1400" b="0" dirty="0">
              <a:solidFill>
                <a:srgbClr val="C8D2D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E6A6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495" y="575945"/>
            <a:ext cx="6478905" cy="935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今天的三个问题，一条边界，一个判断</a:t>
            </a:r>
            <a:endParaRPr sz="29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29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1152144"/>
            <a:ext cx="10881360" cy="0"/>
          </a:xfrm>
          <a:prstGeom prst="line">
            <a:avLst/>
          </a:prstGeom>
          <a:ln w="9525">
            <a:solidFill>
              <a:srgbClr val="DCE2E7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658368" y="640080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5 · Tool Use (Function Calling)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658368" y="1371600"/>
            <a:ext cx="3456432" cy="2962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2E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2"/>
            </p:custDataLst>
          </p:nvPr>
        </p:nvSpPr>
        <p:spPr>
          <a:xfrm>
            <a:off x="658368" y="1371600"/>
            <a:ext cx="3456432" cy="1005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969264" y="1645920"/>
            <a:ext cx="2834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</a:t>
            </a:r>
            <a:endParaRPr sz="21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969264" y="2048256"/>
            <a:ext cx="2834640" cy="3486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缺什么</a:t>
            </a:r>
            <a:endParaRPr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969264" y="2954020"/>
            <a:ext cx="2926080" cy="830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模型已经会推理，
为什么还得外接工具？</a:t>
            </a:r>
            <a:endParaRPr sz="20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6"/>
            </p:custDataLst>
          </p:nvPr>
        </p:nvSpPr>
        <p:spPr>
          <a:xfrm>
            <a:off x="4361688" y="1371600"/>
            <a:ext cx="3456432" cy="2962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2E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>
            <p:custDataLst>
              <p:tags r:id="rId7"/>
            </p:custDataLst>
          </p:nvPr>
        </p:nvSpPr>
        <p:spPr>
          <a:xfrm>
            <a:off x="4361688" y="1371600"/>
            <a:ext cx="3456432" cy="100584"/>
          </a:xfrm>
          <a:prstGeom prst="rect">
            <a:avLst/>
          </a:prstGeom>
          <a:solidFill>
            <a:srgbClr val="0E6A6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4672583" y="1645920"/>
            <a:ext cx="2834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Q2</a:t>
            </a:r>
            <a:endParaRPr sz="21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9"/>
            </p:custDataLst>
          </p:nvPr>
        </p:nvSpPr>
        <p:spPr>
          <a:xfrm>
            <a:off x="4672583" y="2048256"/>
            <a:ext cx="2834640" cy="3486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谁在干</a:t>
            </a:r>
            <a:endParaRPr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4672583" y="2954020"/>
            <a:ext cx="292608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到底是谁在执行工具？</a:t>
            </a:r>
            <a:endParaRPr sz="20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>
            <p:custDataLst>
              <p:tags r:id="rId11"/>
            </p:custDataLst>
          </p:nvPr>
        </p:nvSpPr>
        <p:spPr>
          <a:xfrm>
            <a:off x="8065008" y="1371600"/>
            <a:ext cx="3456432" cy="2962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2E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>
            <p:custDataLst>
              <p:tags r:id="rId12"/>
            </p:custDataLst>
          </p:nvPr>
        </p:nvSpPr>
        <p:spPr>
          <a:xfrm>
            <a:off x="8065008" y="1371600"/>
            <a:ext cx="3456432" cy="100584"/>
          </a:xfrm>
          <a:prstGeom prst="rect">
            <a:avLst/>
          </a:prstGeom>
          <a:solidFill>
            <a:srgbClr val="A8560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3"/>
            </p:custDataLst>
          </p:nvPr>
        </p:nvSpPr>
        <p:spPr>
          <a:xfrm>
            <a:off x="8375904" y="1645920"/>
            <a:ext cx="2834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A856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Q3</a:t>
            </a:r>
            <a:endParaRPr sz="2100" b="1">
              <a:solidFill>
                <a:srgbClr val="A8560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14"/>
            </p:custDataLst>
          </p:nvPr>
        </p:nvSpPr>
        <p:spPr>
          <a:xfrm>
            <a:off x="8375904" y="2048256"/>
            <a:ext cx="2834640" cy="3486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怎么写</a:t>
            </a:r>
            <a:endParaRPr b="0" dirty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15"/>
            </p:custDataLst>
          </p:nvPr>
        </p:nvSpPr>
        <p:spPr>
          <a:xfrm>
            <a:off x="8376539" y="2954020"/>
            <a:ext cx="2926080" cy="830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工具描述凭什么
决定模型选它？</a:t>
            </a:r>
            <a:endParaRPr sz="20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58368" y="4590288"/>
            <a:ext cx="5303520" cy="1152144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736592"/>
            <a:ext cx="4800600" cy="929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82A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Q4 · </a:t>
            </a:r>
            <a:r>
              <a:rPr lang="zh-CN" sz="2400" b="1">
                <a:solidFill>
                  <a:srgbClr val="A82A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边界补充</a:t>
            </a:r>
            <a:endParaRPr lang="zh-CN" sz="2400" b="1">
              <a:solidFill>
                <a:srgbClr val="A82A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失败恢复</a:t>
            </a:r>
            <a:endParaRPr sz="24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17920" y="4590288"/>
            <a:ext cx="5303520" cy="1152144"/>
          </a:xfrm>
          <a:prstGeom prst="roundRect">
            <a:avLst>
              <a:gd name="adj" fmla="val 5000"/>
            </a:avLst>
          </a:prstGeom>
          <a:solidFill>
            <a:srgbClr val="1B243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4267" y="4690237"/>
            <a:ext cx="4800600" cy="944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FD1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</a:t>
            </a:r>
            <a:r>
              <a:rPr lang="zh-CN" sz="2400" b="1">
                <a:solidFill>
                  <a:srgbClr val="7FD1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sz="2400" b="1">
              <a:solidFill>
                <a:srgbClr val="7FD1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工具描述是</a:t>
            </a:r>
            <a:r>
              <a:rPr lang="zh-CN" alt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模型与系统之间</a:t>
            </a: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的接口</a:t>
            </a:r>
            <a:endParaRPr sz="2400" b="0">
              <a:solidFill>
                <a:srgbClr val="C8D2D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E6A6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4937760" cy="251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驱动问题一:</a:t>
            </a:r>
            <a:r>
              <a:rPr sz="13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缺什么</a:t>
            </a:r>
            <a:endParaRPr sz="13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Q1｜模型不缺推理，缺的是四类外部事实</a:t>
            </a:r>
            <a:endParaRPr sz="29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0" y="384048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 · 边界</a:t>
            </a:r>
            <a:endParaRPr sz="120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1152144"/>
            <a:ext cx="10881360" cy="0"/>
          </a:xfrm>
          <a:prstGeom prst="line">
            <a:avLst/>
          </a:prstGeom>
          <a:ln w="9525">
            <a:solidFill>
              <a:srgbClr val="DCE2E7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658368" y="640080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5 · Tool Use (Function Calling)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493903" y="2468880"/>
            <a:ext cx="5102352" cy="164592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2"/>
            </p:custDataLst>
          </p:nvPr>
        </p:nvSpPr>
        <p:spPr>
          <a:xfrm>
            <a:off x="804799" y="2651760"/>
            <a:ext cx="44805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知识时点</a:t>
            </a:r>
            <a:endParaRPr sz="20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804799" y="3108960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权重冻结在训练时刻</a:t>
            </a:r>
            <a:endParaRPr sz="14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804799" y="3511295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“昨天的股价”</a:t>
            </a:r>
            <a:endParaRPr sz="16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5"/>
            </p:custDataLst>
          </p:nvPr>
        </p:nvSpPr>
        <p:spPr>
          <a:xfrm>
            <a:off x="6254623" y="2468880"/>
            <a:ext cx="5102352" cy="164592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6565518" y="2651760"/>
            <a:ext cx="44805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数据私有</a:t>
            </a:r>
            <a:endParaRPr sz="20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6565518" y="3108960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语料里没有，也不该有</a:t>
            </a:r>
            <a:endParaRPr sz="14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6565518" y="3511295"/>
            <a:ext cx="4480560" cy="309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sz="16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</a:t>
            </a:r>
            <a:r>
              <a:rPr sz="16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里的</a:t>
            </a:r>
            <a:r>
              <a:rPr lang="zh-CN" sz="16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学生表</a:t>
            </a:r>
            <a:r>
              <a:rPr sz="16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sz="16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9"/>
            </p:custDataLst>
          </p:nvPr>
        </p:nvSpPr>
        <p:spPr>
          <a:xfrm>
            <a:off x="493903" y="4279392"/>
            <a:ext cx="5102352" cy="164592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804799" y="4462272"/>
            <a:ext cx="44805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计算确定性</a:t>
            </a:r>
            <a:endParaRPr sz="20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804799" y="4919471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next-token 不是算术</a:t>
            </a:r>
            <a:endParaRPr sz="14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804799" y="5321808"/>
            <a:ext cx="4480560" cy="309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“含税总价与费用分摊”</a:t>
            </a:r>
            <a:r>
              <a:rPr lang="en-US" sz="16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 sz="16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178.52 × 1.06</a:t>
            </a:r>
            <a:endParaRPr lang="en-US" altLang="zh-CN" sz="16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>
            <p:custDataLst>
              <p:tags r:id="rId13"/>
            </p:custDataLst>
          </p:nvPr>
        </p:nvSpPr>
        <p:spPr>
          <a:xfrm>
            <a:off x="6254623" y="4279392"/>
            <a:ext cx="5102352" cy="164592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4"/>
            </p:custDataLst>
          </p:nvPr>
        </p:nvSpPr>
        <p:spPr>
          <a:xfrm>
            <a:off x="6565518" y="4462272"/>
            <a:ext cx="44805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真实副作用</a:t>
            </a:r>
            <a:endParaRPr sz="20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5"/>
            </p:custDataLst>
          </p:nvPr>
        </p:nvSpPr>
        <p:spPr>
          <a:xfrm>
            <a:off x="6565518" y="4919471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文本改变不了世界</a:t>
            </a:r>
            <a:endParaRPr sz="14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16"/>
            </p:custDataLst>
          </p:nvPr>
        </p:nvSpPr>
        <p:spPr>
          <a:xfrm>
            <a:off x="6565518" y="5321808"/>
            <a:ext cx="4480560" cy="309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sz="16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预定明天的机票</a:t>
            </a:r>
            <a:r>
              <a:rPr sz="16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sz="16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79628" y="1375918"/>
            <a:ext cx="10863072" cy="749808"/>
          </a:xfrm>
          <a:prstGeom prst="roundRect">
            <a:avLst>
              <a:gd name="adj" fmla="val 5000"/>
            </a:avLst>
          </a:prstGeom>
          <a:solidFill>
            <a:srgbClr val="E5F1F0"/>
          </a:solidFill>
          <a:ln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5 的判据：实时数据 · 私有数据 · 精确计算 · 代码执行 · 触发外部动作</a:t>
            </a:r>
            <a:endParaRPr sz="1400" b="0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8368" y="594360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</a:t>
            </a:r>
            <a:r>
              <a:rPr sz="1150" b="0" dirty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Chapter 5（p.74 训练数据边界；p.85 Rule of thumb）</a:t>
            </a:r>
            <a:endParaRPr sz="1150" b="0" dirty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E6A6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</a:t>
            </a:r>
            <a:endParaRPr sz="13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Q1｜六步闭环：模型只负责第 2、3、6 步</a:t>
            </a:r>
            <a:endParaRPr sz="29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0" y="384048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 · 机制图</a:t>
            </a:r>
            <a:endParaRPr sz="120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1152144"/>
            <a:ext cx="10881360" cy="0"/>
          </a:xfrm>
          <a:prstGeom prst="line">
            <a:avLst/>
          </a:prstGeom>
          <a:ln w="9525">
            <a:solidFill>
              <a:srgbClr val="DCE2E7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658368" y="640080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5 · Tool Use (Function Calling)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658368" y="2176272"/>
            <a:ext cx="1645920" cy="1371600"/>
          </a:xfrm>
          <a:prstGeom prst="roundRect">
            <a:avLst>
              <a:gd name="adj" fmla="val 7000"/>
            </a:avLst>
          </a:prstGeom>
          <a:solidFill>
            <a:srgbClr val="F3F5F7"/>
          </a:solidFill>
          <a:ln w="12700">
            <a:solidFill>
              <a:srgbClr val="55616E"/>
            </a:solidFill>
          </a:ln>
          <a:effectLst/>
        </p:spPr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endParaRPr sz="20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定义工具</a:t>
            </a:r>
            <a:endParaRPr sz="20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name / params / description</a:t>
            </a:r>
            <a:endParaRPr sz="16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2"/>
            </p:custDataLst>
          </p:nvPr>
        </p:nvSpPr>
        <p:spPr>
          <a:xfrm>
            <a:off x="658368" y="1828800"/>
            <a:ext cx="1645920" cy="309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开发侧</a:t>
            </a:r>
            <a:endParaRPr sz="160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3"/>
            </p:custDataLst>
          </p:nvPr>
        </p:nvSpPr>
        <p:spPr>
          <a:xfrm>
            <a:off x="2560320" y="2176272"/>
            <a:ext cx="1645920" cy="1371600"/>
          </a:xfrm>
          <a:prstGeom prst="roundRect">
            <a:avLst>
              <a:gd name="adj" fmla="val 7000"/>
            </a:avLst>
          </a:prstGeom>
          <a:solidFill>
            <a:srgbClr val="E4EFF9"/>
          </a:solidFill>
          <a:ln w="12700">
            <a:solidFill>
              <a:srgbClr val="1F4E79"/>
            </a:solidFill>
          </a:ln>
          <a:effectLst/>
        </p:spPr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endParaRPr sz="2000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模型决策</a:t>
            </a:r>
            <a:endParaRPr sz="20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要不要用、用哪个</a:t>
            </a:r>
            <a:endParaRPr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2560320" y="1828800"/>
            <a:ext cx="1645920" cy="309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模型内</a:t>
            </a:r>
            <a:endParaRPr sz="160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5"/>
            </p:custDataLst>
          </p:nvPr>
        </p:nvSpPr>
        <p:spPr>
          <a:xfrm>
            <a:off x="4462272" y="2176272"/>
            <a:ext cx="1645920" cy="1371600"/>
          </a:xfrm>
          <a:prstGeom prst="roundRect">
            <a:avLst>
              <a:gd name="adj" fmla="val 7000"/>
            </a:avLst>
          </a:prstGeom>
          <a:solidFill>
            <a:srgbClr val="E4EFF9"/>
          </a:solidFill>
          <a:ln w="12700">
            <a:solidFill>
              <a:srgbClr val="1F4E79"/>
            </a:solidFill>
          </a:ln>
          <a:effectLst/>
        </p:spPr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endParaRPr sz="2000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 JSON</a:t>
            </a:r>
            <a:endParaRPr sz="20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结构化调用</a:t>
            </a:r>
            <a:endParaRPr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4462272" y="1828800"/>
            <a:ext cx="1645920" cy="309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模型内</a:t>
            </a:r>
            <a:endParaRPr sz="160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7"/>
            </p:custDataLst>
          </p:nvPr>
        </p:nvSpPr>
        <p:spPr>
          <a:xfrm>
            <a:off x="6364224" y="2176272"/>
            <a:ext cx="1645920" cy="1371600"/>
          </a:xfrm>
          <a:prstGeom prst="roundRect">
            <a:avLst>
              <a:gd name="adj" fmla="val 7000"/>
            </a:avLst>
          </a:prstGeom>
          <a:solidFill>
            <a:srgbClr val="FCEAD4"/>
          </a:solidFill>
          <a:ln w="12700">
            <a:solidFill>
              <a:srgbClr val="A85608"/>
            </a:solidFill>
          </a:ln>
          <a:effectLst/>
        </p:spPr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56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endParaRPr sz="2000" b="0">
              <a:solidFill>
                <a:srgbClr val="A8560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编排层执行</a:t>
            </a:r>
            <a:endParaRPr sz="20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真实调用 + 鉴权</a:t>
            </a:r>
            <a:endParaRPr sz="16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6364224" y="1828800"/>
            <a:ext cx="1645920" cy="309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编排层</a:t>
            </a:r>
            <a:endParaRPr sz="160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9"/>
            </p:custDataLst>
          </p:nvPr>
        </p:nvSpPr>
        <p:spPr>
          <a:xfrm>
            <a:off x="8266176" y="2176272"/>
            <a:ext cx="1645920" cy="1371600"/>
          </a:xfrm>
          <a:prstGeom prst="roundRect">
            <a:avLst>
              <a:gd name="adj" fmla="val 7000"/>
            </a:avLst>
          </a:prstGeom>
          <a:solidFill>
            <a:srgbClr val="FCEAD4"/>
          </a:solidFill>
          <a:ln w="12700">
            <a:solidFill>
              <a:srgbClr val="A85608"/>
            </a:solidFill>
          </a:ln>
          <a:effectLst/>
        </p:spPr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56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endParaRPr sz="2000" b="0">
              <a:solidFill>
                <a:srgbClr val="A8560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结果回写</a:t>
            </a:r>
            <a:endParaRPr sz="20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observation</a:t>
            </a:r>
            <a:endParaRPr sz="16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8266176" y="1828800"/>
            <a:ext cx="1645920" cy="309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编排层</a:t>
            </a:r>
            <a:endParaRPr sz="160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>
            <p:custDataLst>
              <p:tags r:id="rId11"/>
            </p:custDataLst>
          </p:nvPr>
        </p:nvSpPr>
        <p:spPr>
          <a:xfrm>
            <a:off x="10168128" y="2176272"/>
            <a:ext cx="1645920" cy="1371600"/>
          </a:xfrm>
          <a:prstGeom prst="roundRect">
            <a:avLst>
              <a:gd name="adj" fmla="val 7000"/>
            </a:avLst>
          </a:prstGeom>
          <a:solidFill>
            <a:srgbClr val="E4EFF9"/>
          </a:solidFill>
          <a:ln w="12700">
            <a:solidFill>
              <a:srgbClr val="1F4E79"/>
            </a:solidFill>
          </a:ln>
          <a:effectLst/>
        </p:spPr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</a:t>
            </a:r>
            <a:endParaRPr sz="2000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结合结果作答</a:t>
            </a:r>
            <a:endParaRPr sz="20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或再选一次工具</a:t>
            </a:r>
            <a:endParaRPr sz="16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10168128" y="1828800"/>
            <a:ext cx="1645920" cy="309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模型内</a:t>
            </a:r>
            <a:endParaRPr sz="160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>
            <p:custDataLst>
              <p:tags r:id="rId13"/>
            </p:custDataLst>
          </p:nvPr>
        </p:nvCxnSpPr>
        <p:spPr>
          <a:xfrm>
            <a:off x="2331720" y="2862072"/>
            <a:ext cx="201168" cy="0"/>
          </a:xfrm>
          <a:prstGeom prst="line">
            <a:avLst/>
          </a:prstGeom>
          <a:ln w="16510">
            <a:solidFill>
              <a:srgbClr val="87929E"/>
            </a:solidFill>
            <a:tailEnd type="triangle" w="med" len="med"/>
          </a:ln>
          <a:effectLst/>
        </p:spPr>
      </p:cxnSp>
      <p:cxnSp>
        <p:nvCxnSpPr>
          <p:cNvPr id="22" name="Connector 21"/>
          <p:cNvCxnSpPr/>
          <p:nvPr>
            <p:custDataLst>
              <p:tags r:id="rId14"/>
            </p:custDataLst>
          </p:nvPr>
        </p:nvCxnSpPr>
        <p:spPr>
          <a:xfrm>
            <a:off x="4233672" y="2862072"/>
            <a:ext cx="201168" cy="0"/>
          </a:xfrm>
          <a:prstGeom prst="line">
            <a:avLst/>
          </a:prstGeom>
          <a:ln w="16510">
            <a:solidFill>
              <a:srgbClr val="87929E"/>
            </a:solidFill>
            <a:tailEnd type="triangle" w="med" len="med"/>
          </a:ln>
          <a:effectLst/>
        </p:spPr>
      </p:cxnSp>
      <p:cxnSp>
        <p:nvCxnSpPr>
          <p:cNvPr id="23" name="Connector 22"/>
          <p:cNvCxnSpPr/>
          <p:nvPr>
            <p:custDataLst>
              <p:tags r:id="rId15"/>
            </p:custDataLst>
          </p:nvPr>
        </p:nvCxnSpPr>
        <p:spPr>
          <a:xfrm>
            <a:off x="6135624" y="2862072"/>
            <a:ext cx="201168" cy="0"/>
          </a:xfrm>
          <a:prstGeom prst="line">
            <a:avLst/>
          </a:prstGeom>
          <a:ln w="16510">
            <a:solidFill>
              <a:srgbClr val="87929E"/>
            </a:solidFill>
            <a:tailEnd type="triangle" w="med" len="med"/>
          </a:ln>
          <a:effectLst/>
        </p:spPr>
      </p:cxnSp>
      <p:cxnSp>
        <p:nvCxnSpPr>
          <p:cNvPr id="24" name="Connector 23"/>
          <p:cNvCxnSpPr/>
          <p:nvPr>
            <p:custDataLst>
              <p:tags r:id="rId16"/>
            </p:custDataLst>
          </p:nvPr>
        </p:nvCxnSpPr>
        <p:spPr>
          <a:xfrm>
            <a:off x="8037575" y="2862072"/>
            <a:ext cx="201169" cy="0"/>
          </a:xfrm>
          <a:prstGeom prst="line">
            <a:avLst/>
          </a:prstGeom>
          <a:ln w="16510">
            <a:solidFill>
              <a:srgbClr val="87929E"/>
            </a:solidFill>
            <a:tailEnd type="triangle" w="med" len="med"/>
          </a:ln>
          <a:effectLst/>
        </p:spPr>
      </p:cxnSp>
      <p:cxnSp>
        <p:nvCxnSpPr>
          <p:cNvPr id="25" name="Connector 24"/>
          <p:cNvCxnSpPr/>
          <p:nvPr>
            <p:custDataLst>
              <p:tags r:id="rId17"/>
            </p:custDataLst>
          </p:nvPr>
        </p:nvCxnSpPr>
        <p:spPr>
          <a:xfrm>
            <a:off x="9939528" y="2862072"/>
            <a:ext cx="201168" cy="0"/>
          </a:xfrm>
          <a:prstGeom prst="line">
            <a:avLst/>
          </a:prstGeom>
          <a:ln w="16510">
            <a:solidFill>
              <a:srgbClr val="87929E"/>
            </a:solidFill>
            <a:tailEnd type="triangle" w="med" len="med"/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0991088" y="3566160"/>
            <a:ext cx="0" cy="493775"/>
          </a:xfrm>
          <a:prstGeom prst="line">
            <a:avLst/>
          </a:prstGeom>
          <a:ln w="20320">
            <a:solidFill>
              <a:srgbClr val="0E6A6A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H="1">
            <a:off x="3383279" y="4059935"/>
            <a:ext cx="7607809" cy="0"/>
          </a:xfrm>
          <a:prstGeom prst="line">
            <a:avLst/>
          </a:prstGeom>
          <a:ln w="20320">
            <a:solidFill>
              <a:srgbClr val="0E6A6A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 flipV="1">
            <a:off x="3383279" y="3566160"/>
            <a:ext cx="0" cy="493775"/>
          </a:xfrm>
          <a:prstGeom prst="line">
            <a:avLst/>
          </a:prstGeom>
          <a:ln w="20320">
            <a:solidFill>
              <a:srgbClr val="0E6A6A"/>
            </a:solidFill>
            <a:tailEnd type="triangle" w="med" len="med"/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4626864" y="4151375"/>
            <a:ext cx="5120640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缺信息 → 回到第 ② 步再选</a:t>
            </a:r>
            <a:endParaRPr sz="20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" y="5029327"/>
            <a:ext cx="10698480" cy="81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③ 步的产物是数据，不是执行 —— 整条线上唯一“真正动手”的是第 ④ 步。</a:t>
            </a:r>
            <a:endParaRPr sz="20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⑥ 步章节标为 optional but common；让它成为闭环的不是步数，是这条回环。</a:t>
            </a:r>
            <a:endParaRPr sz="20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E6A6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机制锚点</a:t>
            </a:r>
            <a:endParaRPr sz="13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Q1'｜第 3 步的产物：一段数据，而不是一次执行</a:t>
            </a:r>
            <a:endParaRPr sz="29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0" y="384048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 · 锚点</a:t>
            </a:r>
            <a:endParaRPr sz="120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1152144"/>
            <a:ext cx="10881360" cy="0"/>
          </a:xfrm>
          <a:prstGeom prst="line">
            <a:avLst/>
          </a:prstGeom>
          <a:ln w="9525">
            <a:solidFill>
              <a:srgbClr val="DCE2E7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658368" y="640080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5 · Tool Use (Function Calling)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1500378"/>
            <a:ext cx="5486400" cy="2487168"/>
          </a:xfrm>
          <a:prstGeom prst="roundRect">
            <a:avLst>
              <a:gd name="adj" fmla="val 4000"/>
            </a:avLst>
          </a:prstGeom>
          <a:solidFill>
            <a:srgbClr val="232B35"/>
          </a:solidFill>
          <a:ln>
            <a:noFill/>
          </a:ln>
          <a:effectLst/>
        </p:spPr>
        <p:txBody>
          <a:bodyPr wrap="square" lIns="219456" tIns="91440" rIns="128016" bIns="91440" rtlCol="0" anchor="t"/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b="0">
              <a:solidFill>
                <a:srgbClr val="E8EEF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"tool": "get_stock_price",</a:t>
            </a:r>
            <a:endParaRPr b="0">
              <a:solidFill>
                <a:srgbClr val="E8EEF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"arguments": {</a:t>
            </a:r>
            <a:endParaRPr b="0">
              <a:solidFill>
                <a:srgbClr val="E8EEF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"ticker": "AAPL"</a:t>
            </a:r>
            <a:endParaRPr b="0">
              <a:solidFill>
                <a:srgbClr val="E8EEF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}</a:t>
            </a:r>
            <a:endParaRPr b="0">
              <a:solidFill>
                <a:srgbClr val="E8EEF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b="0">
              <a:solidFill>
                <a:srgbClr val="E8EEF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19088" y="1444752"/>
            <a:ext cx="4937760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E6A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tool</a:t>
            </a:r>
            <a:endParaRPr sz="2000" b="1">
              <a:solidFill>
                <a:srgbClr val="0E6A6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19088" y="1792224"/>
            <a:ext cx="4937760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选哪个 —— 在候选里挑一个</a:t>
            </a:r>
            <a:endParaRPr sz="20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9088" y="2322576"/>
            <a:ext cx="4937760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E6A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arguments</a:t>
            </a:r>
            <a:endParaRPr sz="2000" b="1">
              <a:solidFill>
                <a:srgbClr val="0E6A6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19088" y="2681478"/>
            <a:ext cx="4937760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填什么 —— 从自然语言抽参数</a:t>
            </a:r>
            <a:endParaRPr sz="20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19088" y="3200400"/>
            <a:ext cx="4937760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E6A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没有执行痕迹</a:t>
            </a:r>
            <a:endParaRPr sz="2000" b="1">
              <a:solidFill>
                <a:srgbClr val="0E6A6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547872"/>
            <a:ext cx="4937760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没有返回值、状态码、副作用</a:t>
            </a:r>
            <a:endParaRPr sz="20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04088" y="4645914"/>
            <a:ext cx="10863072" cy="109728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因为是数据，所以它可以被记录、被拦截、被拒绝、被重放。</a:t>
            </a:r>
            <a:endParaRPr sz="24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这四件事，就是“可治理”的全部来源。</a:t>
            </a:r>
            <a:endParaRPr sz="24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E6A6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4937760" cy="503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驱动问题二:</a:t>
            </a:r>
            <a:r>
              <a:rPr sz="13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谁在干</a:t>
            </a:r>
            <a:endParaRPr sz="13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endParaRPr lang="en-US" sz="13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Q2｜分工线画在第 3 步与第 4 步之间</a:t>
            </a:r>
            <a:endParaRPr sz="29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0" y="384048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Q2 · 分工</a:t>
            </a:r>
            <a:endParaRPr sz="120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1152144"/>
            <a:ext cx="10881360" cy="0"/>
          </a:xfrm>
          <a:prstGeom prst="line">
            <a:avLst/>
          </a:prstGeom>
          <a:ln w="9525">
            <a:solidFill>
              <a:srgbClr val="DCE2E7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658368" y="640080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5 · Tool Use (Function Calling)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1371600"/>
            <a:ext cx="4992624" cy="3163824"/>
          </a:xfrm>
          <a:prstGeom prst="roundRect">
            <a:avLst>
              <a:gd name="adj" fmla="val 5000"/>
            </a:avLst>
          </a:prstGeom>
          <a:solidFill>
            <a:srgbClr val="E4EF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572768"/>
            <a:ext cx="4480560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模型侧：只做两件事</a:t>
            </a:r>
            <a:endParaRPr sz="2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0976" y="2139696"/>
            <a:ext cx="4480560" cy="664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</a:t>
            </a:r>
            <a:endParaRPr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在候选工具里挑一个</a:t>
            </a:r>
            <a:endParaRPr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0976" y="2926079"/>
            <a:ext cx="4480560" cy="664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</a:t>
            </a:r>
            <a:endParaRPr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从自然语言抽取参数</a:t>
            </a:r>
            <a:endParaRPr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50976" y="3712463"/>
            <a:ext cx="4480560" cy="664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</a:t>
            </a:r>
            <a:endParaRPr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拒绝、超时、权限、重试</a:t>
            </a:r>
            <a:endParaRPr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779008" y="2871216"/>
            <a:ext cx="548640" cy="0"/>
          </a:xfrm>
          <a:prstGeom prst="line">
            <a:avLst/>
          </a:prstGeom>
          <a:ln w="27940">
            <a:solidFill>
              <a:srgbClr val="1B2431"/>
            </a:solidFill>
            <a:tailEnd type="triangle" w="med" len="med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5431790" y="3017520"/>
            <a:ext cx="1034415" cy="309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调用意图</a:t>
            </a:r>
            <a:endParaRPr sz="160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55664" y="1371600"/>
            <a:ext cx="5065776" cy="3163824"/>
          </a:xfrm>
          <a:prstGeom prst="roundRect">
            <a:avLst>
              <a:gd name="adj" fmla="val 5000"/>
            </a:avLst>
          </a:prstGeom>
          <a:solidFill>
            <a:srgbClr val="FCEAD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1572768"/>
            <a:ext cx="4572000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A856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编排层：承担其余全部</a:t>
            </a:r>
            <a:endParaRPr sz="2000" b="1">
              <a:solidFill>
                <a:srgbClr val="A8560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48272" y="2139696"/>
            <a:ext cx="4572000" cy="664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</a:t>
            </a:r>
            <a:r>
              <a:rPr b="1" dirty="0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Schema </a:t>
            </a:r>
            <a:r>
              <a:rPr b="1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校验</a:t>
            </a:r>
            <a:endParaRPr b="1" dirty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不合法的调用直接拦下</a:t>
            </a:r>
            <a:endParaRPr b="0" dirty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48272" y="2926079"/>
            <a:ext cx="4572000" cy="664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鉴权、超时、重试、审计</a:t>
            </a:r>
            <a:endParaRPr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副作用与权限在这里把关</a:t>
            </a:r>
            <a:endParaRPr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48272" y="3712463"/>
            <a:ext cx="4572000" cy="664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observation 回写</a:t>
            </a:r>
            <a:endParaRPr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决定模型看到什么</a:t>
            </a:r>
            <a:endParaRPr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8368" y="4773168"/>
            <a:ext cx="4992624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收益：可测试 · 可审计 · 可回滚</a:t>
            </a:r>
            <a:endParaRPr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55664" y="4773168"/>
            <a:ext cx="5065776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A85608"/>
            </a:solidFill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A856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代价：多一次往返、多一个失败点</a:t>
            </a:r>
            <a:endParaRPr b="1">
              <a:solidFill>
                <a:srgbClr val="A8560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E6A6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外延</a:t>
            </a:r>
            <a:endParaRPr sz="13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Q2'｜Tool 比 Function 宽：信封里可以装什么</a:t>
            </a:r>
            <a:endParaRPr sz="29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0" y="384048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Q2 · 外延</a:t>
            </a:r>
            <a:endParaRPr sz="120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1152144"/>
            <a:ext cx="10881360" cy="0"/>
          </a:xfrm>
          <a:prstGeom prst="line">
            <a:avLst/>
          </a:prstGeom>
          <a:ln w="9525">
            <a:solidFill>
              <a:srgbClr val="DCE2E7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658368" y="640080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5 · Tool Use (Function Calling)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1371600"/>
            <a:ext cx="2084831" cy="914400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Function</a:t>
            </a:r>
            <a:endParaRPr sz="1600" b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875787" y="1371600"/>
            <a:ext cx="2084831" cy="914400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endpoint</a:t>
            </a:r>
            <a:endParaRPr sz="1600" b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93207" y="1371600"/>
            <a:ext cx="2084831" cy="914400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Database query</a:t>
            </a:r>
            <a:endParaRPr sz="1600" b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0627" y="1371600"/>
            <a:ext cx="2084831" cy="914400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Device control</a:t>
            </a:r>
            <a:endParaRPr sz="1600" b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528048" y="1371600"/>
            <a:ext cx="2084831" cy="914400"/>
          </a:xfrm>
          <a:prstGeom prst="roundRect">
            <a:avLst>
              <a:gd name="adj" fmla="val 12000"/>
            </a:avLst>
          </a:prstGeom>
          <a:solidFill>
            <a:srgbClr val="FCEAD4"/>
          </a:solidFill>
          <a:ln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856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delegation</a:t>
            </a:r>
            <a:endParaRPr sz="1600" b="1">
              <a:solidFill>
                <a:srgbClr val="A8560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48716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5：一件“工具”可以是函数、API、数据库查询、设备控制，甚至发给另一个智能体的委托指令。</a:t>
            </a:r>
            <a:endParaRPr sz="1400" b="0" dirty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" y="3072384"/>
            <a:ext cx="10908792" cy="149961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2E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36976"/>
            <a:ext cx="4846320" cy="3518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判据</a:t>
            </a:r>
            <a:endParaRPr sz="2000" b="1" dirty="0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3621024"/>
            <a:ext cx="4846320" cy="7578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不看“</a:t>
            </a:r>
            <a:r>
              <a:rPr b="0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是不是代码</a:t>
            </a:r>
            <a:r>
              <a:rPr b="0" dirty="0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”，</a:t>
            </a:r>
            <a:r>
              <a:rPr b="0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看它是否引入</a:t>
            </a:r>
            <a:endParaRPr b="0" dirty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外部事实</a:t>
            </a:r>
            <a:r>
              <a:rPr b="1" dirty="0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1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b="1" dirty="0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1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外部副作用</a:t>
            </a:r>
            <a:r>
              <a:rPr b="1" dirty="0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b="1" dirty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8368" y="5065776"/>
            <a:ext cx="10863072" cy="768096"/>
          </a:xfrm>
          <a:prstGeom prst="roundRect">
            <a:avLst>
              <a:gd name="adj" fmla="val 5000"/>
            </a:avLst>
          </a:prstGeom>
          <a:solidFill>
            <a:srgbClr val="E5F1F0"/>
          </a:solidFill>
          <a:ln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当“工具”是另一个智能体：返回值是另一个模型的输出 —— 不可复现，须当不可信输入校验</a:t>
            </a:r>
            <a:endParaRPr sz="20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E6A6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4937760" cy="480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6000"/>
              </a:lnSpc>
            </a:pPr>
            <a:r>
              <a:rPr sz="1300" b="1" dirty="0" err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驱动问题三</a:t>
            </a:r>
            <a:r>
              <a:rPr lang="zh-CN" altLang="en-US" sz="1300" b="1" dirty="0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300" b="1" dirty="0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</a:rPr>
              <a:t>怎么写</a:t>
            </a:r>
            <a:endParaRPr lang="zh-CN" altLang="en-US" sz="1300" b="1" dirty="0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endParaRPr sz="1300" b="1" dirty="0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dirty="0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Q3｜工具定义有两个层次，只有一个能被程序检查</a:t>
            </a:r>
            <a:endParaRPr sz="2900" b="1" dirty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0" y="384048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Q3 · 契约</a:t>
            </a:r>
            <a:endParaRPr sz="120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1152144"/>
            <a:ext cx="10881360" cy="0"/>
          </a:xfrm>
          <a:prstGeom prst="line">
            <a:avLst/>
          </a:prstGeom>
          <a:ln w="9525">
            <a:solidFill>
              <a:srgbClr val="DCE2E7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658368" y="640080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5 · Tool Use (Function Calling)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1371600"/>
            <a:ext cx="10863072" cy="1371600"/>
          </a:xfrm>
          <a:prstGeom prst="roundRect">
            <a:avLst>
              <a:gd name="adj" fmla="val 5000"/>
            </a:avLst>
          </a:prstGeom>
          <a:solidFill>
            <a:srgbClr val="E5F1F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57276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Schema 层</a:t>
            </a:r>
            <a:endParaRPr sz="19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88920" y="1591056"/>
            <a:ext cx="5669280" cy="285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5561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name · parameters · types</a:t>
            </a:r>
            <a:endParaRPr sz="1600" b="0" dirty="0">
              <a:solidFill>
                <a:srgbClr val="55616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88920" y="1956816"/>
            <a:ext cx="5852160" cy="6089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管结构合法：参数类型、必填项、枚举值</a:t>
            </a:r>
            <a:endParaRPr sz="1600" b="0" dirty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不合法的调用在编排层被直接拦下</a:t>
            </a:r>
            <a:r>
              <a:rPr sz="1600" b="0" dirty="0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00" b="0" dirty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98864" y="1682496"/>
            <a:ext cx="1920240" cy="493776"/>
          </a:xfrm>
          <a:prstGeom prst="roundRect">
            <a:avLst>
              <a:gd name="adj" fmla="val 45000"/>
            </a:avLst>
          </a:prstGeom>
          <a:solidFill>
            <a:srgbClr val="0E6A6A"/>
          </a:solidFill>
          <a:ln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可验证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8368" y="2889504"/>
            <a:ext cx="10863072" cy="1371600"/>
          </a:xfrm>
          <a:prstGeom prst="roundRect">
            <a:avLst>
              <a:gd name="adj" fmla="val 5000"/>
            </a:avLst>
          </a:prstGeom>
          <a:solidFill>
            <a:srgbClr val="FCEAD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09067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A856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描述层</a:t>
            </a:r>
            <a:endParaRPr sz="1900" b="1">
              <a:solidFill>
                <a:srgbClr val="A8560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88920" y="3108960"/>
            <a:ext cx="5669280" cy="284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5561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description · docstring · </a:t>
            </a:r>
            <a:r>
              <a:rPr sz="1600" b="0" dirty="0" err="1">
                <a:solidFill>
                  <a:srgbClr val="55616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示例</a:t>
            </a:r>
            <a:endParaRPr sz="1600" b="0" dirty="0">
              <a:solidFill>
                <a:srgbClr val="55616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88920" y="3474720"/>
            <a:ext cx="5852160" cy="6089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管“</a:t>
            </a:r>
            <a:r>
              <a:rPr sz="1600" b="0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何时用、怎么用</a:t>
            </a:r>
            <a:r>
              <a:rPr sz="1600" b="0" dirty="0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”：</a:t>
            </a:r>
            <a:r>
              <a:rPr sz="1600" b="0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触发条件、适用范围、示例</a:t>
            </a:r>
            <a:endParaRPr sz="1600" b="0" dirty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只能被模型读懂，没有任何程序能检查它</a:t>
            </a:r>
            <a:r>
              <a:rPr sz="1600" b="0" dirty="0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00" b="0" dirty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98864" y="3200400"/>
            <a:ext cx="1920240" cy="493776"/>
          </a:xfrm>
          <a:prstGeom prst="roundRect">
            <a:avLst>
              <a:gd name="adj" fmla="val 45000"/>
            </a:avLst>
          </a:prstGeom>
          <a:solidFill>
            <a:srgbClr val="A82A1E"/>
          </a:solidFill>
          <a:ln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不可验证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4517136"/>
            <a:ext cx="5303520" cy="9509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2E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681728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Schema </a:t>
            </a:r>
            <a:r>
              <a:rPr sz="1500" b="1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写错</a:t>
            </a:r>
            <a:r>
              <a:rPr sz="1500" b="1" dirty="0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sz="1500" b="1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调用报错</a:t>
            </a:r>
            <a:endParaRPr sz="1500" b="1" dirty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 err="1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错误是响亮的，会有人来修</a:t>
            </a:r>
            <a:endParaRPr sz="1250" b="0" dirty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7920" y="4517136"/>
            <a:ext cx="5303520" cy="950976"/>
          </a:xfrm>
          <a:prstGeom prst="roundRect">
            <a:avLst>
              <a:gd name="adj" fmla="val 5000"/>
            </a:avLst>
          </a:prstGeom>
          <a:solidFill>
            <a:srgbClr val="FAE8E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4681728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 err="1">
                <a:solidFill>
                  <a:srgbClr val="A82A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描述写错</a:t>
            </a:r>
            <a:r>
              <a:rPr sz="1500" b="1" dirty="0">
                <a:solidFill>
                  <a:srgbClr val="A82A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sz="1500" b="1" dirty="0" err="1">
                <a:solidFill>
                  <a:srgbClr val="A82A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静默地选错工具</a:t>
            </a:r>
            <a:endParaRPr sz="1500" b="1" dirty="0">
              <a:solidFill>
                <a:srgbClr val="A82A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 err="1">
                <a:solidFill>
                  <a:srgbClr val="A82A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错误是安静的，没人来修</a:t>
            </a:r>
            <a:endParaRPr sz="1250" b="0" dirty="0">
              <a:solidFill>
                <a:srgbClr val="A82A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E6A6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代码锚点</a:t>
            </a:r>
            <a:endParaRPr sz="13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Q3'｜docstring：几行字决定它何时被选中</a:t>
            </a:r>
            <a:endParaRPr sz="29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0" y="384048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Q3 · 锚点</a:t>
            </a:r>
            <a:endParaRPr sz="120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1152144"/>
            <a:ext cx="10881360" cy="0"/>
          </a:xfrm>
          <a:prstGeom prst="line">
            <a:avLst/>
          </a:prstGeom>
          <a:ln w="9525">
            <a:solidFill>
              <a:srgbClr val="DCE2E7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658368" y="640080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5 · Tool Use (Function Calling)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给了触发条件与示例</a:t>
            </a:r>
            <a:endParaRPr sz="14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1719072"/>
            <a:ext cx="5349240" cy="2395728"/>
          </a:xfrm>
          <a:prstGeom prst="roundRect">
            <a:avLst>
              <a:gd name="adj" fmla="val 4000"/>
            </a:avLst>
          </a:prstGeom>
          <a:solidFill>
            <a:srgbClr val="232B35"/>
          </a:solidFill>
          <a:ln>
            <a:noFill/>
          </a:ln>
          <a:effectLst/>
        </p:spPr>
        <p:txBody>
          <a:bodyPr wrap="square" lIns="219456" tIns="91440" rIns="128016" bIns="91440" rtlCol="0" anchor="ctr"/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@tool</a:t>
            </a:r>
            <a:endParaRPr sz="1300" b="0" dirty="0">
              <a:solidFill>
                <a:srgbClr val="E8EEF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def </a:t>
            </a:r>
            <a:r>
              <a:rPr sz="1300" b="0" dirty="0" err="1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search_information</a:t>
            </a:r>
            <a:r>
              <a:rPr sz="1300" b="0" dirty="0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(query: str) -&gt; str:</a:t>
            </a:r>
            <a:endParaRPr sz="1300" b="0" dirty="0">
              <a:solidFill>
                <a:srgbClr val="E8EEF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"""Provides factual information on a given topic.</a:t>
            </a:r>
            <a:endParaRPr sz="1300" b="0" dirty="0">
              <a:solidFill>
                <a:srgbClr val="E8EEF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Use this tool to find answers to phrases like</a:t>
            </a:r>
            <a:endParaRPr sz="1300" b="0" dirty="0">
              <a:solidFill>
                <a:srgbClr val="E8EEF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'capital of France' or 'weather in London?'."""</a:t>
            </a:r>
            <a:endParaRPr sz="1300" b="0" dirty="0">
              <a:solidFill>
                <a:srgbClr val="E8EEF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return </a:t>
            </a:r>
            <a:r>
              <a:rPr sz="1300" b="0" dirty="0" err="1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simulated_lookup</a:t>
            </a:r>
            <a:r>
              <a:rPr sz="1300" b="0" dirty="0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(query)</a:t>
            </a:r>
            <a:endParaRPr sz="1300" b="0" dirty="0">
              <a:solidFill>
                <a:srgbClr val="E8EEF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99632" y="1353312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82A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 只是同义改写了函数名</a:t>
            </a:r>
            <a:endParaRPr sz="1400" b="1">
              <a:solidFill>
                <a:srgbClr val="A82A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1719072"/>
            <a:ext cx="5321808" cy="2395728"/>
          </a:xfrm>
          <a:prstGeom prst="roundRect">
            <a:avLst>
              <a:gd name="adj" fmla="val 4000"/>
            </a:avLst>
          </a:prstGeom>
          <a:solidFill>
            <a:srgbClr val="232B35"/>
          </a:solidFill>
          <a:ln>
            <a:noFill/>
          </a:ln>
          <a:effectLst/>
        </p:spPr>
        <p:txBody>
          <a:bodyPr wrap="square" lIns="219456" tIns="91440" rIns="128016" bIns="91440" rtlCol="0" anchor="ctr"/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@tool</a:t>
            </a:r>
            <a:endParaRPr sz="1300" b="0" dirty="0">
              <a:solidFill>
                <a:srgbClr val="E8EEF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def </a:t>
            </a:r>
            <a:r>
              <a:rPr sz="1300" b="0" dirty="0" err="1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search_docs</a:t>
            </a:r>
            <a:r>
              <a:rPr sz="1300" b="0" dirty="0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(query: str) -&gt; str:</a:t>
            </a:r>
            <a:endParaRPr sz="1300" b="0" dirty="0">
              <a:solidFill>
                <a:srgbClr val="E8EEF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"""Search documents."""</a:t>
            </a:r>
            <a:endParaRPr sz="1300" b="0" dirty="0">
              <a:solidFill>
                <a:srgbClr val="E8EEF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return </a:t>
            </a:r>
            <a:r>
              <a:rPr sz="1300" b="0" dirty="0" err="1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rag_lookup</a:t>
            </a:r>
            <a:r>
              <a:rPr sz="1300" b="0" dirty="0">
                <a:solidFill>
                  <a:srgbClr val="E8EEF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(query)</a:t>
            </a:r>
            <a:endParaRPr sz="1300" b="0" dirty="0">
              <a:solidFill>
                <a:srgbClr val="E8EEF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4407940"/>
            <a:ext cx="8183880" cy="1788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两个函数签名完全相同；模型看不到函数体</a:t>
            </a:r>
            <a:r>
              <a:rPr b="1" dirty="0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b="1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在它眼里没有区别</a:t>
            </a:r>
            <a:r>
              <a:rPr b="1" dirty="0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b="1" dirty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sz="1600" b="0" dirty="0" err="1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选错工具”往往在写</a:t>
            </a:r>
            <a:r>
              <a:rPr sz="1600" b="0" dirty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docstring </a:t>
            </a:r>
            <a:r>
              <a:rPr sz="1600" b="0" dirty="0" err="1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那一刻就注定了</a:t>
            </a:r>
            <a:r>
              <a:rPr sz="1600" b="0" dirty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。</a:t>
            </a:r>
            <a:endParaRPr sz="1600" b="0" dirty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后果不会立刻显现，只能靠端到端评测事后发现</a:t>
            </a:r>
            <a:r>
              <a:rPr sz="1600" b="0" dirty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。</a:t>
            </a:r>
            <a:endParaRPr lang="en-US" sz="1600" b="0" dirty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endParaRPr sz="1400" b="0" dirty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1" dirty="0" err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</a:t>
            </a:r>
            <a:r>
              <a:rPr sz="2000" b="1" dirty="0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dirty="0" err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docstring，等于在给模型写一份“路由规则</a:t>
            </a:r>
            <a:r>
              <a:rPr sz="2000" b="1" dirty="0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”。</a:t>
            </a:r>
            <a:endParaRPr sz="2000" b="1" dirty="0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E6A6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设计判断</a:t>
            </a:r>
            <a:endParaRPr sz="13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边界判断｜一张表，三列</a:t>
            </a:r>
            <a:endParaRPr sz="29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0" y="384048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判断页</a:t>
            </a:r>
            <a:endParaRPr sz="120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1152144"/>
            <a:ext cx="10881360" cy="0"/>
          </a:xfrm>
          <a:prstGeom prst="line">
            <a:avLst/>
          </a:prstGeom>
          <a:ln w="9525">
            <a:solidFill>
              <a:srgbClr val="DCE2E7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658368" y="640080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5 · Tool Use (Function Calling)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353311"/>
          <a:ext cx="10908792" cy="435253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44439"/>
                <a:gridCol w="3544439"/>
                <a:gridCol w="3819914"/>
              </a:tblGrid>
              <a:tr h="549349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何时该用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1B243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何时不该用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1B243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代价与回退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1B2431"/>
                    </a:solidFill>
                  </a:tcPr>
                </a:tc>
              </a:tr>
              <a:tr h="63386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B24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实时易变数据（天气、股价）</a:t>
                      </a:r>
                      <a:endParaRPr sz="1250" b="1">
                        <a:solidFill>
                          <a:srgbClr val="1B24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55616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已知且稳定的常识</a:t>
                      </a:r>
                      <a:endParaRPr sz="1250" b="0">
                        <a:solidFill>
                          <a:srgbClr val="55616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B24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超时→重试一次；降级须标注时间戳</a:t>
                      </a:r>
                      <a:endParaRPr sz="1250" b="0">
                        <a:solidFill>
                          <a:srgbClr val="1B24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FFFFFF"/>
                    </a:solidFill>
                  </a:tcPr>
                </a:tc>
              </a:tr>
              <a:tr h="63386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B24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私有 / 专有数据（公司库）</a:t>
                      </a:r>
                      <a:endParaRPr sz="1250" b="1">
                        <a:solidFill>
                          <a:srgbClr val="1B24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55616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无法鉴权或越权访问</a:t>
                      </a:r>
                      <a:endParaRPr sz="1250" b="0">
                        <a:solidFill>
                          <a:srgbClr val="55616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B24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空结果 ≠ 无数据：追问缩小范围</a:t>
                      </a:r>
                      <a:endParaRPr sz="1250" b="0">
                        <a:solidFill>
                          <a:srgbClr val="1B24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F3F5F7"/>
                    </a:solidFill>
                  </a:tcPr>
                </a:tc>
              </a:tr>
              <a:tr h="63386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B24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精确计算（金额、统计）</a:t>
                      </a:r>
                      <a:endParaRPr sz="1250" b="1">
                        <a:solidFill>
                          <a:srgbClr val="1B24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55616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一步可心算的比较</a:t>
                      </a:r>
                      <a:endParaRPr sz="1250" b="0">
                        <a:solidFill>
                          <a:srgbClr val="55616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B24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先修参数再重试，两次失败即放弃</a:t>
                      </a:r>
                      <a:endParaRPr sz="1250" b="0">
                        <a:solidFill>
                          <a:srgbClr val="1B24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FFFFFF"/>
                    </a:solidFill>
                  </a:tcPr>
                </a:tc>
              </a:tr>
              <a:tr h="63386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B24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代码执行（沙箱解释器）</a:t>
                      </a:r>
                      <a:endParaRPr sz="1250" b="1">
                        <a:solidFill>
                          <a:srgbClr val="1B24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55616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无沙箱、无资源限额</a:t>
                      </a:r>
                      <a:endParaRPr sz="1250" b="0">
                        <a:solidFill>
                          <a:srgbClr val="55616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B24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stderr 原样回传，别被“成功”掩盖</a:t>
                      </a:r>
                      <a:endParaRPr sz="1250" b="0">
                        <a:solidFill>
                          <a:srgbClr val="1B24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F3F5F7"/>
                    </a:solidFill>
                  </a:tcPr>
                </a:tc>
              </a:tr>
              <a:tr h="63386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B24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外部副作用（下单、发信）</a:t>
                      </a:r>
                      <a:endParaRPr sz="1250" b="1">
                        <a:solidFill>
                          <a:srgbClr val="1B24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55616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高敏感且无二次确认</a:t>
                      </a:r>
                      <a:endParaRPr sz="1250" b="0">
                        <a:solidFill>
                          <a:srgbClr val="55616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B24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幂等键 + 人工确认，失败不自动重试</a:t>
                      </a:r>
                      <a:endParaRPr sz="1250" b="0">
                        <a:solidFill>
                          <a:srgbClr val="1B24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FFFFFF"/>
                    </a:solidFill>
                  </a:tcPr>
                </a:tc>
              </a:tr>
              <a:tr h="63386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B24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委托另一个智能体</a:t>
                      </a:r>
                      <a:endParaRPr sz="1250" b="1">
                        <a:solidFill>
                          <a:srgbClr val="1B24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55616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同一上下文一句话能做完</a:t>
                      </a:r>
                      <a:endParaRPr sz="1250" b="0" dirty="0">
                        <a:solidFill>
                          <a:srgbClr val="55616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B24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返回值当不可信输入校验</a:t>
                      </a:r>
                      <a:endParaRPr sz="1250" b="0" dirty="0">
                        <a:solidFill>
                          <a:srgbClr val="1B24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T="27432" marB="27432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6025895"/>
            <a:ext cx="164592" cy="164592"/>
          </a:xfrm>
          <a:prstGeom prst="roundRect">
            <a:avLst>
              <a:gd name="adj" fmla="val 2000"/>
            </a:avLst>
          </a:prstGeom>
          <a:solidFill>
            <a:srgbClr val="1B243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5943599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第一列：Chapter 5（p.85）</a:t>
            </a:r>
            <a:endParaRPr sz="115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069080" y="6025895"/>
            <a:ext cx="164592" cy="164592"/>
          </a:xfrm>
          <a:prstGeom prst="roundRect">
            <a:avLst>
              <a:gd name="adj" fmla="val 2000"/>
            </a:avLst>
          </a:prstGeom>
          <a:solidFill>
            <a:srgbClr val="0E6A6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5943599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第二、三列：我们的评价（由成本结构反向推论，章节未明写）</a:t>
            </a:r>
            <a:endParaRPr sz="115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E6A6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边界补充｜失败恢复：章节只给了一个示范</a:t>
            </a:r>
            <a:endParaRPr sz="29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0" y="384048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Q4 · 一页讲完</a:t>
            </a:r>
            <a:endParaRPr sz="120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1152144"/>
            <a:ext cx="10881360" cy="0"/>
          </a:xfrm>
          <a:prstGeom prst="line">
            <a:avLst/>
          </a:prstGeom>
          <a:ln w="9525">
            <a:solidFill>
              <a:srgbClr val="DCE2E7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658368" y="640080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5 · Tool Use (Function Calling)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1371600"/>
            <a:ext cx="4443984" cy="969264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53619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超时</a:t>
            </a:r>
            <a:endParaRPr sz="18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0976" y="1938528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网络与外部系统不可控</a:t>
            </a:r>
            <a:endParaRPr sz="135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8368" y="2505456"/>
            <a:ext cx="4443984" cy="969264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67004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报错</a:t>
            </a:r>
            <a:endParaRPr sz="18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0976" y="3072384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参数、权限、上游异常</a:t>
            </a:r>
            <a:endParaRPr sz="135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" y="3639312"/>
            <a:ext cx="4443984" cy="969264"/>
          </a:xfrm>
          <a:prstGeom prst="roundRect">
            <a:avLst>
              <a:gd name="adj" fmla="val 5000"/>
            </a:avLst>
          </a:prstGeom>
          <a:solidFill>
            <a:srgbClr val="FAE8E5"/>
          </a:solidFill>
          <a:ln w="12700">
            <a:solidFill>
              <a:srgbClr val="A82A1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803904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82A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空结果</a:t>
            </a:r>
            <a:endParaRPr sz="1800" b="1">
              <a:solidFill>
                <a:srgbClr val="A82A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50976" y="4206240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82A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格式合法，所以最危险</a:t>
            </a:r>
            <a:endParaRPr sz="1350" b="0">
              <a:solidFill>
                <a:srgbClr val="A82A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40095" y="2852928"/>
            <a:ext cx="548640" cy="387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200" b="0" dirty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071616" y="1371600"/>
            <a:ext cx="5449824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2E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1591056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重试</a:t>
            </a:r>
            <a:endParaRPr sz="155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98079" y="162763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前提：幂等</a:t>
            </a:r>
            <a:endParaRPr sz="13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071616" y="2231136"/>
            <a:ext cx="5449824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2E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2450591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降级</a:t>
            </a:r>
            <a:endParaRPr sz="155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98079" y="248716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说清降到哪一档</a:t>
            </a:r>
            <a:endParaRPr sz="13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071616" y="3090672"/>
            <a:ext cx="5449824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2E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3310128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追问</a:t>
            </a:r>
            <a:endParaRPr sz="155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98079" y="3346704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问对维度：时间？ID？</a:t>
            </a:r>
            <a:endParaRPr sz="13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071616" y="3950208"/>
            <a:ext cx="5449824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2E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416966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放弃</a:t>
            </a:r>
            <a:endParaRPr sz="155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98079" y="420624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给出理由，不许硬凑</a:t>
            </a:r>
            <a:endParaRPr sz="13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58368" y="4846320"/>
            <a:ext cx="10863072" cy="914400"/>
          </a:xfrm>
          <a:prstGeom prst="roundRect">
            <a:avLst>
              <a:gd name="adj" fmla="val 5000"/>
            </a:avLst>
          </a:prstGeom>
          <a:solidFill>
            <a:srgbClr val="FCEAD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974336"/>
            <a:ext cx="10332720" cy="685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A856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章节唯一给的做法（p.79–80，CrewAI）：</a:t>
            </a:r>
            <a:r>
              <a:rPr b="1" dirty="0" err="1">
                <a:solidFill>
                  <a:srgbClr val="A856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</a:t>
            </a:r>
            <a:r>
              <a:rPr b="1" dirty="0">
                <a:solidFill>
                  <a:srgbClr val="A856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raise </a:t>
            </a:r>
            <a:r>
              <a:rPr b="1" dirty="0" err="1">
                <a:solidFill>
                  <a:srgbClr val="A856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ValueError</a:t>
            </a:r>
            <a:r>
              <a:rPr b="1" dirty="0">
                <a:solidFill>
                  <a:srgbClr val="A856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b="1" dirty="0">
              <a:solidFill>
                <a:srgbClr val="A8560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A856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任务描述里同时写死“查不到就说查不到</a:t>
            </a:r>
            <a:r>
              <a:rPr b="1" dirty="0">
                <a:solidFill>
                  <a:srgbClr val="A856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 —— </a:t>
            </a:r>
            <a:r>
              <a:rPr b="1" dirty="0" err="1">
                <a:solidFill>
                  <a:srgbClr val="A856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异常与指令必须成对</a:t>
            </a:r>
            <a:r>
              <a:rPr b="1" dirty="0">
                <a:solidFill>
                  <a:srgbClr val="A856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b="1" dirty="0">
              <a:solidFill>
                <a:srgbClr val="A8560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18872" cy="6858000"/>
          </a:xfrm>
          <a:prstGeom prst="roundRect">
            <a:avLst>
              <a:gd name="adj" fmla="val 0"/>
            </a:avLst>
          </a:prstGeom>
          <a:solidFill>
            <a:srgbClr val="0E6A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模式总结</a:t>
            </a:r>
            <a:endParaRPr sz="13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模式卡片｜把第五章还原成一个可复用的协作结构</a:t>
            </a:r>
            <a:endParaRPr sz="2900" b="1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0" y="384048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模式卡</a:t>
            </a:r>
            <a:endParaRPr sz="120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1152144"/>
            <a:ext cx="10881360" cy="0"/>
          </a:xfrm>
          <a:prstGeom prst="line">
            <a:avLst/>
          </a:prstGeom>
          <a:ln w="9525">
            <a:solidFill>
              <a:srgbClr val="DC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0080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5 · Tool Use (Function Calling)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1371600"/>
            <a:ext cx="3456432" cy="1664208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lIns="237744" tIns="128016" rIns="237744" bIns="128016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  INTENT</a:t>
            </a:r>
            <a:endParaRPr sz="16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在推理的断点处，向外部系统要一份事实，或要一次动作。</a:t>
            </a:r>
            <a:endParaRPr sz="16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61688" y="1371600"/>
            <a:ext cx="3456432" cy="1664208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lIns="237744" tIns="128016" rIns="237744" bIns="128016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  WHEN</a:t>
            </a:r>
            <a:endParaRPr sz="16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实时、私有、需精确计算、需真实副作用 —— 第 4 页的四条判据。</a:t>
            </a:r>
            <a:endParaRPr sz="16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65008" y="1371600"/>
            <a:ext cx="3456432" cy="1664208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lIns="237744" tIns="128016" rIns="237744" bIns="128016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  STRUCTURE</a:t>
            </a:r>
            <a:endParaRPr sz="16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 → 决策 → JSON → 执行 → 回写 → 再决策；闭环靠最后那条回环。</a:t>
            </a:r>
            <a:endParaRPr sz="16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8368" y="3218688"/>
            <a:ext cx="3456432" cy="1664208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lIns="237744" tIns="128016" rIns="237744" bIns="128016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参与者  ACTORS</a:t>
            </a:r>
            <a:endParaRPr sz="16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模型只负责选与填；编排层执行与把关；工具是被调用的外部系统。</a:t>
            </a:r>
            <a:endParaRPr sz="16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61688" y="3218688"/>
            <a:ext cx="3456432" cy="1664208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lIns="237744" tIns="128016" rIns="237744" bIns="128016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变体  VARIANTS</a:t>
            </a:r>
            <a:endParaRPr sz="16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平台执行 / 客户端执行；函数、API、查询、设备、委托。</a:t>
            </a:r>
            <a:endParaRPr sz="16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65008" y="3218688"/>
            <a:ext cx="3456432" cy="1664208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lIns="237744" tIns="128016" rIns="237744" bIns="128016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相关模式  RELATED</a:t>
            </a:r>
            <a:endParaRPr sz="1600"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上游是第 1–4 章的信息调度；凡「先做再看」的模式，都以一次工具调用为原子步。</a:t>
            </a:r>
            <a:endParaRPr sz="1600" b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495" y="5139055"/>
            <a:ext cx="10862945" cy="890905"/>
          </a:xfrm>
          <a:prstGeom prst="roundRect">
            <a:avLst>
              <a:gd name="adj" fmla="val 8000"/>
            </a:avLst>
          </a:prstGeom>
          <a:solidFill>
            <a:srgbClr val="E5F1F0"/>
          </a:solidFill>
          <a:ln>
            <a:noFill/>
          </a:ln>
          <a:effectLst/>
        </p:spPr>
        <p:txBody>
          <a:bodyPr wrap="square" lIns="182880" tIns="36576" rIns="182880" bIns="36576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2000" b="0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模式的本质：把一次跨边界调用，切成一段可拦截的意图 + 一个受控的执行边界。</a:t>
            </a:r>
            <a:endParaRPr sz="2000" b="0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 err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推理在哪里停，工具从哪里接</a:t>
            </a:r>
            <a:r>
              <a:rPr sz="2000" dirty="0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sz="2000" b="0" dirty="0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2000" b="0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E6A6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 err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本次汇报</a:t>
            </a:r>
            <a:endParaRPr sz="1300" b="1" dirty="0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小组分工</a:t>
            </a:r>
            <a:endParaRPr sz="2900" b="1" dirty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0" y="384048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致谢</a:t>
            </a:r>
            <a:endParaRPr sz="120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1152144"/>
            <a:ext cx="10881360" cy="0"/>
          </a:xfrm>
          <a:prstGeom prst="line">
            <a:avLst/>
          </a:prstGeom>
          <a:ln w="9525">
            <a:solidFill>
              <a:srgbClr val="DCE2E7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658368" y="640080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5 · Tool Use (Function Calling)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792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050" b="0">
              <a:solidFill>
                <a:srgbClr val="8792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1316735"/>
            <a:ext cx="10908792" cy="1115559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932687" y="1532709"/>
            <a:ext cx="550949" cy="316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17904" y="1514421"/>
            <a:ext cx="2662920" cy="53121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内容研读与框架</a:t>
            </a:r>
            <a:endParaRPr b="1" dirty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36695" y="1450975"/>
            <a:ext cx="4991100" cy="646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通读</a:t>
            </a:r>
            <a:r>
              <a:rPr b="0" dirty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Chapter 5，确定「三问一判断」的主线，核对页码引用</a:t>
            </a:r>
            <a:endParaRPr b="0" dirty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42855" y="1539906"/>
            <a:ext cx="2032390" cy="316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6000"/>
              </a:lnSpc>
            </a:pPr>
            <a:r>
              <a:rPr lang="zh-CN" altLang="en-US" b="0" dirty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刘涛、</a:t>
            </a:r>
            <a:r>
              <a:rPr lang="zh-CN" altLang="en-US" dirty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张陈宇</a:t>
            </a:r>
            <a:endParaRPr lang="zh-CN" altLang="en-US" dirty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2176271"/>
            <a:ext cx="10908792" cy="11155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7" y="2392245"/>
            <a:ext cx="550949" cy="316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17904" y="2373957"/>
            <a:ext cx="1153974" cy="3866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案例与图示</a:t>
            </a:r>
            <a:endParaRPr b="1" dirty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27116" y="2260938"/>
            <a:ext cx="4866717" cy="6109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六步闭环、JSON</a:t>
            </a:r>
            <a:r>
              <a:rPr b="0" dirty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0" dirty="0" err="1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锚点、docstring</a:t>
            </a:r>
            <a:r>
              <a:rPr b="0" dirty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0" dirty="0" err="1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对照、边界判断表</a:t>
            </a:r>
            <a:endParaRPr b="0" dirty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42855" y="2354508"/>
            <a:ext cx="2054644" cy="6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6000"/>
              </a:lnSpc>
            </a:pPr>
            <a:r>
              <a:rPr lang="zh-CN" altLang="en-US" dirty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黄喆、李行</a:t>
            </a:r>
            <a:endParaRPr lang="zh-CN" altLang="en-US" dirty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6000"/>
              </a:lnSpc>
            </a:pPr>
            <a:endParaRPr lang="zh-CN" altLang="en-US" dirty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94500" y="3035807"/>
            <a:ext cx="10872659" cy="843675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7" y="3251781"/>
            <a:ext cx="550949" cy="316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17904" y="3290973"/>
            <a:ext cx="1299724" cy="4543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幻灯片制作</a:t>
            </a:r>
            <a:endParaRPr b="1" dirty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036695" y="3270885"/>
            <a:ext cx="4991100" cy="4102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版式、配色、字号与对比校核，图表重绘与统一</a:t>
            </a:r>
            <a:endParaRPr b="0" dirty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443085" y="3275330"/>
            <a:ext cx="2030730" cy="3486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6000"/>
              </a:lnSpc>
            </a:pPr>
            <a:r>
              <a:rPr lang="zh-CN" altLang="en-US" dirty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熊小强、李行</a:t>
            </a:r>
            <a:endParaRPr lang="zh-CN" altLang="en-US" dirty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32687" y="4111316"/>
            <a:ext cx="550949" cy="316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17904" y="4167610"/>
            <a:ext cx="1415011" cy="42041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逐字稿与计时</a:t>
            </a:r>
            <a:endParaRPr b="1" dirty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027170" y="4137660"/>
            <a:ext cx="4802505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撰写逐字稿，排练计时，控场与超时预案</a:t>
            </a:r>
            <a:endParaRPr b="0" dirty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464675" y="4169410"/>
            <a:ext cx="1889760" cy="3486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6000"/>
              </a:lnSpc>
            </a:pPr>
            <a:r>
              <a:rPr lang="zh-CN" altLang="en-US" dirty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张陈宇、黄喆</a:t>
            </a:r>
            <a:endParaRPr lang="zh-CN" altLang="en-US" dirty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94500" y="4754880"/>
            <a:ext cx="10872660" cy="834072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7" y="4970852"/>
            <a:ext cx="550949" cy="316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E6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b="1">
              <a:solidFill>
                <a:srgbClr val="0E6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470558" y="4986131"/>
            <a:ext cx="1889961" cy="41080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1B24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现场汇报与材料</a:t>
            </a:r>
            <a:endParaRPr b="1" dirty="0">
              <a:solidFill>
                <a:srgbClr val="1B24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027270" y="4934868"/>
            <a:ext cx="1612368" cy="41080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主讲与答疑</a:t>
            </a:r>
            <a:endParaRPr b="0" dirty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464675" y="4970780"/>
            <a:ext cx="1299210" cy="3486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6000"/>
              </a:lnSpc>
            </a:pPr>
            <a:r>
              <a:rPr lang="zh-CN" altLang="en-US" dirty="0">
                <a:solidFill>
                  <a:srgbClr val="5561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刘涛</a:t>
            </a:r>
            <a:endParaRPr lang="zh-CN" altLang="en-US" dirty="0">
              <a:solidFill>
                <a:srgbClr val="5561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3.28000000000003,&quot;left&quot;:51.839999999999996,&quot;top&quot;:108,&quot;width&quot;:855.36}"/>
</p:tagLst>
</file>

<file path=ppt/tags/tag2.xml><?xml version="1.0" encoding="utf-8"?>
<p:tagLst xmlns:p="http://schemas.openxmlformats.org/presentationml/2006/main">
  <p:tag name="KSO_WM_DIAGRAM_VIRTUALLY_FRAME" val="{&quot;height&quot;:233.28000000000003,&quot;left&quot;:51.839999999999996,&quot;top&quot;:108,&quot;width&quot;:855.36}"/>
</p:tagLst>
</file>

<file path=ppt/tags/tag3.xml><?xml version="1.0" encoding="utf-8"?>
<p:tagLst xmlns:p="http://schemas.openxmlformats.org/presentationml/2006/main">
  <p:tag name="KSO_WM_DIAGRAM_VIRTUALLY_FRAME" val="{&quot;height&quot;:233.28000000000003,&quot;left&quot;:51.839999999999996,&quot;top&quot;:108,&quot;width&quot;:855.36}"/>
</p:tagLst>
</file>

<file path=ppt/tags/tag4.xml><?xml version="1.0" encoding="utf-8"?>
<p:tagLst xmlns:p="http://schemas.openxmlformats.org/presentationml/2006/main">
  <p:tag name="KSO_WM_DIAGRAM_VIRTUALLY_FRAME" val="{&quot;height&quot;:233.28000000000003,&quot;left&quot;:51.839999999999996,&quot;top&quot;:108,&quot;width&quot;:855.36}"/>
</p:tagLst>
</file>

<file path=ppt/tags/tag5.xml><?xml version="1.0" encoding="utf-8"?>
<p:tagLst xmlns:p="http://schemas.openxmlformats.org/presentationml/2006/main">
  <p:tag name="KSO_WM_DIAGRAM_VIRTUALLY_FRAME" val="{&quot;height&quot;:233.28000000000003,&quot;left&quot;:51.839999999999996,&quot;top&quot;:108,&quot;width&quot;:855.36}"/>
</p:tagLst>
</file>

<file path=ppt/tags/tag6.xml><?xml version="1.0" encoding="utf-8"?>
<p:tagLst xmlns:p="http://schemas.openxmlformats.org/presentationml/2006/main">
  <p:tag name="KSO_WM_DIAGRAM_VIRTUALLY_FRAME" val="{&quot;height&quot;:233.28000000000003,&quot;left&quot;:51.839999999999996,&quot;top&quot;:108,&quot;width&quot;:855.36}"/>
</p:tagLst>
</file>

<file path=ppt/tags/tag7.xml><?xml version="1.0" encoding="utf-8"?>
<p:tagLst xmlns:p="http://schemas.openxmlformats.org/presentationml/2006/main">
  <p:tag name="KSO_WM_DIAGRAM_VIRTUALLY_FRAME" val="{&quot;height&quot;:233.28000000000003,&quot;left&quot;:51.839999999999996,&quot;top&quot;:108,&quot;width&quot;:855.36}"/>
</p:tagLst>
</file>

<file path=ppt/tags/tag8.xml><?xml version="1.0" encoding="utf-8"?>
<p:tagLst xmlns:p="http://schemas.openxmlformats.org/presentationml/2006/main">
  <p:tag name="KSO_WM_DIAGRAM_VIRTUALLY_FRAME" val="{&quot;height&quot;:233.28000000000003,&quot;left&quot;:51.839999999999996,&quot;top&quot;:108,&quot;width&quot;:855.36}"/>
</p:tagLst>
</file>

<file path=ppt/tags/tag9.xml><?xml version="1.0" encoding="utf-8"?>
<p:tagLst xmlns:p="http://schemas.openxmlformats.org/presentationml/2006/main">
  <p:tag name="KSO_WM_DIAGRAM_VIRTUALLY_FRAME" val="{&quot;height&quot;:233.28000000000003,&quot;left&quot;:51.839999999999996,&quot;top&quot;:108,&quot;width&quot;:855.36}"/>
</p:tagLst>
</file>

<file path=ppt/tags/tag10.xml><?xml version="1.0" encoding="utf-8"?>
<p:tagLst xmlns:p="http://schemas.openxmlformats.org/presentationml/2006/main">
  <p:tag name="KSO_WM_DIAGRAM_VIRTUALLY_FRAME" val="{&quot;height&quot;:233.28000000000003,&quot;left&quot;:51.839999999999996,&quot;top&quot;:108,&quot;width&quot;:855.36}"/>
</p:tagLst>
</file>

<file path=ppt/tags/tag11.xml><?xml version="1.0" encoding="utf-8"?>
<p:tagLst xmlns:p="http://schemas.openxmlformats.org/presentationml/2006/main">
  <p:tag name="KSO_WM_DIAGRAM_VIRTUALLY_FRAME" val="{&quot;height&quot;:233.28000000000003,&quot;left&quot;:51.839999999999996,&quot;top&quot;:108,&quot;width&quot;:855.36}"/>
</p:tagLst>
</file>

<file path=ppt/tags/tag12.xml><?xml version="1.0" encoding="utf-8"?>
<p:tagLst xmlns:p="http://schemas.openxmlformats.org/presentationml/2006/main">
  <p:tag name="KSO_WM_DIAGRAM_VIRTUALLY_FRAME" val="{&quot;height&quot;:233.28000000000003,&quot;left&quot;:51.839999999999996,&quot;top&quot;:108,&quot;width&quot;:855.36}"/>
</p:tagLst>
</file>

<file path=ppt/tags/tag13.xml><?xml version="1.0" encoding="utf-8"?>
<p:tagLst xmlns:p="http://schemas.openxmlformats.org/presentationml/2006/main">
  <p:tag name="KSO_WM_DIAGRAM_VIRTUALLY_FRAME" val="{&quot;height&quot;:233.28000000000003,&quot;left&quot;:51.839999999999996,&quot;top&quot;:108,&quot;width&quot;:855.36}"/>
</p:tagLst>
</file>

<file path=ppt/tags/tag14.xml><?xml version="1.0" encoding="utf-8"?>
<p:tagLst xmlns:p="http://schemas.openxmlformats.org/presentationml/2006/main">
  <p:tag name="KSO_WM_DIAGRAM_VIRTUALLY_FRAME" val="{&quot;height&quot;:233.28000000000003,&quot;left&quot;:51.839999999999996,&quot;top&quot;:108,&quot;width&quot;:855.36}"/>
</p:tagLst>
</file>

<file path=ppt/tags/tag15.xml><?xml version="1.0" encoding="utf-8"?>
<p:tagLst xmlns:p="http://schemas.openxmlformats.org/presentationml/2006/main">
  <p:tag name="KSO_WM_DIAGRAM_VIRTUALLY_FRAME" val="{&quot;height&quot;:233.28000000000003,&quot;left&quot;:51.839999999999996,&quot;top&quot;:108,&quot;width&quot;:855.36}"/>
</p:tagLst>
</file>

<file path=ppt/tags/tag16.xml><?xml version="1.0" encoding="utf-8"?>
<p:tagLst xmlns:p="http://schemas.openxmlformats.org/presentationml/2006/main">
  <p:tag name="KSO_WM_DIAGRAM_VIRTUALLY_FRAME" val="{&quot;height&quot;:367.21000000000004,&quot;left&quot;:38.889999999999986,&quot;top&quot;:108,&quot;width&quot;:868.3100000000001}"/>
</p:tagLst>
</file>

<file path=ppt/tags/tag17.xml><?xml version="1.0" encoding="utf-8"?>
<p:tagLst xmlns:p="http://schemas.openxmlformats.org/presentationml/2006/main">
  <p:tag name="KSO_WM_DIAGRAM_VIRTUALLY_FRAME" val="{&quot;height&quot;:367.21000000000004,&quot;left&quot;:38.889999999999986,&quot;top&quot;:108,&quot;width&quot;:868.3100000000001}"/>
</p:tagLst>
</file>

<file path=ppt/tags/tag18.xml><?xml version="1.0" encoding="utf-8"?>
<p:tagLst xmlns:p="http://schemas.openxmlformats.org/presentationml/2006/main">
  <p:tag name="KSO_WM_DIAGRAM_VIRTUALLY_FRAME" val="{&quot;height&quot;:367.21000000000004,&quot;left&quot;:38.889999999999986,&quot;top&quot;:108,&quot;width&quot;:868.3100000000001}"/>
</p:tagLst>
</file>

<file path=ppt/tags/tag19.xml><?xml version="1.0" encoding="utf-8"?>
<p:tagLst xmlns:p="http://schemas.openxmlformats.org/presentationml/2006/main">
  <p:tag name="KSO_WM_DIAGRAM_VIRTUALLY_FRAME" val="{&quot;height&quot;:367.21000000000004,&quot;left&quot;:38.889999999999986,&quot;top&quot;:108,&quot;width&quot;:868.3100000000001}"/>
</p:tagLst>
</file>

<file path=ppt/tags/tag20.xml><?xml version="1.0" encoding="utf-8"?>
<p:tagLst xmlns:p="http://schemas.openxmlformats.org/presentationml/2006/main">
  <p:tag name="KSO_WM_DIAGRAM_VIRTUALLY_FRAME" val="{&quot;height&quot;:367.21000000000004,&quot;left&quot;:38.889999999999986,&quot;top&quot;:108,&quot;width&quot;:868.3100000000001}"/>
</p:tagLst>
</file>

<file path=ppt/tags/tag21.xml><?xml version="1.0" encoding="utf-8"?>
<p:tagLst xmlns:p="http://schemas.openxmlformats.org/presentationml/2006/main">
  <p:tag name="KSO_WM_DIAGRAM_VIRTUALLY_FRAME" val="{&quot;height&quot;:367.21000000000004,&quot;left&quot;:38.889999999999986,&quot;top&quot;:108,&quot;width&quot;:868.3100000000001}"/>
</p:tagLst>
</file>

<file path=ppt/tags/tag22.xml><?xml version="1.0" encoding="utf-8"?>
<p:tagLst xmlns:p="http://schemas.openxmlformats.org/presentationml/2006/main">
  <p:tag name="KSO_WM_DIAGRAM_VIRTUALLY_FRAME" val="{&quot;height&quot;:367.21000000000004,&quot;left&quot;:38.889999999999986,&quot;top&quot;:108,&quot;width&quot;:868.3100000000001}"/>
</p:tagLst>
</file>

<file path=ppt/tags/tag23.xml><?xml version="1.0" encoding="utf-8"?>
<p:tagLst xmlns:p="http://schemas.openxmlformats.org/presentationml/2006/main">
  <p:tag name="KSO_WM_DIAGRAM_VIRTUALLY_FRAME" val="{&quot;height&quot;:367.21000000000004,&quot;left&quot;:38.889999999999986,&quot;top&quot;:108,&quot;width&quot;:868.3100000000001}"/>
</p:tagLst>
</file>

<file path=ppt/tags/tag24.xml><?xml version="1.0" encoding="utf-8"?>
<p:tagLst xmlns:p="http://schemas.openxmlformats.org/presentationml/2006/main">
  <p:tag name="KSO_WM_DIAGRAM_VIRTUALLY_FRAME" val="{&quot;height&quot;:367.21000000000004,&quot;left&quot;:38.889999999999986,&quot;top&quot;:108,&quot;width&quot;:868.3100000000001}"/>
</p:tagLst>
</file>

<file path=ppt/tags/tag25.xml><?xml version="1.0" encoding="utf-8"?>
<p:tagLst xmlns:p="http://schemas.openxmlformats.org/presentationml/2006/main">
  <p:tag name="KSO_WM_DIAGRAM_VIRTUALLY_FRAME" val="{&quot;height&quot;:367.21000000000004,&quot;left&quot;:38.889999999999986,&quot;top&quot;:108,&quot;width&quot;:868.3100000000001}"/>
</p:tagLst>
</file>

<file path=ppt/tags/tag26.xml><?xml version="1.0" encoding="utf-8"?>
<p:tagLst xmlns:p="http://schemas.openxmlformats.org/presentationml/2006/main">
  <p:tag name="KSO_WM_DIAGRAM_VIRTUALLY_FRAME" val="{&quot;height&quot;:367.21000000000004,&quot;left&quot;:38.889999999999986,&quot;top&quot;:108,&quot;width&quot;:868.3100000000001}"/>
</p:tagLst>
</file>

<file path=ppt/tags/tag27.xml><?xml version="1.0" encoding="utf-8"?>
<p:tagLst xmlns:p="http://schemas.openxmlformats.org/presentationml/2006/main">
  <p:tag name="KSO_WM_DIAGRAM_VIRTUALLY_FRAME" val="{&quot;height&quot;:367.21000000000004,&quot;left&quot;:38.889999999999986,&quot;top&quot;:108,&quot;width&quot;:868.3100000000001}"/>
</p:tagLst>
</file>

<file path=ppt/tags/tag28.xml><?xml version="1.0" encoding="utf-8"?>
<p:tagLst xmlns:p="http://schemas.openxmlformats.org/presentationml/2006/main">
  <p:tag name="KSO_WM_DIAGRAM_VIRTUALLY_FRAME" val="{&quot;height&quot;:367.21000000000004,&quot;left&quot;:38.889999999999986,&quot;top&quot;:108,&quot;width&quot;:868.3100000000001}"/>
</p:tagLst>
</file>

<file path=ppt/tags/tag29.xml><?xml version="1.0" encoding="utf-8"?>
<p:tagLst xmlns:p="http://schemas.openxmlformats.org/presentationml/2006/main">
  <p:tag name="KSO_WM_DIAGRAM_VIRTUALLY_FRAME" val="{&quot;height&quot;:367.21000000000004,&quot;left&quot;:38.889999999999986,&quot;top&quot;:108,&quot;width&quot;:868.3100000000001}"/>
</p:tagLst>
</file>

<file path=ppt/tags/tag30.xml><?xml version="1.0" encoding="utf-8"?>
<p:tagLst xmlns:p="http://schemas.openxmlformats.org/presentationml/2006/main">
  <p:tag name="KSO_WM_DIAGRAM_VIRTUALLY_FRAME" val="{&quot;height&quot;:367.21000000000004,&quot;left&quot;:38.889999999999986,&quot;top&quot;:108,&quot;width&quot;:868.3100000000001}"/>
</p:tagLst>
</file>

<file path=ppt/tags/tag31.xml><?xml version="1.0" encoding="utf-8"?>
<p:tagLst xmlns:p="http://schemas.openxmlformats.org/presentationml/2006/main">
  <p:tag name="KSO_WM_DIAGRAM_VIRTUALLY_FRAME" val="{&quot;height&quot;:367.21000000000004,&quot;left&quot;:38.889999999999986,&quot;top&quot;:108,&quot;width&quot;:868.3100000000001}"/>
</p:tagLst>
</file>

<file path=ppt/tags/tag32.xml><?xml version="1.0" encoding="utf-8"?>
<p:tagLst xmlns:p="http://schemas.openxmlformats.org/presentationml/2006/main">
  <p:tag name="KSO_WM_DIAGRAM_VIRTUALLY_FRAME" val="{&quot;height&quot;:135.35999999999999,&quot;left&quot;:51.839999999999996,&quot;top&quot;:144,&quot;width&quot;:878.4}"/>
</p:tagLst>
</file>

<file path=ppt/tags/tag33.xml><?xml version="1.0" encoding="utf-8"?>
<p:tagLst xmlns:p="http://schemas.openxmlformats.org/presentationml/2006/main">
  <p:tag name="KSO_WM_DIAGRAM_VIRTUALLY_FRAME" val="{&quot;height&quot;:135.35999999999999,&quot;left&quot;:51.839999999999996,&quot;top&quot;:144,&quot;width&quot;:878.4}"/>
</p:tagLst>
</file>

<file path=ppt/tags/tag34.xml><?xml version="1.0" encoding="utf-8"?>
<p:tagLst xmlns:p="http://schemas.openxmlformats.org/presentationml/2006/main">
  <p:tag name="KSO_WM_DIAGRAM_VIRTUALLY_FRAME" val="{&quot;height&quot;:135.35999999999999,&quot;left&quot;:51.839999999999996,&quot;top&quot;:144,&quot;width&quot;:878.4}"/>
</p:tagLst>
</file>

<file path=ppt/tags/tag35.xml><?xml version="1.0" encoding="utf-8"?>
<p:tagLst xmlns:p="http://schemas.openxmlformats.org/presentationml/2006/main">
  <p:tag name="KSO_WM_DIAGRAM_VIRTUALLY_FRAME" val="{&quot;height&quot;:135.35999999999999,&quot;left&quot;:51.839999999999996,&quot;top&quot;:144,&quot;width&quot;:878.4}"/>
</p:tagLst>
</file>

<file path=ppt/tags/tag36.xml><?xml version="1.0" encoding="utf-8"?>
<p:tagLst xmlns:p="http://schemas.openxmlformats.org/presentationml/2006/main">
  <p:tag name="KSO_WM_DIAGRAM_VIRTUALLY_FRAME" val="{&quot;height&quot;:135.35999999999999,&quot;left&quot;:51.839999999999996,&quot;top&quot;:144,&quot;width&quot;:878.4}"/>
</p:tagLst>
</file>

<file path=ppt/tags/tag37.xml><?xml version="1.0" encoding="utf-8"?>
<p:tagLst xmlns:p="http://schemas.openxmlformats.org/presentationml/2006/main">
  <p:tag name="KSO_WM_DIAGRAM_VIRTUALLY_FRAME" val="{&quot;height&quot;:135.35999999999999,&quot;left&quot;:51.839999999999996,&quot;top&quot;:144,&quot;width&quot;:878.4}"/>
</p:tagLst>
</file>

<file path=ppt/tags/tag38.xml><?xml version="1.0" encoding="utf-8"?>
<p:tagLst xmlns:p="http://schemas.openxmlformats.org/presentationml/2006/main">
  <p:tag name="KSO_WM_DIAGRAM_VIRTUALLY_FRAME" val="{&quot;height&quot;:135.35999999999999,&quot;left&quot;:51.839999999999996,&quot;top&quot;:144,&quot;width&quot;:878.4}"/>
</p:tagLst>
</file>

<file path=ppt/tags/tag39.xml><?xml version="1.0" encoding="utf-8"?>
<p:tagLst xmlns:p="http://schemas.openxmlformats.org/presentationml/2006/main">
  <p:tag name="KSO_WM_DIAGRAM_VIRTUALLY_FRAME" val="{&quot;height&quot;:135.35999999999999,&quot;left&quot;:51.839999999999996,&quot;top&quot;:144,&quot;width&quot;:878.4}"/>
</p:tagLst>
</file>

<file path=ppt/tags/tag40.xml><?xml version="1.0" encoding="utf-8"?>
<p:tagLst xmlns:p="http://schemas.openxmlformats.org/presentationml/2006/main">
  <p:tag name="KSO_WM_DIAGRAM_VIRTUALLY_FRAME" val="{&quot;height&quot;:135.35999999999999,&quot;left&quot;:51.839999999999996,&quot;top&quot;:144,&quot;width&quot;:878.4}"/>
</p:tagLst>
</file>

<file path=ppt/tags/tag41.xml><?xml version="1.0" encoding="utf-8"?>
<p:tagLst xmlns:p="http://schemas.openxmlformats.org/presentationml/2006/main">
  <p:tag name="KSO_WM_DIAGRAM_VIRTUALLY_FRAME" val="{&quot;height&quot;:135.35999999999999,&quot;left&quot;:51.839999999999996,&quot;top&quot;:144,&quot;width&quot;:878.4}"/>
</p:tagLst>
</file>

<file path=ppt/tags/tag42.xml><?xml version="1.0" encoding="utf-8"?>
<p:tagLst xmlns:p="http://schemas.openxmlformats.org/presentationml/2006/main">
  <p:tag name="KSO_WM_DIAGRAM_VIRTUALLY_FRAME" val="{&quot;height&quot;:135.35999999999999,&quot;left&quot;:51.839999999999996,&quot;top&quot;:144,&quot;width&quot;:878.4}"/>
</p:tagLst>
</file>

<file path=ppt/tags/tag43.xml><?xml version="1.0" encoding="utf-8"?>
<p:tagLst xmlns:p="http://schemas.openxmlformats.org/presentationml/2006/main">
  <p:tag name="KSO_WM_DIAGRAM_VIRTUALLY_FRAME" val="{&quot;height&quot;:135.35999999999999,&quot;left&quot;:51.839999999999996,&quot;top&quot;:144,&quot;width&quot;:878.4}"/>
</p:tagLst>
</file>

<file path=ppt/tags/tag44.xml><?xml version="1.0" encoding="utf-8"?>
<p:tagLst xmlns:p="http://schemas.openxmlformats.org/presentationml/2006/main">
  <p:tag name="KSO_WM_DIAGRAM_VIRTUALLY_FRAME" val="{&quot;height&quot;:135.35999999999999,&quot;left&quot;:51.839999999999996,&quot;top&quot;:144,&quot;width&quot;:878.4}"/>
</p:tagLst>
</file>

<file path=ppt/tags/tag45.xml><?xml version="1.0" encoding="utf-8"?>
<p:tagLst xmlns:p="http://schemas.openxmlformats.org/presentationml/2006/main">
  <p:tag name="KSO_WM_DIAGRAM_VIRTUALLY_FRAME" val="{&quot;height&quot;:135.35999999999999,&quot;left&quot;:51.839999999999996,&quot;top&quot;:144,&quot;width&quot;:878.4}"/>
</p:tagLst>
</file>

<file path=ppt/tags/tag46.xml><?xml version="1.0" encoding="utf-8"?>
<p:tagLst xmlns:p="http://schemas.openxmlformats.org/presentationml/2006/main">
  <p:tag name="KSO_WM_DIAGRAM_VIRTUALLY_FRAME" val="{&quot;height&quot;:135.35999999999999,&quot;left&quot;:51.839999999999996,&quot;top&quot;:144,&quot;width&quot;:878.4}"/>
</p:tagLst>
</file>

<file path=ppt/tags/tag47.xml><?xml version="1.0" encoding="utf-8"?>
<p:tagLst xmlns:p="http://schemas.openxmlformats.org/presentationml/2006/main">
  <p:tag name="KSO_WM_DIAGRAM_VIRTUALLY_FRAME" val="{&quot;height&quot;:135.35999999999999,&quot;left&quot;:51.839999999999996,&quot;top&quot;:144,&quot;width&quot;:878.4}"/>
</p:tagLst>
</file>

<file path=ppt/tags/tag48.xml><?xml version="1.0" encoding="utf-8"?>
<p:tagLst xmlns:p="http://schemas.openxmlformats.org/presentationml/2006/main">
  <p:tag name="KSO_WM_DIAGRAM_VIRTUALLY_FRAME" val="{&quot;height&quot;:135.35999999999999,&quot;left&quot;:51.839999999999996,&quot;top&quot;:144,&quot;width&quot;:878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3908</Words>
  <Application>WPS 演示</Application>
  <PresentationFormat>宽屏</PresentationFormat>
  <Paragraphs>513</Paragraphs>
  <Slides>14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遛汗堡包桃</cp:lastModifiedBy>
  <cp:revision>11</cp:revision>
  <dcterms:created xsi:type="dcterms:W3CDTF">2013-01-27T09:14:00Z</dcterms:created>
  <dcterms:modified xsi:type="dcterms:W3CDTF">2026-10-19T11:11:00Z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965751DE73A04F05B91D758ACFC44AA9_12</vt:lpwstr>
  </property>
</Properties>
</file>