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1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1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一圈五步，每轮都一样：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endParaRPr sz="12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①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用户消息到达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Runner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  <a:endParaRPr lang="en-US" sz="12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②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Runner </a:t>
            </a:r>
            <a:r>
              <a:rPr lang="en-US" sz="1200" b="0" i="0" u="none" strike="noStrike">
                <a:solidFill>
                  <a:srgbClr val="000000"/>
                </a:solidFill>
              </a:rPr>
              <a:t>拿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SessionService </a:t>
            </a:r>
            <a:r>
              <a:rPr lang="en-US" sz="1200" b="0" i="0" u="none" strike="noStrike">
                <a:solidFill>
                  <a:srgbClr val="000000"/>
                </a:solidFill>
              </a:rPr>
              <a:t>取当前会话；没有就按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app / user / session id </a:t>
            </a:r>
            <a:r>
              <a:rPr lang="en-US" sz="1200" b="0" i="0" u="none" strike="noStrike">
                <a:solidFill>
                  <a:srgbClr val="000000"/>
                </a:solidFill>
              </a:rPr>
              <a:t>新建一个。</a:t>
            </a:r>
            <a:endParaRPr lang="en-US" sz="12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③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Agent </a:t>
            </a:r>
            <a:r>
              <a:rPr lang="en-US" sz="1200" b="0" i="0" u="none" strike="noStrike">
                <a:solidFill>
                  <a:srgbClr val="000000"/>
                </a:solidFill>
              </a:rPr>
              <a:t>拿到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state </a:t>
            </a:r>
            <a:r>
              <a:rPr lang="en-US" sz="1200" b="0" i="0" u="none" strike="noStrike">
                <a:solidFill>
                  <a:srgbClr val="000000"/>
                </a:solidFill>
              </a:rPr>
              <a:t>和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events</a:t>
            </a:r>
            <a:r>
              <a:rPr lang="en-US" sz="1200" b="0" i="0" u="none" strike="noStrike">
                <a:solidFill>
                  <a:srgbClr val="000000"/>
                </a:solidFill>
              </a:rPr>
              <a:t>（历史消息），据此推理、决定回复或调工具。</a:t>
            </a:r>
            <a:endParaRPr lang="en-US" sz="12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④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产出回复；如果这一轮改了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state</a:t>
            </a:r>
            <a:r>
              <a:rPr lang="en-US" sz="1200" b="0" i="0" u="none" strike="noStrike">
                <a:solidFill>
                  <a:srgbClr val="000000"/>
                </a:solidFill>
              </a:rPr>
              <a:t>，改动先挂在这条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event </a:t>
            </a:r>
            <a:r>
              <a:rPr lang="en-US" sz="1200" b="0" i="0" u="none" strike="noStrike">
                <a:solidFill>
                  <a:srgbClr val="000000"/>
                </a:solidFill>
              </a:rPr>
              <a:t>的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actions.state_delta </a:t>
            </a:r>
            <a:r>
              <a:rPr lang="en-US" sz="1200" b="0" i="0" u="none" strike="noStrike">
                <a:solidFill>
                  <a:srgbClr val="000000"/>
                </a:solidFill>
              </a:rPr>
              <a:t>上。</a:t>
            </a:r>
            <a:endParaRPr lang="en-US" sz="12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⑤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Runner </a:t>
            </a:r>
            <a:r>
              <a:rPr lang="en-US" sz="1200" b="0" i="0" u="none" strike="noStrike">
                <a:solidFill>
                  <a:srgbClr val="000000"/>
                </a:solidFill>
              </a:rPr>
              <a:t>把结果封装成新的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Event</a:t>
            </a:r>
            <a:r>
              <a:rPr lang="en-US" sz="1200" b="0" i="0" u="none" strike="noStrike">
                <a:solidFill>
                  <a:srgbClr val="000000"/>
                </a:solidFill>
              </a:rPr>
              <a:t>，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session_service.append_event() </a:t>
            </a:r>
            <a:r>
              <a:rPr lang="en-US" sz="1200" b="0" i="0" u="none" strike="noStrike">
                <a:solidFill>
                  <a:srgbClr val="000000"/>
                </a:solidFill>
              </a:rPr>
              <a:t>把它追加进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session.events</a:t>
            </a:r>
            <a:r>
              <a:rPr lang="en-US" sz="1200" b="0" i="0" u="none" strike="noStrike">
                <a:solidFill>
                  <a:srgbClr val="000000"/>
                </a:solidFill>
              </a:rPr>
              <a:t>，同时把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state_delta </a:t>
            </a:r>
            <a:r>
              <a:rPr lang="en-US" sz="1200" b="0" i="0" u="none" strike="noStrike">
                <a:solidFill>
                  <a:srgbClr val="000000"/>
                </a:solidFill>
              </a:rPr>
              <a:t>应用到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session.state —— </a:t>
            </a:r>
            <a:r>
              <a:rPr lang="en-US" sz="1200" b="0" i="0" u="none" strike="noStrike">
                <a:solidFill>
                  <a:srgbClr val="000000"/>
                </a:solidFill>
              </a:rPr>
              <a:t>这才是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state </a:t>
            </a:r>
            <a:r>
              <a:rPr lang="en-US" sz="1200" b="0" i="0" u="none" strike="noStrike">
                <a:solidFill>
                  <a:srgbClr val="000000"/>
                </a:solidFill>
              </a:rPr>
              <a:t>真正变化的地方。</a:t>
            </a:r>
            <a:endParaRPr lang="en-US" sz="12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endParaRPr sz="12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然后回到 ①，等用户下一句。中间的 Session 是唯一被反复读写的对象。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【开场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20 </a:t>
            </a:r>
            <a:r>
              <a:rPr lang="en-US" sz="1200" b="0" i="0" u="none" strike="noStrike">
                <a:solidFill>
                  <a:srgbClr val="000000"/>
                </a:solidFill>
              </a:rPr>
              <a:t>秒】</a:t>
            </a:r>
            <a:endParaRPr lang="en-US" sz="12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大家好，这次第八章「记忆管理」由我来讲。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我这次的做法是先看论文说了什么，再自己动手把它跑一遍。所以这一场理论会讲得多一些，中间放两页论文里的代码，最后四页是我自己跑出来的真实结果。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用的模型是 DeepSeek，代码都在我本机上，随时可以复跑。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【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60 </a:t>
            </a:r>
            <a:r>
              <a:rPr lang="en-US" sz="1200" b="0" i="0" u="none" strike="noStrike">
                <a:solidFill>
                  <a:srgbClr val="000000"/>
                </a:solidFill>
              </a:rPr>
              <a:t>秒】先看两组我实际跑出来的输出。</a:t>
            </a:r>
            <a:endParaRPr lang="en-US" sz="12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左边这个：我先说「我叫 Sam，我下个月要去纽约」，它回得挺热情。然后我问「我的名字是什么」，它说「我无法知道你的名字，因为我们之前没有交流过」。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右边这个：同样两轮对话，它答的是「你的名字是 Sam」。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同一个模型、同一个问题，结果完全不一样。差别只有一个 —— 第二次调用的时候，我有没有把第一轮的内容一起发过去。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所以这里的结论不是「模型笨」，而是模型每次调用都是无状态的，它只能看到这一次我塞给它的那些字。记忆在工程上是我们的事，不是模型的事。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【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50 </a:t>
            </a:r>
            <a:r>
              <a:rPr lang="en-US" sz="1200" b="0" i="0" u="none" strike="noStrike">
                <a:solidFill>
                  <a:srgbClr val="000000"/>
                </a:solidFill>
              </a:rPr>
              <a:t>秒】这是我复现的第一个结果，也是后面每一张图的对照物。</a:t>
            </a:r>
            <a:endParaRPr lang="en-US" sz="12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第一轮我说「我叫 Sam，我下个月要去纽约」，它回得挺漂亮，还主动问要不要帮我规划行程。但第二轮我问名字，它就答不上来了。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这里有个认知我想强调一下：它不是「忘了」，它从来就不知道。因为第二轮那次请求里，根本没有第一轮的内容。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还有个挺讽刺的地方：第一轮它输出了 322 tokens，把纽约讲了一大段，看起来很有用，但这段对第二轮一点帮助都没有 —— 下一轮它照样看不到。而第二轮输入只有 12 tokens，因为请求里就一句提问。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【论文原图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· </a:t>
            </a:r>
            <a:r>
              <a:rPr lang="en-US" sz="1200" b="0" i="0" u="none" strike="noStrike">
                <a:solidFill>
                  <a:srgbClr val="000000"/>
                </a:solidFill>
              </a:rPr>
              <a:t>约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50 </a:t>
            </a:r>
            <a:r>
              <a:rPr lang="en-US" sz="1200" b="0" i="0" u="none" strike="noStrike">
                <a:solidFill>
                  <a:srgbClr val="000000"/>
                </a:solidFill>
              </a:rPr>
              <a:t>秒】</a:t>
            </a:r>
            <a:endParaRPr lang="en-US" sz="12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这是论文 p124 的原图，我把它重画成了矢量版，方便看清数据和流向。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请特别注意 Agent 和 Memory 之间是**双向箭头**：向外是「把这次的事实写进去」，向内是「把相关的历史读出来」。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这两条箭头，正好对应论文后面给出的两套 API：读这一侧，LangChain 是 checkpointer 自动把状态带回来；写这一侧，LangGraph 是 store.put。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另外一个细节：Memory 是画在 Agent 外部的，不在那个方框里。这在架构上是刻意的——记忆必须能跨会话存活，所以它不能活在 Agent 实例里，否则进程一重启就没了。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接下来我就按「写」和「读」这两条箭头，把三层实现讲完。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【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90 </a:t>
            </a:r>
            <a:r>
              <a:rPr lang="en-US" sz="1200" b="0" i="0" u="none" strike="noStrike">
                <a:solidFill>
                  <a:srgbClr val="000000"/>
                </a:solidFill>
              </a:rPr>
              <a:t>秒】这张表是整章的地基。</a:t>
            </a:r>
            <a:endParaRPr lang="en-US" sz="12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看第一行作用域：短期记忆的边界是一个会话，长期记忆的边界是一个用户，跨会话。这一条最重要，因为我后面设计实验就是拿它当标准的。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第二行载体：短期记忆其实就活在模型的上下文窗口里，本质是一串消息；长期记忆必须放到外面去，文件、数据库、向量库都行。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第三行取用方式：短期是整个拼进 prompt，长期是按需检索再注入。这就是为什么一说到长期记忆，基本都要扯上 embedding 和向量库。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第四行失效方式：短期会被撑爆，成本一直涨；长期的问题不是爆炸，是「存进去了但检索不到」。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后面每个实验，其实都是在验证这四条里的某一条。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【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60 </a:t>
            </a:r>
            <a:r>
              <a:rPr lang="en-US" sz="1200" b="0" i="0" u="none" strike="noStrike">
                <a:solidFill>
                  <a:srgbClr val="000000"/>
                </a:solidFill>
              </a:rPr>
              <a:t>秒】这一张跟上一张比，我只多做了一件事：把上一轮的内容拼进这一次的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prompt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  <a:endParaRPr lang="en-US" sz="12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结果它第二轮就答出了 Sam，还主动说「之前你提到过，我一直记得呢」。记忆是生效了。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但代价马上就出来了：第一轮输入 18 tokens，第二轮变成 354，涨了大概 20 倍。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我算了一下这 354 是怎么来的 —— 第一轮用户那句话，加上第一轮它自己那段 322 tokens 的长回答，再加上这次的提问。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所以我的体会是：它啰嗦，账是记在我头上的。让它少说点废话，本身就是在省钱。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【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60 </a:t>
            </a:r>
            <a:r>
              <a:rPr lang="en-US" sz="1200" b="0" i="0" u="none" strike="noStrike">
                <a:solidFill>
                  <a:srgbClr val="000000"/>
                </a:solidFill>
              </a:rPr>
              <a:t>秒】这一页是验证论文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p120 </a:t>
            </a:r>
            <a:r>
              <a:rPr lang="en-US" sz="1200" b="0" i="0" u="none" strike="noStrike">
                <a:solidFill>
                  <a:srgbClr val="000000"/>
                </a:solidFill>
              </a:rPr>
              <a:t>那段代码。</a:t>
            </a:r>
            <a:endParaRPr lang="en-US" sz="12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我用了 RunnableWithMessageHistory，它会在每次调用时自动读历史、塞进 MessagesPlaceholder，调用完再写回去。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看我输出里的第 [2] 和第 [3] 段：两次 invoke 我都没有传 history，但第二轮它还是答出了 Sam。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真正的证据在第 [4] 段 —— 我去检查了消息容器，里面确实有 4 条消息，两条我的、两条它的。而整个过程我一行 add_user_message 都没写。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所以跟实验 1 比，机制其实完全一样，区别只是原来我手动做的三步，现在框架帮我做了。这也是为什么下一步我只要改「存哪儿」，就能把它变成长期记忆。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【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60 </a:t>
            </a:r>
            <a:r>
              <a:rPr lang="en-US" sz="1200" b="0" i="0" u="none" strike="noStrike">
                <a:solidFill>
                  <a:srgbClr val="000000"/>
                </a:solidFill>
              </a:rPr>
              <a:t>秒】论文把长期记忆分成三类，我觉得这个分法挺实用的。</a:t>
            </a:r>
            <a:endParaRPr lang="en-US" sz="12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语义记忆记事实，比如用户是谁、喜欢什么；情景记忆记经历，就是上次那件事是怎么做成的，工程上常拿来做 few-shot 示例；程序性记忆记规则，也就是 agent 该怎么行动，论文还提到可以让模型反思之后改写自己的指令。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这里我要先交代一件事：我的实验 2 其实属于「回放型」—— 我把整段对话存下来了。它能召回事实，但方式是重放历史，不是把事实提炼出来。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这一点挺关键，因为后面你们会看到一个数字一直涨，原因就在这儿。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【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70 </a:t>
            </a:r>
            <a:r>
              <a:rPr lang="en-US" sz="1200" b="0" i="0" u="none" strike="noStrike">
                <a:solidFill>
                  <a:srgbClr val="000000"/>
                </a:solidFill>
              </a:rPr>
              <a:t>秒】前面三个实验有个共同点：记忆都在内存变量里，进程一关就没了，所以严格讲它们都只能算短期记忆。</a:t>
            </a:r>
            <a:endParaRPr lang="en-US" sz="12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这一个实验我把存储换成了文件。做法是继承 BaseChatMessageHistory，实现读和写两个动作，数据落到 memory.json。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验证方式很关键：我先跑 write 写进磁盘，然后真的把那个进程关掉，再开一个全新的进程跑 recall。两个进程之间除了那个 JSON 文件，什么都不共享。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结果是这里显示载入了 8 条历史，然后我问名字、饮食限制、下个月去哪，它答「Sam，素食，下个月去纽约」—— 三个信息全对。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不过注意 181 tokens，8 条历史是全塞进去的，这就是我刚才说的「回放型」的代价。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</a:rPr>
              <a:t>【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70 </a:t>
            </a:r>
            <a:r>
              <a:rPr lang="en-US" sz="1200" b="0" i="0" u="none" strike="noStrike">
                <a:solidFill>
                  <a:srgbClr val="000000"/>
                </a:solidFill>
              </a:rPr>
              <a:t>秒】把四个实验摆在一起，是一条挺清楚的链子。</a:t>
            </a:r>
            <a:endParaRPr lang="en-US" sz="12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第一个不带历史，输入 18 到 12，答不出来；第二个手动拼历史，花 354，答出来了；第三个交给框架，同进程内一样记得，容器里自动出现 4 条；第四个换成文件，载入 8 条，输入 181，三个事实都召回。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这里有个对比我觉得挺值得说：354 对 181。为什么手动拼的那个反而更贵？因为它只有 3 条消息，却带着一段 322 tokens 的长回答；而第四个的 8 条历史里，有两条的回答很短。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所以第一，成本看的是历史里有什么，不只是聊了多少轮。第二，「记得住」和「记得久」是两件事 —— 前三个都在内存里，一关就没了，只有落到文件或数据库，作用域才真的扩大到跨进程。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我想这就是论文为什么要分两层的理由。</a:t>
            </a:r>
            <a:endParaRPr lang="en-US" sz="12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7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>
              <a:lnSpc>
                <a:spcPct val="100000"/>
              </a:lnSpc>
              <a:defRPr sz="3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ct val="20000"/>
              </a:spcBef>
            </a:pPr>
            <a:r>
              <a:rPr lang="en-US" sz="3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subtitle style</a:t>
            </a:r>
            <a:endParaRPr lang="en-US" sz="3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8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10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02641194-AC8F-40F1-9A0A-16E8F0EEA79C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12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13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1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15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065AAAB-E8E1-45D9-B89F-620623255AE8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6" hasCustomPrompt="1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40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4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0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17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ct val="20000"/>
              </a:spcBef>
            </a:pPr>
            <a:r>
              <a:rPr lang="en-US" sz="20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0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18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1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20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86B52EB8-513F-41AF-9F75-DFB5846E45DD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22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698500" indent="-355600" algn="l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23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98500" indent="-355600" algn="l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2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>
            <p:ph type="body" sz="quarter" idx="25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26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F9C3BE2-52A3-44FD-8990-1FC2F6FA9B3E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7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28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29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30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31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3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8" name="AutoShape 8"/>
          <p:cNvSpPr/>
          <p:nvPr>
            <p:ph type="body" sz="quarter" idx="33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AutoShape 9"/>
          <p:cNvSpPr/>
          <p:nvPr>
            <p:ph type="body" sz="quarter" idx="34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98C3A465-2806-4568-8198-5E099CE3A756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5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36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4" name="AutoShape 4"/>
          <p:cNvSpPr/>
          <p:nvPr>
            <p:ph type="body" sz="quarter" idx="3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38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81F01C4B-079B-432C-AE3A-98C55FE58859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9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3" name="AutoShape 3"/>
          <p:cNvSpPr/>
          <p:nvPr>
            <p:ph type="body" sz="quarter" idx="40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41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46C1B8F3-DD6B-4FEC-8BAA-26B00B542D45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2" hasCustomPrompt="1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20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43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44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1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45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>
            <p:ph type="body" sz="quarter" idx="46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47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6CC92869-AC14-4DB3-836C-89573731F028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8" hasCustomPrompt="1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20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pic" sz="quarter" idx="49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50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1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5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>
            <p:ph type="body" sz="quarter" idx="5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53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00DE038-15B3-4F8C-9082-432DEDC7CDBD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4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5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56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5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58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6847029A-D45C-4756-8825-F4E4B50514FC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9" hasCustomPrompt="1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60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6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6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63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5B7A547-DFBC-4DEB-8E47-8B37B2FAA584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AutoShape 2"/>
          <p:cNvSpPr/>
          <p:nvPr>
            <p:ph type="body" sz="quarter" idx="2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749300" indent="-406400" algn="l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3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4" name="AutoShape 4"/>
          <p:cNvSpPr/>
          <p:nvPr>
            <p:ph type="body" sz="quarter" idx="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5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879AEB4-2C3F-400B-9A54-09EBCED20B66}" type="slidenum">
              <a:rPr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9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1F365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256032" cy="6858000"/>
          </a:xfrm>
          <a:prstGeom prst="roundRect">
            <a:avLst>
              <a:gd name="adj" fmla="val 0"/>
            </a:avLst>
          </a:prstGeom>
          <a:solidFill>
            <a:srgbClr val="35D0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1051560" y="1417320"/>
            <a:ext cx="9692640" cy="365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5D0B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AGENTIC DESIGN PATTERNS · 第八章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51560" y="1828800"/>
            <a:ext cx="100584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记忆管理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200"/>
              </a:spcBef>
            </a:pPr>
            <a:r>
              <a:rPr lang="en-US" sz="2200" b="0" i="0" u="none" strike="noStrike">
                <a:solidFill>
                  <a:srgbClr val="2EA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Memory Management</a:t>
            </a:r>
            <a:endParaRPr lang="en-US" sz="2200" b="0" i="0" u="none" strike="noStrike">
              <a:solidFill>
                <a:srgbClr val="2EA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51560" y="3401568"/>
            <a:ext cx="3840480" cy="41148"/>
          </a:xfrm>
          <a:prstGeom prst="roundRect">
            <a:avLst>
              <a:gd name="adj" fmla="val 0"/>
            </a:avLst>
          </a:prstGeom>
          <a:solidFill>
            <a:srgbClr val="F5A62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1051560" y="3703320"/>
            <a:ext cx="97028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defRPr/>
            </a:pPr>
            <a:r>
              <a:rPr lang="en-US" sz="1900" b="1" i="0" u="none" strike="noStrike">
                <a:solidFill>
                  <a:srgbClr val="D6E2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让智能体记住：短期上下文 × 长期知识库</a:t>
            </a:r>
            <a:endParaRPr lang="en-US" sz="1100"/>
          </a:p>
          <a:p>
            <a:pPr algn="l">
              <a:lnSpc>
                <a:spcPct val="125000"/>
              </a:lnSpc>
            </a:pPr>
          </a:p>
        </p:txBody>
      </p:sp>
      <p:sp>
        <p:nvSpPr>
          <p:cNvPr id="8" name="AutoShape 8"/>
          <p:cNvSpPr/>
          <p:nvPr/>
        </p:nvSpPr>
        <p:spPr>
          <a:xfrm>
            <a:off x="1051560" y="5074920"/>
            <a:ext cx="2514600" cy="457200"/>
          </a:xfrm>
          <a:prstGeom prst="roundRect">
            <a:avLst>
              <a:gd name="adj" fmla="val 25000"/>
            </a:avLst>
          </a:prstGeom>
          <a:solidFill>
            <a:srgbClr val="1B334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1124712" y="5074920"/>
            <a:ext cx="2368296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Session / State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703320" y="5074920"/>
            <a:ext cx="2880360" cy="457200"/>
          </a:xfrm>
          <a:prstGeom prst="roundRect">
            <a:avLst>
              <a:gd name="adj" fmla="val 25000"/>
            </a:avLst>
          </a:prstGeom>
          <a:solidFill>
            <a:srgbClr val="1B334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3776472" y="5074920"/>
            <a:ext cx="2734056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MemoryService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720840" y="5074920"/>
            <a:ext cx="3108960" cy="457200"/>
          </a:xfrm>
          <a:prstGeom prst="roundRect">
            <a:avLst>
              <a:gd name="adj" fmla="val 25000"/>
            </a:avLst>
          </a:prstGeom>
          <a:solidFill>
            <a:srgbClr val="1B334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6793992" y="5074920"/>
            <a:ext cx="2962656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Memory Bank 托管记忆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051560" y="5791200"/>
            <a:ext cx="969264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C74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来源：《Agentic Design Patterns》中文双语版 · 第 8 章（含 Google ADK / LangChain / LangGraph 代码示例）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950" b="0" i="0" u="none" strike="noStrike">
                <a:solidFill>
                  <a:srgbClr val="5C748E"/>
                </a:solidFill>
                <a:latin typeface="Songti SC"/>
                <a:ea typeface="Songti SC"/>
                <a:cs typeface="Songti SC"/>
                <a:sym typeface="Songti SC"/>
              </a:rPr>
              <a:t>第八章</a:t>
            </a:r>
            <a:r>
              <a:rPr lang="en-US" sz="950" b="0" i="0" u="none" strike="noStrike">
                <a:solidFill>
                  <a:srgbClr val="5C74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950" b="0" i="0" u="none" strike="noStrike">
                <a:solidFill>
                  <a:srgbClr val="5C748E"/>
                </a:solidFill>
                <a:latin typeface="Songti SC"/>
                <a:ea typeface="Songti SC"/>
                <a:cs typeface="Songti SC"/>
                <a:sym typeface="Songti SC"/>
              </a:rPr>
              <a:t>记忆管理</a:t>
            </a:r>
            <a:r>
              <a:rPr lang="en-US" sz="950" b="0" i="0" u="none" strike="noStrike">
                <a:solidFill>
                  <a:srgbClr val="5C74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| Agentic Design Patterns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66928" y="475488"/>
            <a:ext cx="82296" cy="566928"/>
          </a:xfrm>
          <a:prstGeom prst="roundRect">
            <a:avLst>
              <a:gd name="adj" fmla="val 0"/>
            </a:avLst>
          </a:prstGeom>
          <a:solidFill>
            <a:srgbClr val="2E6D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786384" y="402336"/>
            <a:ext cx="10607040" cy="365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1 · 问题定义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86384" y="658368"/>
            <a:ext cx="10881360" cy="5669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什么是智能体记忆？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786384" y="1207008"/>
            <a:ext cx="10881360" cy="38404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Agent memory：保留并利用过去「交互 / 观察 / 学习」信息的能力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66928" y="1700784"/>
            <a:ext cx="11064240" cy="18288"/>
          </a:xfrm>
          <a:prstGeom prst="roundRect">
            <a:avLst>
              <a:gd name="adj" fmla="val 0"/>
            </a:avLst>
          </a:prstGeom>
          <a:solidFill>
            <a:srgbClr val="D5DB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566928" y="1975104"/>
            <a:ext cx="5486400" cy="40233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spcAft>
                <a:spcPts val="1300"/>
              </a:spcAft>
              <a:defRPr/>
            </a:pPr>
            <a:r>
              <a:rPr lang="en-US" sz="150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</a:t>
            </a:r>
            <a:r>
              <a:rPr lang="en-US" sz="1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定义</a:t>
            </a:r>
            <a:r>
              <a:rPr lang="en-US" sz="15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：智能体留存并使用历史信息的能力，来自过去的对话、观察与学习经验。</a:t>
            </a:r>
            <a:endParaRPr lang="en-US" sz="1100"/>
          </a:p>
          <a:p>
            <a:pPr marL="0" indent="0" algn="l">
              <a:lnSpc>
                <a:spcPct val="125000"/>
              </a:lnSpc>
              <a:spcAft>
                <a:spcPts val="1300"/>
              </a:spcAft>
            </a:pPr>
            <a:r>
              <a:rPr lang="en-US" sz="150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</a:t>
            </a:r>
            <a:r>
              <a:rPr lang="en-US" sz="1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三个直接收益</a:t>
            </a:r>
            <a:r>
              <a:rPr lang="en-US" sz="15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：做出更有依据的决策、维持对话上下文、随时间持续改进。</a:t>
            </a:r>
            <a:endParaRPr lang="en-US" sz="1500" b="0" i="0" u="none" strike="noStrike">
              <a:solidFill>
                <a:srgbClr val="D6E2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  <a:spcAft>
                <a:spcPts val="1300"/>
              </a:spcAft>
            </a:pPr>
            <a:r>
              <a:rPr lang="en-US" sz="150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</a:t>
            </a:r>
            <a:r>
              <a:rPr lang="en-US" sz="1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反面</a:t>
            </a:r>
            <a:r>
              <a:rPr lang="en-US" sz="15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：没有记忆机制的智能体是</a:t>
            </a:r>
            <a:r>
              <a:rPr lang="en-US" sz="1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无状态</a:t>
            </a:r>
            <a:r>
              <a:rPr lang="en-US" sz="15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的——只能做一次性问答，无法跨轮引用、无法个性化、无法从失败中学习。</a:t>
            </a:r>
            <a:endParaRPr lang="en-US" sz="1500" b="0" i="0" u="none" strike="noStrike">
              <a:solidFill>
                <a:srgbClr val="D6E2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  <a:spcAft>
                <a:spcPts val="1300"/>
              </a:spcAft>
            </a:pPr>
            <a:r>
              <a:rPr lang="en-US" sz="150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</a:t>
            </a:r>
            <a:r>
              <a:rPr lang="en-US" sz="1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工程张力</a:t>
            </a:r>
            <a:r>
              <a:rPr lang="en-US" sz="15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：既要装下「当前这一轮的高频临时细节」，又要可靠地沉淀「跨会话的海量知识」。这两件事的存储介质、生命周期完全不同。</a:t>
            </a:r>
            <a:endParaRPr lang="en-US" sz="1500" b="0" i="0" u="none" strike="noStrike">
              <a:solidFill>
                <a:srgbClr val="D6E2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355080" y="1975104"/>
            <a:ext cx="5285232" cy="3977639"/>
          </a:xfrm>
          <a:prstGeom prst="roundRect">
            <a:avLst>
              <a:gd name="adj" fmla="val 4999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5080" y="1975104"/>
            <a:ext cx="5285232" cy="54864"/>
          </a:xfrm>
          <a:prstGeom prst="roundRect">
            <a:avLst>
              <a:gd name="adj" fmla="val 0"/>
            </a:avLst>
          </a:prstGeom>
          <a:solidFill>
            <a:srgbClr val="D96B1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6629400" y="2240280"/>
            <a:ext cx="4754880" cy="365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为什么不能只靠「记住更多」？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29400" y="2761488"/>
            <a:ext cx="45720" cy="566928"/>
          </a:xfrm>
          <a:prstGeom prst="roundRect">
            <a:avLst>
              <a:gd name="adj" fmla="val 0"/>
            </a:avLst>
          </a:prstGeom>
          <a:solidFill>
            <a:srgbClr val="D96B1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6839712" y="2743200"/>
            <a:ext cx="4572000" cy="2743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上下文窗口有限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839712" y="3008376"/>
            <a:ext cx="4617720" cy="4114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再长的窗口也是有限的；关键信息会被挤出。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29400" y="3511296"/>
            <a:ext cx="45720" cy="566928"/>
          </a:xfrm>
          <a:prstGeom prst="roundRect">
            <a:avLst>
              <a:gd name="adj" fmla="val 0"/>
            </a:avLst>
          </a:prstGeom>
          <a:solidFill>
            <a:srgbClr val="D96B1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6839712" y="3493008"/>
            <a:ext cx="4572000" cy="2743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窗口是易失的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6839712" y="3758183"/>
            <a:ext cx="4617720" cy="4114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会话一结束，窗口内容全部丢失。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29400" y="4261104"/>
            <a:ext cx="45720" cy="566928"/>
          </a:xfrm>
          <a:prstGeom prst="roundRect">
            <a:avLst>
              <a:gd name="adj" fmla="val 0"/>
            </a:avLst>
          </a:prstGeom>
          <a:solidFill>
            <a:srgbClr val="D96B1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6839712" y="4242816"/>
            <a:ext cx="4572000" cy="2743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全量重放很贵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6839712" y="4507992"/>
            <a:ext cx="4617720" cy="4114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每次把全部历史塞进提示词，成本与时延都高。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629400" y="5010912"/>
            <a:ext cx="45720" cy="566928"/>
          </a:xfrm>
          <a:prstGeom prst="roundRect">
            <a:avLst>
              <a:gd name="adj" fmla="val 0"/>
            </a:avLst>
          </a:prstGeom>
          <a:solidFill>
            <a:srgbClr val="D96B1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6839712" y="4992624"/>
            <a:ext cx="4572000" cy="2743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无法跨会话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6839712" y="5257800"/>
            <a:ext cx="4617720" cy="4114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多轮之外的用户偏好、历史工单需要外部存储。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第八章 记忆管理 | Agentic Design Patterns</a:t>
            </a:r>
            <a:endParaRPr lang="en-US" sz="1100"/>
          </a:p>
        </p:txBody>
      </p:sp>
      <p:sp>
        <p:nvSpPr>
          <p:cNvPr id="26" name="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365D"/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00000"/>
              </a:lnSpc>
              <a:defRPr/>
            </a:pPr>
            <a:endParaRPr lang="zh-CN" sz="1100"/>
          </a:p>
        </p:txBody>
      </p:sp>
      <p:sp>
        <p:nvSpPr>
          <p:cNvPr id="27" name="PageNumber"/>
          <p:cNvSpPr txBox="1"/>
          <p:nvPr/>
        </p:nvSpPr>
        <p:spPr>
          <a:xfrm>
            <a:off x="11430000" y="6388100"/>
            <a:ext cx="60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66928" y="475488"/>
            <a:ext cx="82296" cy="566928"/>
          </a:xfrm>
          <a:prstGeom prst="roundRect">
            <a:avLst>
              <a:gd name="adj" fmla="val 0"/>
            </a:avLst>
          </a:prstGeom>
          <a:solidFill>
            <a:srgbClr val="0E9AA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786384" y="402336"/>
            <a:ext cx="10607040" cy="365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1 · 短期记忆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86384" y="658368"/>
            <a:ext cx="10881360" cy="5669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短期记忆 = 上下文窗口（Contextual Memory）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786384" y="1207008"/>
            <a:ext cx="10881360" cy="38404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近似「工作记忆」，承载当前正在处理或刚接触的信息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66928" y="1700784"/>
            <a:ext cx="11064240" cy="18288"/>
          </a:xfrm>
          <a:prstGeom prst="roundRect">
            <a:avLst>
              <a:gd name="adj" fmla="val 0"/>
            </a:avLst>
          </a:prstGeom>
          <a:solidFill>
            <a:srgbClr val="D5DB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566928" y="2011680"/>
            <a:ext cx="5623560" cy="39319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spcAft>
                <a:spcPts val="1200"/>
              </a:spcAft>
              <a:defRPr/>
            </a:pPr>
            <a:r>
              <a:rPr lang="en-US" sz="145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</a:t>
            </a:r>
            <a:r>
              <a:rPr lang="en-US" sz="14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内容</a:t>
            </a:r>
            <a:r>
              <a:rPr lang="en-US" sz="14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：最近的用户消息、智能体回复、工具调用结果、当轮反思。</a:t>
            </a:r>
            <a:endParaRPr lang="en-US" sz="1100"/>
          </a:p>
          <a:p>
            <a:pPr marL="0" indent="0" algn="l">
              <a:lnSpc>
                <a:spcPct val="125000"/>
              </a:lnSpc>
              <a:spcAft>
                <a:spcPts val="1200"/>
              </a:spcAft>
            </a:pPr>
            <a:r>
              <a:rPr lang="en-US" sz="145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</a:t>
            </a:r>
            <a:r>
              <a:rPr lang="en-US" sz="14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作用</a:t>
            </a:r>
            <a:r>
              <a:rPr lang="en-US" sz="14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：直接决定 LLM 下一步的生成与行动。</a:t>
            </a:r>
            <a:endParaRPr lang="en-US" sz="1450" b="0" i="0" u="none" strike="noStrike">
              <a:solidFill>
                <a:srgbClr val="D6E2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  <a:spcAft>
                <a:spcPts val="1200"/>
              </a:spcAft>
            </a:pPr>
            <a:r>
              <a:rPr lang="en-US" sz="145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</a:t>
            </a:r>
            <a:r>
              <a:rPr lang="en-US" sz="14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约束</a:t>
            </a:r>
            <a:r>
              <a:rPr lang="en-US" sz="14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：容量有限，只放得下「最近的」信息。</a:t>
            </a:r>
            <a:endParaRPr lang="en-US" sz="1450" b="0" i="0" u="none" strike="noStrike">
              <a:solidFill>
                <a:srgbClr val="D6E2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  <a:spcAft>
                <a:spcPts val="1200"/>
              </a:spcAft>
            </a:pPr>
            <a:r>
              <a:rPr lang="en-US" sz="145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</a:t>
            </a:r>
            <a:r>
              <a:rPr lang="en-US" sz="14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管理手法</a:t>
            </a:r>
            <a:r>
              <a:rPr lang="en-US" sz="14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：对较早对话做摘要、突出关键事实、按相关性裁剪。</a:t>
            </a:r>
            <a:endParaRPr lang="en-US" sz="1450" b="0" i="0" u="none" strike="noStrike">
              <a:solidFill>
                <a:srgbClr val="D6E2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  <a:spcAft>
                <a:spcPts val="1200"/>
              </a:spcAft>
            </a:pPr>
            <a:r>
              <a:rPr lang="en-US" sz="145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</a:t>
            </a:r>
            <a:r>
              <a:rPr lang="en-US" sz="14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长上下文模型</a:t>
            </a:r>
            <a:r>
              <a:rPr lang="en-US" sz="14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：只是把工作区变大，</a:t>
            </a:r>
            <a:r>
              <a:rPr lang="en-US" sz="14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并没有解决持久化</a:t>
            </a:r>
            <a:r>
              <a:rPr lang="en-US" sz="14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，内容仍随会话结束清空，且每次全量处理成本高、效率差。</a:t>
            </a:r>
            <a:endParaRPr lang="en-US" sz="1450" b="0" i="0" u="none" strike="noStrike">
              <a:solidFill>
                <a:srgbClr val="D6E2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446520" y="2011680"/>
            <a:ext cx="5193792" cy="3931920"/>
          </a:xfrm>
          <a:prstGeom prst="roundRect">
            <a:avLst>
              <a:gd name="adj" fmla="val 4999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6693408" y="2212848"/>
            <a:ext cx="4663440" cy="3200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上下文窗口：有限的「工作台」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93408" y="2697480"/>
            <a:ext cx="4480560" cy="402336"/>
          </a:xfrm>
          <a:prstGeom prst="roundRect">
            <a:avLst>
              <a:gd name="adj" fmla="val 19999"/>
            </a:avLst>
          </a:prstGeom>
          <a:solidFill>
            <a:srgbClr val="0E9AA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6821424" y="2697480"/>
            <a:ext cx="4297680" cy="4023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最近 2 轮对话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93408" y="3227832"/>
            <a:ext cx="3977639" cy="402336"/>
          </a:xfrm>
          <a:prstGeom prst="roundRect">
            <a:avLst>
              <a:gd name="adj" fmla="val 19999"/>
            </a:avLst>
          </a:prstGeom>
          <a:solidFill>
            <a:srgbClr val="0E9AA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6821424" y="3227832"/>
            <a:ext cx="3794759" cy="4023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工具调用结果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93408" y="3758184"/>
            <a:ext cx="3474720" cy="402336"/>
          </a:xfrm>
          <a:prstGeom prst="roundRect">
            <a:avLst>
              <a:gd name="adj" fmla="val 19999"/>
            </a:avLst>
          </a:prstGeom>
          <a:solidFill>
            <a:srgbClr val="2E6D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6821424" y="3758184"/>
            <a:ext cx="3291839" cy="4023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当轮反思 summary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93408" y="4288536"/>
            <a:ext cx="2926080" cy="402336"/>
          </a:xfrm>
          <a:prstGeom prst="roundRect">
            <a:avLst>
              <a:gd name="adj" fmla="val 19999"/>
            </a:avLst>
          </a:prstGeom>
          <a:solidFill>
            <a:srgbClr val="4A6B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6821424" y="4288536"/>
            <a:ext cx="2743200" cy="4023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较早对话摘要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93408" y="4818888"/>
            <a:ext cx="2870200" cy="402336"/>
          </a:xfrm>
          <a:prstGeom prst="roundRect">
            <a:avLst>
              <a:gd name="adj" fmla="val 19999"/>
            </a:avLst>
          </a:prstGeom>
          <a:solidFill>
            <a:srgbClr val="C7D5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 txBox="1"/>
          <p:nvPr/>
        </p:nvSpPr>
        <p:spPr>
          <a:xfrm>
            <a:off x="6821424" y="4818888"/>
            <a:ext cx="2667000" cy="4023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更早的历史 …（被挤出）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6693408" y="5440680"/>
            <a:ext cx="470916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→ 窗口内的信息在下一次会话开始时归零：持久化必须交给外部存储。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第八章 记忆管理 | Agentic Design Patterns</a:t>
            </a:r>
            <a:endParaRPr lang="en-US" sz="1100"/>
          </a:p>
        </p:txBody>
      </p:sp>
      <p:sp>
        <p:nvSpPr>
          <p:cNvPr id="24" name="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365D"/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00000"/>
              </a:lnSpc>
              <a:defRPr/>
            </a:pPr>
            <a:endParaRPr lang="zh-CN" sz="1100"/>
          </a:p>
        </p:txBody>
      </p:sp>
      <p:sp>
        <p:nvSpPr>
          <p:cNvPr id="25" name="PageNumber"/>
          <p:cNvSpPr txBox="1"/>
          <p:nvPr/>
        </p:nvSpPr>
        <p:spPr>
          <a:xfrm>
            <a:off x="11430000" y="6388100"/>
            <a:ext cx="60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66928" y="475488"/>
            <a:ext cx="82296" cy="566928"/>
          </a:xfrm>
          <a:prstGeom prst="roundRect">
            <a:avLst>
              <a:gd name="adj" fmla="val 0"/>
            </a:avLst>
          </a:prstGeom>
          <a:solidFill>
            <a:srgbClr val="D96B1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786384" y="402336"/>
            <a:ext cx="10607040" cy="365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1 · 长期记忆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86384" y="658368"/>
            <a:ext cx="10881360" cy="5669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长期记忆 = 外部可检索的知识仓库（Persistent Memory）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786384" y="1207008"/>
            <a:ext cx="10881360" cy="38404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跨交互、跨任务、跨时间保留，角色上接近「长期知识库」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66928" y="1700784"/>
            <a:ext cx="11064240" cy="18288"/>
          </a:xfrm>
          <a:prstGeom prst="roundRect">
            <a:avLst>
              <a:gd name="adj" fmla="val 0"/>
            </a:avLst>
          </a:prstGeom>
          <a:solidFill>
            <a:srgbClr val="D5DB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66928" y="2011680"/>
            <a:ext cx="3611880" cy="2880360"/>
          </a:xfrm>
          <a:prstGeom prst="roundRect">
            <a:avLst>
              <a:gd name="adj" fmla="val 5999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66928" y="2011680"/>
            <a:ext cx="3611880" cy="50292"/>
          </a:xfrm>
          <a:prstGeom prst="roundRect">
            <a:avLst>
              <a:gd name="adj" fmla="val 0"/>
            </a:avLst>
          </a:prstGeom>
          <a:solidFill>
            <a:srgbClr val="2E6D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768096" y="2194560"/>
            <a:ext cx="3209544" cy="365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存哪里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768096" y="2615184"/>
            <a:ext cx="3209544" cy="214883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spcAft>
                <a:spcPts val="600"/>
              </a:spcAft>
              <a:defRPr/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数据库 / 文档库（结构化事实）</a:t>
            </a:r>
            <a:endParaRPr lang="en-US" sz="1100"/>
          </a:p>
          <a:p>
            <a:pPr marL="0" indent="0" algn="l">
              <a:lnSpc>
                <a:spcPct val="117000"/>
              </a:lnSpc>
              <a:spcAft>
                <a:spcPts val="600"/>
              </a:spcAft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知识图谱（关系与实体）</a:t>
            </a:r>
            <a:endParaRPr lang="en-US" sz="1250" b="0" i="0" u="none" strike="noStrike">
              <a:solidFill>
                <a:srgbClr val="9FB6C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  <a:spcAft>
                <a:spcPts val="600"/>
              </a:spcAft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向量数据库（语义检索）</a:t>
            </a:r>
            <a:endParaRPr lang="en-US" sz="1250" b="0" i="0" u="none" strike="noStrike">
              <a:solidFill>
                <a:srgbClr val="9FB6C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  <a:spcAft>
                <a:spcPts val="600"/>
              </a:spcAft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托管记忆服务（Memory Bank 等）</a:t>
            </a:r>
            <a:endParaRPr lang="en-US" sz="1250" b="0" i="0" u="none" strike="noStrike">
              <a:solidFill>
                <a:srgbClr val="9FB6C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325112" y="2011680"/>
            <a:ext cx="3611880" cy="2880360"/>
          </a:xfrm>
          <a:prstGeom prst="roundRect">
            <a:avLst>
              <a:gd name="adj" fmla="val 5999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325112" y="2011680"/>
            <a:ext cx="3611880" cy="50292"/>
          </a:xfrm>
          <a:prstGeom prst="roundRect">
            <a:avLst>
              <a:gd name="adj" fmla="val 0"/>
            </a:avLst>
          </a:prstGeom>
          <a:solidFill>
            <a:srgbClr val="0E9AA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4526280" y="2194560"/>
            <a:ext cx="3209544" cy="365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怎么取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4526280" y="2615184"/>
            <a:ext cx="3209544" cy="214883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spcAft>
                <a:spcPts val="600"/>
              </a:spcAft>
              <a:defRPr/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把文本编码为 </a:t>
            </a:r>
            <a:r>
              <a:rPr lang="en-US" sz="1250" b="1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embedding</a:t>
            </a: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向量</a:t>
            </a:r>
            <a:endParaRPr lang="en-US" sz="1100"/>
          </a:p>
          <a:p>
            <a:pPr marL="0" indent="0" algn="l">
              <a:lnSpc>
                <a:spcPct val="117000"/>
              </a:lnSpc>
              <a:spcAft>
                <a:spcPts val="600"/>
              </a:spcAft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按</a:t>
            </a:r>
            <a:r>
              <a:rPr lang="en-US" sz="1250" b="1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语义相似度</a:t>
            </a: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检索，而非仅关键词匹配</a:t>
            </a:r>
            <a:endParaRPr lang="en-US" sz="1250" b="0" i="0" u="none" strike="noStrike">
              <a:solidFill>
                <a:srgbClr val="9FB6C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  <a:spcAft>
                <a:spcPts val="600"/>
              </a:spcAft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检索到的片段写回短期上下文</a:t>
            </a:r>
            <a:endParaRPr lang="en-US" sz="1250" b="0" i="0" u="none" strike="noStrike">
              <a:solidFill>
                <a:srgbClr val="9FB6C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  <a:spcAft>
                <a:spcPts val="600"/>
              </a:spcAft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历史知识与当前对话结合后再推理</a:t>
            </a:r>
            <a:endParaRPr lang="en-US" sz="1250" b="0" i="0" u="none" strike="noStrike">
              <a:solidFill>
                <a:srgbClr val="9FB6C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083296" y="2011680"/>
            <a:ext cx="3611880" cy="2880360"/>
          </a:xfrm>
          <a:prstGeom prst="roundRect">
            <a:avLst>
              <a:gd name="adj" fmla="val 5999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083296" y="2011680"/>
            <a:ext cx="3611880" cy="50292"/>
          </a:xfrm>
          <a:prstGeom prst="roundRect">
            <a:avLst>
              <a:gd name="adj" fmla="val 0"/>
            </a:avLst>
          </a:prstGeom>
          <a:solidFill>
            <a:srgbClr val="D96B1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8284464" y="2194560"/>
            <a:ext cx="3209544" cy="365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什么时候需要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8284464" y="2615184"/>
            <a:ext cx="3209544" cy="214883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spcAft>
                <a:spcPts val="600"/>
              </a:spcAft>
              <a:defRPr/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用户偏好、画像、历史工单</a:t>
            </a:r>
            <a:endParaRPr lang="en-US" sz="1100"/>
          </a:p>
          <a:p>
            <a:pPr marL="0" indent="0" algn="l">
              <a:lnSpc>
                <a:spcPct val="117000"/>
              </a:lnSpc>
              <a:spcAft>
                <a:spcPts val="600"/>
              </a:spcAft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多步任务的中间结论与进展</a:t>
            </a:r>
            <a:endParaRPr lang="en-US" sz="1250" b="0" i="0" u="none" strike="noStrike">
              <a:solidFill>
                <a:srgbClr val="9FB6C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  <a:spcAft>
                <a:spcPts val="600"/>
              </a:spcAft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成功路径 / 失败教训（供后续策略调整）</a:t>
            </a:r>
            <a:endParaRPr lang="en-US" sz="1250" b="0" i="0" u="none" strike="noStrike">
              <a:solidFill>
                <a:srgbClr val="9FB6C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  <a:spcAft>
                <a:spcPts val="600"/>
              </a:spcAft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RAG 知识库问答</a:t>
            </a:r>
            <a:endParaRPr lang="en-US" sz="1250" b="0" i="0" u="none" strike="noStrike">
              <a:solidFill>
                <a:srgbClr val="9FB6C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566928" y="507492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566928" y="5074920"/>
            <a:ext cx="54864" cy="1097280"/>
          </a:xfrm>
          <a:prstGeom prst="roundRect">
            <a:avLst>
              <a:gd name="adj" fmla="val 0"/>
            </a:avLst>
          </a:prstGeom>
          <a:solidFill>
            <a:srgbClr val="2E6D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868680" y="5257800"/>
            <a:ext cx="10515600" cy="7772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defRPr/>
            </a:pPr>
            <a:r>
              <a:rPr lang="en-US" sz="13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协同关系</a:t>
            </a:r>
            <a:r>
              <a:rPr lang="en-US" sz="13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：智能体查询长期存储 → 检索相关数据 → 注入短期上下文 → 与当前交互一起送入模型。短期负责「此刻连贯」，长期负责「长期记得」。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0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配套阅读：第 14 章 RAG（检索增强生成）</a:t>
            </a:r>
            <a:endParaRPr lang="en-US" sz="1050" b="0" i="0" u="none" strike="noStrike">
              <a:solidFill>
                <a:srgbClr val="93A7B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" name="AutoShape 24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第八章 记忆管理 | Agentic Design Patterns</a:t>
            </a:r>
            <a:endParaRPr lang="en-US" sz="1100"/>
          </a:p>
        </p:txBody>
      </p:sp>
      <p:sp>
        <p:nvSpPr>
          <p:cNvPr id="25" name="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365D"/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00000"/>
              </a:lnSpc>
              <a:defRPr/>
            </a:pPr>
            <a:endParaRPr lang="zh-CN" sz="1100"/>
          </a:p>
        </p:txBody>
      </p:sp>
      <p:sp>
        <p:nvSpPr>
          <p:cNvPr id="26" name="PageNumber"/>
          <p:cNvSpPr txBox="1"/>
          <p:nvPr/>
        </p:nvSpPr>
        <p:spPr>
          <a:xfrm>
            <a:off x="11430000" y="6388100"/>
            <a:ext cx="60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66928" y="475488"/>
            <a:ext cx="82296" cy="566928"/>
          </a:xfrm>
          <a:prstGeom prst="roundRect">
            <a:avLst>
              <a:gd name="adj" fmla="val 0"/>
            </a:avLst>
          </a:prstGeom>
          <a:solidFill>
            <a:srgbClr val="2E6D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786384" y="402336"/>
            <a:ext cx="10607040" cy="365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1 · 架构总览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86384" y="658368"/>
            <a:ext cx="10881360" cy="5669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记忆管理：一张图看懂数据流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786384" y="1207008"/>
            <a:ext cx="10881360" cy="38404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写入走事件流，读取走检索，两者在 Session 上汇合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66928" y="1700784"/>
            <a:ext cx="11064240" cy="18288"/>
          </a:xfrm>
          <a:prstGeom prst="roundRect">
            <a:avLst>
              <a:gd name="adj" fmla="val 0"/>
            </a:avLst>
          </a:prstGeom>
          <a:solidFill>
            <a:srgbClr val="D5DB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66928" y="1965960"/>
            <a:ext cx="2971800" cy="1874519"/>
          </a:xfrm>
          <a:prstGeom prst="roundRect">
            <a:avLst>
              <a:gd name="adj" fmla="val 5999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66928" y="1965960"/>
            <a:ext cx="2971800" cy="54864"/>
          </a:xfrm>
          <a:prstGeom prst="roundRect">
            <a:avLst>
              <a:gd name="adj" fmla="val 0"/>
            </a:avLst>
          </a:prstGeom>
          <a:solidFill>
            <a:srgbClr val="2E6D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777240" y="2148840"/>
            <a:ext cx="2606040" cy="15544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defRPr/>
            </a:pPr>
            <a:r>
              <a:rPr lang="en-US" sz="1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用户 / 环境</a:t>
            </a:r>
            <a:endParaRPr lang="en-US" sz="1100"/>
          </a:p>
          <a:p>
            <a:pPr marL="0" indent="0" algn="l">
              <a:lnSpc>
                <a:spcPct val="117000"/>
              </a:lnSpc>
              <a:spcAft>
                <a:spcPts val="400"/>
              </a:spcAft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对话消息、工具调用、观察结果</a:t>
            </a:r>
            <a:endParaRPr lang="en-US" sz="1150" b="0" i="0" u="none" strike="noStrike">
              <a:solidFill>
                <a:srgbClr val="9FB6C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↓ 变成 Event 写入会话</a:t>
            </a:r>
            <a:endParaRPr lang="en-US" sz="1100" b="0" i="0" u="none" strike="noStrike">
              <a:solidFill>
                <a:srgbClr val="35D0B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611880" y="2697480"/>
            <a:ext cx="777240" cy="38404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6D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480560" y="1965960"/>
            <a:ext cx="3200400" cy="1874519"/>
          </a:xfrm>
          <a:prstGeom prst="roundRect">
            <a:avLst>
              <a:gd name="adj" fmla="val 5999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480560" y="1965960"/>
            <a:ext cx="3200400" cy="54864"/>
          </a:xfrm>
          <a:prstGeom prst="roundRect">
            <a:avLst>
              <a:gd name="adj" fmla="val 0"/>
            </a:avLst>
          </a:prstGeom>
          <a:solidFill>
            <a:srgbClr val="0E9AA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4681728" y="2148840"/>
            <a:ext cx="2834640" cy="15544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defRPr/>
            </a:pPr>
            <a:r>
              <a:rPr lang="en-US" sz="1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Session（短期记忆）</a:t>
            </a:r>
            <a:endParaRPr lang="en-US" sz="1100"/>
          </a:p>
          <a:p>
            <a:pPr marL="0" indent="0" algn="l">
              <a:lnSpc>
                <a:spcPct val="117000"/>
              </a:lnSpc>
              <a:spcAft>
                <a:spcPts val="300"/>
              </a:spcAft>
            </a:pPr>
            <a:r>
              <a:rPr lang="en-US" sz="105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events</a:t>
            </a: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：完整对话与动作流水</a:t>
            </a:r>
            <a:endParaRPr lang="en-US" sz="1150" b="0" i="0" u="none" strike="noStrike">
              <a:solidFill>
                <a:srgbClr val="9FB6C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  <a:spcAft>
                <a:spcPts val="300"/>
              </a:spcAft>
            </a:pPr>
            <a:r>
              <a:rPr lang="en-US" sz="105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state</a:t>
            </a: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：会话级临时字段（草稿本）</a:t>
            </a:r>
            <a:endParaRPr lang="en-US" sz="1150" b="0" i="0" u="none" strike="noStrike">
              <a:solidFill>
                <a:srgbClr val="9FB6C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生命周期由 SessionService 管理</a:t>
            </a:r>
            <a:endParaRPr lang="en-US" sz="1100" b="0" i="0" u="none" strike="noStrike">
              <a:solidFill>
                <a:srgbClr val="2EA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818120" y="2697480"/>
            <a:ext cx="777240" cy="38404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6D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686800" y="1965960"/>
            <a:ext cx="2944368" cy="1874519"/>
          </a:xfrm>
          <a:prstGeom prst="roundRect">
            <a:avLst>
              <a:gd name="adj" fmla="val 5999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686800" y="1965960"/>
            <a:ext cx="2944368" cy="54864"/>
          </a:xfrm>
          <a:prstGeom prst="roundRect">
            <a:avLst>
              <a:gd name="adj" fmla="val 0"/>
            </a:avLst>
          </a:prstGeom>
          <a:solidFill>
            <a:srgbClr val="D96B1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8887968" y="2148840"/>
            <a:ext cx="2606040" cy="15544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defRPr/>
            </a:pPr>
            <a:r>
              <a:rPr lang="en-US" sz="1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MemoryService（长期）</a:t>
            </a:r>
            <a:endParaRPr lang="en-US" sz="1100"/>
          </a:p>
          <a:p>
            <a:pPr marL="0" indent="0" algn="l">
              <a:lnSpc>
                <a:spcPct val="117000"/>
              </a:lnSpc>
              <a:spcAft>
                <a:spcPts val="300"/>
              </a:spcAft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可检索的持久知识库</a:t>
            </a:r>
            <a:endParaRPr lang="en-US" sz="1150" b="0" i="0" u="none" strike="noStrike">
              <a:solidFill>
                <a:srgbClr val="9FB6C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向量库 / RAG / 托管服务</a:t>
            </a:r>
            <a:endParaRPr lang="en-US" sz="1100" b="0" i="0" u="none" strike="noStrike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66928" y="4206240"/>
            <a:ext cx="11064240" cy="566928"/>
          </a:xfrm>
          <a:prstGeom prst="roundRect">
            <a:avLst>
              <a:gd name="adj" fmla="val 12000"/>
            </a:avLst>
          </a:prstGeom>
          <a:solidFill>
            <a:srgbClr val="EEF1F5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 txBox="1"/>
          <p:nvPr/>
        </p:nvSpPr>
        <p:spPr>
          <a:xfrm>
            <a:off x="868680" y="4206240"/>
            <a:ext cx="10515600" cy="5669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检索结果回注：</a:t>
            </a:r>
            <a:r>
              <a:rPr lang="en-US" sz="125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search_memory()</a:t>
            </a:r>
            <a:r>
              <a:rPr lang="en-US" sz="13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→ 拼进当前提示 → 与窗口内近期消息一起送进 LLM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66928" y="4983480"/>
            <a:ext cx="5394960" cy="1188720"/>
          </a:xfrm>
          <a:prstGeom prst="roundRect">
            <a:avLst>
              <a:gd name="adj" fmla="val 4999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566928" y="4983480"/>
            <a:ext cx="54864" cy="1188720"/>
          </a:xfrm>
          <a:prstGeom prst="roundRect">
            <a:avLst>
              <a:gd name="adj" fmla="val 0"/>
            </a:avLst>
          </a:prstGeom>
          <a:solidFill>
            <a:srgbClr val="2E6D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24" name="AutoShape 24"/>
          <p:cNvSpPr txBox="1"/>
          <p:nvPr/>
        </p:nvSpPr>
        <p:spPr>
          <a:xfrm>
            <a:off x="868680" y="5138928"/>
            <a:ext cx="493776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defRPr/>
            </a:pPr>
            <a:r>
              <a:rPr lang="en-US" sz="14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① 写入（Write）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每一轮交互产生 Event；需要长期保留的内容由 </a:t>
            </a:r>
            <a:r>
              <a:rPr lang="en-US" sz="110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add_session_to_memory()</a:t>
            </a:r>
            <a:r>
              <a:rPr lang="en-US" sz="12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抽取入库。</a:t>
            </a:r>
            <a:endParaRPr lang="en-US" sz="1200" b="0" i="0" u="none" strike="noStrike">
              <a:solidFill>
                <a:srgbClr val="9FB6C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236208" y="4983480"/>
            <a:ext cx="5394960" cy="1188720"/>
          </a:xfrm>
          <a:prstGeom prst="roundRect">
            <a:avLst>
              <a:gd name="adj" fmla="val 4999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236208" y="4983480"/>
            <a:ext cx="54864" cy="1188720"/>
          </a:xfrm>
          <a:prstGeom prst="roundRect">
            <a:avLst>
              <a:gd name="adj" fmla="val 0"/>
            </a:avLst>
          </a:prstGeom>
          <a:solidFill>
            <a:srgbClr val="0E9AA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27" name="AutoShape 27"/>
          <p:cNvSpPr txBox="1"/>
          <p:nvPr/>
        </p:nvSpPr>
        <p:spPr>
          <a:xfrm>
            <a:off x="6537960" y="5138928"/>
            <a:ext cx="493776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spcAft>
                <a:spcPts val="400"/>
              </a:spcAft>
              <a:defRPr/>
            </a:pPr>
            <a:r>
              <a:rPr lang="en-US" sz="14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② 读取（Read）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检索相关记忆 → 组装上下文 → 让回答「记得住用户、接得上话题」。</a:t>
            </a:r>
            <a:endParaRPr lang="en-US" sz="1200" b="0" i="0" u="none" strike="noStrike">
              <a:solidFill>
                <a:srgbClr val="9FB6C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8" name="AutoShape 2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第八章 记忆管理 | Agentic Design Patterns</a:t>
            </a:r>
            <a:endParaRPr lang="en-US" sz="1100"/>
          </a:p>
        </p:txBody>
      </p:sp>
      <p:sp>
        <p:nvSpPr>
          <p:cNvPr id="29" name="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365D"/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00000"/>
              </a:lnSpc>
              <a:defRPr/>
            </a:pPr>
            <a:endParaRPr lang="zh-CN" sz="1100"/>
          </a:p>
        </p:txBody>
      </p:sp>
      <p:sp>
        <p:nvSpPr>
          <p:cNvPr id="30" name="PageNumber"/>
          <p:cNvSpPr txBox="1"/>
          <p:nvPr/>
        </p:nvSpPr>
        <p:spPr>
          <a:xfrm>
            <a:off x="11430000" y="6388100"/>
            <a:ext cx="60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66928" y="475488"/>
            <a:ext cx="82296" cy="566928"/>
          </a:xfrm>
          <a:prstGeom prst="roundRect">
            <a:avLst>
              <a:gd name="adj" fmla="val 0"/>
            </a:avLst>
          </a:prstGeom>
          <a:solidFill>
            <a:srgbClr val="2E6D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786384" y="402336"/>
            <a:ext cx="10607040" cy="365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1 · 应用场景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86384" y="658368"/>
            <a:ext cx="10881360" cy="5669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六类典型用例：什么时候必须上记忆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786384" y="1207008"/>
            <a:ext cx="10881360" cy="38404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只要智能体不止于「答一个问题」，记忆就是基础设施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66928" y="1700784"/>
            <a:ext cx="11064240" cy="18288"/>
          </a:xfrm>
          <a:prstGeom prst="roundRect">
            <a:avLst>
              <a:gd name="adj" fmla="val 0"/>
            </a:avLst>
          </a:prstGeom>
          <a:solidFill>
            <a:srgbClr val="D5DB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66928" y="2011680"/>
            <a:ext cx="3611880" cy="1755648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66928" y="2011680"/>
            <a:ext cx="54864" cy="1755648"/>
          </a:xfrm>
          <a:prstGeom prst="roundRect">
            <a:avLst>
              <a:gd name="adj" fmla="val 0"/>
            </a:avLst>
          </a:prstGeom>
          <a:solidFill>
            <a:srgbClr val="2E6D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804672" y="2194560"/>
            <a:ext cx="3200400" cy="365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聊天机器人与对话式 AI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04672" y="2615184"/>
            <a:ext cx="3218688" cy="10058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短期记忆维持对话流；长期记忆召回偏好、历史工单、旧话题，实现连续个性化服务。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25112" y="2011680"/>
            <a:ext cx="3611880" cy="1755648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325112" y="2011680"/>
            <a:ext cx="54864" cy="1755648"/>
          </a:xfrm>
          <a:prstGeom prst="roundRect">
            <a:avLst>
              <a:gd name="adj" fmla="val 0"/>
            </a:avLst>
          </a:prstGeom>
          <a:solidFill>
            <a:srgbClr val="0E9AA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4562856" y="2194560"/>
            <a:ext cx="3200400" cy="365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任务导向智能体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4562856" y="2615184"/>
            <a:ext cx="3218688" cy="10058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短期记忆跟踪已完成步骤、当前进度与总目标；长期记忆调取未载入上下文的用户数据。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83296" y="2011680"/>
            <a:ext cx="3611880" cy="1755648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083296" y="2011680"/>
            <a:ext cx="54864" cy="1755648"/>
          </a:xfrm>
          <a:prstGeom prst="roundRect">
            <a:avLst>
              <a:gd name="adj" fmla="val 0"/>
            </a:avLst>
          </a:prstGeom>
          <a:solidFill>
            <a:srgbClr val="D96B1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8321040" y="2194560"/>
            <a:ext cx="3200400" cy="365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个性化体验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8321040" y="2615184"/>
            <a:ext cx="3218688" cy="10058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用长期记忆存储并检索偏好、行为轨迹与画像，让回复和推荐更贴合个人。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66928" y="3950208"/>
            <a:ext cx="3611880" cy="1755648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566928" y="3950208"/>
            <a:ext cx="54864" cy="1755648"/>
          </a:xfrm>
          <a:prstGeom prst="roundRect">
            <a:avLst>
              <a:gd name="adj" fmla="val 0"/>
            </a:avLst>
          </a:prstGeom>
          <a:solidFill>
            <a:srgbClr val="A58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804672" y="4133088"/>
            <a:ext cx="3200400" cy="365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学习与改进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804672" y="4553712"/>
            <a:ext cx="3218688" cy="10058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把成功策略、失败教训、新事实写进长期记忆，供后续策略调整；强化学习场景常用。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325112" y="3950208"/>
            <a:ext cx="3611880" cy="1755648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4325112" y="3950208"/>
            <a:ext cx="54864" cy="1755648"/>
          </a:xfrm>
          <a:prstGeom prst="roundRect">
            <a:avLst>
              <a:gd name="adj" fmla="val 0"/>
            </a:avLst>
          </a:prstGeom>
          <a:solidFill>
            <a:srgbClr val="FF8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27" name="AutoShape 27"/>
          <p:cNvSpPr txBox="1"/>
          <p:nvPr/>
        </p:nvSpPr>
        <p:spPr>
          <a:xfrm>
            <a:off x="4562856" y="4133088"/>
            <a:ext cx="3200400" cy="365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信息检索（RAG）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4562856" y="4553712"/>
            <a:ext cx="3218688" cy="10058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把知识库当作长期记忆，回答前先检索相关文档，再交给生成模型。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083296" y="3950208"/>
            <a:ext cx="3611880" cy="1755648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D5DBE3"/>
            </a:solidFill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083296" y="3950208"/>
            <a:ext cx="54864" cy="1755648"/>
          </a:xfrm>
          <a:prstGeom prst="roundRect">
            <a:avLst>
              <a:gd name="adj" fmla="val 0"/>
            </a:avLst>
          </a:prstGeom>
          <a:solidFill>
            <a:srgbClr val="6FD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31" name="AutoShape 31"/>
          <p:cNvSpPr txBox="1"/>
          <p:nvPr/>
        </p:nvSpPr>
        <p:spPr>
          <a:xfrm>
            <a:off x="8321040" y="4133088"/>
            <a:ext cx="3200400" cy="365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自主系统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8321040" y="4553712"/>
            <a:ext cx="3218688" cy="10058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机器人 / 自动驾驶：短期记忆对应局部感知与即时决策，长期记忆对应地图、路线与可复用规则。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小结：</a:t>
            </a:r>
            <a:r>
              <a:rPr lang="en-US" sz="13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记忆让智能体维护历史、持续学习、做个性化交互，并处理带时间维度的复杂问题。</a:t>
            </a:r>
            <a:endParaRPr lang="en-US" sz="1100"/>
          </a:p>
        </p:txBody>
      </p:sp>
      <p:sp>
        <p:nvSpPr>
          <p:cNvPr id="34" name="AutoShape 34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第八章 记忆管理 | Agentic Design Patterns</a:t>
            </a:r>
            <a:endParaRPr lang="en-US" sz="1100"/>
          </a:p>
        </p:txBody>
      </p:sp>
      <p:sp>
        <p:nvSpPr>
          <p:cNvPr id="35" name="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365D"/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00000"/>
              </a:lnSpc>
              <a:defRPr/>
            </a:pPr>
            <a:endParaRPr lang="zh-CN" sz="1100"/>
          </a:p>
        </p:txBody>
      </p:sp>
      <p:sp>
        <p:nvSpPr>
          <p:cNvPr id="36" name="PageNumber"/>
          <p:cNvSpPr txBox="1"/>
          <p:nvPr/>
        </p:nvSpPr>
        <p:spPr>
          <a:xfrm>
            <a:off x="11430000" y="6388100"/>
            <a:ext cx="60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5D0BA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51560" y="770889"/>
            <a:ext cx="9692640" cy="125848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35D0B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第一部分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51560" y="2626614"/>
            <a:ext cx="10058400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Google ADK 的三层记忆抽象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51560" y="4041648"/>
            <a:ext cx="3840480" cy="41148"/>
          </a:xfrm>
          <a:prstGeom prst="rect">
            <a:avLst/>
          </a:prstGeom>
          <a:solidFill>
            <a:srgbClr val="F5A623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51560" y="4577357"/>
            <a:ext cx="10058400" cy="6248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defRPr/>
            </a:pPr>
            <a:r>
              <a:rPr lang="en-US" sz="1600" b="0" i="0" u="none" strike="noStrike">
                <a:solidFill>
                  <a:srgbClr val="CFDE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Session 记住「这一条对话」，State 记住「这一轮的变量」，MemoryService 记住「所有的过去」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5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5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7FB2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第八章 记忆管理 | Agentic Design Patterns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430000" y="6388100"/>
            <a:ext cx="60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9FC5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2E6DB4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86384" y="402336"/>
            <a:ext cx="1060704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2  ·  三个核心概念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86384" y="658368"/>
            <a:ext cx="10881360" cy="5187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Session · State · Memory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86384" y="1207008"/>
            <a:ext cx="108813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把「上下文管理」拆成三个可独立演进的概念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6928" y="1700784"/>
            <a:ext cx="11064240" cy="18288"/>
          </a:xfrm>
          <a:prstGeom prst="rect">
            <a:avLst/>
          </a:prstGeom>
          <a:solidFill>
            <a:srgbClr val="D5DBE3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566928" y="1965960"/>
            <a:ext cx="3611880" cy="393192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2"/>
            </p:custDataLst>
          </p:nvPr>
        </p:nvSpPr>
        <p:spPr>
          <a:xfrm>
            <a:off x="566928" y="1965960"/>
            <a:ext cx="3611880" cy="54864"/>
          </a:xfrm>
          <a:prstGeom prst="rect">
            <a:avLst/>
          </a:prstGeom>
          <a:solidFill>
            <a:srgbClr val="2E6DB4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>
            <p:custDataLst>
              <p:tags r:id="rId3"/>
            </p:custDataLst>
          </p:nvPr>
        </p:nvSpPr>
        <p:spPr>
          <a:xfrm>
            <a:off x="786384" y="2176272"/>
            <a:ext cx="3200400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Session</a:t>
            </a:r>
            <a:endParaRPr lang="en-US" sz="1100"/>
          </a:p>
        </p:txBody>
      </p:sp>
      <p:sp>
        <p:nvSpPr>
          <p:cNvPr id="11" name="AutoShape 11"/>
          <p:cNvSpPr txBox="1"/>
          <p:nvPr>
            <p:custDataLst>
              <p:tags r:id="rId4"/>
            </p:custDataLst>
          </p:nvPr>
        </p:nvSpPr>
        <p:spPr>
          <a:xfrm>
            <a:off x="786384" y="2633472"/>
            <a:ext cx="32004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一条独立聊天线程</a:t>
            </a:r>
            <a:endParaRPr lang="en-US" sz="1100"/>
          </a:p>
        </p:txBody>
      </p:sp>
      <p:sp>
        <p:nvSpPr>
          <p:cNvPr id="12" name="AutoShape 12"/>
          <p:cNvSpPr txBox="1"/>
          <p:nvPr>
            <p:custDataLst>
              <p:tags r:id="rId5"/>
            </p:custDataLst>
          </p:nvPr>
        </p:nvSpPr>
        <p:spPr>
          <a:xfrm>
            <a:off x="786384" y="3035808"/>
            <a:ext cx="3218688" cy="11925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spcAft>
                <a:spcPts val="800"/>
              </a:spcAft>
              <a:defRPr/>
            </a:pPr>
            <a:r>
              <a:rPr lang="en-US" sz="115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 </a:t>
            </a: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记录该线程的消息与动作（</a:t>
            </a:r>
            <a:r>
              <a:rPr lang="en-US" sz="1150" b="1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Events</a:t>
            </a: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  <a:endParaRPr lang="en-US" sz="1100"/>
          </a:p>
          <a:p>
            <a:pPr marL="0" indent="0" algn="l">
              <a:lnSpc>
                <a:spcPct val="125000"/>
              </a:lnSpc>
              <a:spcAft>
                <a:spcPts val="800"/>
              </a:spcAft>
            </a:pPr>
            <a:r>
              <a:rPr lang="en-US" sz="115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 </a:t>
            </a: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承载与该对话相关的临时数据（</a:t>
            </a:r>
            <a:r>
              <a:rPr lang="en-US" sz="1150" b="1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State</a:t>
            </a: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  <a:endParaRPr lang="en-US" sz="1150" b="0" i="0" u="none" strike="noStrike">
              <a:solidFill>
                <a:srgbClr val="444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  <a:spcAft>
                <a:spcPts val="800"/>
              </a:spcAft>
            </a:pPr>
            <a:r>
              <a:rPr lang="en-US" sz="115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 </a:t>
            </a: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含唯一 id、app_name、user_id 与更新时间</a:t>
            </a:r>
            <a:endParaRPr lang="en-US" sz="1150" b="0" i="0" u="none" strike="noStrike">
              <a:solidFill>
                <a:srgbClr val="444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  <a:spcAft>
                <a:spcPts val="800"/>
              </a:spcAft>
            </a:pPr>
            <a:endParaRPr lang="en-US" sz="1150" b="0" i="0" u="none" strike="noStrike">
              <a:solidFill>
                <a:srgbClr val="444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6"/>
            </p:custDataLst>
          </p:nvPr>
        </p:nvSpPr>
        <p:spPr>
          <a:xfrm>
            <a:off x="4325112" y="1965960"/>
            <a:ext cx="3611880" cy="393192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7"/>
            </p:custDataLst>
          </p:nvPr>
        </p:nvSpPr>
        <p:spPr>
          <a:xfrm>
            <a:off x="4325112" y="1965960"/>
            <a:ext cx="3611880" cy="54864"/>
          </a:xfrm>
          <a:prstGeom prst="rect">
            <a:avLst/>
          </a:prstGeom>
          <a:solidFill>
            <a:srgbClr val="0E9AA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>
            <p:custDataLst>
              <p:tags r:id="rId8"/>
            </p:custDataLst>
          </p:nvPr>
        </p:nvSpPr>
        <p:spPr>
          <a:xfrm>
            <a:off x="4544568" y="2176272"/>
            <a:ext cx="3200400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State</a:t>
            </a:r>
            <a:endParaRPr lang="en-US" sz="1100"/>
          </a:p>
        </p:txBody>
      </p:sp>
      <p:sp>
        <p:nvSpPr>
          <p:cNvPr id="16" name="AutoShape 16"/>
          <p:cNvSpPr txBox="1"/>
          <p:nvPr>
            <p:custDataLst>
              <p:tags r:id="rId9"/>
            </p:custDataLst>
          </p:nvPr>
        </p:nvSpPr>
        <p:spPr>
          <a:xfrm>
            <a:off x="4544568" y="2633472"/>
            <a:ext cx="32004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会话级「草稿本」</a:t>
            </a:r>
            <a:endParaRPr lang="en-US" sz="1100"/>
          </a:p>
        </p:txBody>
      </p:sp>
      <p:sp>
        <p:nvSpPr>
          <p:cNvPr id="17" name="AutoShape 17"/>
          <p:cNvSpPr txBox="1"/>
          <p:nvPr>
            <p:custDataLst>
              <p:tags r:id="rId10"/>
            </p:custDataLst>
          </p:nvPr>
        </p:nvSpPr>
        <p:spPr>
          <a:xfrm>
            <a:off x="4544568" y="3035808"/>
            <a:ext cx="3218688" cy="274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spcAft>
                <a:spcPts val="800"/>
              </a:spcAft>
              <a:defRPr/>
            </a:pPr>
            <a:r>
              <a:rPr lang="en-US" sz="115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 </a:t>
            </a:r>
            <a:r>
              <a:rPr lang="en-US" sz="105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session.state</a:t>
            </a: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是字典：字符串键 + 可序列化值</a:t>
            </a:r>
            <a:endParaRPr lang="en-US" sz="1100"/>
          </a:p>
          <a:p>
            <a:pPr marL="0" indent="0" algn="l">
              <a:lnSpc>
                <a:spcPct val="125000"/>
              </a:lnSpc>
              <a:spcAft>
                <a:spcPts val="800"/>
              </a:spcAft>
            </a:pPr>
            <a:r>
              <a:rPr lang="en-US" sz="115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 </a:t>
            </a: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承载用户偏好、任务进度、中间结果、分支标记</a:t>
            </a:r>
            <a:endParaRPr lang="en-US" sz="1150" b="0" i="0" u="none" strike="noStrike">
              <a:solidFill>
                <a:srgbClr val="444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  <a:spcAft>
                <a:spcPts val="800"/>
              </a:spcAft>
            </a:pPr>
            <a:r>
              <a:rPr lang="en-US" sz="115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 </a:t>
            </a:r>
            <a:r>
              <a:rPr lang="en-US" sz="105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events</a:t>
            </a: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记完整历史，</a:t>
            </a:r>
            <a:r>
              <a:rPr lang="en-US" sz="105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state</a:t>
            </a: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只放动态字段</a:t>
            </a:r>
            <a:endParaRPr lang="en-US" sz="1150" b="0" i="0" u="none" strike="noStrike">
              <a:solidFill>
                <a:srgbClr val="444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  <a:spcAft>
                <a:spcPts val="800"/>
              </a:spcAft>
            </a:pPr>
            <a:r>
              <a:rPr lang="en-US" sz="115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 </a:t>
            </a: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随对话演进；能否跨重启保留取决于后端实现</a:t>
            </a:r>
            <a:endParaRPr lang="en-US" sz="1150" b="0" i="0" u="none" strike="noStrike">
              <a:solidFill>
                <a:srgbClr val="444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1"/>
            </p:custDataLst>
          </p:nvPr>
        </p:nvSpPr>
        <p:spPr>
          <a:xfrm>
            <a:off x="8083296" y="1965960"/>
            <a:ext cx="3611880" cy="393192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2"/>
            </p:custDataLst>
          </p:nvPr>
        </p:nvSpPr>
        <p:spPr>
          <a:xfrm>
            <a:off x="8083296" y="1965960"/>
            <a:ext cx="3611880" cy="54864"/>
          </a:xfrm>
          <a:prstGeom prst="rect">
            <a:avLst/>
          </a:prstGeom>
          <a:solidFill>
            <a:srgbClr val="D96B1E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20" name="AutoShape 20"/>
          <p:cNvSpPr txBox="1"/>
          <p:nvPr>
            <p:custDataLst>
              <p:tags r:id="rId13"/>
            </p:custDataLst>
          </p:nvPr>
        </p:nvSpPr>
        <p:spPr>
          <a:xfrm>
            <a:off x="8302752" y="2176272"/>
            <a:ext cx="3200400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Memory</a:t>
            </a:r>
            <a:endParaRPr lang="en-US" sz="1100"/>
          </a:p>
        </p:txBody>
      </p:sp>
      <p:sp>
        <p:nvSpPr>
          <p:cNvPr id="21" name="AutoShape 21"/>
          <p:cNvSpPr txBox="1"/>
          <p:nvPr>
            <p:custDataLst>
              <p:tags r:id="rId14"/>
            </p:custDataLst>
          </p:nvPr>
        </p:nvSpPr>
        <p:spPr>
          <a:xfrm>
            <a:off x="8302752" y="2633472"/>
            <a:ext cx="320040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可检索的长期知识库</a:t>
            </a:r>
            <a:endParaRPr lang="en-US" sz="1100"/>
          </a:p>
        </p:txBody>
      </p:sp>
      <p:sp>
        <p:nvSpPr>
          <p:cNvPr id="22" name="AutoShape 22"/>
          <p:cNvSpPr txBox="1"/>
          <p:nvPr>
            <p:custDataLst>
              <p:tags r:id="rId15"/>
            </p:custDataLst>
          </p:nvPr>
        </p:nvSpPr>
        <p:spPr>
          <a:xfrm>
            <a:off x="8302752" y="3035808"/>
            <a:ext cx="3218688" cy="274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spcAft>
                <a:spcPts val="800"/>
              </a:spcAft>
              <a:defRPr/>
            </a:pPr>
            <a:r>
              <a:rPr lang="en-US" sz="1150" b="1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 </a:t>
            </a: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内容来自历史多轮会话或外部系统</a:t>
            </a:r>
            <a:endParaRPr lang="en-US" sz="1100"/>
          </a:p>
          <a:p>
            <a:pPr marL="0" indent="0" algn="l">
              <a:lnSpc>
                <a:spcPct val="125000"/>
              </a:lnSpc>
              <a:spcAft>
                <a:spcPts val="800"/>
              </a:spcAft>
            </a:pPr>
            <a:r>
              <a:rPr lang="en-US" sz="1150" b="1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 </a:t>
            </a: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 </a:t>
            </a:r>
            <a:r>
              <a:rPr lang="en-US" sz="1150" b="1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MemoryService</a:t>
            </a: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负责写入与检索</a:t>
            </a:r>
            <a:endParaRPr lang="en-US" sz="1150" b="0" i="0" u="none" strike="noStrike">
              <a:solidFill>
                <a:srgbClr val="444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  <a:spcAft>
                <a:spcPts val="800"/>
              </a:spcAft>
            </a:pPr>
            <a:r>
              <a:rPr lang="en-US" sz="1150" b="1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 </a:t>
            </a:r>
            <a:r>
              <a:rPr lang="en-US" sz="1150" b="1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InMemoryMemoryService</a:t>
            </a: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：仅供测试，重启即丢</a:t>
            </a:r>
            <a:endParaRPr lang="en-US" sz="1150" b="0" i="0" u="none" strike="noStrike">
              <a:solidFill>
                <a:srgbClr val="444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  <a:spcAft>
                <a:spcPts val="800"/>
              </a:spcAft>
            </a:pPr>
            <a:r>
              <a:rPr lang="en-US" sz="1150" b="1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 </a:t>
            </a:r>
            <a:r>
              <a:rPr lang="en-US" sz="1150" b="1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VertexAiRagMemoryService</a:t>
            </a: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：生产级，持久 + 语义检索</a:t>
            </a:r>
            <a:endParaRPr lang="en-US" sz="1150" b="0" i="0" u="none" strike="noStrike">
              <a:solidFill>
                <a:srgbClr val="444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AutoShape 23"/>
          <p:cNvSpPr txBox="1"/>
          <p:nvPr/>
        </p:nvSpPr>
        <p:spPr>
          <a:xfrm>
            <a:off x="566928" y="6016752"/>
            <a:ext cx="1106424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记忆分层：Session + State = 短期记忆；MemoryService 管理的 Long-Term Knowledge = 持久、可检索的长期仓库。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第八章 记忆管理 | Agentic Design Patterns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11430000" y="6388100"/>
            <a:ext cx="60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07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2E6DB4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86384" y="402336"/>
            <a:ext cx="1060704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2  ·  Session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86384" y="658368"/>
            <a:ext cx="10881360" cy="5187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Session</a:t>
            </a:r>
            <a:endParaRPr lang="zh-CN" altLang="en-US" sz="2700" b="1" i="0" u="none" strike="noStrike">
              <a:solidFill>
                <a:srgbClr val="1F36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786384" y="1207008"/>
            <a:ext cx="108813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SessionService 负责会话全生命周期，应用代码通常不直接构造 Session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6928" y="1700784"/>
            <a:ext cx="11064240" cy="18288"/>
          </a:xfrm>
          <a:prstGeom prst="rect">
            <a:avLst/>
          </a:prstGeom>
          <a:solidFill>
            <a:srgbClr val="D5DBE3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567055" y="2011680"/>
            <a:ext cx="9029065" cy="18110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spcAft>
                <a:spcPts val="1000"/>
              </a:spcAft>
              <a:defRPr/>
            </a:pPr>
            <a:r>
              <a:rPr lang="en-US" sz="135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 </a:t>
            </a:r>
            <a:r>
              <a:rPr lang="en-US" sz="13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用法 </a:t>
            </a:r>
            <a:r>
              <a:rPr lang="en-US" sz="13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：使用</a:t>
            </a:r>
            <a:r>
              <a:rPr lang="en-US" sz="125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SessionService</a:t>
            </a: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创建</a:t>
            </a:r>
            <a:r>
              <a:rPr lang="en-US" sz="125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google.adk.sessions.Session</a:t>
            </a:r>
            <a:r>
              <a:rPr lang="en-US" sz="13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，封装一条对话线程的全部相关数据。</a:t>
            </a:r>
            <a:endParaRPr lang="en-US" sz="1100"/>
          </a:p>
          <a:p>
            <a:pPr marL="0" indent="0" algn="l">
              <a:lnSpc>
                <a:spcPct val="125000"/>
              </a:lnSpc>
              <a:spcAft>
                <a:spcPts val="1000"/>
              </a:spcAft>
            </a:pPr>
            <a:r>
              <a:rPr lang="en-US" sz="135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▪  </a:t>
            </a:r>
            <a:r>
              <a:rPr lang="en-US" sz="13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三种后端实现</a:t>
            </a:r>
            <a:r>
              <a:rPr lang="en-US" sz="13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sz="1350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SessionService</a:t>
            </a:r>
            <a:r>
              <a:rPr lang="zh-CN" altLang="en-US" sz="1350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的不同存储方案</a:t>
            </a:r>
            <a:r>
              <a:rPr lang="en-US" sz="13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按场景选：</a:t>
            </a:r>
            <a:endParaRPr lang="en-US" sz="1350" b="0" i="0" u="none" strike="noStrike">
              <a:solidFill>
                <a:srgbClr val="444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  <a:spcAft>
                <a:spcPts val="1000"/>
              </a:spcAft>
            </a:pPr>
            <a:r>
              <a:rPr lang="en-US" sz="1350" b="1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–  </a:t>
            </a:r>
            <a:r>
              <a:rPr lang="en-US" sz="110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InMemorySessionService</a:t>
            </a:r>
            <a:r>
              <a:rPr lang="en-US" sz="12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：开发与测试，重启即丢，本地调试用。</a:t>
            </a:r>
            <a:endParaRPr lang="en-US" sz="1200" b="0" i="0" u="none" strike="noStrike">
              <a:solidFill>
                <a:srgbClr val="444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  <a:spcAft>
                <a:spcPts val="1000"/>
              </a:spcAft>
            </a:pPr>
            <a:r>
              <a:rPr lang="en-US" sz="1350" b="1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–  </a:t>
            </a:r>
            <a:r>
              <a:rPr lang="en-US" sz="110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DatabaseSessionService</a:t>
            </a:r>
            <a:r>
              <a:rPr lang="en-US" sz="12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：数据库存会话，自己管存储，自建生产用。</a:t>
            </a:r>
            <a:endParaRPr lang="en-US" sz="1200" b="0" i="0" u="none" strike="noStrike">
              <a:solidFill>
                <a:srgbClr val="444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  <a:spcAft>
                <a:spcPts val="1000"/>
              </a:spcAft>
            </a:pPr>
            <a:r>
              <a:rPr lang="en-US" sz="1350" b="1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–  </a:t>
            </a:r>
            <a:r>
              <a:rPr lang="en-US" sz="110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VertexAiSessionService</a:t>
            </a:r>
            <a:r>
              <a:rPr lang="en-US" sz="12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：GCP Vertex 托管会话，免运维，GCP 原生生产用。</a:t>
            </a:r>
            <a:endParaRPr lang="en-US" sz="1200" b="0" i="0" u="none" strike="noStrike">
              <a:solidFill>
                <a:srgbClr val="444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第八章 记忆管理 | Agentic Design Patterns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1430000" y="6388100"/>
            <a:ext cx="60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08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640080" y="365760"/>
            <a:ext cx="1060704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700" b="1" i="0" u="none" strike="noStrike">
                <a:solidFill>
                  <a:srgbClr val="0E1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ADK Session：对话流程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640080" y="877824"/>
            <a:ext cx="1060704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5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40080" y="1225296"/>
            <a:ext cx="10908792" cy="9144"/>
          </a:xfrm>
          <a:prstGeom prst="rect">
            <a:avLst/>
          </a:prstGeom>
          <a:solidFill>
            <a:srgbClr val="DEE6F2">
              <a:alpha val="100000"/>
            </a:srgbClr>
          </a:solidFill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2000" y="2944368"/>
            <a:ext cx="3044952" cy="1316736"/>
          </a:xfrm>
          <a:prstGeom prst="roundRect">
            <a:avLst>
              <a:gd name="adj" fmla="val 6943"/>
            </a:avLst>
          </a:prstGeom>
          <a:solidFill>
            <a:srgbClr val="EDF3FE">
              <a:alpha val="100000"/>
            </a:srgbClr>
          </a:solidFill>
          <a:ln w="12700">
            <a:solidFill>
              <a:srgbClr val="B9CFF2">
                <a:alpha val="100000"/>
              </a:srgbClr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4773168" y="2999232"/>
            <a:ext cx="2642616" cy="12070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A4C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Session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600"/>
              </a:spcBef>
            </a:pPr>
            <a:r>
              <a:rPr lang="en-US" sz="850" b="1" i="0" u="none" strike="noStrike">
                <a:solidFill>
                  <a:srgbClr val="1A4C9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state</a:t>
            </a:r>
            <a:r>
              <a:rPr lang="en-US" sz="850" b="0" i="0" u="none" strike="noStrike">
                <a:solidFill>
                  <a:srgbClr val="3F5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键值对，可被改写</a:t>
            </a:r>
            <a:endParaRPr lang="en-US" sz="850" b="0" i="0" u="none" strike="noStrike">
              <a:solidFill>
                <a:srgbClr val="3F55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300"/>
              </a:spcBef>
            </a:pPr>
            <a:r>
              <a:rPr lang="en-US" sz="850" b="1" i="0" u="none" strike="noStrike">
                <a:solidFill>
                  <a:srgbClr val="1A4C9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events</a:t>
            </a:r>
            <a:r>
              <a:rPr lang="en-US" sz="850" b="0" i="0" u="none" strike="noStrike">
                <a:solidFill>
                  <a:srgbClr val="3F55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只追加的历史</a:t>
            </a:r>
            <a:endParaRPr lang="en-US" sz="850" b="0" i="0" u="none" strike="noStrike">
              <a:solidFill>
                <a:srgbClr val="3F55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500"/>
              </a:spcBef>
            </a:pPr>
            <a:r>
              <a:rPr lang="en-US" sz="760" b="0" i="0" u="none" strike="noStrike">
                <a:solidFill>
                  <a:srgbClr val="7F92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 SessionService 存取</a:t>
            </a:r>
            <a:endParaRPr lang="en-US" sz="760" b="0" i="0" u="none" strike="noStrike">
              <a:solidFill>
                <a:srgbClr val="7F92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>
            <a:off x="7536348" y="2666422"/>
            <a:ext cx="699197" cy="202212"/>
          </a:xfrm>
          <a:prstGeom prst="line">
            <a:avLst/>
          </a:prstGeom>
          <a:noFill/>
          <a:ln w="12700">
            <a:solidFill>
              <a:srgbClr val="7E94B8">
                <a:alpha val="100000"/>
              </a:srgbClr>
            </a:solidFill>
            <a:prstDash val="solid"/>
            <a:headEnd type="none" w="med" len="med"/>
            <a:tailEnd type="triangle" w="lg" len="lg"/>
          </a:ln>
        </p:spPr>
      </p:cxnSp>
      <p:cxnSp>
        <p:nvCxnSpPr>
          <p:cNvPr id="10" name="Connector 10"/>
          <p:cNvCxnSpPr/>
          <p:nvPr/>
        </p:nvCxnSpPr>
        <p:spPr>
          <a:xfrm rot="10800000" flipV="1">
            <a:off x="8683524" y="3744638"/>
            <a:ext cx="619224" cy="758611"/>
          </a:xfrm>
          <a:prstGeom prst="line">
            <a:avLst/>
          </a:prstGeom>
          <a:noFill/>
          <a:ln w="12700">
            <a:solidFill>
              <a:srgbClr val="7E94B8">
                <a:alpha val="100000"/>
              </a:srgbClr>
            </a:solidFill>
            <a:prstDash val="solid"/>
            <a:headEnd type="none" w="med" len="med"/>
            <a:tailEnd type="triangle" w="lg" len="lg"/>
          </a:ln>
        </p:spPr>
      </p:cxnSp>
      <p:cxnSp>
        <p:nvCxnSpPr>
          <p:cNvPr id="11" name="Connector 11"/>
          <p:cNvCxnSpPr/>
          <p:nvPr/>
        </p:nvCxnSpPr>
        <p:spPr>
          <a:xfrm rot="10800000" flipV="1">
            <a:off x="5324848" y="4962254"/>
            <a:ext cx="1539255" cy="0"/>
          </a:xfrm>
          <a:prstGeom prst="line">
            <a:avLst/>
          </a:prstGeom>
          <a:noFill/>
          <a:ln w="12700">
            <a:solidFill>
              <a:srgbClr val="7E94B8">
                <a:alpha val="100000"/>
              </a:srgbClr>
            </a:solidFill>
            <a:prstDash val="solid"/>
            <a:headEnd type="none" w="med" len="med"/>
            <a:tailEnd type="triangle" w="lg" len="lg"/>
          </a:ln>
        </p:spPr>
      </p:cxnSp>
      <p:cxnSp>
        <p:nvCxnSpPr>
          <p:cNvPr id="12" name="Connector 12"/>
          <p:cNvCxnSpPr/>
          <p:nvPr/>
        </p:nvCxnSpPr>
        <p:spPr>
          <a:xfrm rot="10800000">
            <a:off x="2886203" y="3744638"/>
            <a:ext cx="619224" cy="758611"/>
          </a:xfrm>
          <a:prstGeom prst="line">
            <a:avLst/>
          </a:prstGeom>
          <a:noFill/>
          <a:ln w="12700">
            <a:solidFill>
              <a:srgbClr val="7E94B8">
                <a:alpha val="100000"/>
              </a:srgbClr>
            </a:solidFill>
            <a:prstDash val="solid"/>
            <a:headEnd type="none" w="med" len="med"/>
            <a:tailEnd type="triangle" w="lg" len="lg"/>
          </a:ln>
        </p:spPr>
      </p:cxnSp>
      <p:cxnSp>
        <p:nvCxnSpPr>
          <p:cNvPr id="13" name="Connector 13"/>
          <p:cNvCxnSpPr/>
          <p:nvPr/>
        </p:nvCxnSpPr>
        <p:spPr>
          <a:xfrm flipV="1">
            <a:off x="3953406" y="2666422"/>
            <a:ext cx="699197" cy="202212"/>
          </a:xfrm>
          <a:prstGeom prst="line">
            <a:avLst/>
          </a:prstGeom>
          <a:noFill/>
          <a:ln w="12700">
            <a:solidFill>
              <a:srgbClr val="7E94B8">
                <a:alpha val="100000"/>
              </a:srgbClr>
            </a:solidFill>
            <a:prstDash val="solid"/>
            <a:headEnd type="none" w="med" len="med"/>
            <a:tailEnd type="triangle" w="lg" len="lg"/>
          </a:ln>
        </p:spPr>
      </p:cxnSp>
      <p:sp>
        <p:nvSpPr>
          <p:cNvPr id="14" name="AutoShape 14"/>
          <p:cNvSpPr/>
          <p:nvPr/>
        </p:nvSpPr>
        <p:spPr>
          <a:xfrm>
            <a:off x="4722876" y="1847088"/>
            <a:ext cx="2743200" cy="804672"/>
          </a:xfrm>
          <a:prstGeom prst="roundRect">
            <a:avLst>
              <a:gd name="adj" fmla="val 1136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4F0">
                <a:alpha val="100000"/>
              </a:srgb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841748" y="2029968"/>
            <a:ext cx="219456" cy="219456"/>
          </a:xfrm>
          <a:prstGeom prst="ellipse">
            <a:avLst/>
          </a:prstGeom>
          <a:solidFill>
            <a:srgbClr val="2E6DB4">
              <a:alpha val="100000"/>
            </a:srgbClr>
          </a:solidFill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820" b="1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5134356" y="2002536"/>
            <a:ext cx="2212848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0" b="1" i="0" u="none" strike="noStrike">
                <a:solidFill>
                  <a:srgbClr val="0E1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用户发来消息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4869180" y="2276856"/>
            <a:ext cx="2450592" cy="3291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820" b="0" i="0" u="none" strike="noStrike">
                <a:solidFill>
                  <a:srgbClr val="5C6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一条新的用户消息进来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05817" y="2883297"/>
            <a:ext cx="2743200" cy="804672"/>
          </a:xfrm>
          <a:prstGeom prst="roundRect">
            <a:avLst>
              <a:gd name="adj" fmla="val 1136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4F0">
                <a:alpha val="100000"/>
              </a:srgb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424689" y="3066177"/>
            <a:ext cx="219456" cy="219456"/>
          </a:xfrm>
          <a:prstGeom prst="ellipse">
            <a:avLst/>
          </a:prstGeom>
          <a:solidFill>
            <a:srgbClr val="2E6DB4">
              <a:alpha val="100000"/>
            </a:srgbClr>
          </a:solidFill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820" b="1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2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8717297" y="3038745"/>
            <a:ext cx="2212848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0" b="1" i="0" u="none" strike="noStrike">
                <a:solidFill>
                  <a:srgbClr val="0E1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Runner 取 / 建 Session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8452121" y="3313065"/>
            <a:ext cx="2450592" cy="3291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820" b="0" i="0" u="none" strike="noStrike">
                <a:solidFill>
                  <a:srgbClr val="5C6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SessionService：有就取出，没有就新建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937255" y="4559918"/>
            <a:ext cx="2743200" cy="804672"/>
          </a:xfrm>
          <a:prstGeom prst="roundRect">
            <a:avLst>
              <a:gd name="adj" fmla="val 1136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4F0">
                <a:alpha val="100000"/>
              </a:srgb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056127" y="4742798"/>
            <a:ext cx="219456" cy="219456"/>
          </a:xfrm>
          <a:prstGeom prst="ellipse">
            <a:avLst/>
          </a:prstGeom>
          <a:solidFill>
            <a:srgbClr val="2E6DB4">
              <a:alpha val="100000"/>
            </a:srgbClr>
          </a:solidFill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820" b="1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3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7348735" y="4715366"/>
            <a:ext cx="2212848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0" b="1" i="0" u="none" strike="noStrike">
                <a:solidFill>
                  <a:srgbClr val="0E1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Agent 推理与行动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7083559" y="4989686"/>
            <a:ext cx="2450592" cy="3291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820" b="0" i="0" u="none" strike="noStrike">
                <a:solidFill>
                  <a:srgbClr val="5C6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读 state 和历史 events，再决定说什么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2508496" y="4559918"/>
            <a:ext cx="2743200" cy="804672"/>
          </a:xfrm>
          <a:prstGeom prst="roundRect">
            <a:avLst>
              <a:gd name="adj" fmla="val 1136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4F0">
                <a:alpha val="100000"/>
              </a:srgb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2627368" y="4742798"/>
            <a:ext cx="219456" cy="219456"/>
          </a:xfrm>
          <a:prstGeom prst="ellipse">
            <a:avLst/>
          </a:prstGeom>
          <a:solidFill>
            <a:srgbClr val="2E6DB4">
              <a:alpha val="100000"/>
            </a:srgbClr>
          </a:solidFill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820" b="1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4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2919976" y="4715366"/>
            <a:ext cx="2212848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0" b="1" i="0" u="none" strike="noStrike">
                <a:solidFill>
                  <a:srgbClr val="0E1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产出回复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2654800" y="4989686"/>
            <a:ext cx="2450592" cy="3291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820" b="0" i="0" u="none" strike="noStrike">
                <a:solidFill>
                  <a:srgbClr val="5C6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回复内容可能带来 state 的改动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139934" y="2883297"/>
            <a:ext cx="2743200" cy="804672"/>
          </a:xfrm>
          <a:prstGeom prst="roundRect">
            <a:avLst>
              <a:gd name="adj" fmla="val 1136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4F0">
                <a:alpha val="100000"/>
              </a:srgb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258806" y="3066177"/>
            <a:ext cx="219456" cy="219456"/>
          </a:xfrm>
          <a:prstGeom prst="ellipse">
            <a:avLst/>
          </a:prstGeom>
          <a:solidFill>
            <a:srgbClr val="2E6DB4">
              <a:alpha val="100000"/>
            </a:srgbClr>
          </a:solidFill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820" b="1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5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1551414" y="3038745"/>
            <a:ext cx="2212848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20" b="1" i="0" u="none" strike="noStrike">
                <a:solidFill>
                  <a:srgbClr val="0E1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Runner 封装 Event 落库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1286238" y="3313065"/>
            <a:ext cx="2450592" cy="3291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820" b="0" i="0" u="none" strike="noStrike">
                <a:solidFill>
                  <a:srgbClr val="5C6B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append_event() 追加新的 event，并应用 state_delta</a:t>
            </a:r>
            <a:endParaRPr lang="en-US" sz="1100"/>
          </a:p>
        </p:txBody>
      </p:sp>
      <p:sp>
        <p:nvSpPr>
          <p:cNvPr id="34" name="AutoShape 34"/>
          <p:cNvSpPr txBox="1"/>
          <p:nvPr/>
        </p:nvSpPr>
        <p:spPr>
          <a:xfrm>
            <a:off x="640080" y="6053328"/>
            <a:ext cx="10908792" cy="2194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88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11430000" y="6388100"/>
            <a:ext cx="60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09</a:t>
            </a:r>
            <a:endParaRPr lang="en-US" sz="1100"/>
          </a:p>
        </p:txBody>
      </p:sp>
      <p:sp>
        <p:nvSpPr>
          <p:cNvPr id="36" name="AutoShape 36"/>
          <p:cNvSpPr txBox="1"/>
          <p:nvPr/>
        </p:nvSpPr>
        <p:spPr>
          <a:xfrm>
            <a:off x="571500" y="6413500"/>
            <a:ext cx="822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第八章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记忆管理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| Agentic Design Patterns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0E9AA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86384" y="402336"/>
            <a:ext cx="1060704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2  ·  State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86384" y="658368"/>
            <a:ext cx="10881360" cy="5187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state 的键前缀：区分作用域与生命周期（用法： xxx:键）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86384" y="1207008"/>
            <a:ext cx="108813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无前缀 = 本会话；user: = 跨会话同用户；app: = 应用全局；temp: = 仅当轮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6928" y="1700784"/>
            <a:ext cx="11064240" cy="18288"/>
          </a:xfrm>
          <a:prstGeom prst="rect">
            <a:avLst/>
          </a:prstGeom>
          <a:solidFill>
            <a:srgbClr val="D5DBE3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66928" y="2057400"/>
            <a:ext cx="1947672" cy="457200"/>
          </a:xfrm>
          <a:prstGeom prst="rect">
            <a:avLst/>
          </a:prstGeom>
          <a:solidFill>
            <a:srgbClr val="EEF1F5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713232" y="2057400"/>
            <a:ext cx="1655063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前缀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514600" y="2057400"/>
            <a:ext cx="3474720" cy="457200"/>
          </a:xfrm>
          <a:prstGeom prst="rect">
            <a:avLst/>
          </a:prstGeom>
          <a:solidFill>
            <a:srgbClr val="EEF1F5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2660904" y="2057400"/>
            <a:ext cx="3182112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作用域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989320" y="2057400"/>
            <a:ext cx="2926080" cy="457200"/>
          </a:xfrm>
          <a:prstGeom prst="rect">
            <a:avLst/>
          </a:prstGeom>
          <a:solidFill>
            <a:srgbClr val="EEF1F5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6135624" y="2057400"/>
            <a:ext cx="2633472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生命周期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915400" y="2057400"/>
            <a:ext cx="2715768" cy="457200"/>
          </a:xfrm>
          <a:prstGeom prst="rect">
            <a:avLst/>
          </a:prstGeom>
          <a:solidFill>
            <a:srgbClr val="EEF1F5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9061704" y="2057400"/>
            <a:ext cx="242316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典型用法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66928" y="2514600"/>
            <a:ext cx="11064240" cy="786384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66928" y="2514600"/>
            <a:ext cx="45720" cy="786384"/>
          </a:xfrm>
          <a:prstGeom prst="rect">
            <a:avLst/>
          </a:prstGeom>
          <a:solidFill>
            <a:srgbClr val="2E6DB4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749808" y="2514600"/>
            <a:ext cx="1673351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2E6DB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（无前缀）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2660904" y="2514600"/>
            <a:ext cx="3200400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仅当前会话可见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6135624" y="2514600"/>
            <a:ext cx="2651760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随该 Session 存续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9061704" y="2514600"/>
            <a:ext cx="2441448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本轮任务的进度、临时标记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66928" y="3300984"/>
            <a:ext cx="11064240" cy="13716"/>
          </a:xfrm>
          <a:prstGeom prst="rect">
            <a:avLst/>
          </a:prstGeom>
          <a:solidFill>
            <a:srgbClr val="D5DBE3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66928" y="3323844"/>
            <a:ext cx="11064240" cy="786384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66928" y="3323844"/>
            <a:ext cx="45720" cy="786384"/>
          </a:xfrm>
          <a:prstGeom prst="rect">
            <a:avLst/>
          </a:prstGeom>
          <a:solidFill>
            <a:srgbClr val="0E9AA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749808" y="3323844"/>
            <a:ext cx="1673351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user: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2660904" y="3323844"/>
            <a:ext cx="3200400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绑定 user_id，跨会话复用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6135624" y="3323844"/>
            <a:ext cx="2651760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持久（取决于实现）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9061704" y="3323844"/>
            <a:ext cx="2441448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用户偏好、画像、长期设定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66928" y="4110228"/>
            <a:ext cx="11064240" cy="13716"/>
          </a:xfrm>
          <a:prstGeom prst="rect">
            <a:avLst/>
          </a:prstGeom>
          <a:solidFill>
            <a:srgbClr val="D5DBE3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566928" y="4133087"/>
            <a:ext cx="11064240" cy="786384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566928" y="4133087"/>
            <a:ext cx="45720" cy="786384"/>
          </a:xfrm>
          <a:prstGeom prst="rect">
            <a:avLst/>
          </a:prstGeom>
          <a:solidFill>
            <a:srgbClr val="D96B1E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749808" y="4133087"/>
            <a:ext cx="1673351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D96B1E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app: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2660904" y="4133087"/>
            <a:ext cx="3200400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应用全局，所有用户共享</a:t>
            </a:r>
            <a:endParaRPr lang="en-US" sz="1100"/>
          </a:p>
        </p:txBody>
      </p:sp>
      <p:sp>
        <p:nvSpPr>
          <p:cNvPr id="34" name="AutoShape 34"/>
          <p:cNvSpPr txBox="1"/>
          <p:nvPr/>
        </p:nvSpPr>
        <p:spPr>
          <a:xfrm>
            <a:off x="6135624" y="4133087"/>
            <a:ext cx="2651760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持久（取决于实现）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9061704" y="4133087"/>
            <a:ext cx="2441448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全局配置、共享知识、公共规则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566928" y="4919472"/>
            <a:ext cx="11064240" cy="13716"/>
          </a:xfrm>
          <a:prstGeom prst="rect">
            <a:avLst/>
          </a:prstGeom>
          <a:solidFill>
            <a:srgbClr val="D5DBE3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566928" y="4942331"/>
            <a:ext cx="11064240" cy="786384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566928" y="4942331"/>
            <a:ext cx="45720" cy="786384"/>
          </a:xfrm>
          <a:prstGeom prst="rect">
            <a:avLst/>
          </a:prstGeom>
          <a:solidFill>
            <a:srgbClr val="A58B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9" name="AutoShape 39"/>
          <p:cNvSpPr txBox="1"/>
          <p:nvPr/>
        </p:nvSpPr>
        <p:spPr>
          <a:xfrm>
            <a:off x="749808" y="4942331"/>
            <a:ext cx="1673351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A58B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temp:</a:t>
            </a:r>
            <a:endParaRPr lang="en-US" sz="1100"/>
          </a:p>
        </p:txBody>
      </p:sp>
      <p:sp>
        <p:nvSpPr>
          <p:cNvPr id="40" name="AutoShape 40"/>
          <p:cNvSpPr txBox="1"/>
          <p:nvPr/>
        </p:nvSpPr>
        <p:spPr>
          <a:xfrm>
            <a:off x="2660904" y="5233923"/>
            <a:ext cx="3200400" cy="20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仅单次调用有效</a:t>
            </a:r>
            <a:endParaRPr lang="en-US" sz="1100"/>
          </a:p>
        </p:txBody>
      </p:sp>
      <p:sp>
        <p:nvSpPr>
          <p:cNvPr id="41" name="AutoShape 41"/>
          <p:cNvSpPr txBox="1"/>
          <p:nvPr/>
        </p:nvSpPr>
        <p:spPr>
          <a:xfrm>
            <a:off x="6135624" y="5233923"/>
            <a:ext cx="2651760" cy="20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不持久</a:t>
            </a:r>
            <a:endParaRPr lang="en-US" sz="1100"/>
          </a:p>
        </p:txBody>
      </p:sp>
      <p:sp>
        <p:nvSpPr>
          <p:cNvPr id="42" name="AutoShape 42"/>
          <p:cNvSpPr txBox="1"/>
          <p:nvPr/>
        </p:nvSpPr>
        <p:spPr>
          <a:xfrm>
            <a:off x="9061704" y="4942331"/>
            <a:ext cx="2441448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中间计算、一次性工具参数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566928" y="5728716"/>
            <a:ext cx="11064240" cy="13716"/>
          </a:xfrm>
          <a:prstGeom prst="rect">
            <a:avLst/>
          </a:prstGeom>
          <a:solidFill>
            <a:srgbClr val="D5DBE3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44" name="AutoShape 44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第八章 记忆管理 | Agentic Design Patterns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46" name="AutoShape 46"/>
          <p:cNvSpPr txBox="1"/>
          <p:nvPr/>
        </p:nvSpPr>
        <p:spPr>
          <a:xfrm>
            <a:off x="11430000" y="6388100"/>
            <a:ext cx="60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10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D96B1E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86384" y="402336"/>
            <a:ext cx="1060704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2  ·  State 写入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86384" y="658368"/>
            <a:ext cx="10881360" cy="5669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怎么写 state：output_key 与 state_delta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86384" y="1207008"/>
            <a:ext cx="108813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原则：不要拿到 get_session() 的字典直接改，要走事件写入路径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6928" y="1700784"/>
            <a:ext cx="11064240" cy="18288"/>
          </a:xfrm>
          <a:prstGeom prst="rect">
            <a:avLst/>
          </a:prstGeom>
          <a:solidFill>
            <a:srgbClr val="D5DBE3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66928" y="2011680"/>
            <a:ext cx="5394960" cy="1874519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66928" y="2011680"/>
            <a:ext cx="5394960" cy="54864"/>
          </a:xfrm>
          <a:prstGeom prst="rect">
            <a:avLst/>
          </a:prstGeom>
          <a:solidFill>
            <a:srgbClr val="2E6DB4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822960" y="2194560"/>
            <a:ext cx="489204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① 简单做法：output_key（智能体文本回复）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822960" y="2633472"/>
            <a:ext cx="4937760" cy="7785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defRPr/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配置 </a:t>
            </a:r>
            <a:r>
              <a:rPr lang="en-US" sz="115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LlmAgent</a:t>
            </a: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时声明 </a:t>
            </a:r>
            <a:r>
              <a:rPr lang="en-US" sz="115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output_key</a:t>
            </a: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sz="1250" b="1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Runner</a:t>
            </a: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在 </a:t>
            </a:r>
            <a:r>
              <a:rPr lang="en-US" sz="115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append_event</a:t>
            </a: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时自动附带合适的 </a:t>
            </a:r>
            <a:r>
              <a:rPr lang="en-US" sz="115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state_delta</a:t>
            </a: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适用：只想简单保存 Agent 文本输出。</a:t>
            </a:r>
            <a:endParaRPr lang="en-US" sz="1200" b="0" i="0" u="none" strike="noStrike">
              <a:solidFill>
                <a:srgbClr val="6E76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36208" y="2011680"/>
            <a:ext cx="5394960" cy="1874519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36208" y="2011680"/>
            <a:ext cx="5394960" cy="54864"/>
          </a:xfrm>
          <a:prstGeom prst="rect">
            <a:avLst/>
          </a:prstGeom>
          <a:solidFill>
            <a:srgbClr val="0E9AA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492240" y="2194560"/>
            <a:ext cx="489204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5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② 标准做法：EventActions.state_delta（工具内写入）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492240" y="2633472"/>
            <a:ext cx="4937760" cy="1000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defRPr/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在工具函数里通过 </a:t>
            </a:r>
            <a:r>
              <a:rPr lang="en-US" sz="115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ToolContext</a:t>
            </a: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构造 </a:t>
            </a:r>
            <a:r>
              <a:rPr lang="en-US" sz="115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EventActions(state_delta={...})</a:t>
            </a: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，随事件一起提交。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适用：工具里写状态、一次更新多个 key、存 json / 列表等结构化数据、更新用户级 / 应用级全局状态、和 Agent 回复无关的业务数据。</a:t>
            </a:r>
            <a:endParaRPr lang="en-US" sz="1200" b="0" i="0" u="none" strike="noStrike">
              <a:solidFill>
                <a:srgbClr val="6E76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66928" y="4069080"/>
            <a:ext cx="5394960" cy="2103120"/>
          </a:xfrm>
          <a:prstGeom prst="roundRect">
            <a:avLst>
              <a:gd name="adj" fmla="val 4000"/>
            </a:avLst>
          </a:prstGeom>
          <a:solidFill>
            <a:srgbClr val="10141A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66928" y="4069080"/>
            <a:ext cx="45720" cy="2103120"/>
          </a:xfrm>
          <a:prstGeom prst="rect">
            <a:avLst/>
          </a:prstGeom>
          <a:solidFill>
            <a:srgbClr val="0E9AA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786384" y="4197096"/>
            <a:ext cx="50292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35D0B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A. output_key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786384" y="4507992"/>
            <a:ext cx="4992624" cy="15361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150"/>
              </a:spcAft>
              <a:defRPr/>
            </a:pPr>
            <a:r>
              <a:rPr lang="en-US" sz="1150" b="0" i="0" u="none" strike="noStrike">
                <a:solidFill>
                  <a:srgbClr val="D6E2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agent = LlmAgent(</a:t>
            </a:r>
            <a:endParaRPr lang="en-US" sz="1100"/>
          </a:p>
          <a:p>
            <a:pPr marL="0" indent="0" algn="l">
              <a:lnSpc>
                <a:spcPct val="108000"/>
              </a:lnSpc>
              <a:spcAft>
                <a:spcPts val="150"/>
              </a:spcAft>
            </a:pPr>
            <a:r>
              <a:rPr lang="en-US" sz="1150" b="0" i="0" u="none" strike="noStrike">
                <a:solidFill>
                  <a:srgbClr val="D6E2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name="greeter",</a:t>
            </a:r>
            <a:endParaRPr lang="en-US" sz="1150" b="0" i="0" u="none" strike="noStrike">
              <a:solidFill>
                <a:srgbClr val="D6E2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  <a:spcAft>
                <a:spcPts val="150"/>
              </a:spcAft>
            </a:pPr>
            <a:r>
              <a:rPr lang="en-US" sz="1150" b="0" i="0" u="none" strike="noStrike">
                <a:solidFill>
                  <a:srgbClr val="D6E2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model="gemini-2.0-flash",</a:t>
            </a:r>
            <a:endParaRPr lang="en-US" sz="1150" b="0" i="0" u="none" strike="noStrike">
              <a:solidFill>
                <a:srgbClr val="D6E2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  <a:spcAft>
                <a:spcPts val="150"/>
              </a:spcAft>
            </a:pPr>
            <a:r>
              <a:rPr lang="en-US" sz="1150" b="0" i="0" u="none" strike="noStrike">
                <a:solidFill>
                  <a:srgbClr val="D6E2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instruction="记住用户的名字并问候",</a:t>
            </a:r>
            <a:endParaRPr lang="en-US" sz="1150" b="0" i="0" u="none" strike="noStrike">
              <a:solidFill>
                <a:srgbClr val="D6E2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  <a:spcAft>
                <a:spcPts val="150"/>
              </a:spcAft>
            </a:pPr>
            <a:r>
              <a:rPr lang="en-US" sz="1150" b="0" i="0" u="none" strike="noStrike">
                <a:solidFill>
                  <a:srgbClr val="D6E2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</a:t>
            </a:r>
            <a:r>
              <a:rPr lang="en-US" sz="1150" b="0" i="0" u="none" strike="noStrike">
                <a:solidFill>
                  <a:srgbClr val="FF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output_key="last_reply",   # ← 文本回复自动入 state</a:t>
            </a:r>
            <a:endParaRPr lang="en-US" sz="1150" b="0" i="0" u="none" strike="noStrike">
              <a:solidFill>
                <a:srgbClr val="FF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  <a:spcAft>
                <a:spcPts val="150"/>
              </a:spcAft>
            </a:pPr>
            <a:r>
              <a:rPr lang="en-US" sz="1150" b="0" i="0" u="none" strike="noStrike">
                <a:solidFill>
                  <a:srgbClr val="D6E2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</a:t>
            </a:r>
            <a:endParaRPr lang="en-US" sz="1150" b="0" i="0" u="none" strike="noStrike">
              <a:solidFill>
                <a:srgbClr val="D6E2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236208" y="4069080"/>
            <a:ext cx="5394960" cy="2103120"/>
          </a:xfrm>
          <a:prstGeom prst="roundRect">
            <a:avLst>
              <a:gd name="adj" fmla="val 4000"/>
            </a:avLst>
          </a:prstGeom>
          <a:solidFill>
            <a:srgbClr val="10141A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36208" y="4069080"/>
            <a:ext cx="45720" cy="2103120"/>
          </a:xfrm>
          <a:prstGeom prst="rect">
            <a:avLst/>
          </a:prstGeom>
          <a:solidFill>
            <a:srgbClr val="0E9AA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6455664" y="4197096"/>
            <a:ext cx="50292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35D0B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B. state_delta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6455664" y="4507992"/>
            <a:ext cx="4992624" cy="15361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spcAft>
                <a:spcPts val="150"/>
              </a:spcAft>
              <a:defRPr/>
            </a:pPr>
            <a:r>
              <a:rPr lang="en-US" sz="1150" b="0" i="0" u="none" strike="noStrike">
                <a:solidFill>
                  <a:srgbClr val="93A7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# 在工具里写入 state（推荐路径）</a:t>
            </a:r>
            <a:endParaRPr lang="en-US" sz="1100"/>
          </a:p>
          <a:p>
            <a:pPr marL="0" indent="0" algn="l">
              <a:lnSpc>
                <a:spcPct val="108000"/>
              </a:lnSpc>
              <a:spcAft>
                <a:spcPts val="150"/>
              </a:spcAft>
            </a:pPr>
            <a:r>
              <a:rPr lang="en-US" sz="1150" b="0" i="0" u="none" strike="noStrike">
                <a:solidFill>
                  <a:srgbClr val="D6E2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actions = EventActions(</a:t>
            </a:r>
            <a:endParaRPr lang="en-US" sz="1150" b="0" i="0" u="none" strike="noStrike">
              <a:solidFill>
                <a:srgbClr val="D6E2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  <a:spcAft>
                <a:spcPts val="150"/>
              </a:spcAft>
            </a:pPr>
            <a:r>
              <a:rPr lang="en-US" sz="1150" b="0" i="0" u="none" strike="noStrike">
                <a:solidFill>
                  <a:srgbClr val="D6E2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</a:t>
            </a:r>
            <a:r>
              <a:rPr lang="en-US" sz="1150" b="0" i="0" u="none" strike="noStrike">
                <a:solidFill>
                  <a:srgbClr val="FF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state_delta={"user:name": "Ada",</a:t>
            </a:r>
            <a:endParaRPr lang="en-US" sz="1150" b="0" i="0" u="none" strike="noStrike">
              <a:solidFill>
                <a:srgbClr val="FF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  <a:spcAft>
                <a:spcPts val="150"/>
              </a:spcAft>
            </a:pPr>
            <a:r>
              <a:rPr lang="en-US" sz="1150" b="0" i="0" u="none" strike="noStrike">
                <a:solidFill>
                  <a:srgbClr val="FF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         "temp:step": 2})</a:t>
            </a:r>
            <a:endParaRPr lang="en-US" sz="1150" b="0" i="0" u="none" strike="noStrike">
              <a:solidFill>
                <a:srgbClr val="FF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  <a:spcAft>
                <a:spcPts val="150"/>
              </a:spcAft>
            </a:pPr>
            <a:r>
              <a:rPr lang="en-US" sz="1150" b="0" i="0" u="none" strike="noStrike">
                <a:solidFill>
                  <a:srgbClr val="D6E2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await session_service.append_event(</a:t>
            </a:r>
            <a:endParaRPr lang="en-US" sz="1150" b="0" i="0" u="none" strike="noStrike">
              <a:solidFill>
                <a:srgbClr val="D6E2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  <a:spcAft>
                <a:spcPts val="150"/>
              </a:spcAft>
            </a:pPr>
            <a:r>
              <a:rPr lang="en-US" sz="1150" b="0" i="0" u="none" strike="noStrike">
                <a:solidFill>
                  <a:srgbClr val="D6E2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session=session, event=Event(</a:t>
            </a:r>
            <a:endParaRPr lang="en-US" sz="1150" b="0" i="0" u="none" strike="noStrike">
              <a:solidFill>
                <a:srgbClr val="D6E2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  <a:spcAft>
                <a:spcPts val="150"/>
              </a:spcAft>
            </a:pPr>
            <a:r>
              <a:rPr lang="en-US" sz="1150" b="0" i="0" u="none" strike="noStrike">
                <a:solidFill>
                  <a:srgbClr val="D6E2F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actions=actions))</a:t>
            </a:r>
            <a:endParaRPr lang="en-US" sz="1150" b="0" i="0" u="none" strike="noStrike">
              <a:solidFill>
                <a:srgbClr val="D6E2F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24" name="AutoShape 24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第八章 记忆管理 | Agentic Design Patterns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11430000" y="6388100"/>
            <a:ext cx="60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11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" y="0"/>
            <a:ext cx="12191695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0E9AA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86384" y="658368"/>
            <a:ext cx="10881360" cy="4616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5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路径</a:t>
            </a:r>
            <a:r>
              <a:rPr lang="en-US" sz="2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1 output_key</a:t>
            </a:r>
            <a:r>
              <a:rPr lang="en-US" sz="25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代码及运行结果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59079" y="1188720"/>
            <a:ext cx="10881360" cy="2393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31520" y="1792224"/>
            <a:ext cx="1088136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1" i="0" u="none" strike="noStrike">
                <a:solidFill>
                  <a:srgbClr val="2E6DB4"/>
                </a:solidFill>
                <a:latin typeface="Songti SC"/>
                <a:ea typeface="Songti SC"/>
                <a:cs typeface="Songti SC"/>
                <a:sym typeface="Songti SC"/>
              </a:rPr>
              <a:t>实测代码：</a:t>
            </a:r>
            <a:r>
              <a:rPr lang="en-US" sz="100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demo2_write_state() · </a:t>
            </a:r>
            <a:r>
              <a:rPr lang="en-US" sz="1000" b="1" i="0" u="none" strike="noStrike">
                <a:solidFill>
                  <a:srgbClr val="2E6DB4"/>
                </a:solidFill>
                <a:latin typeface="Songti SC"/>
                <a:ea typeface="Songti SC"/>
                <a:cs typeface="Songti SC"/>
                <a:sym typeface="Songti SC"/>
              </a:rPr>
              <a:t>路径</a:t>
            </a:r>
            <a:r>
              <a:rPr lang="en-US" sz="100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7055" y="2030095"/>
            <a:ext cx="76200" cy="3375025"/>
          </a:xfrm>
          <a:prstGeom prst="rect">
            <a:avLst/>
          </a:prstGeom>
          <a:solidFill>
            <a:srgbClr val="2E6DB4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rcRect b="5508"/>
          <a:stretch>
            <a:fillRect/>
          </a:stretch>
        </p:blipFill>
        <p:spPr>
          <a:xfrm>
            <a:off x="731520" y="2030095"/>
            <a:ext cx="7189470" cy="337629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566928" y="6078656"/>
            <a:ext cx="45720" cy="340431"/>
          </a:xfrm>
          <a:prstGeom prst="rect">
            <a:avLst/>
          </a:prstGeom>
          <a:solidFill>
            <a:srgbClr val="2E6DB4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第八章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记忆管理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| Agentic Design Patterns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0E9AA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786384" y="402336"/>
            <a:ext cx="1060704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5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2  ·  </a:t>
            </a:r>
            <a:r>
              <a:rPr lang="en-US" sz="1250" b="1" i="0" u="none" strike="noStrike">
                <a:solidFill>
                  <a:srgbClr val="0E9AA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31520" y="2574925"/>
            <a:ext cx="5047615" cy="908685"/>
          </a:xfrm>
          <a:prstGeom prst="rect">
            <a:avLst/>
          </a:prstGeom>
          <a:noFill/>
          <a:ln w="12700" cap="flat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31520" y="2574925"/>
            <a:ext cx="5047615" cy="908685"/>
          </a:xfrm>
          <a:prstGeom prst="rect">
            <a:avLst/>
          </a:prstGeom>
          <a:noFill/>
          <a:ln w="12700" cap="flat">
            <a:noFill/>
            <a:prstDash val="solid"/>
          </a:ln>
          <a:effectLst>
            <a:outerShdw blurRad="38100" dist="12700" dir="5400000" rotWithShape="0">
              <a:srgbClr val="000000">
                <a:alpha val="3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9923" y="6160135"/>
            <a:ext cx="9956800" cy="1778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6" name="AutoShape 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1430000" y="6388100"/>
            <a:ext cx="60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12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1520" y="2574925"/>
            <a:ext cx="5047615" cy="908685"/>
          </a:xfrm>
          <a:prstGeom prst="rect">
            <a:avLst/>
          </a:prstGeom>
          <a:noFill/>
          <a:ln w="25400" cap="flat">
            <a:solidFill>
              <a:srgbClr val="376092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flipV="1">
            <a:off x="2707005" y="3243580"/>
            <a:ext cx="2113915" cy="5715"/>
          </a:xfrm>
          <a:prstGeom prst="line">
            <a:avLst/>
          </a:prstGeom>
          <a:noFill/>
          <a:ln w="25400" cap="flat">
            <a:solidFill>
              <a:srgbClr val="4F81BD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0E9AA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86384" y="402336"/>
            <a:ext cx="1060704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5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2  ·  </a:t>
            </a:r>
            <a:r>
              <a:rPr lang="en-US" sz="1250" b="1" i="0" u="none" strike="noStrike">
                <a:solidFill>
                  <a:srgbClr val="0E9AA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</a:t>
            </a:r>
            <a:r>
              <a:rPr lang="en-US" sz="125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+ </a:t>
            </a:r>
            <a:r>
              <a:rPr lang="en-US" sz="1250" b="1" i="0" u="none" strike="noStrike">
                <a:solidFill>
                  <a:srgbClr val="0E9AA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86384" y="658368"/>
            <a:ext cx="10881360" cy="9232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5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路径</a:t>
            </a:r>
            <a:r>
              <a:rPr lang="en-US" sz="2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2</a:t>
            </a:r>
            <a:r>
              <a:rPr lang="en-US" sz="25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：</a:t>
            </a:r>
            <a:r>
              <a:rPr lang="en-US" sz="2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state_delta</a:t>
            </a:r>
            <a:r>
              <a:rPr lang="en-US" sz="25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代码及运行结果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25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25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786384" y="1188720"/>
            <a:ext cx="108813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书里那句话的逐字翻译：在</a:t>
            </a:r>
            <a:r>
              <a:rPr lang="en-US" sz="13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append_event </a:t>
            </a:r>
            <a:r>
              <a:rPr lang="en-US" sz="130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中通过</a:t>
            </a:r>
            <a:r>
              <a:rPr lang="en-US" sz="13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EventActions.state_delta </a:t>
            </a:r>
            <a:r>
              <a:rPr lang="en-US" sz="130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提交变更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6928" y="420624"/>
            <a:ext cx="82296" cy="512064"/>
          </a:xfrm>
          <a:prstGeom prst="rect">
            <a:avLst/>
          </a:prstGeom>
          <a:solidFill>
            <a:srgbClr val="0E9AA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66928" y="1499616"/>
            <a:ext cx="11064240" cy="18288"/>
          </a:xfrm>
          <a:prstGeom prst="rect">
            <a:avLst/>
          </a:prstGeom>
          <a:solidFill>
            <a:srgbClr val="D5DBE3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731520" y="1792224"/>
            <a:ext cx="1088136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1" i="0" u="none" strike="noStrike">
                <a:solidFill>
                  <a:srgbClr val="0E9AA8"/>
                </a:solidFill>
                <a:latin typeface="Songti SC"/>
                <a:ea typeface="Songti SC"/>
                <a:cs typeface="Songti SC"/>
                <a:sym typeface="Songti SC"/>
              </a:rPr>
              <a:t>实测代码：</a:t>
            </a:r>
            <a:r>
              <a:rPr lang="en-US" sz="100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demo2_write_state() · </a:t>
            </a:r>
            <a:r>
              <a:rPr lang="en-US" sz="1000" b="1" i="0" u="none" strike="noStrike">
                <a:solidFill>
                  <a:srgbClr val="0E9AA8"/>
                </a:solidFill>
                <a:latin typeface="Songti SC"/>
                <a:ea typeface="Songti SC"/>
                <a:cs typeface="Songti SC"/>
                <a:sym typeface="Songti SC"/>
              </a:rPr>
              <a:t>路径</a:t>
            </a:r>
            <a:r>
              <a:rPr lang="en-US" sz="100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66928" y="2029967"/>
            <a:ext cx="45720" cy="3421063"/>
          </a:xfrm>
          <a:prstGeom prst="rect">
            <a:avLst/>
          </a:prstGeom>
          <a:solidFill>
            <a:srgbClr val="0E9AA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1520" y="2029967"/>
            <a:ext cx="9661913" cy="342106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2" name="AutoShape 12"/>
          <p:cNvSpPr txBox="1"/>
          <p:nvPr/>
        </p:nvSpPr>
        <p:spPr>
          <a:xfrm>
            <a:off x="731520" y="5688775"/>
            <a:ext cx="1088136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1" i="0" u="none" strike="noStrike">
                <a:solidFill>
                  <a:srgbClr val="0E9AA8"/>
                </a:solidFill>
                <a:latin typeface="Songti SC"/>
                <a:ea typeface="Songti SC"/>
                <a:cs typeface="Songti SC"/>
                <a:sym typeface="Songti SC"/>
              </a:rPr>
              <a:t>实测终端输出：两个键都生效了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66928" y="5926519"/>
            <a:ext cx="45720" cy="492568"/>
          </a:xfrm>
          <a:prstGeom prst="rect">
            <a:avLst/>
          </a:prstGeom>
          <a:solidFill>
            <a:srgbClr val="0E9AA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1520" y="5926519"/>
            <a:ext cx="9661913" cy="49256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5" name="AutoShape 15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第八章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记忆管理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| Agentic Design Patterns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66825" y="4034155"/>
            <a:ext cx="7529830" cy="748030"/>
          </a:xfrm>
          <a:prstGeom prst="rect">
            <a:avLst/>
          </a:prstGeom>
          <a:noFill/>
          <a:ln w="12700" cap="flat">
            <a:noFill/>
            <a:prstDash val="solid"/>
          </a:ln>
          <a:effectLst>
            <a:outerShdw blurRad="38100" dist="12700" dir="5400000" rotWithShape="0">
              <a:srgbClr val="000000">
                <a:alpha val="3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1430000" y="6388100"/>
            <a:ext cx="60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266825" y="4034155"/>
            <a:ext cx="7338695" cy="748030"/>
          </a:xfrm>
          <a:prstGeom prst="rect">
            <a:avLst/>
          </a:prstGeom>
          <a:noFill/>
          <a:ln w="25400" cap="flat">
            <a:solidFill>
              <a:srgbClr val="376092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C0392B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86384" y="402336"/>
            <a:ext cx="1060704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50" b="1" i="0" u="none" strike="noStrike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2  ·  </a:t>
            </a:r>
            <a:r>
              <a:rPr lang="en-US" sz="1250" b="1" i="0" u="none" strike="noStrike">
                <a:solidFill>
                  <a:srgbClr val="C039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</a:t>
            </a:r>
            <a:r>
              <a:rPr lang="en-US" sz="1250" b="1" i="0" u="none" strike="noStrike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+ </a:t>
            </a:r>
            <a:r>
              <a:rPr lang="en-US" sz="1250" b="1" i="0" u="none" strike="noStrike">
                <a:solidFill>
                  <a:srgbClr val="C039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86384" y="658368"/>
            <a:ext cx="10881360" cy="4616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5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路径</a:t>
            </a:r>
            <a:r>
              <a:rPr lang="en-US" sz="2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3</a:t>
            </a:r>
            <a:r>
              <a:rPr lang="en-US" sz="25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：直接改字典</a:t>
            </a:r>
            <a:r>
              <a:rPr lang="en-US" sz="2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(</a:t>
            </a:r>
            <a:r>
              <a:rPr lang="en-US" sz="25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不允许</a:t>
            </a:r>
            <a:r>
              <a:rPr lang="en-US" sz="2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420624"/>
            <a:ext cx="82296" cy="512064"/>
          </a:xfrm>
          <a:prstGeom prst="rect">
            <a:avLst/>
          </a:prstGeom>
          <a:solidFill>
            <a:srgbClr val="C0392B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786384" y="347472"/>
            <a:ext cx="10607040" cy="2260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5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66928" y="1499616"/>
            <a:ext cx="11064240" cy="18288"/>
          </a:xfrm>
          <a:prstGeom prst="rect">
            <a:avLst/>
          </a:prstGeom>
          <a:solidFill>
            <a:srgbClr val="D5DBE3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731520" y="1792224"/>
            <a:ext cx="1088136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1" i="0" u="none" strike="noStrike">
                <a:solidFill>
                  <a:srgbClr val="C0392B"/>
                </a:solidFill>
                <a:latin typeface="Songti SC"/>
                <a:ea typeface="Songti SC"/>
                <a:cs typeface="Songti SC"/>
                <a:sym typeface="Songti SC"/>
              </a:rPr>
              <a:t>实测代码：</a:t>
            </a:r>
            <a:r>
              <a:rPr lang="en-US" sz="1000" b="1" i="0" u="none" strike="noStrike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demo2_write_state() · </a:t>
            </a:r>
            <a:r>
              <a:rPr lang="en-US" sz="1000" b="1" i="0" u="none" strike="noStrike">
                <a:solidFill>
                  <a:srgbClr val="C0392B"/>
                </a:solidFill>
                <a:latin typeface="Songti SC"/>
                <a:ea typeface="Songti SC"/>
                <a:cs typeface="Songti SC"/>
                <a:sym typeface="Songti SC"/>
              </a:rPr>
              <a:t>路径</a:t>
            </a:r>
            <a:r>
              <a:rPr lang="en-US" sz="1000" b="1" i="0" u="none" strike="noStrike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3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67055" y="2030095"/>
            <a:ext cx="76200" cy="2326640"/>
          </a:xfrm>
          <a:prstGeom prst="rect">
            <a:avLst/>
          </a:prstGeom>
          <a:solidFill>
            <a:srgbClr val="C0392B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 b="10633"/>
          <a:stretch>
            <a:fillRect/>
          </a:stretch>
        </p:blipFill>
        <p:spPr>
          <a:xfrm>
            <a:off x="731520" y="2030095"/>
            <a:ext cx="9017635" cy="232664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2" name="AutoShape 12"/>
          <p:cNvSpPr txBox="1"/>
          <p:nvPr/>
        </p:nvSpPr>
        <p:spPr>
          <a:xfrm>
            <a:off x="731520" y="4871289"/>
            <a:ext cx="1088136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1" i="0" u="none" strike="noStrike">
                <a:solidFill>
                  <a:srgbClr val="C0392B"/>
                </a:solidFill>
                <a:latin typeface="Songti SC"/>
                <a:ea typeface="Songti SC"/>
                <a:cs typeface="Songti SC"/>
                <a:sym typeface="Songti SC"/>
              </a:rPr>
              <a:t>实测终端输出：</a:t>
            </a:r>
            <a:r>
              <a:rPr lang="en-US" sz="1000" b="1" i="0" u="none" strike="noStrike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events = 0</a:t>
            </a:r>
            <a:r>
              <a:rPr lang="en-US" sz="1000" b="1" i="0" u="none" strike="noStrike">
                <a:solidFill>
                  <a:srgbClr val="C0392B"/>
                </a:solidFill>
                <a:latin typeface="Songti SC"/>
                <a:ea typeface="Songti SC"/>
                <a:cs typeface="Songti SC"/>
                <a:sym typeface="Songti SC"/>
              </a:rPr>
              <a:t>，状态还是旧值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67055" y="5109210"/>
            <a:ext cx="76200" cy="892810"/>
          </a:xfrm>
          <a:prstGeom prst="rect">
            <a:avLst/>
          </a:prstGeom>
          <a:solidFill>
            <a:srgbClr val="C0392B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rcRect b="32283"/>
          <a:stretch>
            <a:fillRect/>
          </a:stretch>
        </p:blipFill>
        <p:spPr>
          <a:xfrm>
            <a:off x="731520" y="5109210"/>
            <a:ext cx="9017635" cy="88709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5" name="AutoShape 15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第八章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记忆管理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| Agentic Design Patterns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31520" y="3304540"/>
            <a:ext cx="7273925" cy="358140"/>
          </a:xfrm>
          <a:prstGeom prst="rect">
            <a:avLst/>
          </a:prstGeom>
          <a:noFill/>
          <a:ln w="12700" cap="flat">
            <a:noFill/>
            <a:prstDash val="solid"/>
          </a:ln>
          <a:effectLst>
            <a:outerShdw blurRad="38100" dist="12700" dir="5400000" rotWithShape="0">
              <a:srgbClr val="000000">
                <a:alpha val="3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1430000" y="6388100"/>
            <a:ext cx="60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9605" y="3304540"/>
            <a:ext cx="7355840" cy="358140"/>
          </a:xfrm>
          <a:prstGeom prst="rect">
            <a:avLst/>
          </a:prstGeom>
          <a:noFill/>
          <a:ln w="25400" cap="flat">
            <a:solidFill>
              <a:srgbClr val="376092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D96B1E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86384" y="402336"/>
            <a:ext cx="1060704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2  ·  MemoryService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86384" y="658368"/>
            <a:ext cx="10881360" cy="5669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MemoryService：长期知识的读写接口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6928" y="1700784"/>
            <a:ext cx="11064240" cy="18288"/>
          </a:xfrm>
          <a:prstGeom prst="rect">
            <a:avLst/>
          </a:prstGeom>
          <a:solidFill>
            <a:srgbClr val="D5DBE3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66928" y="2011680"/>
            <a:ext cx="3291840" cy="214884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66928" y="2011680"/>
            <a:ext cx="54864" cy="2148840"/>
          </a:xfrm>
          <a:prstGeom prst="rect">
            <a:avLst/>
          </a:prstGeom>
          <a:solidFill>
            <a:srgbClr val="2E6DB4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841248" y="2240280"/>
            <a:ext cx="283464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defRPr/>
            </a:pPr>
            <a:r>
              <a:rPr lang="en-US" sz="1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写入：add_session_to_memory</a:t>
            </a:r>
            <a:endParaRPr lang="en-US" sz="1100"/>
          </a:p>
          <a:p>
            <a:pPr marL="0" indent="0" algn="l">
              <a:lnSpc>
                <a:spcPct val="125000"/>
              </a:lnSpc>
              <a:spcAft>
                <a:spcPts val="600"/>
              </a:spcAft>
            </a:pPr>
            <a:r>
              <a:rPr lang="en-US" sz="12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从会话中抽取内容并写入长期存储。</a:t>
            </a:r>
            <a:endParaRPr lang="en-US" sz="1200" b="0" i="0" u="none" strike="noStrike">
              <a:solidFill>
                <a:srgbClr val="444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通常在会话告一段落、或用户显式「记住这件事」时调用。</a:t>
            </a:r>
            <a:endParaRPr lang="en-US" sz="1200" b="0" i="0" u="none" strike="noStrike">
              <a:solidFill>
                <a:srgbClr val="6E76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041648" y="2011680"/>
            <a:ext cx="3291840" cy="214884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041648" y="2011680"/>
            <a:ext cx="54864" cy="2148840"/>
          </a:xfrm>
          <a:prstGeom prst="rect">
            <a:avLst/>
          </a:prstGeom>
          <a:solidFill>
            <a:srgbClr val="0E9AA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4315968" y="2240280"/>
            <a:ext cx="283464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defRPr/>
            </a:pPr>
            <a:r>
              <a:rPr lang="en-US" sz="1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读取：search_memory</a:t>
            </a:r>
            <a:endParaRPr lang="en-US" sz="1100"/>
          </a:p>
          <a:p>
            <a:pPr marL="0" indent="0" algn="l">
              <a:lnSpc>
                <a:spcPct val="125000"/>
              </a:lnSpc>
              <a:spcAft>
                <a:spcPts val="600"/>
              </a:spcAft>
            </a:pPr>
            <a:r>
              <a:rPr lang="en-US" sz="12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检索最相关的记忆片段返回给智能体。</a:t>
            </a:r>
            <a:endParaRPr lang="en-US" sz="1200" b="0" i="0" u="none" strike="noStrike">
              <a:solidFill>
                <a:srgbClr val="444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多数框架以 **工具（Tool）** 形式暴露给 LLM，由模型决定何时检索。</a:t>
            </a:r>
            <a:endParaRPr lang="en-US" sz="1200" b="0" i="0" u="none" strike="noStrike">
              <a:solidFill>
                <a:srgbClr val="6E768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516368" y="2011680"/>
            <a:ext cx="4114800" cy="214884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516368" y="2011680"/>
            <a:ext cx="54864" cy="2148840"/>
          </a:xfrm>
          <a:prstGeom prst="rect">
            <a:avLst/>
          </a:prstGeom>
          <a:solidFill>
            <a:srgbClr val="D96B1E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7790688" y="2240280"/>
            <a:ext cx="36576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defRPr/>
            </a:pPr>
            <a:r>
              <a:rPr lang="en-US" sz="1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两种实现怎么选</a:t>
            </a:r>
            <a:endParaRPr lang="en-US" sz="1100"/>
          </a:p>
          <a:p>
            <a:pPr marL="0" indent="0" algn="l">
              <a:lnSpc>
                <a:spcPct val="125000"/>
              </a:lnSpc>
              <a:spcAft>
                <a:spcPts val="600"/>
              </a:spcAft>
            </a:pPr>
            <a:r>
              <a:rPr lang="en-US" sz="110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InMemoryMemoryService</a:t>
            </a:r>
            <a:r>
              <a:rPr lang="en-US" sz="12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：临时存储，适合测试，</a:t>
            </a:r>
            <a:r>
              <a:rPr lang="en-US" sz="1200" b="1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重启即丢</a:t>
            </a:r>
            <a:r>
              <a:rPr lang="en-US" sz="12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en-US" sz="1200" b="0" i="0" u="none" strike="noStrike">
              <a:solidFill>
                <a:srgbClr val="444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VertexAiRagMemoryService</a:t>
            </a:r>
            <a:r>
              <a:rPr lang="en-US" sz="12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：生产级，基于 Google Cloud RAG，</a:t>
            </a:r>
            <a:r>
              <a:rPr lang="en-US" sz="1200" b="1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可扩展、持久、支持语义检索</a:t>
            </a:r>
            <a:r>
              <a:rPr lang="en-US" sz="12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en-US" sz="1200" b="0" i="0" u="none" strike="noStrike">
              <a:solidFill>
                <a:srgbClr val="444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566928" y="4480560"/>
            <a:ext cx="2487168" cy="777240"/>
          </a:xfrm>
          <a:prstGeom prst="roundRect">
            <a:avLst>
              <a:gd name="adj" fmla="val 9999"/>
            </a:avLst>
          </a:prstGeom>
          <a:solidFill>
            <a:srgbClr val="EEF1F5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66928" y="4480560"/>
            <a:ext cx="45720" cy="777240"/>
          </a:xfrm>
          <a:prstGeom prst="rect">
            <a:avLst/>
          </a:prstGeom>
          <a:solidFill>
            <a:srgbClr val="2E6DB4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749808" y="4480560"/>
            <a:ext cx="2167128" cy="777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1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交互产生 Event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090672" y="4681728"/>
            <a:ext cx="310896" cy="38404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6DB4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438144" y="4480560"/>
            <a:ext cx="2487168" cy="777240"/>
          </a:xfrm>
          <a:prstGeom prst="roundRect">
            <a:avLst>
              <a:gd name="adj" fmla="val 9999"/>
            </a:avLst>
          </a:prstGeom>
          <a:solidFill>
            <a:srgbClr val="EEF1F5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438144" y="4480560"/>
            <a:ext cx="45720" cy="777240"/>
          </a:xfrm>
          <a:prstGeom prst="rect">
            <a:avLst/>
          </a:prstGeom>
          <a:solidFill>
            <a:srgbClr val="2E6DB4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3621024" y="4480560"/>
            <a:ext cx="2167128" cy="777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1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会话结束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961888" y="4681728"/>
            <a:ext cx="310896" cy="38404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6DB4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09360" y="4480560"/>
            <a:ext cx="2487168" cy="777240"/>
          </a:xfrm>
          <a:prstGeom prst="roundRect">
            <a:avLst>
              <a:gd name="adj" fmla="val 9999"/>
            </a:avLst>
          </a:prstGeom>
          <a:solidFill>
            <a:srgbClr val="EEF1F5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09360" y="4480560"/>
            <a:ext cx="45720" cy="777240"/>
          </a:xfrm>
          <a:prstGeom prst="rect">
            <a:avLst/>
          </a:prstGeom>
          <a:solidFill>
            <a:srgbClr val="0E9AA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6492240" y="4480560"/>
            <a:ext cx="2167128" cy="777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1" i="0" u="none" strike="noStrike">
                <a:solidFill>
                  <a:srgbClr val="444A5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add_session_to_memory(session)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833104" y="4681728"/>
            <a:ext cx="310896" cy="38404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E6DB4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180576" y="4480560"/>
            <a:ext cx="2487168" cy="777240"/>
          </a:xfrm>
          <a:prstGeom prst="roundRect">
            <a:avLst>
              <a:gd name="adj" fmla="val 9999"/>
            </a:avLst>
          </a:prstGeom>
          <a:solidFill>
            <a:srgbClr val="EEF1F5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180576" y="4480560"/>
            <a:ext cx="45720" cy="777240"/>
          </a:xfrm>
          <a:prstGeom prst="rect">
            <a:avLst/>
          </a:prstGeom>
          <a:solidFill>
            <a:srgbClr val="D96B1E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9363456" y="4480560"/>
            <a:ext cx="2167128" cy="777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1" i="0" u="none" strike="noStrike">
                <a:solidFill>
                  <a:srgbClr val="444A5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外部存储 / RAG 语料库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566928" y="5532120"/>
            <a:ext cx="11064240" cy="777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关键设计</a:t>
            </a:r>
            <a:r>
              <a:rPr lang="en-US" sz="13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120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Session</a:t>
            </a:r>
            <a:r>
              <a:rPr lang="en-US" sz="13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+ </a:t>
            </a:r>
            <a:r>
              <a:rPr lang="en-US" sz="120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State</a:t>
            </a:r>
            <a:r>
              <a:rPr lang="en-US" sz="13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是单会话短期记忆；</a:t>
            </a:r>
            <a:r>
              <a:rPr lang="en-US" sz="1200" b="0" i="0" u="none" strike="noStrike">
                <a:solidFill>
                  <a:srgbClr val="0E9AA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MemoryService</a:t>
            </a:r>
            <a:r>
              <a:rPr lang="en-US" sz="13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管理的是</a:t>
            </a:r>
            <a:r>
              <a:rPr lang="en-US" sz="13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跨会话、可搜索</a:t>
            </a:r>
            <a:r>
              <a:rPr lang="en-US" sz="13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的长期知识仓库——它可以从多轮历史中抽取，也可以接入外部数据源。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第八章 记忆管理 | Agentic Design Patterns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11430000" y="6388100"/>
            <a:ext cx="60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15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0E9AA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86384" y="402336"/>
            <a:ext cx="1060704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5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2  ·  Memory </a:t>
            </a:r>
            <a:r>
              <a:rPr lang="en-US" sz="1250" b="1" i="0" u="none" strike="noStrike">
                <a:solidFill>
                  <a:srgbClr val="0E9AA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86384" y="658368"/>
            <a:ext cx="10881360" cy="5669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3.1 </a:t>
            </a:r>
            <a:r>
              <a:rPr lang="en-US" sz="2500" b="1" i="0" u="none" strike="noStrike">
                <a:solidFill>
                  <a:srgbClr val="1F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造历史会话，写入长期记忆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86384" y="1188720"/>
            <a:ext cx="10881360" cy="1974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6928" y="420624"/>
            <a:ext cx="82296" cy="512064"/>
          </a:xfrm>
          <a:prstGeom prst="rect">
            <a:avLst/>
          </a:prstGeom>
          <a:solidFill>
            <a:srgbClr val="0E9AA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786384" y="1097280"/>
            <a:ext cx="10881360" cy="208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66928" y="1499616"/>
            <a:ext cx="11064240" cy="18288"/>
          </a:xfrm>
          <a:prstGeom prst="rect">
            <a:avLst/>
          </a:prstGeom>
          <a:solidFill>
            <a:srgbClr val="D5DBE3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731520" y="1792224"/>
            <a:ext cx="1088136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1" i="0" u="none" strike="noStrike">
                <a:solidFill>
                  <a:srgbClr val="0E9AA8"/>
                </a:solidFill>
                <a:latin typeface="Songti SC"/>
                <a:ea typeface="Songti SC"/>
                <a:cs typeface="Songti SC"/>
                <a:sym typeface="Songti SC"/>
              </a:rPr>
              <a:t>实测代码：</a:t>
            </a:r>
            <a:r>
              <a:rPr lang="en-US" sz="100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demo3_memory() · 3.1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66928" y="2029967"/>
            <a:ext cx="45720" cy="4389120"/>
          </a:xfrm>
          <a:prstGeom prst="rect">
            <a:avLst/>
          </a:prstGeom>
          <a:solidFill>
            <a:srgbClr val="0E9AA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第八章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记忆管理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| Agentic Design Patterns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86130" y="5956300"/>
            <a:ext cx="5828030" cy="234950"/>
          </a:xfrm>
          <a:prstGeom prst="rect">
            <a:avLst/>
          </a:prstGeom>
          <a:noFill/>
          <a:ln w="12700" cap="flat">
            <a:noFill/>
            <a:prstDash val="solid"/>
          </a:ln>
          <a:effectLst>
            <a:outerShdw blurRad="38100" dist="12700" dir="5400000" rotWithShape="0">
              <a:srgbClr val="000000">
                <a:alpha val="3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8970" y="2030095"/>
            <a:ext cx="10336530" cy="434911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5" name="AutoShape 15"/>
          <p:cNvSpPr/>
          <p:nvPr/>
        </p:nvSpPr>
        <p:spPr>
          <a:xfrm>
            <a:off x="1254760" y="5795645"/>
            <a:ext cx="5539105" cy="278130"/>
          </a:xfrm>
          <a:prstGeom prst="rect">
            <a:avLst/>
          </a:prstGeom>
          <a:noFill/>
          <a:ln w="12700" cap="flat">
            <a:noFill/>
            <a:prstDash val="solid"/>
          </a:ln>
          <a:effectLst>
            <a:outerShdw blurRad="38100" dist="12700" dir="5400000" rotWithShape="0">
              <a:srgbClr val="000000">
                <a:alpha val="3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1430000" y="6388100"/>
            <a:ext cx="60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16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45515" y="2507615"/>
            <a:ext cx="9211945" cy="1193165"/>
          </a:xfrm>
          <a:prstGeom prst="rect">
            <a:avLst/>
          </a:prstGeom>
          <a:noFill/>
          <a:ln w="25400" cap="flat">
            <a:solidFill>
              <a:srgbClr val="376092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254760" y="5795645"/>
            <a:ext cx="5359400" cy="278130"/>
          </a:xfrm>
          <a:prstGeom prst="rect">
            <a:avLst/>
          </a:prstGeom>
          <a:noFill/>
          <a:ln w="25400" cap="flat">
            <a:solidFill>
              <a:srgbClr val="376092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66928" y="475488"/>
            <a:ext cx="82296" cy="566928"/>
          </a:xfrm>
          <a:prstGeom prst="rect">
            <a:avLst/>
          </a:prstGeom>
          <a:solidFill>
            <a:srgbClr val="0E9AA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86384" y="402336"/>
            <a:ext cx="1060704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5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2  ·  Memory </a:t>
            </a:r>
            <a:r>
              <a:rPr lang="en-US" sz="1250" b="1" i="0" u="none" strike="noStrike">
                <a:solidFill>
                  <a:srgbClr val="0E9AA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</a:t>
            </a:r>
            <a:r>
              <a:rPr lang="en-US" sz="125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+ </a:t>
            </a:r>
            <a:r>
              <a:rPr lang="en-US" sz="1250" b="1" i="0" u="none" strike="noStrike">
                <a:solidFill>
                  <a:srgbClr val="0E9AA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86384" y="658368"/>
            <a:ext cx="10881360" cy="4616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3.2 </a:t>
            </a:r>
            <a:r>
              <a:rPr lang="en-US" sz="2500" b="1" i="0" u="none" strike="noStrike">
                <a:solidFill>
                  <a:srgbClr val="1F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手工检索：</a:t>
            </a:r>
            <a:r>
              <a:rPr lang="en-US" sz="25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可以跨会话，不能跨用户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86384" y="1188720"/>
            <a:ext cx="1088136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同一句</a:t>
            </a:r>
            <a:r>
              <a:rPr lang="en-US" sz="13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query</a:t>
            </a:r>
            <a:r>
              <a:rPr lang="en-US" sz="130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、不同</a:t>
            </a:r>
            <a:r>
              <a:rPr lang="en-US" sz="13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user_id</a:t>
            </a:r>
            <a:r>
              <a:rPr lang="en-US" sz="130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，结果完全不同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6928" y="420624"/>
            <a:ext cx="82296" cy="512064"/>
          </a:xfrm>
          <a:prstGeom prst="rect">
            <a:avLst/>
          </a:prstGeom>
          <a:solidFill>
            <a:srgbClr val="2E6DB4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786384" y="347472"/>
            <a:ext cx="10607040" cy="2260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5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786384" y="585216"/>
            <a:ext cx="10881360" cy="3994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786384" y="1097280"/>
            <a:ext cx="10881360" cy="208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66928" y="1499616"/>
            <a:ext cx="11064240" cy="18288"/>
          </a:xfrm>
          <a:prstGeom prst="rect">
            <a:avLst/>
          </a:prstGeom>
          <a:solidFill>
            <a:srgbClr val="D5DBE3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731520" y="1792224"/>
            <a:ext cx="1088136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1" i="0" u="none" strike="noStrike">
                <a:solidFill>
                  <a:srgbClr val="2E6DB4"/>
                </a:solidFill>
                <a:latin typeface="Songti SC"/>
                <a:ea typeface="Songti SC"/>
                <a:cs typeface="Songti SC"/>
                <a:sym typeface="Songti SC"/>
              </a:rPr>
              <a:t>实测代码：</a:t>
            </a:r>
            <a:r>
              <a:rPr lang="en-US" sz="100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demo3_memory() · 3.2 </a:t>
            </a:r>
            <a:r>
              <a:rPr lang="en-US" sz="1000" b="1" i="0" u="none" strike="noStrike">
                <a:solidFill>
                  <a:srgbClr val="2E6DB4"/>
                </a:solidFill>
                <a:latin typeface="Songti SC"/>
                <a:ea typeface="Songti SC"/>
                <a:cs typeface="Songti SC"/>
                <a:sym typeface="Songti SC"/>
              </a:rPr>
              <a:t>手工检索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66928" y="2029967"/>
            <a:ext cx="45720" cy="1956815"/>
          </a:xfrm>
          <a:prstGeom prst="rect">
            <a:avLst/>
          </a:prstGeom>
          <a:solidFill>
            <a:srgbClr val="2E6DB4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1520" y="2029967"/>
            <a:ext cx="4306823" cy="195681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5" name="AutoShape 15"/>
          <p:cNvSpPr txBox="1"/>
          <p:nvPr/>
        </p:nvSpPr>
        <p:spPr>
          <a:xfrm>
            <a:off x="731520" y="4224527"/>
            <a:ext cx="10881360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1" i="0" u="none" strike="noStrike">
                <a:solidFill>
                  <a:srgbClr val="2E6DB4"/>
                </a:solidFill>
                <a:latin typeface="Songti SC"/>
                <a:ea typeface="Songti SC"/>
                <a:cs typeface="Songti SC"/>
                <a:sym typeface="Songti SC"/>
              </a:rPr>
              <a:t>实测终端输出：</a:t>
            </a:r>
            <a:r>
              <a:rPr lang="en-US" sz="100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user1 </a:t>
            </a:r>
            <a:r>
              <a:rPr lang="en-US" sz="1000" b="1" i="0" u="none" strike="noStrike">
                <a:solidFill>
                  <a:srgbClr val="2E6DB4"/>
                </a:solidFill>
                <a:latin typeface="Songti SC"/>
                <a:ea typeface="Songti SC"/>
                <a:cs typeface="Songti SC"/>
                <a:sym typeface="Songti SC"/>
              </a:rPr>
              <a:t>召回</a:t>
            </a:r>
            <a:r>
              <a:rPr lang="en-US" sz="100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2 </a:t>
            </a:r>
            <a:r>
              <a:rPr lang="en-US" sz="1000" b="1" i="0" u="none" strike="noStrike">
                <a:solidFill>
                  <a:srgbClr val="2E6DB4"/>
                </a:solidFill>
                <a:latin typeface="Songti SC"/>
                <a:ea typeface="Songti SC"/>
                <a:cs typeface="Songti SC"/>
                <a:sym typeface="Songti SC"/>
              </a:rPr>
              <a:t>条，</a:t>
            </a:r>
            <a:r>
              <a:rPr lang="en-US" sz="100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user2 </a:t>
            </a:r>
            <a:r>
              <a:rPr lang="en-US" sz="1000" b="1" i="0" u="none" strike="noStrike">
                <a:solidFill>
                  <a:srgbClr val="2E6DB4"/>
                </a:solidFill>
                <a:latin typeface="Songti SC"/>
                <a:ea typeface="Songti SC"/>
                <a:cs typeface="Songti SC"/>
                <a:sym typeface="Songti SC"/>
              </a:rPr>
              <a:t>召回</a:t>
            </a:r>
            <a:r>
              <a:rPr lang="en-US" sz="1000" b="1" i="0" u="none" strike="noStrike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0 </a:t>
            </a:r>
            <a:r>
              <a:rPr lang="en-US" sz="1000" b="1" i="0" u="none" strike="noStrike">
                <a:solidFill>
                  <a:srgbClr val="2E6DB4"/>
                </a:solidFill>
                <a:latin typeface="Songti SC"/>
                <a:ea typeface="Songti SC"/>
                <a:cs typeface="Songti SC"/>
                <a:sym typeface="Songti SC"/>
              </a:rPr>
              <a:t>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66928" y="4462271"/>
            <a:ext cx="45720" cy="1956815"/>
          </a:xfrm>
          <a:prstGeom prst="rect">
            <a:avLst/>
          </a:prstGeom>
          <a:solidFill>
            <a:srgbClr val="2E6DB4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第八章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记忆管理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| Agentic Design Patterns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84555" y="2332355"/>
            <a:ext cx="4013200" cy="118110"/>
          </a:xfrm>
          <a:prstGeom prst="rect">
            <a:avLst/>
          </a:prstGeom>
          <a:noFill/>
          <a:ln w="12700" cap="flat">
            <a:noFill/>
            <a:prstDash val="solid"/>
          </a:ln>
          <a:effectLst>
            <a:outerShdw blurRad="38100" dist="12700" dir="5400000" rotWithShape="0">
              <a:srgbClr val="000000">
                <a:alpha val="35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1520" y="4464050"/>
            <a:ext cx="6782435" cy="198882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20" name="AutoShape 2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11430000" y="6388100"/>
            <a:ext cx="60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17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>
            <a:off x="786130" y="2450465"/>
            <a:ext cx="4111625" cy="0"/>
          </a:xfrm>
          <a:prstGeom prst="line">
            <a:avLst/>
          </a:prstGeom>
          <a:noFill/>
          <a:ln w="25400" cap="flat">
            <a:solidFill>
              <a:srgbClr val="4F81BD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3" name="Connector 23"/>
          <p:cNvCxnSpPr/>
          <p:nvPr/>
        </p:nvCxnSpPr>
        <p:spPr>
          <a:xfrm>
            <a:off x="895985" y="4702175"/>
            <a:ext cx="3183890" cy="24765"/>
          </a:xfrm>
          <a:prstGeom prst="line">
            <a:avLst/>
          </a:prstGeom>
          <a:noFill/>
          <a:ln w="25400" cap="flat">
            <a:solidFill>
              <a:srgbClr val="4F81BD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4" name="Connector 24"/>
          <p:cNvCxnSpPr/>
          <p:nvPr/>
        </p:nvCxnSpPr>
        <p:spPr>
          <a:xfrm>
            <a:off x="945515" y="5327015"/>
            <a:ext cx="3134360" cy="0"/>
          </a:xfrm>
          <a:prstGeom prst="line">
            <a:avLst/>
          </a:prstGeom>
          <a:noFill/>
          <a:ln w="25400" cap="flat">
            <a:solidFill>
              <a:srgbClr val="4F81BD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5" name="Connector 25"/>
          <p:cNvCxnSpPr/>
          <p:nvPr/>
        </p:nvCxnSpPr>
        <p:spPr>
          <a:xfrm>
            <a:off x="908050" y="5537200"/>
            <a:ext cx="3171825" cy="30480"/>
          </a:xfrm>
          <a:prstGeom prst="line">
            <a:avLst/>
          </a:prstGeom>
          <a:noFill/>
          <a:ln w="25400" cap="flat">
            <a:solidFill>
              <a:srgbClr val="4F81BD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66928" y="420624"/>
            <a:ext cx="82296" cy="512064"/>
          </a:xfrm>
          <a:prstGeom prst="rect">
            <a:avLst/>
          </a:prstGeom>
          <a:solidFill>
            <a:srgbClr val="D96B1E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86384" y="347472"/>
            <a:ext cx="10607040" cy="3291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50" b="1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2  ·  Memory 3.3  </a:t>
            </a:r>
            <a:r>
              <a:rPr lang="en-US" sz="1250" b="1" i="0" u="none" strike="noStrike">
                <a:solidFill>
                  <a:srgbClr val="D96B1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跨会话验证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86384" y="585216"/>
            <a:ext cx="10881360" cy="4057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2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跨会话的输入输出：证明拥有长期记忆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86384" y="1042415"/>
            <a:ext cx="10881360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中间隔了一次「关掉程序、重新启动」</a:t>
            </a:r>
            <a:r>
              <a:rPr lang="en-US" sz="11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—— </a:t>
            </a:r>
            <a:r>
              <a:rPr lang="en-US" sz="11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会话</a:t>
            </a:r>
            <a:r>
              <a:rPr lang="en-US" sz="11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#1 </a:t>
            </a:r>
            <a:r>
              <a:rPr lang="en-US" sz="11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查不到，长期记忆还在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6928" y="1408176"/>
            <a:ext cx="11064240" cy="18288"/>
          </a:xfrm>
          <a:prstGeom prst="rect">
            <a:avLst/>
          </a:prstGeom>
          <a:solidFill>
            <a:srgbClr val="D5DBE3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731520" y="1591056"/>
            <a:ext cx="1088136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1" i="0" u="none" strike="noStrike">
                <a:solidFill>
                  <a:srgbClr val="D96B1E"/>
                </a:solidFill>
                <a:latin typeface="Songti SC"/>
                <a:ea typeface="Songti SC"/>
                <a:cs typeface="Songti SC"/>
                <a:sym typeface="Songti SC"/>
              </a:rPr>
              <a:t>实测输出</a:t>
            </a:r>
            <a:r>
              <a:rPr lang="en-US" sz="1000" b="1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· </a:t>
            </a:r>
            <a:r>
              <a:rPr lang="en-US" sz="1000" b="1" i="0" u="none" strike="noStrike">
                <a:solidFill>
                  <a:srgbClr val="D96B1E"/>
                </a:solidFill>
                <a:latin typeface="Songti SC"/>
                <a:ea typeface="Songti SC"/>
                <a:cs typeface="Songti SC"/>
                <a:sym typeface="Songti SC"/>
              </a:rPr>
              <a:t>会话</a:t>
            </a:r>
            <a:r>
              <a:rPr lang="en-US" sz="1000" b="1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#1</a:t>
            </a:r>
            <a:r>
              <a:rPr lang="en-US" sz="1000" b="1" i="0" u="none" strike="noStrike">
                <a:solidFill>
                  <a:srgbClr val="D96B1E"/>
                </a:solidFill>
                <a:latin typeface="Songti SC"/>
                <a:ea typeface="Songti SC"/>
                <a:cs typeface="Songti SC"/>
                <a:sym typeface="Songti SC"/>
              </a:rPr>
              <a:t>（第一次访问）：记住并写入长期记忆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67055" y="1819910"/>
            <a:ext cx="76200" cy="1108075"/>
          </a:xfrm>
          <a:prstGeom prst="rect">
            <a:avLst/>
          </a:prstGeom>
          <a:solidFill>
            <a:srgbClr val="D96B1E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58495" y="3014189"/>
            <a:ext cx="1088136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1" i="0" u="none" strike="noStrike">
                <a:solidFill>
                  <a:srgbClr val="D96B1E"/>
                </a:solidFill>
                <a:latin typeface="Songti SC"/>
                <a:ea typeface="Songti SC"/>
                <a:cs typeface="Songti SC"/>
                <a:sym typeface="Songti SC"/>
              </a:rPr>
              <a:t>实测输出</a:t>
            </a:r>
            <a:r>
              <a:rPr lang="en-US" sz="1000" b="1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· </a:t>
            </a:r>
            <a:r>
              <a:rPr lang="en-US" sz="1000" b="1" i="0" u="none" strike="noStrike">
                <a:solidFill>
                  <a:srgbClr val="D96B1E"/>
                </a:solidFill>
                <a:latin typeface="Songti SC"/>
                <a:ea typeface="Songti SC"/>
                <a:cs typeface="Songti SC"/>
                <a:sym typeface="Songti SC"/>
              </a:rPr>
              <a:t>会话</a:t>
            </a:r>
            <a:r>
              <a:rPr lang="en-US" sz="1000" b="1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#2</a:t>
            </a:r>
            <a:r>
              <a:rPr lang="en-US" sz="1000" b="1" i="0" u="none" strike="noStrike">
                <a:solidFill>
                  <a:srgbClr val="D96B1E"/>
                </a:solidFill>
                <a:latin typeface="Songti SC"/>
                <a:ea typeface="Songti SC"/>
                <a:cs typeface="Songti SC"/>
                <a:sym typeface="Songti SC"/>
              </a:rPr>
              <a:t>（全新会话）：模型自己调</a:t>
            </a:r>
            <a:r>
              <a:rPr lang="en-US" sz="1000" b="1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load_memory </a:t>
            </a:r>
            <a:r>
              <a:rPr lang="en-US" sz="1000" b="1" i="0" u="none" strike="noStrike">
                <a:solidFill>
                  <a:srgbClr val="D96B1E"/>
                </a:solidFill>
                <a:latin typeface="Songti SC"/>
                <a:ea typeface="Songti SC"/>
                <a:cs typeface="Songti SC"/>
                <a:sym typeface="Songti SC"/>
              </a:rPr>
              <a:t>取回记忆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 rot="10800000" flipV="1">
            <a:off x="537210" y="3366770"/>
            <a:ext cx="76200" cy="2649855"/>
          </a:xfrm>
          <a:prstGeom prst="rect">
            <a:avLst/>
          </a:prstGeom>
          <a:solidFill>
            <a:srgbClr val="D96B1E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566928" y="6236207"/>
            <a:ext cx="11064240" cy="3108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D96B1E"/>
                </a:solidFill>
                <a:latin typeface="Songti SC"/>
                <a:ea typeface="Songti SC"/>
                <a:cs typeface="Songti SC"/>
                <a:sym typeface="Songti SC"/>
              </a:rPr>
              <a:t>会话层：新会话</a:t>
            </a:r>
            <a:r>
              <a:rPr lang="en-US" sz="1100" b="1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events=0</a:t>
            </a:r>
            <a:r>
              <a:rPr lang="en-US" sz="1100" b="1" i="0" u="none" strike="noStrike">
                <a:solidFill>
                  <a:srgbClr val="D96B1E"/>
                </a:solidFill>
                <a:latin typeface="Songti SC"/>
                <a:ea typeface="Songti SC"/>
                <a:cs typeface="Songti SC"/>
                <a:sym typeface="Songti SC"/>
              </a:rPr>
              <a:t>、</a:t>
            </a:r>
            <a:r>
              <a:rPr lang="en-US" sz="1100" b="1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state={}</a:t>
            </a:r>
            <a:r>
              <a:rPr lang="en-US" sz="1100" b="1" i="0" u="none" strike="noStrike">
                <a:solidFill>
                  <a:srgbClr val="D96B1E"/>
                </a:solidFill>
                <a:latin typeface="Songti SC"/>
                <a:ea typeface="Songti SC"/>
                <a:cs typeface="Songti SC"/>
                <a:sym typeface="Songti SC"/>
              </a:rPr>
              <a:t>，旧会话查不到　</a:t>
            </a:r>
            <a:r>
              <a:rPr lang="en-US" sz="1100" b="1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|</a:t>
            </a:r>
            <a:r>
              <a:rPr lang="en-US" sz="1100" b="1" i="0" u="none" strike="noStrike">
                <a:solidFill>
                  <a:srgbClr val="D96B1E"/>
                </a:solidFill>
                <a:latin typeface="Songti SC"/>
                <a:ea typeface="Songti SC"/>
                <a:cs typeface="Songti SC"/>
                <a:sym typeface="Songti SC"/>
              </a:rPr>
              <a:t>　记忆层：同一份</a:t>
            </a:r>
            <a:r>
              <a:rPr lang="en-US" sz="1100" b="1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memory </a:t>
            </a:r>
            <a:r>
              <a:rPr lang="en-US" sz="1100" b="1" i="0" u="none" strike="noStrike">
                <a:solidFill>
                  <a:srgbClr val="D96B1E"/>
                </a:solidFill>
                <a:latin typeface="Songti SC"/>
                <a:ea typeface="Songti SC"/>
                <a:cs typeface="Songti SC"/>
                <a:sym typeface="Songti SC"/>
              </a:rPr>
              <a:t>仍召回「</a:t>
            </a:r>
            <a:r>
              <a:rPr lang="en-US" sz="1100" b="1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Python</a:t>
            </a:r>
            <a:r>
              <a:rPr lang="en-US" sz="1100" b="1" i="0" u="none" strike="noStrike">
                <a:solidFill>
                  <a:srgbClr val="D96B1E"/>
                </a:solidFill>
                <a:latin typeface="Songti SC"/>
                <a:ea typeface="Songti SC"/>
                <a:cs typeface="Songti SC"/>
                <a:sym typeface="Songti SC"/>
              </a:rPr>
              <a:t>」</a:t>
            </a:r>
            <a:r>
              <a:rPr lang="en-US" sz="1100" b="1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—— </a:t>
            </a:r>
            <a:r>
              <a:rPr lang="en-US" sz="1100" b="1" i="0" u="none" strike="noStrike">
                <a:solidFill>
                  <a:srgbClr val="D96B1E"/>
                </a:solidFill>
                <a:latin typeface="Songti SC"/>
                <a:ea typeface="Songti SC"/>
                <a:cs typeface="Songti SC"/>
                <a:sym typeface="Songti SC"/>
              </a:rPr>
              <a:t>只有长期记忆能跨会话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566928" y="6455664"/>
            <a:ext cx="822960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第八章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记忆管理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| Agentic Design Patterns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1520" y="1819910"/>
            <a:ext cx="2860040" cy="110744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8970" y="3366770"/>
            <a:ext cx="11435715" cy="263525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6" name="AutoShape 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1430000" y="6388100"/>
            <a:ext cx="60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18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05" y="5754700"/>
            <a:ext cx="12191695" cy="45720"/>
          </a:xfrm>
          <a:prstGeom prst="rect">
            <a:avLst/>
          </a:prstGeom>
          <a:solidFill>
            <a:srgbClr val="0E9AA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51560" y="3044497"/>
            <a:ext cx="10881360" cy="17748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sz="4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LangChain</a:t>
            </a:r>
            <a:endParaRPr lang="en-US" sz="1100"/>
          </a:p>
          <a:p>
            <a:pPr marL="0" indent="0" algn="l">
              <a:lnSpc>
                <a:spcPct val="100000"/>
              </a:lnSpc>
              <a:spcAft>
                <a:spcPts val="800"/>
              </a:spcAft>
            </a:pPr>
            <a:endParaRPr sz="4200"/>
          </a:p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7FB2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Memory Management — </a:t>
            </a:r>
            <a:r>
              <a:rPr lang="en-US" sz="1800" b="0" i="0" u="none" strike="noStrike">
                <a:solidFill>
                  <a:srgbClr val="7FB2DE"/>
                </a:solidFill>
                <a:latin typeface="Songti SC"/>
                <a:ea typeface="Songti SC"/>
                <a:cs typeface="Songti SC"/>
                <a:sym typeface="Songti SC"/>
              </a:rPr>
              <a:t>第八章</a:t>
            </a:r>
            <a:r>
              <a:rPr lang="en-US" sz="1800" b="0" i="0" u="none" strike="noStrike">
                <a:solidFill>
                  <a:srgbClr val="7FB2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LangChain</a:t>
            </a:r>
            <a:endParaRPr lang="en-US" sz="1800" b="0" i="0" u="none" strike="noStrike">
              <a:solidFill>
                <a:srgbClr val="7FB2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11430000" y="6382512"/>
            <a:ext cx="603504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9FC5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19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571500" y="6413500"/>
            <a:ext cx="822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7FB2DE"/>
                </a:solidFill>
                <a:latin typeface="Songti SC"/>
                <a:ea typeface="Songti SC"/>
                <a:cs typeface="Songti SC"/>
                <a:sym typeface="Songti SC"/>
              </a:rPr>
              <a:t>第八章</a:t>
            </a:r>
            <a:r>
              <a:rPr lang="en-US" sz="950" b="0" i="0" u="none" strike="noStrike">
                <a:solidFill>
                  <a:srgbClr val="7FB2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950" b="0" i="0" u="none" strike="noStrike">
                <a:solidFill>
                  <a:srgbClr val="7FB2DE"/>
                </a:solidFill>
                <a:latin typeface="Songti SC"/>
                <a:ea typeface="Songti SC"/>
                <a:cs typeface="Songti SC"/>
                <a:sym typeface="Songti SC"/>
              </a:rPr>
              <a:t>记忆管理</a:t>
            </a:r>
            <a:r>
              <a:rPr lang="en-US" sz="950" b="0" i="0" u="none" strike="noStrike">
                <a:solidFill>
                  <a:srgbClr val="7FB2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| Agentic Design Patterns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51560" y="770889"/>
            <a:ext cx="9692640" cy="1258486"/>
          </a:xfrm>
          <a:prstGeom prst="rect">
            <a:avLst/>
          </a:prstGeom>
          <a:noFill/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35D0B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第二部分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530352" y="219456"/>
            <a:ext cx="10607040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5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同一个模型，为什么一个记得、一个不记得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57784" y="822960"/>
            <a:ext cx="110642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差别不在模型，在于我们有没有把上一轮的内容放进这一次的请求里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0352" y="1243584"/>
            <a:ext cx="5541264" cy="2286000"/>
          </a:xfrm>
          <a:prstGeom prst="roundRect">
            <a:avLst>
              <a:gd name="adj" fmla="val 3999"/>
            </a:avLst>
          </a:prstGeom>
          <a:solidFill>
            <a:srgbClr val="10141A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676656" y="1344168"/>
            <a:ext cx="5248656" cy="20848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500"/>
              </a:spcAft>
              <a:defRPr/>
            </a:pPr>
            <a:r>
              <a:rPr lang="en-US" sz="1000" b="1" i="0" u="none" strike="noStrike">
                <a:solidFill>
                  <a:srgbClr val="F0B4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✗</a:t>
            </a:r>
            <a:r>
              <a:rPr lang="en-US" sz="1000" b="1" i="0" u="none" strike="noStrike">
                <a:solidFill>
                  <a:srgbClr val="F0B4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000" b="1" i="0" u="none" strike="noStrike">
                <a:solidFill>
                  <a:srgbClr val="F0B4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不带历史</a:t>
            </a:r>
            <a:endParaRPr lang="en-US" sz="1100"/>
          </a:p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1050" b="0" i="0" u="none" strike="noStrike">
                <a:solidFill>
                  <a:srgbClr val="D6DEE8"/>
                </a:solidFill>
                <a:latin typeface="Songti SC"/>
                <a:ea typeface="Songti SC"/>
                <a:cs typeface="Songti SC"/>
                <a:sym typeface="Songti SC"/>
              </a:rPr>
              <a:t>用户</a:t>
            </a:r>
            <a:r>
              <a:rPr lang="en-US" sz="1050" b="0" i="0" u="none" strike="noStrike">
                <a:solidFill>
                  <a:srgbClr val="D6DEE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</a:t>
            </a:r>
            <a:r>
              <a:rPr lang="en-US" sz="1050" b="0" i="0" u="none" strike="noStrike">
                <a:solidFill>
                  <a:srgbClr val="D6DEE8"/>
                </a:solidFill>
                <a:latin typeface="Songti SC"/>
                <a:ea typeface="Songti SC"/>
                <a:cs typeface="Songti SC"/>
                <a:sym typeface="Songti SC"/>
              </a:rPr>
              <a:t>我叫</a:t>
            </a:r>
            <a:r>
              <a:rPr lang="en-US" sz="1050" b="0" i="0" u="none" strike="noStrike">
                <a:solidFill>
                  <a:srgbClr val="D6DEE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Sam</a:t>
            </a:r>
            <a:r>
              <a:rPr lang="en-US" sz="1050" b="0" i="0" u="none" strike="noStrike">
                <a:solidFill>
                  <a:srgbClr val="D6DEE8"/>
                </a:solidFill>
                <a:latin typeface="Songti SC"/>
                <a:ea typeface="Songti SC"/>
                <a:cs typeface="Songti SC"/>
                <a:sym typeface="Songti SC"/>
              </a:rPr>
              <a:t>，我下个月要去纽约。</a:t>
            </a:r>
            <a:endParaRPr lang="en-US" sz="1050" b="0" i="0" u="none" strike="noStrike">
              <a:solidFill>
                <a:srgbClr val="D6DEE8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1050" b="0" i="0" u="none" strike="noStrike">
                <a:solidFill>
                  <a:srgbClr val="8B94A1"/>
                </a:solidFill>
                <a:latin typeface="Songti SC"/>
                <a:ea typeface="Songti SC"/>
                <a:cs typeface="Songti SC"/>
                <a:sym typeface="Songti SC"/>
              </a:rPr>
              <a:t>助手</a:t>
            </a:r>
            <a:r>
              <a:rPr lang="en-US" sz="1050" b="0" i="0" u="none" strike="noStrike">
                <a:solidFill>
                  <a:srgbClr val="8B94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Hi Sam! </a:t>
            </a:r>
            <a:r>
              <a:rPr lang="en-US" sz="1050" b="0" i="0" u="none" strike="noStrike">
                <a:solidFill>
                  <a:srgbClr val="8B94A1"/>
                </a:solidFill>
                <a:latin typeface="Songti SC"/>
                <a:ea typeface="Songti SC"/>
                <a:cs typeface="Songti SC"/>
                <a:sym typeface="Songti SC"/>
              </a:rPr>
              <a:t>很高兴听到你下个月要去纽约</a:t>
            </a:r>
            <a:r>
              <a:rPr lang="en-US" sz="1050" b="0" i="0" u="none" strike="noStrike">
                <a:solidFill>
                  <a:srgbClr val="8B94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…</a:t>
            </a:r>
            <a:endParaRPr lang="en-US" sz="1050" b="0" i="0" u="none" strike="noStrike">
              <a:solidFill>
                <a:srgbClr val="8B94A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1050" b="0" i="0" u="none" strike="noStrike">
                <a:solidFill>
                  <a:srgbClr val="F0B4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[tokens: </a:t>
            </a:r>
            <a:r>
              <a:rPr lang="en-US" sz="1050" b="0" i="0" u="none" strike="noStrike">
                <a:solidFill>
                  <a:srgbClr val="F0B4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</a:t>
            </a:r>
            <a:r>
              <a:rPr lang="en-US" sz="1050" b="0" i="0" u="none" strike="noStrike">
                <a:solidFill>
                  <a:srgbClr val="F0B4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18 / </a:t>
            </a:r>
            <a:r>
              <a:rPr lang="en-US" sz="1050" b="0" i="0" u="none" strike="noStrike">
                <a:solidFill>
                  <a:srgbClr val="F0B4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</a:t>
            </a:r>
            <a:r>
              <a:rPr lang="en-US" sz="1050" b="0" i="0" u="none" strike="noStrike">
                <a:solidFill>
                  <a:srgbClr val="F0B4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322]</a:t>
            </a:r>
            <a:endParaRPr lang="en-US" sz="1050" b="0" i="0" u="none" strike="noStrike">
              <a:solidFill>
                <a:srgbClr val="F0B4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1050" b="0" i="0" u="none" strike="noStrike">
                <a:solidFill>
                  <a:srgbClr val="D6DEE8"/>
                </a:solidFill>
                <a:latin typeface="Songti SC"/>
                <a:ea typeface="Songti SC"/>
                <a:cs typeface="Songti SC"/>
                <a:sym typeface="Songti SC"/>
              </a:rPr>
              <a:t>用户</a:t>
            </a:r>
            <a:r>
              <a:rPr lang="en-US" sz="1050" b="0" i="0" u="none" strike="noStrike">
                <a:solidFill>
                  <a:srgbClr val="D6DEE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</a:t>
            </a:r>
            <a:r>
              <a:rPr lang="en-US" sz="1050" b="0" i="0" u="none" strike="noStrike">
                <a:solidFill>
                  <a:srgbClr val="D6DEE8"/>
                </a:solidFill>
                <a:latin typeface="Songti SC"/>
                <a:ea typeface="Songti SC"/>
                <a:cs typeface="Songti SC"/>
                <a:sym typeface="Songti SC"/>
              </a:rPr>
              <a:t>我的名字是什么？</a:t>
            </a:r>
            <a:endParaRPr lang="en-US" sz="1050" b="0" i="0" u="none" strike="noStrike">
              <a:solidFill>
                <a:srgbClr val="D6DEE8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1050" b="0" i="0" u="none" strike="noStrike">
                <a:solidFill>
                  <a:srgbClr val="D6DEE8"/>
                </a:solidFill>
                <a:latin typeface="Songti SC"/>
                <a:ea typeface="Songti SC"/>
                <a:cs typeface="Songti SC"/>
                <a:sym typeface="Songti SC"/>
              </a:rPr>
              <a:t>助手</a:t>
            </a:r>
            <a:r>
              <a:rPr lang="en-US" sz="1050" b="0" i="0" u="none" strike="noStrike">
                <a:solidFill>
                  <a:srgbClr val="D6DEE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</a:t>
            </a:r>
            <a:r>
              <a:rPr lang="en-US" sz="1050" b="0" i="0" u="none" strike="noStrike">
                <a:solidFill>
                  <a:srgbClr val="D6DEE8"/>
                </a:solidFill>
                <a:latin typeface="Songti SC"/>
                <a:ea typeface="Songti SC"/>
                <a:cs typeface="Songti SC"/>
                <a:sym typeface="Songti SC"/>
              </a:rPr>
              <a:t>我无法知道你的名字，因为我们之前</a:t>
            </a:r>
            <a:endParaRPr lang="en-US" sz="1050" b="0" i="0" u="none" strike="noStrike">
              <a:solidFill>
                <a:srgbClr val="D6DEE8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1050" b="0" i="0" u="none" strike="noStrike">
                <a:solidFill>
                  <a:srgbClr val="D6DEE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</a:t>
            </a:r>
            <a:r>
              <a:rPr lang="en-US" sz="1050" b="0" i="0" u="none" strike="noStrike">
                <a:solidFill>
                  <a:srgbClr val="D6DEE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没有交流过。</a:t>
            </a:r>
            <a:endParaRPr lang="en-US" sz="1050" b="0" i="0" u="none" strike="noStrike">
              <a:solidFill>
                <a:srgbClr val="D6DEE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1050" b="0" i="0" u="none" strike="noStrike">
                <a:solidFill>
                  <a:srgbClr val="F0B4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[tokens: </a:t>
            </a:r>
            <a:r>
              <a:rPr lang="en-US" sz="1050" b="0" i="0" u="none" strike="noStrike">
                <a:solidFill>
                  <a:srgbClr val="F0B4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</a:t>
            </a:r>
            <a:r>
              <a:rPr lang="en-US" sz="1050" b="0" i="0" u="none" strike="noStrike">
                <a:solidFill>
                  <a:srgbClr val="F0B4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12 / </a:t>
            </a:r>
            <a:r>
              <a:rPr lang="en-US" sz="1050" b="0" i="0" u="none" strike="noStrike">
                <a:solidFill>
                  <a:srgbClr val="F0B4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</a:t>
            </a:r>
            <a:r>
              <a:rPr lang="en-US" sz="1050" b="0" i="0" u="none" strike="noStrike">
                <a:solidFill>
                  <a:srgbClr val="F0B4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39]</a:t>
            </a:r>
            <a:endParaRPr lang="en-US" sz="1050" b="0" i="0" u="none" strike="noStrike">
              <a:solidFill>
                <a:srgbClr val="F0B42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658368" y="3621024"/>
            <a:ext cx="5394960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444A55"/>
                </a:solidFill>
                <a:latin typeface="Songti SC"/>
                <a:ea typeface="Songti SC"/>
                <a:cs typeface="Songti SC"/>
                <a:sym typeface="Songti SC"/>
              </a:rPr>
              <a:t>第</a:t>
            </a:r>
            <a:r>
              <a:rPr lang="en-US" sz="1300" b="1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2 </a:t>
            </a:r>
            <a:r>
              <a:rPr lang="en-US" sz="1300" b="1" i="0" u="none" strike="noStrike">
                <a:solidFill>
                  <a:srgbClr val="444A55"/>
                </a:solidFill>
                <a:latin typeface="Songti SC"/>
                <a:ea typeface="Songti SC"/>
                <a:cs typeface="Songti SC"/>
                <a:sym typeface="Songti SC"/>
              </a:rPr>
              <a:t>轮答不出</a:t>
            </a:r>
            <a:r>
              <a:rPr lang="en-US" sz="1300" b="1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Sam</a:t>
            </a:r>
            <a:r>
              <a:rPr lang="en-US" sz="1300" b="1" i="0" u="none" strike="noStrike">
                <a:solidFill>
                  <a:srgbClr val="444A55"/>
                </a:solidFill>
                <a:latin typeface="Songti SC"/>
                <a:ea typeface="Songti SC"/>
                <a:cs typeface="Songti SC"/>
                <a:sym typeface="Songti SC"/>
              </a:rPr>
              <a:t>　</a:t>
            </a:r>
            <a:r>
              <a:rPr lang="en-US" sz="1300" b="1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→ </a:t>
            </a:r>
            <a:r>
              <a:rPr lang="en-US" sz="1300" b="1" i="0" u="none" strike="noStrike">
                <a:solidFill>
                  <a:srgbClr val="444A55"/>
                </a:solidFill>
                <a:latin typeface="Songti SC"/>
                <a:ea typeface="Songti SC"/>
                <a:cs typeface="Songti SC"/>
                <a:sym typeface="Songti SC"/>
              </a:rPr>
              <a:t>没带历史，就等于没记忆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54496" y="1243584"/>
            <a:ext cx="5413248" cy="2286000"/>
          </a:xfrm>
          <a:prstGeom prst="roundRect">
            <a:avLst>
              <a:gd name="adj" fmla="val 3999"/>
            </a:avLst>
          </a:prstGeom>
          <a:solidFill>
            <a:srgbClr val="10141A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400800" y="1344168"/>
            <a:ext cx="5120640" cy="20848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500"/>
              </a:spcAft>
              <a:defRPr/>
            </a:pPr>
            <a:r>
              <a:rPr lang="en-US" sz="1000" b="1" i="0" u="none" strike="noStrike">
                <a:solidFill>
                  <a:srgbClr val="F0B4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000" b="1" i="0" u="none" strike="noStrike">
                <a:solidFill>
                  <a:srgbClr val="F0B4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1000" b="1" i="0" u="none" strike="noStrike">
                <a:solidFill>
                  <a:srgbClr val="F0B4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带历史</a:t>
            </a:r>
            <a:endParaRPr lang="en-US" sz="1100"/>
          </a:p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1050" b="0" i="0" u="none" strike="noStrike">
                <a:solidFill>
                  <a:srgbClr val="D6DEE8"/>
                </a:solidFill>
                <a:latin typeface="Songti SC"/>
                <a:ea typeface="Songti SC"/>
                <a:cs typeface="Songti SC"/>
                <a:sym typeface="Songti SC"/>
              </a:rPr>
              <a:t>用户</a:t>
            </a:r>
            <a:r>
              <a:rPr lang="en-US" sz="1050" b="0" i="0" u="none" strike="noStrike">
                <a:solidFill>
                  <a:srgbClr val="D6DEE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</a:t>
            </a:r>
            <a:r>
              <a:rPr lang="en-US" sz="1050" b="0" i="0" u="none" strike="noStrike">
                <a:solidFill>
                  <a:srgbClr val="D6DEE8"/>
                </a:solidFill>
                <a:latin typeface="Songti SC"/>
                <a:ea typeface="Songti SC"/>
                <a:cs typeface="Songti SC"/>
                <a:sym typeface="Songti SC"/>
              </a:rPr>
              <a:t>我叫</a:t>
            </a:r>
            <a:r>
              <a:rPr lang="en-US" sz="1050" b="0" i="0" u="none" strike="noStrike">
                <a:solidFill>
                  <a:srgbClr val="D6DEE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Sam</a:t>
            </a:r>
            <a:r>
              <a:rPr lang="en-US" sz="1050" b="0" i="0" u="none" strike="noStrike">
                <a:solidFill>
                  <a:srgbClr val="D6DEE8"/>
                </a:solidFill>
                <a:latin typeface="Songti SC"/>
                <a:ea typeface="Songti SC"/>
                <a:cs typeface="Songti SC"/>
                <a:sym typeface="Songti SC"/>
              </a:rPr>
              <a:t>，我下个月要去纽约。</a:t>
            </a:r>
            <a:endParaRPr lang="en-US" sz="1050" b="0" i="0" u="none" strike="noStrike">
              <a:solidFill>
                <a:srgbClr val="D6DEE8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1050" b="0" i="0" u="none" strike="noStrike">
                <a:solidFill>
                  <a:srgbClr val="8B94A1"/>
                </a:solidFill>
                <a:latin typeface="Songti SC"/>
                <a:ea typeface="Songti SC"/>
                <a:cs typeface="Songti SC"/>
                <a:sym typeface="Songti SC"/>
              </a:rPr>
              <a:t>助手</a:t>
            </a:r>
            <a:r>
              <a:rPr lang="en-US" sz="1050" b="0" i="0" u="none" strike="noStrike">
                <a:solidFill>
                  <a:srgbClr val="8B94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Hi Sam! </a:t>
            </a:r>
            <a:r>
              <a:rPr lang="en-US" sz="1050" b="0" i="0" u="none" strike="noStrike">
                <a:solidFill>
                  <a:srgbClr val="8B94A1"/>
                </a:solidFill>
                <a:latin typeface="Songti SC"/>
                <a:ea typeface="Songti SC"/>
                <a:cs typeface="Songti SC"/>
                <a:sym typeface="Songti SC"/>
              </a:rPr>
              <a:t>纽约是个很棒的选择</a:t>
            </a:r>
            <a:r>
              <a:rPr lang="en-US" sz="1050" b="0" i="0" u="none" strike="noStrike">
                <a:solidFill>
                  <a:srgbClr val="8B94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…</a:t>
            </a:r>
            <a:endParaRPr lang="en-US" sz="1050" b="0" i="0" u="none" strike="noStrike">
              <a:solidFill>
                <a:srgbClr val="8B94A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1050" b="0" i="0" u="none" strike="noStrike">
                <a:solidFill>
                  <a:srgbClr val="D6DEE8"/>
                </a:solidFill>
                <a:latin typeface="Songti SC"/>
                <a:ea typeface="Songti SC"/>
                <a:cs typeface="Songti SC"/>
                <a:sym typeface="Songti SC"/>
              </a:rPr>
              <a:t>用户</a:t>
            </a:r>
            <a:r>
              <a:rPr lang="en-US" sz="1050" b="0" i="0" u="none" strike="noStrike">
                <a:solidFill>
                  <a:srgbClr val="D6DEE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</a:t>
            </a:r>
            <a:r>
              <a:rPr lang="en-US" sz="1050" b="0" i="0" u="none" strike="noStrike">
                <a:solidFill>
                  <a:srgbClr val="D6DEE8"/>
                </a:solidFill>
                <a:latin typeface="Songti SC"/>
                <a:ea typeface="Songti SC"/>
                <a:cs typeface="Songti SC"/>
                <a:sym typeface="Songti SC"/>
              </a:rPr>
              <a:t>我的名字是什么？</a:t>
            </a:r>
            <a:endParaRPr lang="en-US" sz="1050" b="0" i="0" u="none" strike="noStrike">
              <a:solidFill>
                <a:srgbClr val="D6DEE8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1050" b="1" i="0" u="none" strike="noStrike">
                <a:solidFill>
                  <a:srgbClr val="5AD68A"/>
                </a:solidFill>
                <a:latin typeface="Songti SC"/>
                <a:ea typeface="Songti SC"/>
                <a:cs typeface="Songti SC"/>
                <a:sym typeface="Songti SC"/>
              </a:rPr>
              <a:t>助手</a:t>
            </a:r>
            <a:r>
              <a:rPr lang="en-US" sz="1050" b="1" i="0" u="none" strike="noStrike">
                <a:solidFill>
                  <a:srgbClr val="5AD68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</a:t>
            </a:r>
            <a:r>
              <a:rPr lang="en-US" sz="1050" b="1" i="0" u="none" strike="noStrike">
                <a:solidFill>
                  <a:srgbClr val="5AD68A"/>
                </a:solidFill>
                <a:latin typeface="Songti SC"/>
                <a:ea typeface="Songti SC"/>
                <a:cs typeface="Songti SC"/>
                <a:sym typeface="Songti SC"/>
              </a:rPr>
              <a:t>你的名字是</a:t>
            </a:r>
            <a:r>
              <a:rPr lang="en-US" sz="1050" b="1" i="0" u="none" strike="noStrike">
                <a:solidFill>
                  <a:srgbClr val="5AD68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**Sam**</a:t>
            </a:r>
            <a:r>
              <a:rPr lang="en-US" sz="1050" b="1" i="0" u="none" strike="noStrike">
                <a:solidFill>
                  <a:srgbClr val="5AD68A"/>
                </a:solidFill>
                <a:latin typeface="Songti SC"/>
                <a:ea typeface="Songti SC"/>
                <a:cs typeface="Songti SC"/>
                <a:sym typeface="Songti SC"/>
              </a:rPr>
              <a:t>。</a:t>
            </a:r>
            <a:endParaRPr lang="en-US" sz="1050" b="1" i="0" u="none" strike="noStrike">
              <a:solidFill>
                <a:srgbClr val="5AD68A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1050" b="0" i="0" u="none" strike="noStrike">
                <a:solidFill>
                  <a:srgbClr val="8B94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</a:t>
            </a:r>
            <a:r>
              <a:rPr lang="en-US" sz="1050" b="0" i="0" u="none" strike="noStrike">
                <a:solidFill>
                  <a:srgbClr val="8B94A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（之前你提到：我叫</a:t>
            </a:r>
            <a:r>
              <a:rPr lang="en-US" sz="1050" b="0" i="0" u="none" strike="noStrike">
                <a:solidFill>
                  <a:srgbClr val="8B94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Sam…</a:t>
            </a:r>
            <a:r>
              <a:rPr lang="en-US" sz="1050" b="0" i="0" u="none" strike="noStrike">
                <a:solidFill>
                  <a:srgbClr val="8B94A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我一直记得呢！）</a:t>
            </a:r>
            <a:endParaRPr lang="en-US" sz="1050" b="0" i="0" u="none" strike="noStrike">
              <a:solidFill>
                <a:srgbClr val="8B94A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6382512" y="3621024"/>
            <a:ext cx="5394960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444A55"/>
                </a:solidFill>
                <a:latin typeface="Songti SC"/>
                <a:ea typeface="Songti SC"/>
                <a:cs typeface="Songti SC"/>
                <a:sym typeface="Songti SC"/>
              </a:rPr>
              <a:t>第</a:t>
            </a:r>
            <a:r>
              <a:rPr lang="en-US" sz="1300" b="1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2 </a:t>
            </a:r>
            <a:r>
              <a:rPr lang="en-US" sz="1300" b="1" i="0" u="none" strike="noStrike">
                <a:solidFill>
                  <a:srgbClr val="444A55"/>
                </a:solidFill>
                <a:latin typeface="Songti SC"/>
                <a:ea typeface="Songti SC"/>
                <a:cs typeface="Songti SC"/>
                <a:sym typeface="Songti SC"/>
              </a:rPr>
              <a:t>轮答出了</a:t>
            </a:r>
            <a:r>
              <a:rPr lang="en-US" sz="1300" b="1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Sam</a:t>
            </a:r>
            <a:r>
              <a:rPr lang="en-US" sz="1300" b="1" i="0" u="none" strike="noStrike">
                <a:solidFill>
                  <a:srgbClr val="444A55"/>
                </a:solidFill>
                <a:latin typeface="Songti SC"/>
                <a:ea typeface="Songti SC"/>
                <a:cs typeface="Songti SC"/>
                <a:sym typeface="Songti SC"/>
              </a:rPr>
              <a:t>　</a:t>
            </a:r>
            <a:r>
              <a:rPr lang="en-US" sz="1300" b="1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→ </a:t>
            </a:r>
            <a:r>
              <a:rPr lang="en-US" sz="1300" b="1" i="0" u="none" strike="noStrike">
                <a:solidFill>
                  <a:srgbClr val="444A55"/>
                </a:solidFill>
                <a:latin typeface="Songti SC"/>
                <a:ea typeface="Songti SC"/>
                <a:cs typeface="Songti SC"/>
                <a:sym typeface="Songti SC"/>
              </a:rPr>
              <a:t>因为历史被拼进了</a:t>
            </a:r>
            <a:r>
              <a:rPr lang="en-US" sz="1300" b="1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prompt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30352" y="4059936"/>
            <a:ext cx="11137392" cy="2066543"/>
          </a:xfrm>
          <a:prstGeom prst="roundRect">
            <a:avLst>
              <a:gd name="adj" fmla="val 4999"/>
            </a:avLst>
          </a:prstGeom>
          <a:solidFill>
            <a:srgbClr val="EFF7F9">
              <a:alpha val="100000"/>
            </a:srgbClr>
          </a:solidFill>
          <a:ln w="12700" cap="flat">
            <a:solidFill>
              <a:srgbClr val="0E9AA8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04672" y="4597400"/>
            <a:ext cx="10607040" cy="99770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1100"/>
              </a:spcAft>
              <a:defRPr/>
            </a:pPr>
            <a:r>
              <a:rPr lang="en-US" sz="155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模型每次调用都是无状态的，它只能看到这一次我们塞给它的文本</a:t>
            </a:r>
            <a:r>
              <a:rPr lang="en-US" sz="1550" b="1" i="0" u="none" strike="noStrike">
                <a:solidFill>
                  <a:srgbClr val="1F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marL="0" indent="0" algn="l">
              <a:lnSpc>
                <a:spcPct val="100000"/>
              </a:lnSpc>
              <a:spcAft>
                <a:spcPts val="1100"/>
              </a:spcAft>
            </a:pPr>
            <a:endParaRPr sz="1500"/>
          </a:p>
          <a:p>
            <a:pPr marL="0" indent="0" algn="l">
              <a:lnSpc>
                <a:spcPct val="100000"/>
              </a:lnSpc>
            </a:pPr>
            <a:r>
              <a:rPr lang="en-US" sz="1550" b="0" i="0" u="none" strike="noStrike">
                <a:solidFill>
                  <a:srgbClr val="444A55"/>
                </a:solidFill>
                <a:latin typeface="Songti SC"/>
                <a:ea typeface="Songti SC"/>
                <a:cs typeface="Songti SC"/>
                <a:sym typeface="Songti SC"/>
              </a:rPr>
              <a:t>所以「记忆」在工程上不是模型的能力，而是在合适的时候，把该给的历史放进</a:t>
            </a:r>
            <a:r>
              <a:rPr lang="en-US" sz="15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prompt</a:t>
            </a:r>
            <a:r>
              <a:rPr lang="en-US" sz="1550" b="0" i="0" u="none" strike="noStrike">
                <a:solidFill>
                  <a:srgbClr val="444A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550" b="0" i="0" u="none" strike="noStrike">
              <a:solidFill>
                <a:srgbClr val="444A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11430000" y="6382512"/>
            <a:ext cx="603504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571500" y="6413500"/>
            <a:ext cx="822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第八章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记忆管理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| Agentic Design Patterns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530352" y="219456"/>
            <a:ext cx="10607040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5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复现结果（一）</a:t>
            </a:r>
            <a:r>
              <a:rPr lang="en-US" sz="2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25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不带历史：它答不出我的名字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57784" y="822960"/>
            <a:ext cx="110642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这是我后面每一张图的对照物</a:t>
            </a:r>
            <a:r>
              <a:rPr lang="en-US" sz="12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12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｜</a:t>
            </a:r>
            <a:r>
              <a:rPr lang="en-US" sz="12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12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原图，没有改过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530352" y="4261104"/>
            <a:ext cx="11137392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实验</a:t>
            </a:r>
            <a:r>
              <a:rPr lang="en-US" sz="10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1a </a:t>
            </a:r>
            <a:r>
              <a:rPr lang="en-US" sz="100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的真实运行输出（原图）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0352" y="4498848"/>
            <a:ext cx="11137392" cy="1627632"/>
          </a:xfrm>
          <a:prstGeom prst="roundRect">
            <a:avLst>
              <a:gd name="adj" fmla="val 4999"/>
            </a:avLst>
          </a:prstGeom>
          <a:solidFill>
            <a:srgbClr val="FDF0EE">
              <a:alpha val="100000"/>
            </a:srgbClr>
          </a:solidFill>
          <a:ln w="12700" cap="flat">
            <a:solidFill>
              <a:srgbClr val="C0392B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804672" y="5194300"/>
            <a:ext cx="10607040" cy="2308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500" b="1" i="0" u="none" strike="noStrike">
                <a:solidFill>
                  <a:srgbClr val="C0392B"/>
                </a:solidFill>
                <a:latin typeface="Songti SC"/>
                <a:ea typeface="Songti SC"/>
                <a:cs typeface="Songti SC"/>
                <a:sym typeface="Songti SC"/>
              </a:rPr>
              <a:t>模型不是忘了，是从来就不知道。第</a:t>
            </a:r>
            <a:r>
              <a:rPr lang="en-US" sz="1500" b="1" i="0" u="none" strike="noStrike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2 </a:t>
            </a:r>
            <a:r>
              <a:rPr lang="en-US" sz="1500" b="1" i="0" u="none" strike="noStrike">
                <a:solidFill>
                  <a:srgbClr val="C0392B"/>
                </a:solidFill>
                <a:latin typeface="Songti SC"/>
                <a:ea typeface="Songti SC"/>
                <a:cs typeface="Songti SC"/>
                <a:sym typeface="Songti SC"/>
              </a:rPr>
              <a:t>轮的请求里根本没有第</a:t>
            </a:r>
            <a:r>
              <a:rPr lang="en-US" sz="1500" b="1" i="0" u="none" strike="noStrike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1 </a:t>
            </a:r>
            <a:r>
              <a:rPr lang="en-US" sz="1500" b="1" i="0" u="none" strike="noStrike">
                <a:solidFill>
                  <a:srgbClr val="C0392B"/>
                </a:solidFill>
                <a:latin typeface="Songti SC"/>
                <a:ea typeface="Songti SC"/>
                <a:cs typeface="Songti SC"/>
                <a:sym typeface="Songti SC"/>
              </a:rPr>
              <a:t>轮的内容</a:t>
            </a:r>
            <a:r>
              <a:rPr lang="en-US" sz="1500" b="1" i="0" u="none" strike="noStrike">
                <a:solidFill>
                  <a:srgbClr val="C039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rcRect l="-2275" t="-1181" r="17047" b="1182"/>
          <a:stretch>
            <a:fillRect/>
          </a:stretch>
        </p:blipFill>
        <p:spPr>
          <a:xfrm>
            <a:off x="363855" y="1099185"/>
            <a:ext cx="10939780" cy="29972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 txBox="1"/>
          <p:nvPr/>
        </p:nvSpPr>
        <p:spPr>
          <a:xfrm>
            <a:off x="11430000" y="6382512"/>
            <a:ext cx="603504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21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571500" y="6413500"/>
            <a:ext cx="822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第八章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记忆管理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| Agentic Design Patterns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566928" y="274320"/>
            <a:ext cx="10241280" cy="5232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记忆在</a:t>
            </a:r>
            <a:r>
              <a:rPr lang="en-US" sz="28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Agent </a:t>
            </a:r>
            <a:r>
              <a:rPr lang="en-US" sz="28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循环里的位置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603504" y="914400"/>
            <a:ext cx="4435830" cy="2923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记忆是</a:t>
            </a:r>
            <a:r>
              <a:rPr lang="en-US" sz="13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Agent </a:t>
            </a:r>
            <a:r>
              <a:rPr lang="en-US" sz="130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的一个「外部节点</a:t>
            </a:r>
            <a:r>
              <a:rPr lang="en-US" sz="1300" b="0" i="0" u="none" strike="noStrike">
                <a:solidFill>
                  <a:srgbClr val="6E76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」，</a:t>
            </a:r>
            <a:r>
              <a:rPr lang="en-US" sz="130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不是模型内部的能力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40080" y="3017520"/>
            <a:ext cx="1417320" cy="914400"/>
          </a:xfrm>
          <a:prstGeom prst="roundRect">
            <a:avLst>
              <a:gd name="adj" fmla="val 9999"/>
            </a:avLst>
          </a:prstGeom>
          <a:solidFill>
            <a:srgbClr val="EEF1F5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804672" y="3145536"/>
            <a:ext cx="1088136" cy="6583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4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User</a:t>
            </a:r>
            <a:endParaRPr lang="en-US" sz="1100"/>
          </a:p>
          <a:p>
            <a:pPr marL="0" indent="0" algn="l">
              <a:lnSpc>
                <a:spcPct val="108000"/>
              </a:lnSpc>
              <a:spcAft>
                <a:spcPts val="400"/>
              </a:spcAft>
            </a:pPr>
            <a:r>
              <a:rPr lang="en-US" sz="110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提问</a:t>
            </a: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/ </a:t>
            </a:r>
            <a:r>
              <a:rPr lang="en-US" sz="110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反馈</a:t>
            </a:r>
            <a:endParaRPr lang="en-US" sz="1100" b="0" i="0" u="none" strike="noStrike">
              <a:solidFill>
                <a:srgbClr val="6E7682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468880" y="1920240"/>
            <a:ext cx="1965960" cy="960120"/>
          </a:xfrm>
          <a:prstGeom prst="roundRect">
            <a:avLst>
              <a:gd name="adj" fmla="val 9999"/>
            </a:avLst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2633472" y="2048256"/>
            <a:ext cx="1636776" cy="7040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4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Prompt</a:t>
            </a:r>
            <a:endParaRPr lang="en-US" sz="1100"/>
          </a:p>
          <a:p>
            <a:pPr marL="0" indent="0" algn="l">
              <a:lnSpc>
                <a:spcPct val="108000"/>
              </a:lnSpc>
              <a:spcAft>
                <a:spcPts val="400"/>
              </a:spcAft>
            </a:pPr>
            <a:r>
              <a:rPr lang="en-US" sz="1100" b="0" i="0" u="none" strike="noStrike">
                <a:solidFill>
                  <a:srgbClr val="444A55"/>
                </a:solidFill>
                <a:latin typeface="Songti SC"/>
                <a:ea typeface="Songti SC"/>
                <a:cs typeface="Songti SC"/>
                <a:sym typeface="Songti SC"/>
              </a:rPr>
              <a:t>模板</a:t>
            </a:r>
            <a:r>
              <a:rPr lang="en-US" sz="11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+ </a:t>
            </a:r>
            <a:r>
              <a:rPr lang="en-US" sz="1100" b="0" i="0" u="none" strike="noStrike">
                <a:solidFill>
                  <a:srgbClr val="444A55"/>
                </a:solidFill>
                <a:latin typeface="Songti SC"/>
                <a:ea typeface="Songti SC"/>
                <a:cs typeface="Songti SC"/>
                <a:sym typeface="Songti SC"/>
              </a:rPr>
              <a:t>历史</a:t>
            </a:r>
            <a:endParaRPr lang="en-US" sz="1100" b="0" i="0" u="none" strike="noStrike">
              <a:solidFill>
                <a:srgbClr val="444A55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983480" y="1920240"/>
            <a:ext cx="2011680" cy="960120"/>
          </a:xfrm>
          <a:prstGeom prst="roundRect">
            <a:avLst>
              <a:gd name="adj" fmla="val 9999"/>
            </a:avLst>
          </a:prstGeom>
          <a:solidFill>
            <a:srgbClr val="E8F1FB">
              <a:alpha val="100000"/>
            </a:srgbClr>
          </a:solidFill>
          <a:ln w="12700" cap="flat">
            <a:solidFill>
              <a:srgbClr val="2E6DB4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5148072" y="2048256"/>
            <a:ext cx="1682496" cy="7040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4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Agent</a:t>
            </a:r>
            <a:endParaRPr lang="en-US" sz="1100"/>
          </a:p>
          <a:p>
            <a:pPr marL="0" indent="0" algn="l">
              <a:lnSpc>
                <a:spcPct val="108000"/>
              </a:lnSpc>
              <a:spcAft>
                <a:spcPts val="400"/>
              </a:spcAft>
            </a:pPr>
            <a:r>
              <a:rPr lang="en-US" sz="11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LLM </a:t>
            </a:r>
            <a:r>
              <a:rPr lang="en-US" sz="1100" b="0" i="0" u="none" strike="noStrike">
                <a:solidFill>
                  <a:srgbClr val="444A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</a:t>
            </a:r>
            <a:endParaRPr lang="en-US" sz="1100" b="0" i="0" u="none" strike="noStrike">
              <a:solidFill>
                <a:srgbClr val="444A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35240" y="1920240"/>
            <a:ext cx="2057400" cy="960120"/>
          </a:xfrm>
          <a:prstGeom prst="roundRect">
            <a:avLst>
              <a:gd name="adj" fmla="val 9999"/>
            </a:avLst>
          </a:prstGeom>
          <a:solidFill>
            <a:srgbClr val="E6F6F7">
              <a:alpha val="100000"/>
            </a:srgbClr>
          </a:solidFill>
          <a:ln w="12700" cap="flat">
            <a:solidFill>
              <a:srgbClr val="0E9AA8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7799832" y="2048256"/>
            <a:ext cx="1728216" cy="7040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4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Memory</a:t>
            </a:r>
            <a:endParaRPr lang="en-US" sz="1100"/>
          </a:p>
          <a:p>
            <a:pPr marL="0" indent="0" algn="l">
              <a:lnSpc>
                <a:spcPct val="108000"/>
              </a:lnSpc>
              <a:spcAft>
                <a:spcPts val="400"/>
              </a:spcAft>
            </a:pPr>
            <a:r>
              <a:rPr lang="en-US" sz="1100" b="0" i="0" u="none" strike="noStrike">
                <a:solidFill>
                  <a:srgbClr val="444A55"/>
                </a:solidFill>
                <a:latin typeface="Songti SC"/>
                <a:ea typeface="Songti SC"/>
                <a:cs typeface="Songti SC"/>
                <a:sym typeface="Songti SC"/>
              </a:rPr>
              <a:t>长期存储</a:t>
            </a:r>
            <a:endParaRPr lang="en-US" sz="1100" b="0" i="0" u="none" strike="noStrike">
              <a:solidFill>
                <a:srgbClr val="444A55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983480" y="3977639"/>
            <a:ext cx="2011680" cy="914400"/>
          </a:xfrm>
          <a:prstGeom prst="roundRect">
            <a:avLst>
              <a:gd name="adj" fmla="val 9999"/>
            </a:avLst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5148072" y="4105655"/>
            <a:ext cx="1682496" cy="6583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4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Output</a:t>
            </a:r>
            <a:endParaRPr lang="en-US" sz="1100"/>
          </a:p>
          <a:p>
            <a:pPr marL="0" indent="0" algn="l">
              <a:lnSpc>
                <a:spcPct val="108000"/>
              </a:lnSpc>
              <a:spcAft>
                <a:spcPts val="400"/>
              </a:spcAft>
            </a:pPr>
            <a:r>
              <a:rPr lang="en-US" sz="1100" b="0" i="0" u="none" strike="noStrike">
                <a:solidFill>
                  <a:srgbClr val="444A55"/>
                </a:solidFill>
                <a:latin typeface="Songti SC"/>
                <a:ea typeface="Songti SC"/>
                <a:cs typeface="Songti SC"/>
                <a:sym typeface="Songti SC"/>
              </a:rPr>
              <a:t>回复用户</a:t>
            </a:r>
            <a:endParaRPr lang="en-US" sz="1100" b="0" i="0" u="none" strike="noStrike">
              <a:solidFill>
                <a:srgbClr val="444A55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cxnSp>
        <p:nvCxnSpPr>
          <p:cNvPr id="15" name="Connector 15"/>
          <p:cNvCxnSpPr/>
          <p:nvPr/>
        </p:nvCxnSpPr>
        <p:spPr>
          <a:xfrm flipV="1">
            <a:off x="2103120" y="2697480"/>
            <a:ext cx="329184" cy="612648"/>
          </a:xfrm>
          <a:prstGeom prst="line">
            <a:avLst/>
          </a:prstGeom>
          <a:noFill/>
          <a:ln w="12700" cap="flat">
            <a:solidFill>
              <a:srgbClr val="6E768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6" name="Connector 16"/>
          <p:cNvCxnSpPr/>
          <p:nvPr/>
        </p:nvCxnSpPr>
        <p:spPr>
          <a:xfrm>
            <a:off x="4462272" y="2395728"/>
            <a:ext cx="484632" cy="0"/>
          </a:xfrm>
          <a:prstGeom prst="line">
            <a:avLst/>
          </a:prstGeom>
          <a:noFill/>
          <a:ln w="12700" cap="flat">
            <a:solidFill>
              <a:srgbClr val="1F365D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7" name="Connector 17"/>
          <p:cNvCxnSpPr/>
          <p:nvPr/>
        </p:nvCxnSpPr>
        <p:spPr>
          <a:xfrm>
            <a:off x="7031736" y="2240280"/>
            <a:ext cx="566928" cy="0"/>
          </a:xfrm>
          <a:prstGeom prst="line">
            <a:avLst/>
          </a:prstGeom>
          <a:noFill/>
          <a:ln w="25400" cap="flat">
            <a:solidFill>
              <a:srgbClr val="D96B1E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8" name="Connector 18"/>
          <p:cNvCxnSpPr/>
          <p:nvPr/>
        </p:nvCxnSpPr>
        <p:spPr>
          <a:xfrm rot="10800000" flipV="1">
            <a:off x="7031736" y="2578608"/>
            <a:ext cx="566928" cy="0"/>
          </a:xfrm>
          <a:prstGeom prst="line">
            <a:avLst/>
          </a:prstGeom>
          <a:noFill/>
          <a:ln w="25400" cap="flat">
            <a:solidFill>
              <a:srgbClr val="0E9AA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" name="Connector 19"/>
          <p:cNvCxnSpPr/>
          <p:nvPr/>
        </p:nvCxnSpPr>
        <p:spPr>
          <a:xfrm>
            <a:off x="5989320" y="2916936"/>
            <a:ext cx="0" cy="1024127"/>
          </a:xfrm>
          <a:prstGeom prst="line">
            <a:avLst/>
          </a:prstGeom>
          <a:noFill/>
          <a:ln w="12700" cap="flat">
            <a:solidFill>
              <a:srgbClr val="1F365D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0" name="Connector 20"/>
          <p:cNvCxnSpPr/>
          <p:nvPr/>
        </p:nvCxnSpPr>
        <p:spPr>
          <a:xfrm rot="10800000">
            <a:off x="2103120" y="3657600"/>
            <a:ext cx="2843784" cy="777240"/>
          </a:xfrm>
          <a:prstGeom prst="line">
            <a:avLst/>
          </a:prstGeom>
          <a:noFill/>
          <a:ln w="12700" cap="flat">
            <a:solidFill>
              <a:srgbClr val="6E768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1" name="AutoShape 21"/>
          <p:cNvSpPr txBox="1"/>
          <p:nvPr/>
        </p:nvSpPr>
        <p:spPr>
          <a:xfrm>
            <a:off x="7635240" y="1481328"/>
            <a:ext cx="3931920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E9AA8"/>
                </a:solidFill>
                <a:latin typeface="Songti SC"/>
                <a:ea typeface="Songti SC"/>
                <a:cs typeface="Songti SC"/>
                <a:sym typeface="Songti SC"/>
              </a:rPr>
              <a:t>写：</a:t>
            </a:r>
            <a:r>
              <a:rPr lang="en-US" sz="120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store.put()</a:t>
            </a:r>
            <a:r>
              <a:rPr lang="en-US" sz="1200" b="1" i="0" u="none" strike="noStrike">
                <a:solidFill>
                  <a:srgbClr val="0E9AA8"/>
                </a:solidFill>
                <a:latin typeface="Songti SC"/>
                <a:ea typeface="Songti SC"/>
                <a:cs typeface="Songti SC"/>
                <a:sym typeface="Songti SC"/>
              </a:rPr>
              <a:t>　读：</a:t>
            </a:r>
            <a:r>
              <a:rPr lang="en-US" sz="120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search() / checkpointer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0080" y="5138928"/>
            <a:ext cx="10972800" cy="1005840"/>
          </a:xfrm>
          <a:prstGeom prst="roundRect">
            <a:avLst>
              <a:gd name="adj" fmla="val 10000"/>
            </a:avLst>
          </a:prstGeom>
          <a:solidFill>
            <a:srgbClr val="EEF1F5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914400" y="5303520"/>
            <a:ext cx="10424160" cy="731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6B1E"/>
                </a:solidFill>
                <a:latin typeface="Songti SC"/>
                <a:ea typeface="Songti SC"/>
                <a:cs typeface="Songti SC"/>
                <a:sym typeface="Songti SC"/>
              </a:rPr>
              <a:t>注意：</a:t>
            </a:r>
            <a:r>
              <a:rPr lang="en-US" sz="1500" b="1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Memory </a:t>
            </a:r>
            <a:r>
              <a:rPr lang="en-US" sz="1500" b="1" i="0" u="none" strike="noStrike">
                <a:solidFill>
                  <a:srgbClr val="444A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画在</a:t>
            </a:r>
            <a:r>
              <a:rPr lang="en-US" sz="1500" b="1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Agent </a:t>
            </a:r>
            <a:r>
              <a:rPr lang="en-US" sz="1500" b="1" i="0" u="none" strike="noStrike">
                <a:solidFill>
                  <a:srgbClr val="444A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方框之外。</a:t>
            </a:r>
            <a:r>
              <a:rPr lang="en-US" sz="1500" b="0" i="0" u="none" strike="noStrike">
                <a:solidFill>
                  <a:srgbClr val="444A55"/>
                </a:solidFill>
                <a:latin typeface="Songti SC"/>
                <a:ea typeface="Songti SC"/>
                <a:cs typeface="Songti SC"/>
                <a:sym typeface="Songti SC"/>
              </a:rPr>
              <a:t>记忆必须能跨会话、跨进程存活，因此它不能活在</a:t>
            </a:r>
            <a:r>
              <a:rPr lang="en-US" sz="150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Agent </a:t>
            </a:r>
            <a:r>
              <a:rPr lang="en-US" sz="1500" b="0" i="0" u="none" strike="noStrike">
                <a:solidFill>
                  <a:srgbClr val="444A55"/>
                </a:solidFill>
                <a:latin typeface="Songti SC"/>
                <a:ea typeface="Songti SC"/>
                <a:cs typeface="Songti SC"/>
                <a:sym typeface="Songti SC"/>
              </a:rPr>
              <a:t>实例内部。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1475720" y="6382512"/>
            <a:ext cx="566928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22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571500" y="6413500"/>
            <a:ext cx="822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第八章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记忆管理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| Agentic Design Patterns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530352" y="219456"/>
            <a:ext cx="10607040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5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理论一：短期和长期，差的不是「大小」，而是这四条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530352" y="1460500"/>
          <a:ext cx="11137390" cy="299008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1857"/>
                <a:gridCol w="4556205"/>
                <a:gridCol w="4809328"/>
              </a:tblGrid>
              <a:tr h="498348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 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65D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短期记忆</a:t>
                      </a: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 Short-Term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65D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长期记忆</a:t>
                      </a: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 Long-Term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65D">
                        <a:alpha val="100000"/>
                      </a:srgbClr>
                    </a:solidFill>
                  </a:tcPr>
                </a:tc>
              </a:tr>
              <a:tr h="498348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50" b="1" i="0" u="none" strike="noStrike">
                          <a:solidFill>
                            <a:srgbClr val="1F365D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作用域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50" b="0" i="0" u="none" strike="noStrike">
                          <a:solidFill>
                            <a:srgbClr val="444A55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单个会话线程（</a:t>
                      </a:r>
                      <a:r>
                        <a:rPr lang="en-US" sz="1350" b="0" i="0" u="none" strike="noStrike">
                          <a:solidFill>
                            <a:srgbClr val="444A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session / thread</a:t>
                      </a:r>
                      <a:r>
                        <a:rPr lang="en-US" sz="1350" b="0" i="0" u="none" strike="noStrike">
                          <a:solidFill>
                            <a:srgbClr val="444A55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）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50" b="0" i="0" u="none" strike="noStrike">
                          <a:solidFill>
                            <a:srgbClr val="444A55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跨会话，绑定到用户（</a:t>
                      </a:r>
                      <a:r>
                        <a:rPr lang="en-US" sz="1350" b="0" i="0" u="none" strike="noStrike">
                          <a:solidFill>
                            <a:srgbClr val="444A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user</a:t>
                      </a:r>
                      <a:r>
                        <a:rPr lang="en-US" sz="1350" b="0" i="0" u="none" strike="noStrike">
                          <a:solidFill>
                            <a:srgbClr val="444A55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）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98348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50" b="1" i="0" u="none" strike="noStrike">
                          <a:solidFill>
                            <a:srgbClr val="1F365D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载体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50" b="0" i="0" u="none" strike="noStrike">
                          <a:solidFill>
                            <a:srgbClr val="444A55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模型上下文窗口里的一串消息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50" b="0" i="0" u="none" strike="noStrike">
                          <a:solidFill>
                            <a:srgbClr val="444A55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外部存储：文件</a:t>
                      </a:r>
                      <a:r>
                        <a:rPr lang="en-US" sz="1350" b="0" i="0" u="none" strike="noStrike">
                          <a:solidFill>
                            <a:srgbClr val="444A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 / </a:t>
                      </a:r>
                      <a:r>
                        <a:rPr lang="en-US" sz="1350" b="0" i="0" u="none" strike="noStrike">
                          <a:solidFill>
                            <a:srgbClr val="444A55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数据库</a:t>
                      </a:r>
                      <a:r>
                        <a:rPr lang="en-US" sz="1350" b="0" i="0" u="none" strike="noStrike">
                          <a:solidFill>
                            <a:srgbClr val="444A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 / </a:t>
                      </a:r>
                      <a:r>
                        <a:rPr lang="en-US" sz="1350" b="0" i="0" u="none" strike="noStrike">
                          <a:solidFill>
                            <a:srgbClr val="444A55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向量库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>
                        <a:alpha val="100000"/>
                      </a:srgbClr>
                    </a:solidFill>
                  </a:tcPr>
                </a:tc>
              </a:tr>
              <a:tr h="498348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50" b="1" i="0" u="none" strike="noStrike">
                          <a:solidFill>
                            <a:srgbClr val="1F365D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取用方式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50" b="0" i="0" u="none" strike="noStrike">
                          <a:solidFill>
                            <a:srgbClr val="444A55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整体拼进</a:t>
                      </a:r>
                      <a:r>
                        <a:rPr lang="en-US" sz="1350" b="0" i="0" u="none" strike="noStrike">
                          <a:solidFill>
                            <a:srgbClr val="444A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 prompt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50" b="0" i="0" u="none" strike="noStrike">
                          <a:solidFill>
                            <a:srgbClr val="444A55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按需检索后注入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98348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50" b="1" i="0" u="none" strike="noStrike">
                          <a:solidFill>
                            <a:srgbClr val="1F365D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失效方式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50" b="0" i="0" u="none" strike="noStrike">
                          <a:solidFill>
                            <a:srgbClr val="C0392B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撑爆上下文窗口，成本线性上涨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50" b="0" i="0" u="none" strike="noStrike">
                          <a:solidFill>
                            <a:srgbClr val="D96B1E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写入</a:t>
                      </a:r>
                      <a:r>
                        <a:rPr lang="en-US" sz="1350" b="0" i="0" u="none" strike="noStrike">
                          <a:solidFill>
                            <a:srgbClr val="D96B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 ≠ </a:t>
                      </a:r>
                      <a:r>
                        <a:rPr lang="en-US" sz="1350" b="0" i="0" u="none" strike="noStrike">
                          <a:solidFill>
                            <a:srgbClr val="D96B1E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可检索；冲突与过期难处理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>
                        <a:alpha val="100000"/>
                      </a:srgbClr>
                    </a:solidFill>
                  </a:tcPr>
                </a:tc>
              </a:tr>
              <a:tr h="498348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50" b="1" i="0" u="none" strike="noStrike">
                          <a:solidFill>
                            <a:srgbClr val="1F365D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工程对策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50" b="0" i="0" u="none" strike="noStrike">
                          <a:solidFill>
                            <a:srgbClr val="0E9AA8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裁剪、摘要、按需注入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50" b="0" i="0" u="none" strike="noStrike">
                          <a:solidFill>
                            <a:srgbClr val="0E9AA8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命名空间隔离、</a:t>
                      </a:r>
                      <a:r>
                        <a:rPr lang="en-US" sz="1350" b="0" i="0" u="none" strike="noStrike">
                          <a:solidFill>
                            <a:srgbClr val="0E9A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TTL</a:t>
                      </a:r>
                      <a:r>
                        <a:rPr lang="en-US" sz="1350" b="0" i="0" u="none" strike="noStrike">
                          <a:solidFill>
                            <a:srgbClr val="0E9AA8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、冲突消解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AutoShape 5"/>
          <p:cNvSpPr txBox="1"/>
          <p:nvPr/>
        </p:nvSpPr>
        <p:spPr>
          <a:xfrm>
            <a:off x="11430000" y="6382512"/>
            <a:ext cx="603504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23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571500" y="6413500"/>
            <a:ext cx="822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第八章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记忆管理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| Agentic Design Patterns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530352" y="219456"/>
            <a:ext cx="10607040" cy="3847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5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复现结果（二</a:t>
            </a:r>
            <a:r>
              <a:rPr lang="en-US" sz="2500" b="1" i="0" u="none" strike="noStrike">
                <a:solidFill>
                  <a:srgbClr val="1F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r>
              <a:rPr lang="en-US" sz="2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25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手动拼历史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57784" y="773430"/>
            <a:ext cx="11064240" cy="1923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和上一张比，只多做了一件事：把上一轮的内容拼进这一次的</a:t>
            </a:r>
            <a:r>
              <a:rPr lang="en-US" sz="12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prompt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530352" y="4889500"/>
            <a:ext cx="11137392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实验</a:t>
            </a:r>
            <a:r>
              <a:rPr lang="en-US" sz="10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1 </a:t>
            </a:r>
            <a:r>
              <a:rPr lang="en-US" sz="100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的真实运行输出（原图）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l="-4567" t="955" r="24001" b="-954"/>
          <a:stretch>
            <a:fillRect/>
          </a:stretch>
        </p:blipFill>
        <p:spPr>
          <a:xfrm>
            <a:off x="533400" y="983615"/>
            <a:ext cx="11111865" cy="385699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 txBox="1"/>
          <p:nvPr/>
        </p:nvSpPr>
        <p:spPr>
          <a:xfrm>
            <a:off x="11430000" y="6382512"/>
            <a:ext cx="603504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24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571500" y="6413500"/>
            <a:ext cx="822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第八章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记忆管理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| Agentic Design Patterns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530352" y="219456"/>
            <a:ext cx="10607040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5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复现结果（三</a:t>
            </a:r>
            <a:r>
              <a:rPr lang="en-US" sz="2500" b="1" i="0" u="none" strike="noStrike">
                <a:solidFill>
                  <a:srgbClr val="1F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r>
              <a:rPr lang="en-US" sz="2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25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交给框架自动做，机制其实没变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58800" y="812800"/>
            <a:ext cx="11137392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实验</a:t>
            </a:r>
            <a:r>
              <a:rPr lang="en-US" sz="10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1b </a:t>
            </a:r>
            <a:r>
              <a:rPr lang="en-US" sz="100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的真实运行输出（原图）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20700" y="4941679"/>
            <a:ext cx="11137392" cy="1627632"/>
          </a:xfrm>
          <a:prstGeom prst="roundRect">
            <a:avLst>
              <a:gd name="adj" fmla="val 4999"/>
            </a:avLst>
          </a:prstGeom>
          <a:solidFill>
            <a:srgbClr val="EFF7F9">
              <a:alpha val="100000"/>
            </a:srgbClr>
          </a:solidFill>
          <a:ln w="12700" cap="flat">
            <a:solidFill>
              <a:srgbClr val="0E9AA8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684022" y="5283200"/>
            <a:ext cx="10607040" cy="92589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500" b="1" i="0" u="none" strike="noStrike">
                <a:solidFill>
                  <a:srgbClr val="0E9AA8"/>
                </a:solidFill>
                <a:latin typeface="Songti SC"/>
                <a:ea typeface="Songti SC"/>
                <a:cs typeface="Songti SC"/>
                <a:sym typeface="Songti SC"/>
              </a:rPr>
              <a:t>容器里有</a:t>
            </a:r>
            <a:r>
              <a:rPr lang="en-US" sz="150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4 </a:t>
            </a:r>
            <a:r>
              <a:rPr lang="en-US" sz="1500" b="1" i="0" u="none" strike="noStrike">
                <a:solidFill>
                  <a:srgbClr val="0E9AA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</a:t>
            </a:r>
            <a:r>
              <a:rPr lang="en-US" sz="150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—— </a:t>
            </a:r>
            <a:r>
              <a:rPr lang="en-US" sz="1500" b="1" i="0" u="none" strike="noStrike">
                <a:solidFill>
                  <a:srgbClr val="0E9AA8"/>
                </a:solidFill>
                <a:latin typeface="Songti SC"/>
                <a:ea typeface="Songti SC"/>
                <a:cs typeface="Songti SC"/>
                <a:sym typeface="Songti SC"/>
              </a:rPr>
              <a:t>框架把「读历史</a:t>
            </a:r>
            <a:r>
              <a:rPr lang="en-US" sz="150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→ </a:t>
            </a:r>
            <a:r>
              <a:rPr lang="en-US" sz="1500" b="1" i="0" u="none" strike="noStrike">
                <a:solidFill>
                  <a:srgbClr val="0E9AA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拼</a:t>
            </a:r>
            <a:r>
              <a:rPr lang="en-US" sz="150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prompt → </a:t>
            </a:r>
            <a:r>
              <a:rPr lang="en-US" sz="1500" b="1" i="0" u="none" strike="noStrike">
                <a:solidFill>
                  <a:srgbClr val="0E9AA8"/>
                </a:solidFill>
                <a:latin typeface="Songti SC"/>
                <a:ea typeface="Songti SC"/>
                <a:cs typeface="Songti SC"/>
                <a:sym typeface="Songti SC"/>
              </a:rPr>
              <a:t>写回」这三步做掉了</a:t>
            </a:r>
            <a:r>
              <a:rPr lang="en-US" sz="1500" b="1" i="0" u="none" strike="noStrike">
                <a:solidFill>
                  <a:srgbClr val="0E9AA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marL="0" indent="0" algn="l">
              <a:lnSpc>
                <a:spcPct val="100000"/>
              </a:lnSpc>
              <a:spcAft>
                <a:spcPts val="1000"/>
              </a:spcAft>
            </a:pPr>
            <a:endParaRPr sz="1500"/>
          </a:p>
          <a:p>
            <a:pPr marL="0" indent="0" algn="l">
              <a:lnSpc>
                <a:spcPct val="100000"/>
              </a:lnSpc>
            </a:pPr>
            <a:r>
              <a:rPr lang="en-US" sz="135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这一步的意义在于：读写都归框架管之后，下一步我只要改「存哪儿</a:t>
            </a:r>
            <a:r>
              <a:rPr lang="en-US" sz="1350" b="1" i="0" u="none" strike="noStrike">
                <a:solidFill>
                  <a:srgbClr val="1F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」，</a:t>
            </a:r>
            <a:r>
              <a:rPr lang="en-US" sz="135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就能把它从短期记忆变成长期记忆</a:t>
            </a:r>
            <a:r>
              <a:rPr lang="en-US" sz="1350" b="1" i="0" u="none" strike="noStrike">
                <a:solidFill>
                  <a:srgbClr val="1F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50" b="1" i="0" u="none" strike="noStrike">
              <a:solidFill>
                <a:srgbClr val="1F365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rcRect t="-813" r="36631"/>
          <a:stretch>
            <a:fillRect/>
          </a:stretch>
        </p:blipFill>
        <p:spPr>
          <a:xfrm>
            <a:off x="520700" y="1040765"/>
            <a:ext cx="10068560" cy="383286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AutoShape 8"/>
          <p:cNvSpPr txBox="1"/>
          <p:nvPr/>
        </p:nvSpPr>
        <p:spPr>
          <a:xfrm>
            <a:off x="11430000" y="6382512"/>
            <a:ext cx="603504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25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571500" y="6413500"/>
            <a:ext cx="822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第八章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记忆管理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| Agentic Design Patterns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530352" y="219456"/>
            <a:ext cx="10607040" cy="3847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5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理论二：长期记忆三种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57784" y="822960"/>
            <a:ext cx="11064240" cy="1923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借用认知科学的分法，它决定了「该存什么」和「怎么取</a:t>
            </a:r>
            <a:r>
              <a:rPr lang="en-US" sz="1250" b="0" i="0" u="none" strike="noStrike">
                <a:solidFill>
                  <a:srgbClr val="6E76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0352" y="1243584"/>
            <a:ext cx="3596640" cy="2670048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0352" y="1243584"/>
            <a:ext cx="3596640" cy="54864"/>
          </a:xfrm>
          <a:prstGeom prst="rect">
            <a:avLst/>
          </a:prstGeom>
          <a:solidFill>
            <a:srgbClr val="0E9AA8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749808" y="1463040"/>
            <a:ext cx="3157728" cy="228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500"/>
              </a:spcAft>
              <a:defRPr/>
            </a:pPr>
            <a:r>
              <a:rPr lang="en-US" sz="1600" b="1" i="0" u="none" strike="noStrike">
                <a:solidFill>
                  <a:srgbClr val="0E9AA8"/>
                </a:solidFill>
                <a:latin typeface="Songti SC"/>
                <a:ea typeface="Songti SC"/>
                <a:cs typeface="Songti SC"/>
                <a:sym typeface="Songti SC"/>
              </a:rPr>
              <a:t>语义记忆</a:t>
            </a:r>
            <a:r>
              <a:rPr lang="en-US" sz="1600" b="1" i="0" u="none" strike="noStrike">
                <a:solidFill>
                  <a:srgbClr val="0E9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Semantic</a:t>
            </a:r>
            <a:endParaRPr lang="en-US" sz="1100"/>
          </a:p>
          <a:p>
            <a:pPr marL="0" indent="0" algn="l">
              <a:lnSpc>
                <a:spcPct val="100000"/>
              </a:lnSpc>
              <a:spcAft>
                <a:spcPts val="900"/>
              </a:spcAft>
            </a:pPr>
            <a:r>
              <a:rPr lang="en-US" sz="12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记住「事实」</a:t>
            </a:r>
            <a:endParaRPr lang="en-US" sz="1250" b="0" i="0" u="none" strike="noStrike">
              <a:solidFill>
                <a:srgbClr val="6E7682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250" b="0" i="0" u="none" strike="noStrike">
                <a:solidFill>
                  <a:srgbClr val="444A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用户是谁、偏好什么、去过哪里</a:t>
            </a:r>
            <a:endParaRPr lang="en-US" sz="1250" b="0" i="0" u="none" strike="noStrike">
              <a:solidFill>
                <a:srgbClr val="444A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250" b="0" i="0" u="none" strike="noStrike">
                <a:solidFill>
                  <a:srgbClr val="444A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实现：持续更新的用户画像</a:t>
            </a:r>
            <a:endParaRPr lang="en-US" sz="1250" b="0" i="0" u="none" strike="noStrike">
              <a:solidFill>
                <a:srgbClr val="444A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250" b="0" i="0" u="none" strike="noStrike">
                <a:solidFill>
                  <a:srgbClr val="444A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或一组可检索的事实文档</a:t>
            </a:r>
            <a:endParaRPr lang="en-US" sz="1250" b="0" i="0" u="none" strike="noStrike">
              <a:solidFill>
                <a:srgbClr val="444A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250" b="0" i="0" u="none" strike="noStrike">
                <a:solidFill>
                  <a:srgbClr val="444A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更新策略：同名覆盖，不堆积</a:t>
            </a:r>
            <a:endParaRPr lang="en-US" sz="1250" b="0" i="0" u="none" strike="noStrike">
              <a:solidFill>
                <a:srgbClr val="444A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00728" y="1243584"/>
            <a:ext cx="3596640" cy="2670048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00728" y="1243584"/>
            <a:ext cx="3596640" cy="54864"/>
          </a:xfrm>
          <a:prstGeom prst="rect">
            <a:avLst/>
          </a:prstGeom>
          <a:solidFill>
            <a:srgbClr val="D96B1E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4520184" y="1463040"/>
            <a:ext cx="3157728" cy="228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500"/>
              </a:spcAft>
              <a:defRPr/>
            </a:pPr>
            <a:r>
              <a:rPr lang="en-US" sz="1600" b="1" i="0" u="none" strike="noStrike">
                <a:solidFill>
                  <a:srgbClr val="D96B1E"/>
                </a:solidFill>
                <a:latin typeface="Songti SC"/>
                <a:ea typeface="Songti SC"/>
                <a:cs typeface="Songti SC"/>
                <a:sym typeface="Songti SC"/>
              </a:rPr>
              <a:t>情景记忆</a:t>
            </a:r>
            <a:r>
              <a:rPr lang="en-US" sz="1600" b="1" i="0" u="none" strike="noStrike">
                <a:solidFill>
                  <a:srgbClr val="D96B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Episodic</a:t>
            </a:r>
            <a:endParaRPr lang="en-US" sz="1100"/>
          </a:p>
          <a:p>
            <a:pPr marL="0" indent="0" algn="l">
              <a:lnSpc>
                <a:spcPct val="100000"/>
              </a:lnSpc>
              <a:spcAft>
                <a:spcPts val="900"/>
              </a:spcAft>
            </a:pPr>
            <a:r>
              <a:rPr lang="en-US" sz="12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记住「经历」</a:t>
            </a:r>
            <a:endParaRPr lang="en-US" sz="1250" b="0" i="0" u="none" strike="noStrike">
              <a:solidFill>
                <a:srgbClr val="6E7682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250" b="0" i="0" u="none" strike="noStrike">
                <a:solidFill>
                  <a:srgbClr val="444A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上次那件事是怎么做成的</a:t>
            </a:r>
            <a:endParaRPr lang="en-US" sz="1250" b="0" i="0" u="none" strike="noStrike">
              <a:solidFill>
                <a:srgbClr val="444A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250" b="0" i="0" u="none" strike="noStrike">
                <a:solidFill>
                  <a:srgbClr val="444A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实现：任务轨迹</a:t>
            </a: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/ </a:t>
            </a:r>
            <a:r>
              <a:rPr lang="en-US" sz="1250" b="0" i="0" u="none" strike="noStrike">
                <a:solidFill>
                  <a:srgbClr val="444A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成功步骤</a:t>
            </a:r>
            <a:endParaRPr lang="en-US" sz="1250" b="0" i="0" u="none" strike="noStrike">
              <a:solidFill>
                <a:srgbClr val="444A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250" b="0" i="0" u="none" strike="noStrike">
                <a:solidFill>
                  <a:srgbClr val="444A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用法：做成</a:t>
            </a: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few-shot </a:t>
            </a:r>
            <a:r>
              <a:rPr lang="en-US" sz="1250" b="0" i="0" u="none" strike="noStrike">
                <a:solidFill>
                  <a:srgbClr val="444A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示例复用</a:t>
            </a:r>
            <a:endParaRPr lang="en-US" sz="1250" b="0" i="0" u="none" strike="noStrike">
              <a:solidFill>
                <a:srgbClr val="444A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250" b="0" i="0" u="none" strike="noStrike">
                <a:solidFill>
                  <a:srgbClr val="444A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价值：避免重复试错</a:t>
            </a:r>
            <a:endParaRPr lang="en-US" sz="1250" b="0" i="0" u="none" strike="noStrike">
              <a:solidFill>
                <a:srgbClr val="444A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071104" y="1243584"/>
            <a:ext cx="3596640" cy="2670048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>
            <a:solidFill>
              <a:srgbClr val="D5DBE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71104" y="1243584"/>
            <a:ext cx="3596640" cy="54864"/>
          </a:xfrm>
          <a:prstGeom prst="rect">
            <a:avLst/>
          </a:prstGeom>
          <a:solidFill>
            <a:srgbClr val="1E8E3E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8290560" y="1463040"/>
            <a:ext cx="3157728" cy="228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500"/>
              </a:spcAft>
              <a:defRPr/>
            </a:pPr>
            <a:r>
              <a:rPr lang="en-US" sz="1600" b="1" i="0" u="none" strike="noStrike">
                <a:solidFill>
                  <a:srgbClr val="1E8E3E"/>
                </a:solidFill>
                <a:latin typeface="Songti SC"/>
                <a:ea typeface="Songti SC"/>
                <a:cs typeface="Songti SC"/>
                <a:sym typeface="Songti SC"/>
              </a:rPr>
              <a:t>程序性记忆</a:t>
            </a:r>
            <a:r>
              <a:rPr lang="en-US" sz="1600" b="1" i="0" u="none" strike="noStrike">
                <a:solidFill>
                  <a:srgbClr val="1E8E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Procedural</a:t>
            </a:r>
            <a:endParaRPr lang="en-US" sz="1100"/>
          </a:p>
          <a:p>
            <a:pPr marL="0" indent="0" algn="l">
              <a:lnSpc>
                <a:spcPct val="100000"/>
              </a:lnSpc>
              <a:spcAft>
                <a:spcPts val="900"/>
              </a:spcAft>
            </a:pPr>
            <a:r>
              <a:rPr lang="en-US" sz="12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记住「规则」</a:t>
            </a:r>
            <a:endParaRPr lang="en-US" sz="1250" b="0" i="0" u="none" strike="noStrike">
              <a:solidFill>
                <a:srgbClr val="6E7682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agent </a:t>
            </a:r>
            <a:r>
              <a:rPr lang="en-US" sz="1250" b="0" i="0" u="none" strike="noStrike">
                <a:solidFill>
                  <a:srgbClr val="444A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该怎么行动、遵守什么约束</a:t>
            </a:r>
            <a:endParaRPr lang="en-US" sz="1250" b="0" i="0" u="none" strike="noStrike">
              <a:solidFill>
                <a:srgbClr val="444A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250" b="0" i="0" u="none" strike="noStrike">
                <a:solidFill>
                  <a:srgbClr val="444A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实现：系统提示</a:t>
            </a: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/ </a:t>
            </a:r>
            <a:r>
              <a:rPr lang="en-US" sz="1250" b="0" i="0" u="none" strike="noStrike">
                <a:solidFill>
                  <a:srgbClr val="444A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指令集</a:t>
            </a:r>
            <a:endParaRPr lang="en-US" sz="1250" b="0" i="0" u="none" strike="noStrike">
              <a:solidFill>
                <a:srgbClr val="444A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250" b="0" i="0" u="none" strike="noStrike">
                <a:solidFill>
                  <a:srgbClr val="444A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进阶：让模型反思并改写自己</a:t>
            </a:r>
            <a:endParaRPr lang="en-US" sz="1250" b="0" i="0" u="none" strike="noStrike">
              <a:solidFill>
                <a:srgbClr val="444A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Aft>
                <a:spcPts val="600"/>
              </a:spcAft>
            </a:pPr>
            <a:r>
              <a:rPr lang="en-US" sz="1250" b="0" i="0" u="none" strike="noStrike">
                <a:solidFill>
                  <a:srgbClr val="44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250" b="0" i="0" u="none" strike="noStrike">
                <a:solidFill>
                  <a:srgbClr val="444A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风险：改坏影响全局，需护栏</a:t>
            </a:r>
            <a:endParaRPr lang="en-US" sz="1250" b="0" i="0" u="none" strike="noStrike">
              <a:solidFill>
                <a:srgbClr val="444A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30352" y="4169663"/>
            <a:ext cx="11137392" cy="1956816"/>
          </a:xfrm>
          <a:prstGeom prst="roundRect">
            <a:avLst>
              <a:gd name="adj" fmla="val 4999"/>
            </a:avLst>
          </a:prstGeom>
          <a:solidFill>
            <a:srgbClr val="EFF7F9">
              <a:alpha val="100000"/>
            </a:srgbClr>
          </a:solidFill>
          <a:ln w="12700" cap="flat">
            <a:solidFill>
              <a:srgbClr val="0E9AA8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804672" y="4267200"/>
            <a:ext cx="10607040" cy="17568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5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三类记忆存的东西不一样，取的方式也不一样</a:t>
            </a:r>
            <a:r>
              <a:rPr lang="en-US" sz="1500" b="1" i="0" u="none" strike="noStrike">
                <a:solidFill>
                  <a:srgbClr val="1F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marL="0" indent="0" algn="l">
              <a:lnSpc>
                <a:spcPct val="100000"/>
              </a:lnSpc>
              <a:spcAft>
                <a:spcPts val="1000"/>
              </a:spcAft>
            </a:pPr>
            <a:endParaRPr sz="1500"/>
          </a:p>
          <a:p>
            <a:pPr marL="0" indent="0" algn="l">
              <a:lnSpc>
                <a:spcPct val="100000"/>
              </a:lnSpc>
            </a:pPr>
            <a:r>
              <a:rPr lang="en-US" sz="1350" b="1" i="0" u="none" strike="noStrike">
                <a:solidFill>
                  <a:srgbClr val="0E9AA8"/>
                </a:solidFill>
                <a:latin typeface="Songti SC"/>
                <a:ea typeface="Songti SC"/>
                <a:cs typeface="Songti SC"/>
                <a:sym typeface="Songti SC"/>
              </a:rPr>
              <a:t>事实适合覆盖更新加精确查</a:t>
            </a:r>
            <a:r>
              <a:rPr lang="en-US" sz="1350" b="1" i="0" u="none" strike="noStrike">
                <a:solidFill>
                  <a:srgbClr val="0E9AA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endParaRPr lang="en-US" sz="1350" b="1" i="0" u="none" strike="noStrike">
              <a:solidFill>
                <a:srgbClr val="0E9AA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endParaRPr sz="1300"/>
          </a:p>
          <a:p>
            <a:pPr marL="0" indent="0" algn="l">
              <a:lnSpc>
                <a:spcPct val="100000"/>
              </a:lnSpc>
            </a:pPr>
            <a:r>
              <a:rPr lang="en-US" sz="1350" b="1" i="0" u="none" strike="noStrike">
                <a:solidFill>
                  <a:srgbClr val="0E9AA8"/>
                </a:solidFill>
                <a:latin typeface="Songti SC"/>
                <a:ea typeface="Songti SC"/>
                <a:cs typeface="Songti SC"/>
                <a:sym typeface="Songti SC"/>
              </a:rPr>
              <a:t>经历适合按相似度召回</a:t>
            </a:r>
            <a:r>
              <a:rPr lang="en-US" sz="1350" b="1" i="0" u="none" strike="noStrike">
                <a:solidFill>
                  <a:srgbClr val="0E9AA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endParaRPr lang="en-US" sz="1350" b="1" i="0" u="none" strike="noStrike">
              <a:solidFill>
                <a:srgbClr val="0E9AA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endParaRPr sz="1300"/>
          </a:p>
          <a:p>
            <a:pPr marL="0" indent="0" algn="l">
              <a:lnSpc>
                <a:spcPct val="100000"/>
              </a:lnSpc>
            </a:pPr>
            <a:r>
              <a:rPr lang="en-US" sz="1350" b="1" i="0" u="none" strike="noStrike">
                <a:solidFill>
                  <a:srgbClr val="0E9AA8"/>
                </a:solidFill>
                <a:latin typeface="Songti SC"/>
                <a:ea typeface="Songti SC"/>
                <a:cs typeface="Songti SC"/>
                <a:sym typeface="Songti SC"/>
              </a:rPr>
              <a:t>规则适合人看过再改</a:t>
            </a:r>
            <a:r>
              <a:rPr lang="en-US" sz="1350" b="1" i="0" u="none" strike="noStrike">
                <a:solidFill>
                  <a:srgbClr val="0E9AA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50" b="1" i="0" u="none" strike="noStrike">
              <a:solidFill>
                <a:srgbClr val="0E9AA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11430000" y="6382512"/>
            <a:ext cx="603504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26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571500" y="6413500"/>
            <a:ext cx="822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第八章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记忆管理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| Agentic Design Patterns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533400" y="191914"/>
            <a:ext cx="10607040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5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复现结果（四）</a:t>
            </a:r>
            <a:r>
              <a:rPr lang="en-US" sz="25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25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换个进程，它还记得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58800" y="626144"/>
            <a:ext cx="110642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验证论文</a:t>
            </a:r>
            <a:r>
              <a:rPr lang="en-US" sz="12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p121–p122 </a:t>
            </a:r>
            <a:r>
              <a:rPr lang="en-US" sz="1250" b="0" i="0" u="none" strike="noStrike">
                <a:solidFill>
                  <a:srgbClr val="6E76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｜</a:t>
            </a:r>
            <a:r>
              <a:rPr lang="en-US" sz="12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write </a:t>
            </a:r>
            <a:r>
              <a:rPr lang="en-US" sz="12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写进磁盘</a:t>
            </a:r>
            <a:r>
              <a:rPr lang="en-US" sz="12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→ </a:t>
            </a:r>
            <a:r>
              <a:rPr lang="en-US" sz="12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关掉进程</a:t>
            </a:r>
            <a:r>
              <a:rPr lang="en-US" sz="12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→ </a:t>
            </a:r>
            <a:r>
              <a:rPr lang="en-US" sz="12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新进程</a:t>
            </a:r>
            <a:r>
              <a:rPr lang="en-US" sz="12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recall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46217"/>
          <a:stretch>
            <a:fillRect/>
          </a:stretch>
        </p:blipFill>
        <p:spPr>
          <a:xfrm>
            <a:off x="682625" y="927896"/>
            <a:ext cx="10728960" cy="332105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6" name="AutoShape 6"/>
          <p:cNvSpPr txBox="1"/>
          <p:nvPr/>
        </p:nvSpPr>
        <p:spPr>
          <a:xfrm>
            <a:off x="530352" y="4261104"/>
            <a:ext cx="11137392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实验</a:t>
            </a:r>
            <a:r>
              <a:rPr lang="en-US" sz="10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2 </a:t>
            </a:r>
            <a:r>
              <a:rPr lang="en-US" sz="100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的真实运行输出（原图）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82624" y="4498848"/>
            <a:ext cx="10729087" cy="1627632"/>
          </a:xfrm>
          <a:prstGeom prst="roundRect">
            <a:avLst>
              <a:gd name="adj" fmla="val 4999"/>
            </a:avLst>
          </a:prstGeom>
          <a:solidFill>
            <a:srgbClr val="ECF7EE">
              <a:alpha val="100000"/>
            </a:srgbClr>
          </a:solidFill>
          <a:ln w="12700" cap="flat">
            <a:solidFill>
              <a:srgbClr val="1E8E3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804672" y="4699000"/>
            <a:ext cx="10607040" cy="123110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代码上其实只改了一处：把内存版的</a:t>
            </a:r>
            <a:r>
              <a:rPr lang="en-US" sz="2000" b="1" i="0" u="none" strike="noStrike">
                <a:solidFill>
                  <a:srgbClr val="1F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store </a:t>
            </a:r>
            <a:r>
              <a:rPr lang="en-US" sz="20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换成文件版</a:t>
            </a:r>
            <a:r>
              <a:rPr lang="en-US" sz="2000" b="1" i="0" u="none" strike="noStrike">
                <a:solidFill>
                  <a:srgbClr val="1F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endParaRPr sz="2000"/>
          </a:p>
          <a:p>
            <a:pPr marL="0" indent="0" algn="l">
              <a:lnSpc>
                <a:spcPct val="100000"/>
              </a:lnSpc>
            </a:pPr>
            <a:endParaRPr sz="2000"/>
          </a:p>
          <a:p>
            <a:pPr marL="0" indent="0" algn="l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生产上换成数据库或向量库也一样，接口不变</a:t>
            </a:r>
            <a:r>
              <a:rPr lang="en-US" sz="2000" b="1" i="0" u="none" strike="noStrike">
                <a:solidFill>
                  <a:srgbClr val="1F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2000" b="1" i="0" u="none" strike="noStrike">
              <a:solidFill>
                <a:srgbClr val="1F365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11430000" y="6382512"/>
            <a:ext cx="603504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27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571500" y="6413500"/>
            <a:ext cx="822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第八章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记忆管理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| Agentic Design Patterns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365D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530352" y="219456"/>
            <a:ext cx="10607040" cy="3847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500" b="1" i="0" u="none" strike="noStrike">
                <a:solidFill>
                  <a:srgbClr val="1F365D"/>
                </a:solidFill>
                <a:latin typeface="Songti SC"/>
                <a:ea typeface="Songti SC"/>
                <a:cs typeface="Songti SC"/>
                <a:sym typeface="Songti SC"/>
              </a:rPr>
              <a:t>四个实验放在一起看，是一条递进链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530352" y="1587500"/>
          <a:ext cx="11137389" cy="23088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14114"/>
                <a:gridCol w="2501877"/>
                <a:gridCol w="2421172"/>
                <a:gridCol w="2259760"/>
                <a:gridCol w="2340466"/>
              </a:tblGrid>
              <a:tr h="461772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50" b="1" i="0" u="none" strike="noStrike">
                          <a:solidFill>
                            <a:srgbClr val="FFFFFF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实验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65D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50" b="1" i="0" u="none" strike="noStrike">
                          <a:solidFill>
                            <a:srgbClr val="FFFFFF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记忆存在哪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65D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50" b="1" i="0" u="none" strike="noStrike">
                          <a:solidFill>
                            <a:srgbClr val="FFFFFF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验证方式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65D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50" b="1" i="0" u="none" strike="noStrike">
                          <a:solidFill>
                            <a:srgbClr val="FFFFFF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关键数字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65D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50" b="1" i="0" u="none" strike="noStrike">
                          <a:solidFill>
                            <a:srgbClr val="FFFFFF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结论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65D">
                        <a:alpha val="100000"/>
                      </a:srgbClr>
                    </a:solidFill>
                  </a:tcPr>
                </a:tc>
              </a:tr>
              <a:tr h="461772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44A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1a </a:t>
                      </a:r>
                      <a:r>
                        <a:rPr lang="en-US" sz="1200" b="0" i="0" u="none" strike="noStrike">
                          <a:solidFill>
                            <a:srgbClr val="444A55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无记忆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039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1a </a:t>
                      </a:r>
                      <a:r>
                        <a:rPr lang="en-US" sz="1200" b="0" i="0" u="none" strike="noStrike">
                          <a:solidFill>
                            <a:srgbClr val="C039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不带历史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44A55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同进程两轮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44A55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输入</a:t>
                      </a:r>
                      <a:r>
                        <a:rPr lang="en-US" sz="1200" b="0" i="0" u="none" strike="noStrike">
                          <a:solidFill>
                            <a:srgbClr val="444A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 18 → 12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0392B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答不出</a:t>
                      </a:r>
                      <a:r>
                        <a:rPr lang="en-US" sz="1200" b="0" i="0" u="none" strike="noStrike">
                          <a:solidFill>
                            <a:srgbClr val="C039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 Sam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61772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44A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1 </a:t>
                      </a:r>
                      <a:r>
                        <a:rPr lang="en-US" sz="1200" b="0" i="0" u="none" strike="noStrike">
                          <a:solidFill>
                            <a:srgbClr val="444A55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手动拼历史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44A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1 </a:t>
                      </a:r>
                      <a:r>
                        <a:rPr lang="en-US" sz="1200" b="0" i="0" u="none" strike="noStrike">
                          <a:solidFill>
                            <a:srgbClr val="444A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手动拼历史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44A55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同进程两轮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96B1E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输入</a:t>
                      </a:r>
                      <a:r>
                        <a:rPr lang="en-US" sz="1200" b="1" i="0" u="none" strike="noStrike">
                          <a:solidFill>
                            <a:srgbClr val="D96B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 354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E8E3E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答出</a:t>
                      </a:r>
                      <a:r>
                        <a:rPr lang="en-US" sz="1200" b="0" i="0" u="none" strike="noStrike">
                          <a:solidFill>
                            <a:srgbClr val="1E8E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 Sam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>
                        <a:alpha val="100000"/>
                      </a:srgbClr>
                    </a:solidFill>
                  </a:tcPr>
                </a:tc>
              </a:tr>
              <a:tr h="461772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44A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1b </a:t>
                      </a:r>
                      <a:r>
                        <a:rPr lang="en-US" sz="1200" b="0" i="0" u="none" strike="noStrike">
                          <a:solidFill>
                            <a:srgbClr val="444A55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自动挡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44A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1b </a:t>
                      </a:r>
                      <a:r>
                        <a:rPr lang="en-US" sz="1200" b="0" i="0" u="none" strike="noStrike">
                          <a:solidFill>
                            <a:srgbClr val="444A55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交给框架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44A55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同进程两轮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44A55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容器内</a:t>
                      </a:r>
                      <a:r>
                        <a:rPr lang="en-US" sz="1200" b="0" i="0" u="none" strike="noStrike">
                          <a:solidFill>
                            <a:srgbClr val="444A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 4 </a:t>
                      </a:r>
                      <a:r>
                        <a:rPr lang="en-US" sz="1200" b="0" i="0" u="none" strike="noStrike">
                          <a:solidFill>
                            <a:srgbClr val="444A55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条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E8E3E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答出</a:t>
                      </a:r>
                      <a:r>
                        <a:rPr lang="en-US" sz="1200" b="0" i="0" u="none" strike="noStrike">
                          <a:solidFill>
                            <a:srgbClr val="1E8E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 Sam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61772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44A5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 </a:t>
                      </a:r>
                      <a:r>
                        <a:rPr lang="en-US" sz="1200" b="0" i="0" u="none" strike="noStrike">
                          <a:solidFill>
                            <a:srgbClr val="444A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长期记忆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E9A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 </a:t>
                      </a:r>
                      <a:r>
                        <a:rPr lang="en-US" sz="1200" b="1" i="0" u="none" strike="noStrike">
                          <a:solidFill>
                            <a:srgbClr val="0E9AA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换个进程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E9A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write → </a:t>
                      </a:r>
                      <a:r>
                        <a:rPr lang="en-US" sz="1200" b="1" i="0" u="none" strike="noStrike">
                          <a:solidFill>
                            <a:srgbClr val="0E9AA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关进程</a:t>
                      </a:r>
                      <a:r>
                        <a:rPr lang="en-US" sz="1200" b="1" i="0" u="none" strike="noStrike">
                          <a:solidFill>
                            <a:srgbClr val="0E9A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 → recall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96B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write → </a:t>
                      </a:r>
                      <a:r>
                        <a:rPr lang="en-US" sz="1200" b="1" i="0" u="none" strike="noStrike">
                          <a:solidFill>
                            <a:srgbClr val="D96B1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关进程</a:t>
                      </a:r>
                      <a:r>
                        <a:rPr lang="en-US" sz="1200" b="1" i="0" u="none" strike="noStrike">
                          <a:solidFill>
                            <a:srgbClr val="D96B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 → recall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8E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Sam / </a:t>
                      </a:r>
                      <a:r>
                        <a:rPr lang="en-US" sz="1200" b="1" i="0" u="none" strike="noStrike">
                          <a:solidFill>
                            <a:srgbClr val="1E8E3E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素食</a:t>
                      </a:r>
                      <a:r>
                        <a:rPr lang="en-US" sz="1200" b="1" i="0" u="none" strike="noStrike">
                          <a:solidFill>
                            <a:srgbClr val="1E8E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 / </a:t>
                      </a:r>
                      <a:r>
                        <a:rPr lang="en-US" sz="1200" b="1" i="0" u="none" strike="noStrike">
                          <a:solidFill>
                            <a:srgbClr val="1E8E3E"/>
                          </a:solidFill>
                          <a:latin typeface="Songti SC"/>
                          <a:ea typeface="Songti SC"/>
                          <a:cs typeface="Songti SC"/>
                          <a:sym typeface="Songti SC"/>
                        </a:rPr>
                        <a:t>纽约</a:t>
                      </a:r>
                      <a:endParaRPr lang="en-US" sz="1100"/>
                    </a:p>
                  </a:txBody>
                  <a:tcPr marL="54864" marR="36576" marT="18288" marB="18288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AutoShape 5"/>
          <p:cNvSpPr txBox="1"/>
          <p:nvPr/>
        </p:nvSpPr>
        <p:spPr>
          <a:xfrm>
            <a:off x="11430000" y="6382512"/>
            <a:ext cx="603504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28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571500" y="6413500"/>
            <a:ext cx="82296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第八章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950" b="0" i="0" u="none" strike="noStrike">
                <a:solidFill>
                  <a:srgbClr val="6E7682"/>
                </a:solidFill>
                <a:latin typeface="Songti SC"/>
                <a:ea typeface="Songti SC"/>
                <a:cs typeface="Songti SC"/>
                <a:sym typeface="Songti SC"/>
              </a:rPr>
              <a:t>记忆管理</a:t>
            </a:r>
            <a:r>
              <a:rPr lang="en-US" sz="950" b="0" i="0" u="none" strike="noStrike">
                <a:solidFill>
                  <a:srgbClr val="6E768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| Agentic Design Patterns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9.6,&quot;left&quot;:44.64,&quot;top&quot;:154.8,&quot;width&quot;:876.24}"/>
</p:tagLst>
</file>

<file path=ppt/tags/tag2.xml><?xml version="1.0" encoding="utf-8"?>
<p:tagLst xmlns:p="http://schemas.openxmlformats.org/presentationml/2006/main">
  <p:tag name="KSO_WM_DIAGRAM_VIRTUALLY_FRAME" val="{&quot;height&quot;:309.6,&quot;left&quot;:44.64,&quot;top&quot;:154.8,&quot;width&quot;:876.24}"/>
</p:tagLst>
</file>

<file path=ppt/tags/tag3.xml><?xml version="1.0" encoding="utf-8"?>
<p:tagLst xmlns:p="http://schemas.openxmlformats.org/presentationml/2006/main">
  <p:tag name="KSO_WM_DIAGRAM_VIRTUALLY_FRAME" val="{&quot;height&quot;:309.6,&quot;left&quot;:44.64,&quot;top&quot;:154.8,&quot;width&quot;:876.24}"/>
</p:tagLst>
</file>

<file path=ppt/tags/tag4.xml><?xml version="1.0" encoding="utf-8"?>
<p:tagLst xmlns:p="http://schemas.openxmlformats.org/presentationml/2006/main">
  <p:tag name="KSO_WM_DIAGRAM_VIRTUALLY_FRAME" val="{&quot;height&quot;:309.6,&quot;left&quot;:44.64,&quot;top&quot;:154.8,&quot;width&quot;:876.24}"/>
</p:tagLst>
</file>

<file path=ppt/tags/tag5.xml><?xml version="1.0" encoding="utf-8"?>
<p:tagLst xmlns:p="http://schemas.openxmlformats.org/presentationml/2006/main">
  <p:tag name="KSO_WM_DIAGRAM_VIRTUALLY_FRAME" val="{&quot;height&quot;:309.6,&quot;left&quot;:44.64,&quot;top&quot;:154.8,&quot;width&quot;:876.24}"/>
</p:tagLst>
</file>

<file path=ppt/tags/tag6.xml><?xml version="1.0" encoding="utf-8"?>
<p:tagLst xmlns:p="http://schemas.openxmlformats.org/presentationml/2006/main">
  <p:tag name="KSO_WM_DIAGRAM_VIRTUALLY_FRAME" val="{&quot;height&quot;:309.6,&quot;left&quot;:44.64,&quot;top&quot;:154.8,&quot;width&quot;:876.24}"/>
</p:tagLst>
</file>

<file path=ppt/tags/tag7.xml><?xml version="1.0" encoding="utf-8"?>
<p:tagLst xmlns:p="http://schemas.openxmlformats.org/presentationml/2006/main">
  <p:tag name="KSO_WM_DIAGRAM_VIRTUALLY_FRAME" val="{&quot;height&quot;:309.6,&quot;left&quot;:44.64,&quot;top&quot;:154.8,&quot;width&quot;:876.24}"/>
</p:tagLst>
</file>

<file path=ppt/tags/tag8.xml><?xml version="1.0" encoding="utf-8"?>
<p:tagLst xmlns:p="http://schemas.openxmlformats.org/presentationml/2006/main">
  <p:tag name="KSO_WM_DIAGRAM_VIRTUALLY_FRAME" val="{&quot;height&quot;:309.6,&quot;left&quot;:44.64,&quot;top&quot;:154.8,&quot;width&quot;:876.24}"/>
</p:tagLst>
</file>

<file path=ppt/tags/tag9.xml><?xml version="1.0" encoding="utf-8"?>
<p:tagLst xmlns:p="http://schemas.openxmlformats.org/presentationml/2006/main">
  <p:tag name="KSO_WM_DIAGRAM_VIRTUALLY_FRAME" val="{&quot;height&quot;:309.6,&quot;left&quot;:44.64,&quot;top&quot;:154.8,&quot;width&quot;:876.24}"/>
</p:tagLst>
</file>

<file path=ppt/tags/tag10.xml><?xml version="1.0" encoding="utf-8"?>
<p:tagLst xmlns:p="http://schemas.openxmlformats.org/presentationml/2006/main">
  <p:tag name="KSO_WM_DIAGRAM_VIRTUALLY_FRAME" val="{&quot;height&quot;:309.6,&quot;left&quot;:44.64,&quot;top&quot;:154.8,&quot;width&quot;:876.24}"/>
</p:tagLst>
</file>

<file path=ppt/tags/tag11.xml><?xml version="1.0" encoding="utf-8"?>
<p:tagLst xmlns:p="http://schemas.openxmlformats.org/presentationml/2006/main">
  <p:tag name="KSO_WM_DIAGRAM_VIRTUALLY_FRAME" val="{&quot;height&quot;:309.6,&quot;left&quot;:44.64,&quot;top&quot;:154.8,&quot;width&quot;:876.24}"/>
</p:tagLst>
</file>

<file path=ppt/tags/tag12.xml><?xml version="1.0" encoding="utf-8"?>
<p:tagLst xmlns:p="http://schemas.openxmlformats.org/presentationml/2006/main">
  <p:tag name="KSO_WM_DIAGRAM_VIRTUALLY_FRAME" val="{&quot;height&quot;:309.6,&quot;left&quot;:44.64,&quot;top&quot;:154.8,&quot;width&quot;:876.24}"/>
</p:tagLst>
</file>

<file path=ppt/tags/tag13.xml><?xml version="1.0" encoding="utf-8"?>
<p:tagLst xmlns:p="http://schemas.openxmlformats.org/presentationml/2006/main">
  <p:tag name="KSO_WM_DIAGRAM_VIRTUALLY_FRAME" val="{&quot;height&quot;:309.6,&quot;left&quot;:44.64,&quot;top&quot;:154.8,&quot;width&quot;:876.24}"/>
</p:tagLst>
</file>

<file path=ppt/tags/tag14.xml><?xml version="1.0" encoding="utf-8"?>
<p:tagLst xmlns:p="http://schemas.openxmlformats.org/presentationml/2006/main">
  <p:tag name="KSO_WM_DIAGRAM_VIRTUALLY_FRAME" val="{&quot;height&quot;:309.6,&quot;left&quot;:44.64,&quot;top&quot;:154.8,&quot;width&quot;:876.24}"/>
</p:tagLst>
</file>

<file path=ppt/tags/tag15.xml><?xml version="1.0" encoding="utf-8"?>
<p:tagLst xmlns:p="http://schemas.openxmlformats.org/presentationml/2006/main">
  <p:tag name="KSO_WM_DIAGRAM_VIRTUALLY_FRAME" val="{&quot;height&quot;:309.6,&quot;left&quot;:44.64,&quot;top&quot;:154.8,&quot;width&quot;:876.24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8352</Words>
  <Application>WPS 演示</Application>
  <PresentationFormat/>
  <Paragraphs>1076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29</vt:i4>
      </vt:variant>
    </vt:vector>
  </HeadingPairs>
  <TitlesOfParts>
    <vt:vector size="46" baseType="lpstr">
      <vt:lpstr>Arial</vt:lpstr>
      <vt:lpstr>宋体</vt:lpstr>
      <vt:lpstr>Wingdings</vt:lpstr>
      <vt:lpstr>Arial</vt:lpstr>
      <vt:lpstr>Calibri</vt:lpstr>
      <vt:lpstr>Noto Sans SC</vt:lpstr>
      <vt:lpstr>微软雅黑</vt:lpstr>
      <vt:lpstr>Songti SC</vt:lpstr>
      <vt:lpstr>Segoe Print</vt:lpstr>
      <vt:lpstr>Consolas</vt:lpstr>
      <vt:lpstr>Arial Unicode MS</vt:lpstr>
      <vt:lpstr>Calibri</vt:lpstr>
      <vt:lpstr>Consolas</vt:lpstr>
      <vt:lpstr>Songti SC</vt:lpstr>
      <vt:lpstr>Office 主题​​</vt:lpstr>
      <vt:lpstr>自定义主题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null</cp:lastModifiedBy>
  <cp:revision>6</cp:revision>
  <dcterms:created xsi:type="dcterms:W3CDTF">2026-10-19T11:17:00Z</dcterms:created>
  <dcterms:modified xsi:type="dcterms:W3CDTF">2026-10-26T14:20:05Z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{"Label":"1","ContentProducer":"001191110102MACQD9K64010000","ProduceID":"7698336101727014187","ReservedCode1":"","ContentPropagator":"","PropagateID":"","ReservedCode2":""}</vt:lpwstr>
  </property>
  <property fmtid="{D5CDD505-2E9C-101B-9397-08002B2CF9AE}" pid="3" name="ICV">
    <vt:lpwstr>8B2EB4615A4843B0A3CC4784058F44E2_13</vt:lpwstr>
  </property>
  <property fmtid="{D5CDD505-2E9C-101B-9397-08002B2CF9AE}" pid="4" name="KSOProductBuildVer">
    <vt:lpwstr>2052-12.1.0.29161</vt:lpwstr>
  </property>
</Properties>
</file>