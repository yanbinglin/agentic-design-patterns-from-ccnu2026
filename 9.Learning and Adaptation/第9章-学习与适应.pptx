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8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9.svg" ContentType="image/svg+xml"/>
  <Override PartName="/ppt/media/image13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1.svg" ContentType="image/svg+xml"/>
  <Override PartName="/ppt/media/image14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8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收益（%）</c:v>
                </c:pt>
              </c:strCache>
            </c:strRef>
          </c:tx>
          <c:spPr>
            <a:solidFill>
              <a:srgbClr val="00758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00505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{"数据中心调度：全球算力使用下降","Gemini 架构某核心内核：提速","FlashAttention 低级 GPU 指令：优化"}</c:f>
              <c:strCache>
                <c:ptCount val="3"/>
                <c:pt idx="0">
                  <c:v>数据中心调度：全球算力使用下降</c:v>
                </c:pt>
                <c:pt idx="1">
                  <c:v>Gemini 架构某核心内核：提速</c:v>
                </c:pt>
                <c:pt idx="2">
                  <c:v>FlashAttention 低级 GPU 指令：优化</c:v>
                </c:pt>
              </c:strCache>
            </c:strRef>
          </c:cat>
          <c:val>
            <c:numRef>
              <c:f>{0.7,23,32.5}</c:f>
              <c:numCache>
                <c:formatCode>General</c:formatCode>
                <c:ptCount val="3"/>
                <c:pt idx="0">
                  <c:v>0.7</c:v>
                </c:pt>
                <c:pt idx="1">
                  <c:v>23</c:v>
                </c:pt>
                <c:pt idx="2">
                  <c:v>32.5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7A8B98"/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7A8B98"/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F8FBFB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f33af33-b0a0-4d53-9ca2-63f1f9913660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3.svg"/><Relationship Id="rId13" Type="http://schemas.openxmlformats.org/officeDocument/2006/relationships/image" Target="../media/image32.png"/><Relationship Id="rId12" Type="http://schemas.openxmlformats.org/officeDocument/2006/relationships/image" Target="../media/image31.svg"/><Relationship Id="rId11" Type="http://schemas.openxmlformats.org/officeDocument/2006/relationships/image" Target="../media/image30.png"/><Relationship Id="rId10" Type="http://schemas.openxmlformats.org/officeDocument/2006/relationships/image" Target="../media/image29.svg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1.svg"/><Relationship Id="rId7" Type="http://schemas.openxmlformats.org/officeDocument/2006/relationships/image" Target="../media/image40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9.svg"/><Relationship Id="rId7" Type="http://schemas.openxmlformats.org/officeDocument/2006/relationships/image" Target="../media/image48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svg"/><Relationship Id="rId7" Type="http://schemas.openxmlformats.org/officeDocument/2006/relationships/image" Target="../media/image56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5.svg"/><Relationship Id="rId11" Type="http://schemas.openxmlformats.org/officeDocument/2006/relationships/image" Target="../media/image14.png"/><Relationship Id="rId10" Type="http://schemas.openxmlformats.org/officeDocument/2006/relationships/image" Target="../media/image59.svg"/><Relationship Id="rId1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7.svg"/><Relationship Id="rId7" Type="http://schemas.openxmlformats.org/officeDocument/2006/relationships/image" Target="../media/image66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9.svg"/><Relationship Id="rId1" Type="http://schemas.openxmlformats.org/officeDocument/2006/relationships/image" Target="../media/image6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image" Target="../media/image75.svg"/><Relationship Id="rId7" Type="http://schemas.openxmlformats.org/officeDocument/2006/relationships/image" Target="../media/image74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51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7.svg"/><Relationship Id="rId1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svg"/><Relationship Id="rId1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4.svg"/><Relationship Id="rId6" Type="http://schemas.openxmlformats.org/officeDocument/2006/relationships/image" Target="../media/image83.png"/><Relationship Id="rId5" Type="http://schemas.openxmlformats.org/officeDocument/2006/relationships/image" Target="../media/image82.svg"/><Relationship Id="rId4" Type="http://schemas.openxmlformats.org/officeDocument/2006/relationships/image" Target="../media/image81.png"/><Relationship Id="rId3" Type="http://schemas.openxmlformats.org/officeDocument/2006/relationships/image" Target="../media/image80.sv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image" Target="../media/image90.svg"/><Relationship Id="rId7" Type="http://schemas.openxmlformats.org/officeDocument/2006/relationships/image" Target="../media/image89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svg"/><Relationship Id="rId3" Type="http://schemas.openxmlformats.org/officeDocument/2006/relationships/image" Target="../media/image85.png"/><Relationship Id="rId2" Type="http://schemas.openxmlformats.org/officeDocument/2006/relationships/image" Target="../media/image51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94.svg"/><Relationship Id="rId11" Type="http://schemas.openxmlformats.org/officeDocument/2006/relationships/image" Target="../media/image93.png"/><Relationship Id="rId10" Type="http://schemas.openxmlformats.org/officeDocument/2006/relationships/image" Target="../media/image92.svg"/><Relationship Id="rId1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svg"/><Relationship Id="rId1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7.svg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svg"/><Relationship Id="rId7" Type="http://schemas.openxmlformats.org/officeDocument/2006/relationships/image" Target="../media/image102.png"/><Relationship Id="rId6" Type="http://schemas.openxmlformats.org/officeDocument/2006/relationships/image" Target="../media/image101.svg"/><Relationship Id="rId5" Type="http://schemas.openxmlformats.org/officeDocument/2006/relationships/image" Target="../media/image100.png"/><Relationship Id="rId4" Type="http://schemas.openxmlformats.org/officeDocument/2006/relationships/image" Target="../media/image99.svg"/><Relationship Id="rId3" Type="http://schemas.openxmlformats.org/officeDocument/2006/relationships/image" Target="../media/image98.png"/><Relationship Id="rId2" Type="http://schemas.openxmlformats.org/officeDocument/2006/relationships/image" Target="../media/image51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5.svg"/><Relationship Id="rId1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png"/><Relationship Id="rId8" Type="http://schemas.openxmlformats.org/officeDocument/2006/relationships/image" Target="../media/image111.svg"/><Relationship Id="rId7" Type="http://schemas.openxmlformats.org/officeDocument/2006/relationships/image" Target="../media/image110.png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4" Type="http://schemas.openxmlformats.org/officeDocument/2006/relationships/image" Target="../media/image107.svg"/><Relationship Id="rId3" Type="http://schemas.openxmlformats.org/officeDocument/2006/relationships/image" Target="../media/image106.png"/><Relationship Id="rId2" Type="http://schemas.openxmlformats.org/officeDocument/2006/relationships/image" Target="../media/image23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13.sv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7.svg"/><Relationship Id="rId4" Type="http://schemas.openxmlformats.org/officeDocument/2006/relationships/image" Target="../media/image96.png"/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chart" Target="../charts/chart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svg"/><Relationship Id="rId8" Type="http://schemas.openxmlformats.org/officeDocument/2006/relationships/image" Target="../media/image123.png"/><Relationship Id="rId7" Type="http://schemas.openxmlformats.org/officeDocument/2006/relationships/image" Target="../media/image122.svg"/><Relationship Id="rId6" Type="http://schemas.openxmlformats.org/officeDocument/2006/relationships/image" Target="../media/image121.png"/><Relationship Id="rId5" Type="http://schemas.openxmlformats.org/officeDocument/2006/relationships/image" Target="../media/image120.svg"/><Relationship Id="rId4" Type="http://schemas.openxmlformats.org/officeDocument/2006/relationships/image" Target="../media/image119.png"/><Relationship Id="rId3" Type="http://schemas.openxmlformats.org/officeDocument/2006/relationships/image" Target="../media/image118.svg"/><Relationship Id="rId2" Type="http://schemas.openxmlformats.org/officeDocument/2006/relationships/image" Target="../media/image117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16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0.svg"/><Relationship Id="rId7" Type="http://schemas.openxmlformats.org/officeDocument/2006/relationships/image" Target="../media/image79.png"/><Relationship Id="rId6" Type="http://schemas.openxmlformats.org/officeDocument/2006/relationships/image" Target="../media/image118.svg"/><Relationship Id="rId5" Type="http://schemas.openxmlformats.org/officeDocument/2006/relationships/image" Target="../media/image117.png"/><Relationship Id="rId4" Type="http://schemas.openxmlformats.org/officeDocument/2006/relationships/image" Target="../media/image126.svg"/><Relationship Id="rId3" Type="http://schemas.openxmlformats.org/officeDocument/2006/relationships/image" Target="../media/image125.png"/><Relationship Id="rId2" Type="http://schemas.openxmlformats.org/officeDocument/2006/relationships/image" Target="../media/image120.svg"/><Relationship Id="rId1" Type="http://schemas.openxmlformats.org/officeDocument/2006/relationships/image" Target="../media/image119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9.svg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1.svg"/><Relationship Id="rId5" Type="http://schemas.openxmlformats.org/officeDocument/2006/relationships/image" Target="../media/image130.png"/><Relationship Id="rId4" Type="http://schemas.openxmlformats.org/officeDocument/2006/relationships/image" Target="../media/image97.svg"/><Relationship Id="rId3" Type="http://schemas.openxmlformats.org/officeDocument/2006/relationships/image" Target="../media/image96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9.svg"/><Relationship Id="rId7" Type="http://schemas.openxmlformats.org/officeDocument/2006/relationships/image" Target="../media/image138.png"/><Relationship Id="rId6" Type="http://schemas.openxmlformats.org/officeDocument/2006/relationships/image" Target="../media/image137.svg"/><Relationship Id="rId5" Type="http://schemas.openxmlformats.org/officeDocument/2006/relationships/image" Target="../media/image136.png"/><Relationship Id="rId4" Type="http://schemas.openxmlformats.org/officeDocument/2006/relationships/image" Target="../media/image135.svg"/><Relationship Id="rId3" Type="http://schemas.openxmlformats.org/officeDocument/2006/relationships/image" Target="../media/image134.png"/><Relationship Id="rId2" Type="http://schemas.openxmlformats.org/officeDocument/2006/relationships/image" Target="../media/image133.svg"/><Relationship Id="rId1" Type="http://schemas.openxmlformats.org/officeDocument/2006/relationships/image" Target="../media/image1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3.svg"/><Relationship Id="rId4" Type="http://schemas.openxmlformats.org/officeDocument/2006/relationships/image" Target="../media/image142.png"/><Relationship Id="rId3" Type="http://schemas.openxmlformats.org/officeDocument/2006/relationships/image" Target="../media/image141.svg"/><Relationship Id="rId2" Type="http://schemas.openxmlformats.org/officeDocument/2006/relationships/image" Target="../media/image140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&#10;    height: 720,&#10;    position: 'relative',&#10;    background: 'linear-gradient(112deg, #00434C 0%, #00505A 42%, #007581 100%)',&#10;    fontFamily: '&quot;Microsoft YaHei&quot;, &quot;PingFang SC&quot;, sans-serif',&#10;    overflow: 'hidden',&#10;}}&gt;&#10;    {/* 背景：抽象智能体学习网络线稿 */}&#10;    &lt;svg width={1280} height={720} viewBox='0 0 1280 720' style={{ position: 'absolute', left: 0, top: 0 }}&gt;&#10;        &lt;g opacity='0.20' stroke='#8FD3DA' strokeWidth='1.1' fill='none'&gt;&#10;            &lt;path d='M900 96 L1120 168 L1010 320 L1180 402 L980 520 L1120 620' /&gt;&#10;            &lt;path d='M780 200 L1010 320 L900 470 L980 520' /&gt;&#10;            &lt;path d='M900 96 L780 200 L860 360 L900 470' /&gt;&#10;            &lt;path d='M1120 168 L1230 260 L1180 402' /&gt;&#10;            &lt;path d='M860 360 L1010 320' /&gt;&#10;            &lt;path d='M1010 320 L1120 168' /&gt;&#10;        &lt;/g&gt;&#10;        &lt;g opacity='0.55' fill='#8FD3DA'&gt;&#10;            &lt;circle cx='900' cy='96' r='5.5' /&gt;&#10;            &lt;circle cx='1120' cy='168' r='7' /&gt;&#10;            &lt;circle cx='780' cy='200' r='4.5' /&gt;&#10;            &lt;circle cx='1010' cy='320' r='9' /&gt;&#10;            &lt;circle cx='860' cy='360' r='5' /&gt;&#10;            &lt;circle cx='1180' cy='402' r='6' /&gt;&#10;            &lt;circle cx='900' cy='470' r='5' /&gt;&#10;            &lt;circle cx='980' cy='520' r='7.5' /&gt;&#10;            &lt;circle cx='1230' cy='260' r='4' /&gt;&#10;            &lt;circle cx='1120' cy='620' r='6' /&gt;&#10;        &lt;/g&gt;&#10;        &lt;g opacity='0.30' fill='#8FD3DA'&gt;&#10;            &lt;circle cx='1010' cy='320' r='26' /&gt;&#10;            &lt;circle cx='980' cy='520' r='20' /&gt;&#10;        &lt;/g&gt;&#10;        &lt;rect x='0' y='648' width='1280' height='72' fill='#003840' opacity='0.55' /&gt;&#10;    &lt;/svg&gt;&#10;&#10;    {/* 左上：校徽与校名 */}&#10;    &lt;Box style={{&#10;        position: 'absolute', left: 76, top: 56,&#10;        flexDirection: 'row', alignItems: 'center', gap: 18,&#10;    }}&gt;&#10;        &lt;Image src='assets/ccnu_logo.png' style={{ width: 66, height: 66 }} /&gt;&#10;        &lt;Box&gt;&#10;            &lt;Text style={{ fontSize: 21, fontWeight: 'bold', color: '#FFFFFF', letterSpacing: 1.5 }}&gt;华中师范大学&lt;/Text&gt;&#10;            &lt;Text style={{ fontSize: 11, color: '#9AD4DB', letterSpacing: 0.9, marginTop: 4 }}&gt;CENTRAL CHINA NORMAL UNIVERSITY&lt;/Text&gt;&#10;        &lt;/Box&gt;&#10;    &lt;/Box&gt;&#10;&#10;    {/* 右上：课程标识 */}&#10;    &lt;Box style={{&#10;        position: 'absolute', right: 76, top: 62,&#10;        padding: '9px 20px', border: '1px solid rgba(154,212,219,0.55)', borderRadius: 999,&#10;    }}&gt;&#10;        &lt;Text style={{ fontSize: 15, color: '#CDEBEF', letterSpacing: 1.2 }}&gt;高级数据库技术 · 分组汇报&lt;/Text&gt;&#10;    &lt;/Box&gt;&#10;&#10;    {/* 主标题区 */}&#10;    &lt;Box style={{&#10;        position: 'absolute', left: 76, top: 178, width: 700,&#10;        flexDirection: 'column',&#10;    }}&gt;&#10;        &lt;Box style={{ flexDirection: 'row', alignItems: 'center', gap: 14 }}&gt;&#10;            &lt;Box style={{ width: 46, height: 4, background: '#4FC0CB', borderRadius: 2 }} /&gt;&#10;            &lt;Text style={{ fontSize: 17, color: '#4FC0CB', letterSpacing: 3.4, fontWeight: 'bold' }}&gt;&#10;                AGENTIC DESIGN PATTERNS · CHAPTER 9&#10;            &lt;/Text&gt;&#10;        &lt;/Box&gt;&#10;&#10;        &lt;Text style={{ fontSize: 78, fontWeight: 'bold', color: '#FFFFFF', lineHeight: 1.12, marginTop: 26, letterSpacing: 2 }}&gt;&#10;            学习与适应&#10;        &lt;/Text&gt;&#10;&#10;        &lt;Text style={{ fontSize: 25, color: '#9AD4DB', marginTop: 12, letterSpacing: 1.6 }}&gt;&#10;            Learning and Adaptation&#10;        &lt;/Text&gt;&#10;&#10;        &lt;Box style={{ width: 132, height: 3, background: 'rgba(143,211,218,0.45)', marginTop: 28 }} /&gt;&#10;&#10;        &lt;Text style={{ fontSize: 20, color: '#D7EEF1', marginTop: 24, lineHeight: 1.72 }}&gt;&#10;            智能体如何突破预设参数，&lt;br /&gt;&#10;            经由经验与环境交互实现自主进化&#10;        &lt;/Text&gt;&#10;    &lt;/Box&gt;&#10;&#10;    {/* 左下：本章关键词 */}&#10;    &lt;Box style={{&#10;        position: 'absolute', left: 76, top: 508, width: 700,&#10;        flexDirection: 'column', gap: 16,&#10;    }}&gt;&#10;        &lt;Box style={{ flexDirection: 'row', alignItems: 'center', gap: 12 }}&gt;&#10;            &lt;FAIcon name='circle-question' style={{ fill: '#4FC0CB', width: 19, height: 19 }} /&gt;&#10;            &lt;Text style={{ fontSize: 17, color: '#CDEBEF' }}&gt;&#10;                本章回答：智能体凭什么能越用越聪明？&#10;            &lt;/Text&gt;&#10;        &lt;/Box&gt;&#10;        &lt;Box style={{ flexDirection: 'row', gap: 12 }}&gt;&#10;            &lt;Box style={{ padding: '8px 18px', background: 'rgba(79,192,203,0.16)', border: '1px solid rgba(79,192,203,0.5)', borderRadius: 6 }}&gt;&#10;                &lt;Text style={{ fontSize: 15, color: '#BFE7EB' }}&gt;六种学习范式&lt;/Text&gt;&#10;            &lt;/Box&gt;&#10;            &lt;Box style={{ padding: '8px 18px', background: 'rgba(79,192,203,0.16)', border: '1px solid rgba(79,192,203,0.5)', borderRadius: 6 }}&gt;&#10;                &lt;Text style={{ fontSize: 15, color: '#BFE7EB' }}&gt;PPO / DPO 对齐算法&lt;/Text&gt;&#10;            &lt;/Box&gt;&#10;            &lt;Box style={{ padding: '8px 18px', background: 'rgba(79,192,203,0.16)', border: '1px solid rgba(79,192,203,0.5)', borderRadius: 6 }}&gt;&#10;                &lt;Text style={{ fontSize: 15, color: '#BFE7EB' }}&gt;三大自进化系统&lt;/Text&gt;&#10;            &lt;/Box&gt;&#10;        &lt;/Box&gt;&#10;    &lt;/Box&gt;&#10;&#10;    {/* 右下：书封信息 */}&#10;    &lt;Box style={{&#10;        position: 'absolute', right: 76, top: 402, width: 300,&#10;        flexDirection: 'column', alignItems: 'flex-end', gap: 10,&#10;    }}&gt;&#10;        &lt;Text style={{ fontSize: 15, color: '#8FD3DA', letterSpacing: 1 }}&gt;参考书目&lt;/Text&gt;&#10;        &lt;Text style={{ fontSize: 19, color: '#FFFFFF', fontWeight: 'bold', textAlign: 'right', lineHeight: 1.55 }}&gt;&#10;            《Agentic Design Patterns》&#10;        &lt;/Text&gt;&#10;        &lt;Text style={{ fontSize: 14, color: '#9AD4DB', textAlign: 'right', lineHeight: 1.7 }}&gt;&#10;            A Hands-On Guide to Building Intelligent Systems&lt;br /&gt;&#10;            Antonio Gulli &amp;amp; Mauro Sauco&#10;        &lt;/Text&gt;&#10;    &lt;/Box&gt;&#10;&#10;    {/* 底部信息条 */}&#10;    &lt;Box style={{&#10;        position: 'absolute', left: 76, right: 76, bottom: 0, height: 72,&#10;        flexDirection: 'row', alignItems: 'center', justifyContent: 'space-between',&#10;    }}&gt;&#10;        &lt;Box style={{ flexDirection: 'row', alignItems: 'center', gap: 34 }}&gt;&#10;            &lt;Text style={{ fontSize: 18, color: '#FFFFFF', fontWeight: 'bold' }}&gt;第九组&lt;/Text&gt;&#10;            &lt;Text style={{ fontSize: 15, color: '#9AD4DB' }}&gt;第 9 章 / 全书 28 章&lt;/Text&gt;&#10;        &lt;/Box&gt;&#10;        &lt;Text style={{ fontSize: 15, color: '#9AD4DB', letterSpacing: 0.8 }}&gt;2026 年 10 月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434C"/>
              </a:gs>
              <a:gs pos="42000">
                <a:srgbClr val="00505A"/>
              </a:gs>
              <a:gs pos="100000">
                <a:srgbClr val="007581"/>
              </a:gs>
            </a:gsLst>
            <a:lin ang="1320000" scaled="1"/>
          </a:gradFill>
        </p:spPr>
        <p:txBody>
          <a:bodyPr/>
          <a:lstStyle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533400"/>
            <a:ext cx="628650" cy="628650"/>
          </a:xfrm>
          <a:prstGeom prst="rect">
            <a:avLst/>
          </a:prstGeom>
        </p:spPr>
      </p:pic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1524000" y="638175"/>
            <a:ext cx="22479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endParaRPr lang="zh-CN" sz="1575" b="1" spc="113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1524000" y="923925"/>
            <a:ext cx="22479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spc="68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CENTRAL CHINA NORMAL UNIVERSITY</a:t>
            </a:r>
            <a:endParaRPr lang="en-US" sz="825" spc="68">
              <a:solidFill>
                <a:srgbClr val="9AD4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9229725" y="590550"/>
            <a:ext cx="2562225" cy="342900"/>
          </a:xfrm>
          <a:prstGeom prst="roundRect">
            <a:avLst>
              <a:gd name="adj" fmla="val 2775000"/>
            </a:avLst>
          </a:prstGeom>
          <a:ln w="12700">
            <a:solidFill>
              <a:srgbClr val="9AD4DB">
                <a:alpha val="55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420225" y="676275"/>
            <a:ext cx="1857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spc="9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r>
              <a:rPr lang="en-US" sz="1125" spc="9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altLang="en-US" sz="1125" spc="9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zh-CN" sz="1125" spc="9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组汇报</a:t>
            </a:r>
            <a:endParaRPr lang="zh-CN" sz="1125" spc="90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23900" y="1781175"/>
            <a:ext cx="438150" cy="38100"/>
          </a:xfrm>
          <a:prstGeom prst="roundRect">
            <a:avLst>
              <a:gd name="adj" fmla="val 50000"/>
            </a:avLst>
          </a:prstGeom>
          <a:solidFill>
            <a:srgbClr val="4FC0CB"/>
          </a:solidFill>
        </p:spPr>
        <p:txBody>
          <a:bodyPr/>
          <a:lstStyle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1295400" y="1695450"/>
            <a:ext cx="4572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 spc="255">
                <a:solidFill>
                  <a:srgbClr val="4FC0CB"/>
                </a:solidFill>
                <a:latin typeface="微软雅黑" panose="020B0503020204020204" charset="-122"/>
                <a:ea typeface="微软雅黑" panose="020B0503020204020204" charset="-122"/>
              </a:rPr>
              <a:t>AGENTIC DESIGN PATTERNS · CHAPTER 9</a:t>
            </a:r>
            <a:endParaRPr lang="en-US" sz="1275" b="1" spc="255">
              <a:solidFill>
                <a:srgbClr val="4FC0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723900" y="2143125"/>
            <a:ext cx="6667500" cy="1000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2000"/>
              </a:lnSpc>
            </a:pPr>
            <a:r>
              <a:rPr lang="zh-CN" sz="5850" b="1" spc="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5850" b="1" spc="1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723900" y="3257550"/>
            <a:ext cx="66675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spc="120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Learning and Adaptation</a:t>
            </a:r>
            <a:endParaRPr lang="en-US" sz="1875" spc="120">
              <a:solidFill>
                <a:srgbClr val="9AD4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23900" y="3810000"/>
            <a:ext cx="1257300" cy="28575"/>
          </a:xfrm>
          <a:prstGeom prst="rect">
            <a:avLst/>
          </a:prstGeom>
          <a:solidFill>
            <a:srgbClr val="8FD3DA">
              <a:alpha val="45000"/>
            </a:srgbClr>
          </a:solidFill>
        </p:spPr>
        <p:txBody>
          <a:bodyPr/>
          <a:lstStyle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723900" y="4067175"/>
            <a:ext cx="6667500" cy="790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2000"/>
              </a:lnSpc>
            </a:pPr>
            <a:r>
              <a:rPr lang="zh-CN" sz="1500">
                <a:solidFill>
                  <a:srgbClr val="D7EEF1"/>
                </a:solidFill>
                <a:latin typeface="微软雅黑" panose="020B0503020204020204" charset="-122"/>
                <a:ea typeface="微软雅黑" panose="020B0503020204020204" charset="-122"/>
              </a:rPr>
              <a:t>智能体如何突破预设参数，</a:t>
            </a:r>
            <a:endParaRPr lang="zh-CN" sz="1500">
              <a:solidFill>
                <a:srgbClr val="D7EEF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2000"/>
              </a:lnSpc>
            </a:pPr>
            <a:r>
              <a:rPr lang="zh-CN" sz="1500">
                <a:solidFill>
                  <a:srgbClr val="D7EEF1"/>
                </a:solidFill>
                <a:latin typeface="微软雅黑" panose="020B0503020204020204" charset="-122"/>
                <a:ea typeface="微软雅黑" panose="020B0503020204020204" charset="-122"/>
              </a:rPr>
              <a:t>经由经验与环境交互实现自主进化</a:t>
            </a:r>
            <a:endParaRPr lang="zh-CN" sz="1500">
              <a:solidFill>
                <a:srgbClr val="D7EEF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900" y="4848225"/>
            <a:ext cx="180975" cy="180975"/>
          </a:xfrm>
          <a:prstGeom prst="rect">
            <a:avLst/>
          </a:prstGeom>
        </p:spPr>
      </p:pic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019175" y="4838700"/>
            <a:ext cx="2914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本章回答：智能体凭什么能越用越聪明？</a:t>
            </a:r>
            <a:endParaRPr lang="zh-CN" sz="1275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23900" y="5191125"/>
            <a:ext cx="1200150" cy="323850"/>
          </a:xfrm>
          <a:prstGeom prst="roundRect">
            <a:avLst>
              <a:gd name="adj" fmla="val 17647"/>
            </a:avLst>
          </a:prstGeom>
          <a:solidFill>
            <a:srgbClr val="4FC0CB">
              <a:alpha val="16000"/>
            </a:srgbClr>
          </a:solidFill>
          <a:ln w="12700">
            <a:solidFill>
              <a:srgbClr val="4FC0CB">
                <a:alpha val="5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895350" y="5267325"/>
            <a:ext cx="857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六种学习范式</a:t>
            </a:r>
            <a:endParaRPr lang="zh-CN" sz="1125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038350" y="5191125"/>
            <a:ext cx="1714500" cy="323850"/>
          </a:xfrm>
          <a:prstGeom prst="roundRect">
            <a:avLst>
              <a:gd name="adj" fmla="val 17647"/>
            </a:avLst>
          </a:prstGeom>
          <a:solidFill>
            <a:srgbClr val="4FC0CB">
              <a:alpha val="16000"/>
            </a:srgbClr>
          </a:solidFill>
          <a:ln w="12700">
            <a:solidFill>
              <a:srgbClr val="4FC0CB">
                <a:alpha val="5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2209800" y="5267325"/>
            <a:ext cx="13716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PPO / DPO </a:t>
            </a:r>
            <a:r>
              <a:rPr lang="zh-CN" sz="1125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对齐算法</a:t>
            </a:r>
            <a:endParaRPr lang="zh-CN" sz="1125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867150" y="5191125"/>
            <a:ext cx="1343025" cy="323850"/>
          </a:xfrm>
          <a:prstGeom prst="roundRect">
            <a:avLst>
              <a:gd name="adj" fmla="val 17647"/>
            </a:avLst>
          </a:prstGeom>
          <a:solidFill>
            <a:srgbClr val="4FC0CB">
              <a:alpha val="16000"/>
            </a:srgbClr>
          </a:solidFill>
          <a:ln w="12700">
            <a:solidFill>
              <a:srgbClr val="4FC0CB">
                <a:alpha val="5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4038600" y="5267325"/>
            <a:ext cx="10001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三大自进化系统</a:t>
            </a:r>
            <a:endParaRPr lang="zh-CN" sz="1125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10858500" y="3829050"/>
            <a:ext cx="6096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FD3DA"/>
                </a:solidFill>
                <a:latin typeface="微软雅黑" panose="020B0503020204020204" charset="-122"/>
                <a:ea typeface="微软雅黑" panose="020B0503020204020204" charset="-122"/>
              </a:rPr>
              <a:t>参考书目</a:t>
            </a:r>
            <a:endParaRPr lang="zh-CN" sz="1125" spc="75">
              <a:solidFill>
                <a:srgbClr val="8FD3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8905875" y="4095750"/>
            <a:ext cx="25622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5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Agentic Design Patterns</a:t>
            </a: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8610600" y="4533900"/>
            <a:ext cx="285750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r">
              <a:lnSpc>
                <a:spcPct val="170000"/>
              </a:lnSpc>
            </a:pPr>
            <a:r>
              <a:rPr lang="en-US" sz="1050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A Hands-On Guide to Building Intelligent Systems</a:t>
            </a:r>
            <a:endParaRPr lang="en-US" sz="1050">
              <a:solidFill>
                <a:srgbClr val="9AD4D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lnSpc>
                <a:spcPct val="170000"/>
              </a:lnSpc>
            </a:pPr>
            <a:r>
              <a:rPr lang="en-US" sz="1050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Antonio Gulli &amp; Mauro Sauco</a:t>
            </a:r>
            <a:endParaRPr lang="en-US" sz="1050">
              <a:solidFill>
                <a:srgbClr val="9AD4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723900" y="6410325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1562100" y="6429375"/>
            <a:ext cx="1285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全书</a:t>
            </a:r>
            <a:r>
              <a:rPr lang="en-US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 28 </a:t>
            </a:r>
            <a:r>
              <a:rPr lang="zh-CN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125">
              <a:solidFill>
                <a:srgbClr val="9AD4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10467975" y="6429375"/>
            <a:ext cx="10001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spc="60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sz="1125" spc="60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125" spc="60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125" spc="60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sz="1125" spc="60">
              <a:solidFill>
                <a:srgbClr val="9AD4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position: 'relative', background: '#FFFFFF',&#10;    fontFamily: '&quot;Microsoft YaHei&quot;, &quot;PingFang SC&quot;, sans-serif', overflow: 'hidden',&#10;}}&gt;&#10;    &lt;Box style={{ flexDirection: 'row', width: '100%', height: '100%' }}&gt;&#10;&#10;        {/* 左侧深绿栏 */}&#10;        &lt;Box style={{&#10;            width: 352, height: '100%', position: 'relative', overflow: 'hidden',&#10;            background: 'linear-gradient(168deg, #00505A 0%, #007581 100%)',&#10;            padding: '80px 44px', flexDirection: 'column', justifyContent: 'space-between',&#10;        }}&gt;&#10;            &lt;svg width={352} height={210} viewBox='0 0 352 210' style={{ position: 'absolute', left: 0, bottom: 88 }}&gt;&#10;                &lt;g opacity='0.15' stroke='#BFE3E8' strokeWidth='1' fill='none'&gt;&#10;                    &lt;circle cx='296' cy='64' r='46' /&gt;&#10;                    &lt;circle cx='296' cy='64' r='76' /&gt;&#10;                    &lt;circle cx='296' cy='64' r='106' /&gt;&#10;                &lt;/g&gt;&#10;            &lt;/svg&gt;&#10;            &lt;Box style={{ flexDirection: 'column', gap: 14, position: 'relative' }}&gt;&#10;                &lt;Text style={{ fontSize: 13, color: '#7FCBD4', letterSpacing: 3.5, fontWeight: 'bold' }}&gt;CONTENTS&lt;/Text&gt;&#10;                &lt;Text style={{ fontSize: 52, fontWeight: 'bold', color: '#FFFFFF', letterSpacing: 3 }}&gt;目录&lt;/Text&gt;&#10;                &lt;Box style={{ width: 58, height: 3, background: '#4FC0CB', marginTop: 4 }} /&gt;&#10;                &lt;Text style={{ fontSize: 16, color: '#BFE3E8', lineHeight: 1.85, marginTop: 12 }}&gt;&#10;                    本次汇报按四个层次展开：&lt;br /&gt;从问题到原理，再到案例与启示。&#10;                &lt;/Text&gt;&#10;            &lt;/Box&gt;&#10;            &lt;Box style={{ flexDirection: 'column', gap: 8, position: 'relative' }}&gt;&#10;                &lt;Text style={{ fontSize: 15, color: '#9AD4DB' }}&gt;第 9 章 / 全书 28 章&lt;/Text&gt;&#10;                &lt;Text style={{ fontSize: 14, color: '#7FCBD4' }}&gt;建议时长 20–25 分钟&lt;/Text&gt;&#10;            &lt;/Box&gt;&#10;        &lt;/Box&gt;&#10;&#10;        {/* 右侧四章条目 */}&#10;        &lt;Box style={{ flex: 1, padding: '64px 40px 20px 52px', flexDirection: 'column' }}&gt;&#10;            &lt;Box style={{ flexDirection: 'column', gap: 18, flex: 1 }}&gt;&#10;                {[&#10;                    { no: '01', t: '为什么：动态环境下的智能体困境', d: '预编程逻辑为何会在真实场景中失效', p: 'P4 – P5' },&#10;                    { no: '02', t: '是什么：从学习范式到对齐算法', d: '六种学习路径，PPO 与 DPO 的取舍', p: 'P7 – P15' },&#10;                    { no: '03', t: '怎么做：三大自进化系统案例', d: 'SICA 自改代码 · AlphaEvolve · OpenEvolve', p: 'P17 – P26' },&#10;                    { no: '04', t: '怎么用：模式提炼与实践启示', d: '模式全景、要点回顾与开放讨论', p: 'P28 – P31' },&#10;                ].map((it, i) =&gt; (&#10;                    &lt;Box key={i} style={{&#10;                        flexDirection: 'row', alignItems: 'center', gap: 22, flex: 1,&#10;                        padding: '0 24px', borderRadius: 10,&#10;                        background: i % 2 === 0 ? '#F4F9FA' : '#FFFFFF',&#10;                        border: '1px solid #E2EBED', borderLeft: '5px solid #007581',&#10;                    }}&gt;&#10;                        &lt;Text style={{ fontSize: 38, fontWeight: 'bold', color: '#B7D5D9', width: 78, letterSpacing: -1 }}&gt;{it.no}&lt;/Text&gt;&#10;                        &lt;Box style={{ flex: 1, flexDirection: 'column', gap: 6 }}&gt;&#10;                            &lt;Text style={{ fontSize: 24, fontWeight: 'bold', color: '#152129' }}&gt;{it.t}&lt;/Text&gt;&#10;                            &lt;Text style={{ fontSize: 16, color: '#64798A' }}&gt;{it.d}&lt;/Text&gt;&#10;                        &lt;/Box&gt;&#10;                        &lt;Box style={{ padding: '6px 14px', background: '#E3F0F2', borderRadius: 5 }}&gt;&#10;                            &lt;Text style={{ fontSize: 14, color: '#00646E', fontWeight: 'bold' }}&gt;{it.p}&lt;/Text&gt;&#10;                        &lt;/Box&gt;&#10;                    &lt;/Box&gt;&#10;                ))}&#10;            &lt;/Box&gt;&#10;            &lt;Box style={{ flexDirection: 'row', justifyContent: 'space-between', marginTop: 16 }}&gt;&#10;                &lt;Text style={{ fontSize: 13, color: '#A8B4BE' }}&gt;第九组 · 学习与适应&lt;/Text&gt;&#10;                &lt;Text style={{ fontSize: 14, color: '#007581', fontWeight: 'bold' }}&gt;02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矩形 4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49" name="圆角矩形 448"/>
          <p:cNvSpPr/>
          <p:nvPr/>
        </p:nvSpPr>
        <p:spPr>
          <a:xfrm>
            <a:off x="3895725" y="609600"/>
            <a:ext cx="7962900" cy="1304925"/>
          </a:xfrm>
          <a:prstGeom prst="roundRect">
            <a:avLst>
              <a:gd name="adj" fmla="val 7299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450" name="任意多边形 449"/>
          <p:cNvSpPr/>
          <p:nvPr/>
        </p:nvSpPr>
        <p:spPr>
          <a:xfrm>
            <a:off x="3895725" y="609600"/>
            <a:ext cx="7962900" cy="1304925"/>
          </a:xfrm>
          <a:custGeom>
            <a:avLst/>
            <a:gdLst/>
            <a:ahLst/>
            <a:cxnLst/>
            <a:rect l="0" t="0" r="0" b="0"/>
            <a:pathLst>
              <a:path w="836" h="13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32"/>
                </a:lnTo>
                <a:cubicBezTo>
                  <a:pt x="5" y="134"/>
                  <a:pt x="7" y="136"/>
                  <a:pt x="9" y="137"/>
                </a:cubicBezTo>
                <a:cubicBezTo>
                  <a:pt x="4" y="136"/>
                  <a:pt x="0" y="132"/>
                  <a:pt x="0" y="12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4124325" y="1047750"/>
            <a:ext cx="74295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850" b="1" spc="-75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5076825" y="1000125"/>
            <a:ext cx="55340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为什么：动态环境下的智能体困境</a:t>
            </a:r>
            <a:endParaRPr lang="zh-CN" sz="18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5076825" y="1333500"/>
            <a:ext cx="55340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98A"/>
                </a:solidFill>
                <a:latin typeface="微软雅黑" panose="020B0503020204020204" charset="-122"/>
                <a:ea typeface="微软雅黑" panose="020B0503020204020204" charset="-122"/>
              </a:rPr>
              <a:t>预编程逻辑为何会在真实场景中失效</a:t>
            </a:r>
            <a:endParaRPr lang="zh-CN" sz="1200">
              <a:solidFill>
                <a:srgbClr val="6479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4" name="圆角矩形 453"/>
          <p:cNvSpPr/>
          <p:nvPr/>
        </p:nvSpPr>
        <p:spPr>
          <a:xfrm>
            <a:off x="10820400" y="1123950"/>
            <a:ext cx="762000" cy="276225"/>
          </a:xfrm>
          <a:prstGeom prst="roundRect">
            <a:avLst>
              <a:gd name="adj" fmla="val 17241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10953750" y="1181100"/>
            <a:ext cx="495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P4 – P5</a:t>
            </a:r>
            <a:endParaRPr lang="en-US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6" name="圆角矩形 455"/>
          <p:cNvSpPr/>
          <p:nvPr/>
        </p:nvSpPr>
        <p:spPr>
          <a:xfrm>
            <a:off x="3895725" y="2085975"/>
            <a:ext cx="7962900" cy="1314450"/>
          </a:xfrm>
          <a:prstGeom prst="roundRect">
            <a:avLst>
              <a:gd name="adj" fmla="val 7246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57" name="任意多边形 456"/>
          <p:cNvSpPr/>
          <p:nvPr/>
        </p:nvSpPr>
        <p:spPr>
          <a:xfrm>
            <a:off x="3895725" y="2085975"/>
            <a:ext cx="7962900" cy="1314450"/>
          </a:xfrm>
          <a:custGeom>
            <a:avLst/>
            <a:gdLst/>
            <a:ahLst/>
            <a:cxnLst/>
            <a:rect l="0" t="0" r="0" b="0"/>
            <a:pathLst>
              <a:path w="836" h="138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33"/>
                </a:lnTo>
                <a:cubicBezTo>
                  <a:pt x="5" y="135"/>
                  <a:pt x="7" y="137"/>
                  <a:pt x="9" y="138"/>
                </a:cubicBezTo>
                <a:cubicBezTo>
                  <a:pt x="4" y="137"/>
                  <a:pt x="0" y="133"/>
                  <a:pt x="0" y="12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4124325" y="2524125"/>
            <a:ext cx="74295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850" b="1" spc="-75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5076825" y="2486025"/>
            <a:ext cx="54483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是什么：从学习范式到对齐算法</a:t>
            </a:r>
            <a:endParaRPr lang="zh-CN" sz="18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5076825" y="2819400"/>
            <a:ext cx="5448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98A"/>
                </a:solidFill>
                <a:latin typeface="微软雅黑" panose="020B0503020204020204" charset="-122"/>
                <a:ea typeface="微软雅黑" panose="020B0503020204020204" charset="-122"/>
              </a:rPr>
              <a:t>六种学习路径，</a:t>
            </a:r>
            <a:r>
              <a:rPr lang="en-US" sz="1200">
                <a:solidFill>
                  <a:srgbClr val="64798A"/>
                </a:solidFill>
                <a:latin typeface="微软雅黑" panose="020B0503020204020204" charset="-122"/>
                <a:ea typeface="微软雅黑" panose="020B0503020204020204" charset="-122"/>
              </a:rPr>
              <a:t>PPO </a:t>
            </a:r>
            <a:r>
              <a:rPr lang="zh-CN" sz="1200">
                <a:solidFill>
                  <a:srgbClr val="64798A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200">
                <a:solidFill>
                  <a:srgbClr val="64798A"/>
                </a:solidFill>
                <a:latin typeface="微软雅黑" panose="020B0503020204020204" charset="-122"/>
                <a:ea typeface="微软雅黑" panose="020B0503020204020204" charset="-122"/>
              </a:rPr>
              <a:t> DPO </a:t>
            </a:r>
            <a:r>
              <a:rPr lang="zh-CN" sz="1200">
                <a:solidFill>
                  <a:srgbClr val="64798A"/>
                </a:solidFill>
                <a:latin typeface="微软雅黑" panose="020B0503020204020204" charset="-122"/>
                <a:ea typeface="微软雅黑" panose="020B0503020204020204" charset="-122"/>
              </a:rPr>
              <a:t>的取舍</a:t>
            </a:r>
            <a:endParaRPr lang="zh-CN" sz="1200">
              <a:solidFill>
                <a:srgbClr val="6479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10734675" y="2609850"/>
            <a:ext cx="847725" cy="276225"/>
          </a:xfrm>
          <a:prstGeom prst="roundRect">
            <a:avLst>
              <a:gd name="adj" fmla="val 17241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868025" y="2667000"/>
            <a:ext cx="581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P7 – P15</a:t>
            </a:r>
            <a:endParaRPr lang="en-US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3895725" y="3571875"/>
            <a:ext cx="7962900" cy="1304925"/>
          </a:xfrm>
          <a:prstGeom prst="roundRect">
            <a:avLst>
              <a:gd name="adj" fmla="val 7299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464" name="任意多边形 463"/>
          <p:cNvSpPr/>
          <p:nvPr/>
        </p:nvSpPr>
        <p:spPr>
          <a:xfrm>
            <a:off x="3895725" y="3571875"/>
            <a:ext cx="7962900" cy="1304925"/>
          </a:xfrm>
          <a:custGeom>
            <a:avLst/>
            <a:gdLst/>
            <a:ahLst/>
            <a:cxnLst/>
            <a:rect l="0" t="0" r="0" b="0"/>
            <a:pathLst>
              <a:path w="836" h="13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32"/>
                </a:lnTo>
                <a:cubicBezTo>
                  <a:pt x="5" y="134"/>
                  <a:pt x="7" y="136"/>
                  <a:pt x="9" y="137"/>
                </a:cubicBezTo>
                <a:cubicBezTo>
                  <a:pt x="4" y="136"/>
                  <a:pt x="0" y="132"/>
                  <a:pt x="0" y="12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65" name="文本框 464" descr="{&quot;isTemplate&quot;:true,&quot;type&quot;:&quot;text&quot;}"/>
          <p:cNvSpPr txBox="1"/>
          <p:nvPr/>
        </p:nvSpPr>
        <p:spPr>
          <a:xfrm>
            <a:off x="4124325" y="4010025"/>
            <a:ext cx="74295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850" b="1" spc="-75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5076825" y="3962400"/>
            <a:ext cx="5372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怎么做：三大自进化系统案例</a:t>
            </a:r>
            <a:endParaRPr lang="zh-CN" sz="18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7" name="文本框 466" descr="{&quot;isTemplate&quot;:true,&quot;type&quot;:&quot;text&quot;}"/>
          <p:cNvSpPr txBox="1"/>
          <p:nvPr/>
        </p:nvSpPr>
        <p:spPr>
          <a:xfrm>
            <a:off x="5076825" y="4295775"/>
            <a:ext cx="53721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98A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1200">
                <a:solidFill>
                  <a:srgbClr val="64798A"/>
                </a:solidFill>
                <a:latin typeface="微软雅黑" panose="020B0503020204020204" charset="-122"/>
                <a:ea typeface="微软雅黑" panose="020B0503020204020204" charset="-122"/>
              </a:rPr>
              <a:t>自改代码</a:t>
            </a:r>
            <a:r>
              <a:rPr lang="en-US" sz="1200">
                <a:solidFill>
                  <a:srgbClr val="64798A"/>
                </a:solidFill>
                <a:latin typeface="微软雅黑" panose="020B0503020204020204" charset="-122"/>
                <a:ea typeface="微软雅黑" panose="020B0503020204020204" charset="-122"/>
              </a:rPr>
              <a:t> · AlphaEvolve · OpenEvolve</a:t>
            </a:r>
            <a:endParaRPr lang="en-US" sz="1200">
              <a:solidFill>
                <a:srgbClr val="6479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8" name="圆角矩形 467"/>
          <p:cNvSpPr/>
          <p:nvPr/>
        </p:nvSpPr>
        <p:spPr>
          <a:xfrm>
            <a:off x="10658475" y="4086225"/>
            <a:ext cx="923925" cy="276225"/>
          </a:xfrm>
          <a:prstGeom prst="roundRect">
            <a:avLst>
              <a:gd name="adj" fmla="val 17241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10791825" y="4143375"/>
            <a:ext cx="6572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P17 – P26</a:t>
            </a:r>
            <a:endParaRPr lang="en-US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圆角矩形 469"/>
          <p:cNvSpPr/>
          <p:nvPr/>
        </p:nvSpPr>
        <p:spPr>
          <a:xfrm>
            <a:off x="3895725" y="5048250"/>
            <a:ext cx="7962900" cy="1304925"/>
          </a:xfrm>
          <a:prstGeom prst="roundRect">
            <a:avLst>
              <a:gd name="adj" fmla="val 7299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71" name="任意多边形 470"/>
          <p:cNvSpPr/>
          <p:nvPr/>
        </p:nvSpPr>
        <p:spPr>
          <a:xfrm>
            <a:off x="3895725" y="5048250"/>
            <a:ext cx="7962900" cy="1304925"/>
          </a:xfrm>
          <a:custGeom>
            <a:avLst/>
            <a:gdLst/>
            <a:ahLst/>
            <a:cxnLst/>
            <a:rect l="0" t="0" r="0" b="0"/>
            <a:pathLst>
              <a:path w="836" h="13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32"/>
                </a:lnTo>
                <a:cubicBezTo>
                  <a:pt x="5" y="134"/>
                  <a:pt x="7" y="136"/>
                  <a:pt x="9" y="137"/>
                </a:cubicBezTo>
                <a:cubicBezTo>
                  <a:pt x="4" y="136"/>
                  <a:pt x="0" y="132"/>
                  <a:pt x="0" y="12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4124325" y="5486400"/>
            <a:ext cx="74295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850" b="1" spc="-75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5076825" y="5438775"/>
            <a:ext cx="5372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怎么用：模式提炼与实践启示</a:t>
            </a:r>
            <a:endParaRPr lang="zh-CN" sz="18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5076825" y="5772150"/>
            <a:ext cx="53721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98A"/>
                </a:solidFill>
                <a:latin typeface="微软雅黑" panose="020B0503020204020204" charset="-122"/>
                <a:ea typeface="微软雅黑" panose="020B0503020204020204" charset="-122"/>
              </a:rPr>
              <a:t>模式全景、要点回顾与开放讨论</a:t>
            </a:r>
            <a:endParaRPr lang="zh-CN" sz="1200">
              <a:solidFill>
                <a:srgbClr val="6479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5" name="圆角矩形 474"/>
          <p:cNvSpPr/>
          <p:nvPr/>
        </p:nvSpPr>
        <p:spPr>
          <a:xfrm>
            <a:off x="10658475" y="5562600"/>
            <a:ext cx="923925" cy="276225"/>
          </a:xfrm>
          <a:prstGeom prst="roundRect">
            <a:avLst>
              <a:gd name="adj" fmla="val 17241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10791825" y="5619750"/>
            <a:ext cx="6572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P28 – P31</a:t>
            </a:r>
            <a:endParaRPr lang="en-US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848100" y="6505575"/>
            <a:ext cx="1095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11334750" y="65055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02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9" name="矩形 478"/>
          <p:cNvSpPr/>
          <p:nvPr/>
        </p:nvSpPr>
        <p:spPr>
          <a:xfrm>
            <a:off x="0" y="0"/>
            <a:ext cx="3352800" cy="6858000"/>
          </a:xfrm>
          <a:prstGeom prst="rect">
            <a:avLst/>
          </a:prstGeom>
          <a:gradFill>
            <a:gsLst>
              <a:gs pos="0">
                <a:srgbClr val="00505A"/>
              </a:gs>
              <a:gs pos="100000">
                <a:srgbClr val="007581"/>
              </a:gs>
            </a:gsLst>
            <a:lin ang="4680000" scaled="1"/>
          </a:gradFill>
        </p:spPr>
        <p:txBody>
          <a:bodyPr/>
          <a:lstStyle/>
          <a:p/>
        </p:txBody>
      </p:sp>
      <p:pic>
        <p:nvPicPr>
          <p:cNvPr id="480" name="图片 47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019550"/>
            <a:ext cx="3352800" cy="2000250"/>
          </a:xfrm>
          <a:prstGeom prst="rect">
            <a:avLst/>
          </a:prstGeom>
        </p:spPr>
      </p:pic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419100" y="762000"/>
            <a:ext cx="2514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263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975" b="1" spc="263">
              <a:solidFill>
                <a:srgbClr val="7FCB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419100" y="1047750"/>
            <a:ext cx="25146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90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390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3" name="矩形 482"/>
          <p:cNvSpPr/>
          <p:nvPr/>
        </p:nvSpPr>
        <p:spPr>
          <a:xfrm>
            <a:off x="419100" y="1819275"/>
            <a:ext cx="552450" cy="28575"/>
          </a:xfrm>
          <a:prstGeom prst="rect">
            <a:avLst/>
          </a:prstGeom>
          <a:solidFill>
            <a:srgbClr val="4FC0CB"/>
          </a:solidFill>
        </p:spPr>
        <p:txBody>
          <a:bodyPr/>
          <a:lstStyle/>
          <a:p/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419100" y="2095500"/>
            <a:ext cx="251460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5000"/>
              </a:lnSpc>
            </a:pPr>
            <a:r>
              <a:rPr lang="zh-CN" sz="1200">
                <a:solidFill>
                  <a:srgbClr val="BFE3E8"/>
                </a:solidFill>
                <a:latin typeface="微软雅黑" panose="020B0503020204020204" charset="-122"/>
                <a:ea typeface="微软雅黑" panose="020B0503020204020204" charset="-122"/>
              </a:rPr>
              <a:t>本次汇报按四个层次展开：</a:t>
            </a:r>
            <a:endParaRPr lang="zh-CN" sz="1200">
              <a:solidFill>
                <a:srgbClr val="BFE3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zh-CN" sz="1200">
                <a:solidFill>
                  <a:srgbClr val="BFE3E8"/>
                </a:solidFill>
                <a:latin typeface="微软雅黑" panose="020B0503020204020204" charset="-122"/>
                <a:ea typeface="微软雅黑" panose="020B0503020204020204" charset="-122"/>
              </a:rPr>
              <a:t>从问题到原理，再到案例与启示。</a:t>
            </a:r>
            <a:endParaRPr lang="zh-CN" sz="1200">
              <a:solidFill>
                <a:srgbClr val="BFE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419100" y="5686425"/>
            <a:ext cx="25146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全书</a:t>
            </a:r>
            <a:r>
              <a:rPr lang="en-US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 28 </a:t>
            </a:r>
            <a:r>
              <a:rPr lang="zh-CN" sz="1125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125">
              <a:solidFill>
                <a:srgbClr val="9AD4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419100" y="5934075"/>
            <a:ext cx="2514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建议时长</a:t>
            </a:r>
            <a:r>
              <a:rPr lang="en-US" sz="1050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 20–25 </a:t>
            </a:r>
            <a:r>
              <a:rPr lang="zh-CN" sz="1050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7FCB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position: 'relative', background: '#F4F9FA',&#10;    fontFamily: '&quot;Microsoft YaHei&quot;, &quot;PingFang SC&quot;, sans-serif', overflow: 'hidden',&#10;}}&gt;&#10;    &lt;Box style={{ flexDirection: 'row', width: '100%', height: '100%' }}&gt;&#10;&#10;        {/* 左：巨型编号 */}&#10;        &lt;Box style={{&#10;            width: 452, height: '100%', position: 'relative', overflow: 'hidden',&#10;            background: 'linear-gradient(160deg, #00505A 0%, #00646E 60%, #007581 100%)',&#10;            flexDirection: 'column', justifyContent: 'center', paddingLeft: 64,&#10;        }}&gt;&#10;            &lt;svg width={452} height={452} viewBox='0 0 452 452' style={{ position: 'absolute', left: 0, bottom: 96 }}&gt;&#10;                &lt;g opacity='0.14' stroke='#9AD4DB' strokeWidth='1.2' fill='none'&gt;&#10;                    &lt;circle cx='236' cy='236' r='68' /&gt;&#10;                    &lt;circle cx='236' cy='236' r='108' /&gt;&#10;                    &lt;circle cx='236' cy='236' r='148' /&gt;&#10;                &lt;/g&gt;&#10;            &lt;/svg&gt;&#10;            &lt;Box style={{ flexDirection: 'column', position: 'relative' }}&gt;&#10;                &lt;Text style={{ fontSize: 168, fontWeight: 'bold', color: '#FFFFFF', lineHeight: 1, letterSpacing: -6 }}&gt;01&lt;/Text&gt;&#10;                &lt;Text style={{ fontSize: 15, color: '#7FCBD4', letterSpacing: 5, fontWeight: 'bold', marginTop: 10 }}&gt;WHY IT MATTERS&lt;/Text&gt;&#10;            &lt;/Box&gt;&#10;        &lt;/Box&gt;&#10;&#10;        {/* 右：章节标题与要点 */}&#10;        &lt;Box style={{&#10;            flex: 1, height: '100%', padding: '66px 56px 58px 60px',&#10;            flexDirection: 'column', justifyContent: 'space-between',&#10;        }}&gt;&#10;            &lt;Box style={{ flexDirection: 'column' }}&gt;&#10;                &lt;Box style={{ flexDirection: 'row', alignItems: 'center', gap: 14 }}&gt;&#10;                    &lt;Box style={{ width: 44, height: 4, background: '#007581', borderRadius: 2 }} /&gt;&#10;                    &lt;Text style={{ fontSize: 15, color: '#007581', letterSpacing: 3, fontWeight: 'bold' }}&gt;第一部分&lt;/Text&gt;&#10;                &lt;/Box&gt;&#10;                &lt;Text style={{ fontSize: 42, fontWeight: 'bold', color: '#00505A', lineHeight: 1.32, marginTop: 18 }}&gt;&#10;                    为什么：动态环境下的&lt;br /&gt;智能体困境&#10;                &lt;/Text&gt;&#10;                &lt;Box style={{ width: 120, height: 2, background: '#CFE1E4', marginTop: 22 }} /&gt;&#10;            &lt;/Box&gt;&#10;&#10;            &lt;Box style={{ flexDirection: 'column', gap: 16 }}&gt;&#10;                {[&#10;                    { k: '问题', v: '预编程逻辑只能覆盖设计阶段已经设想过的情况，无法自动扩展' },&#10;                    { k: '代价', v: '一旦遇到设计外的新情境，系统表现就可能明显下滑并持续恶化' },&#10;                    { k: '出路', v: '把学习与适应机制内建进系统，让它依据新数据与新反馈自我精炼' },&#10;                ].map((it, i) =&gt; (&#10;                    &lt;Box key={i} style={{&#10;                        flexDirection: 'row', alignItems: 'center', gap: 16,&#10;                        padding: '14px 20px', borderRadius: 8,&#10;                        background: i === 2 ? '#EAF3F4' : '#F7FAFB',&#10;                        border: '1px solid #DFEAEC',&#10;                    }}&gt;&#10;                        &lt;Box style={{&#10;                            width: 58, height: 30, background: i === 2 ? '#00505A' : '#007581', borderRadius: 4,&#10;                            justifyContent: 'center', alignItems: 'center',&#10;                        }}&gt;&#10;                            &lt;Text style={{ fontSize: 15, color: '#FFFFFF', fontWeight: 'bold' }}&gt;{it.k}&lt;/Text&gt;&#10;                        &lt;/Box&gt;&#10;                        &lt;Text style={{ fontSize: 18, color: '#3D4E5E', lineHeight: 1.55, flex: 1 }}&gt;{it.v}&lt;/Text&gt;&#10;                    &lt;/Box&gt;&#10;                ))}&#10;            &lt;/Box&gt;&#10;&#10;            &lt;Box style={{&#10;                flexDirection: 'row', alignItems: 'center', gap: 12,&#10;                padding: '15px 20px', borderLeft: '4px solid #007581', background: '#F4F9FA', borderRadius: 8,&#10;            }}&gt;&#10;                &lt;FAIcon name='arrow-right-long' style={{ fill: '#007581', width: 20, height: 20 }} /&gt;&#10;                &lt;Text style={{ fontSize: 17, color: '#00505A', lineHeight: 1.55, flex: 1, fontWeight: 'bold' }}&gt;&#10;                    本章主线：让智能体从「机械执行指令」，演进为「能随时间持续优化的系统」&#10;                &lt;/Text&gt;&#10;            &lt;/Box&gt;&#10;        &lt;/Box&gt;&#10;&#10;        {/* 页脚 */}&#10;        &lt;Box style={{&#10;            position: 'absolute', left: 508, right: 56, bottom: 26,&#10;            flexDirection: 'row', justifyContent: 'space-between',&#10;        }}&gt;&#10;            &lt;Text style={{ fontSize: 13, color: '#A8B4BE' }}&gt;第九组 · 学习与适应&lt;/Text&gt;&#10;            &lt;Text style={{ fontSize: 14, color: '#007581', fontWeight: 'bold' }}&gt;03 / 33&lt;/Text&gt;&#10;        &lt;/Box&gt;&#10;&#10;        {/* 顶部条 */}&#10;        &lt;Box style={{ position: 'absolute', left: 452, top: 0, width: 828, height: 6, background: '#007581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矩形 9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912" name="圆角矩形 911"/>
          <p:cNvSpPr/>
          <p:nvPr/>
        </p:nvSpPr>
        <p:spPr>
          <a:xfrm>
            <a:off x="4876800" y="6953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13" name="文本框 912" descr="{&quot;isTemplate&quot;:true,&quot;type&quot;:&quot;text&quot;}"/>
          <p:cNvSpPr txBox="1"/>
          <p:nvPr/>
        </p:nvSpPr>
        <p:spPr>
          <a:xfrm>
            <a:off x="5429250" y="628650"/>
            <a:ext cx="685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第一部分</a:t>
            </a:r>
            <a:endParaRPr lang="zh-CN" sz="1125" b="1" spc="225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4" name="文本框 913" descr="{&quot;isTemplate&quot;:true,&quot;type&quot;:&quot;text&quot;}"/>
          <p:cNvSpPr txBox="1"/>
          <p:nvPr/>
        </p:nvSpPr>
        <p:spPr>
          <a:xfrm>
            <a:off x="4876800" y="971550"/>
            <a:ext cx="6781800" cy="1276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2000"/>
              </a:lnSpc>
            </a:pPr>
            <a:r>
              <a:rPr lang="zh-CN" sz="31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为什么：动态环境下的</a:t>
            </a:r>
            <a:endParaRPr lang="zh-CN" sz="31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lang="zh-CN" sz="31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智能体困境</a:t>
            </a:r>
            <a:endParaRPr lang="zh-CN" sz="31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5" name="矩形 914"/>
          <p:cNvSpPr/>
          <p:nvPr/>
        </p:nvSpPr>
        <p:spPr>
          <a:xfrm>
            <a:off x="4876800" y="2457450"/>
            <a:ext cx="1143000" cy="19050"/>
          </a:xfrm>
          <a:prstGeom prst="rect">
            <a:avLst/>
          </a:prstGeom>
          <a:solidFill>
            <a:srgbClr val="CFE1E4"/>
          </a:solidFill>
        </p:spPr>
        <p:txBody>
          <a:bodyPr/>
          <a:lstStyle/>
          <a:p/>
        </p:txBody>
      </p:sp>
      <p:sp>
        <p:nvSpPr>
          <p:cNvPr id="916" name="圆角矩形 915"/>
          <p:cNvSpPr/>
          <p:nvPr/>
        </p:nvSpPr>
        <p:spPr>
          <a:xfrm>
            <a:off x="4876800" y="305752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7FAFB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917" name="圆角矩形 916"/>
          <p:cNvSpPr/>
          <p:nvPr/>
        </p:nvSpPr>
        <p:spPr>
          <a:xfrm>
            <a:off x="5067300" y="320992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18" name="文本框 917" descr="{&quot;isTemplate&quot;:true,&quot;type&quot;:&quot;text&quot;}"/>
          <p:cNvSpPr txBox="1"/>
          <p:nvPr/>
        </p:nvSpPr>
        <p:spPr>
          <a:xfrm>
            <a:off x="5200650" y="3267075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9" name="文本框 918" descr="{&quot;isTemplate&quot;:true,&quot;type&quot;:&quot;text&quot;}"/>
          <p:cNvSpPr txBox="1"/>
          <p:nvPr/>
        </p:nvSpPr>
        <p:spPr>
          <a:xfrm>
            <a:off x="5772150" y="3190875"/>
            <a:ext cx="5695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预编程逻辑只能覆盖设计阶段已经设想过的情况，无法自动扩展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0" name="圆角矩形 919"/>
          <p:cNvSpPr/>
          <p:nvPr/>
        </p:nvSpPr>
        <p:spPr>
          <a:xfrm>
            <a:off x="4876800" y="380047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7FAFB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921" name="圆角矩形 920"/>
          <p:cNvSpPr/>
          <p:nvPr/>
        </p:nvSpPr>
        <p:spPr>
          <a:xfrm>
            <a:off x="5067300" y="395287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22" name="文本框 921" descr="{&quot;isTemplate&quot;:true,&quot;type&quot;:&quot;text&quot;}"/>
          <p:cNvSpPr txBox="1"/>
          <p:nvPr/>
        </p:nvSpPr>
        <p:spPr>
          <a:xfrm>
            <a:off x="5200650" y="4010025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代价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3" name="文本框 922" descr="{&quot;isTemplate&quot;:true,&quot;type&quot;:&quot;text&quot;}"/>
          <p:cNvSpPr txBox="1"/>
          <p:nvPr/>
        </p:nvSpPr>
        <p:spPr>
          <a:xfrm>
            <a:off x="5772150" y="3933825"/>
            <a:ext cx="5695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一旦遇到设计外的新情境，系统表现就可能明显下滑并持续恶化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4" name="圆角矩形 923"/>
          <p:cNvSpPr/>
          <p:nvPr/>
        </p:nvSpPr>
        <p:spPr>
          <a:xfrm>
            <a:off x="4876800" y="454342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EAF3F4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925" name="圆角矩形 924"/>
          <p:cNvSpPr/>
          <p:nvPr/>
        </p:nvSpPr>
        <p:spPr>
          <a:xfrm>
            <a:off x="5067300" y="469582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926" name="文本框 925" descr="{&quot;isTemplate&quot;:true,&quot;type&quot;:&quot;text&quot;}"/>
          <p:cNvSpPr txBox="1"/>
          <p:nvPr/>
        </p:nvSpPr>
        <p:spPr>
          <a:xfrm>
            <a:off x="5200650" y="4752975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出路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7" name="文本框 926" descr="{&quot;isTemplate&quot;:true,&quot;type&quot;:&quot;text&quot;}"/>
          <p:cNvSpPr txBox="1"/>
          <p:nvPr/>
        </p:nvSpPr>
        <p:spPr>
          <a:xfrm>
            <a:off x="5772150" y="4676775"/>
            <a:ext cx="5695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把学习与适应机制内建进系统，让它依据新数据与新反馈自我精炼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8" name="圆角矩形 927"/>
          <p:cNvSpPr/>
          <p:nvPr/>
        </p:nvSpPr>
        <p:spPr>
          <a:xfrm>
            <a:off x="4914900" y="5715000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929" name="任意多边形 928"/>
          <p:cNvSpPr/>
          <p:nvPr/>
        </p:nvSpPr>
        <p:spPr>
          <a:xfrm>
            <a:off x="4914900" y="5715000"/>
            <a:ext cx="6781800" cy="590550"/>
          </a:xfrm>
          <a:custGeom>
            <a:avLst/>
            <a:gdLst/>
            <a:ahLst/>
            <a:cxnLst/>
            <a:rect l="0" t="0" r="0" b="0"/>
            <a:pathLst>
              <a:path w="712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930" name="图片 92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5400" y="5915025"/>
            <a:ext cx="190500" cy="190500"/>
          </a:xfrm>
          <a:prstGeom prst="rect">
            <a:avLst/>
          </a:prstGeom>
        </p:spPr>
      </p:pic>
      <p:sp>
        <p:nvSpPr>
          <p:cNvPr id="931" name="文本框 930" descr="{&quot;isTemplate&quot;:true,&quot;type&quot;:&quot;text&quot;}"/>
          <p:cNvSpPr txBox="1"/>
          <p:nvPr/>
        </p:nvSpPr>
        <p:spPr>
          <a:xfrm>
            <a:off x="5410200" y="5857875"/>
            <a:ext cx="6057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本章主线：让智能体从「机械执行指令」，演进为「能随时间持续优化的系统」</a:t>
            </a:r>
            <a:endParaRPr lang="zh-CN" sz="127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2" name="矩形 931"/>
          <p:cNvSpPr/>
          <p:nvPr/>
        </p:nvSpPr>
        <p:spPr>
          <a:xfrm>
            <a:off x="0" y="0"/>
            <a:ext cx="4305300" cy="6858000"/>
          </a:xfrm>
          <a:prstGeom prst="rect">
            <a:avLst/>
          </a:prstGeom>
          <a:gradFill>
            <a:gsLst>
              <a:gs pos="0">
                <a:srgbClr val="00505A"/>
              </a:gs>
              <a:gs pos="60000">
                <a:srgbClr val="00646E"/>
              </a:gs>
              <a:gs pos="100000">
                <a:srgbClr val="007581"/>
              </a:gs>
            </a:gsLst>
            <a:lin ang="4200000" scaled="1"/>
          </a:gradFill>
        </p:spPr>
        <p:txBody>
          <a:bodyPr/>
          <a:lstStyle/>
          <a:p/>
        </p:txBody>
      </p:sp>
      <p:pic>
        <p:nvPicPr>
          <p:cNvPr id="933" name="图片 93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638300"/>
            <a:ext cx="4305300" cy="4305300"/>
          </a:xfrm>
          <a:prstGeom prst="rect">
            <a:avLst/>
          </a:prstGeom>
        </p:spPr>
      </p:pic>
      <p:sp>
        <p:nvSpPr>
          <p:cNvPr id="934" name="文本框 933" descr="{&quot;isTemplate&quot;:true,&quot;type&quot;:&quot;text&quot;}"/>
          <p:cNvSpPr txBox="1"/>
          <p:nvPr/>
        </p:nvSpPr>
        <p:spPr>
          <a:xfrm>
            <a:off x="609600" y="2333625"/>
            <a:ext cx="3695700" cy="1924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600" b="1" spc="-4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2600" b="1" spc="-4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5" name="文本框 934" descr="{&quot;isTemplate&quot;:true,&quot;type&quot;:&quot;text&quot;}"/>
          <p:cNvSpPr txBox="1"/>
          <p:nvPr/>
        </p:nvSpPr>
        <p:spPr>
          <a:xfrm>
            <a:off x="609600" y="4352925"/>
            <a:ext cx="36957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 spc="375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WHY IT MATTERS</a:t>
            </a:r>
            <a:endParaRPr lang="en-US" sz="1125" b="1" spc="375">
              <a:solidFill>
                <a:srgbClr val="7FCB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6" name="文本框 935" descr="{&quot;isTemplate&quot;:true,&quot;type&quot;:&quot;text&quot;}"/>
          <p:cNvSpPr txBox="1"/>
          <p:nvPr/>
        </p:nvSpPr>
        <p:spPr>
          <a:xfrm>
            <a:off x="4838700" y="6448425"/>
            <a:ext cx="1095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7" name="文本框 936" descr="{&quot;isTemplate&quot;:true,&quot;type&quot;:&quot;text&quot;}"/>
          <p:cNvSpPr txBox="1"/>
          <p:nvPr/>
        </p:nvSpPr>
        <p:spPr>
          <a:xfrm>
            <a:off x="11182350" y="644842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03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8" name="矩形 937"/>
          <p:cNvSpPr/>
          <p:nvPr/>
        </p:nvSpPr>
        <p:spPr>
          <a:xfrm>
            <a:off x="4305300" y="0"/>
            <a:ext cx="78867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{/* 页眉 */}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{/* 标题 */}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预编程逻辑的边界&lt;/Text&gt;&#10;                &lt;Box style={{ padding: '4px 12px', background: '#F7EED6', borderRadius: 4 }}&gt;&#10;                    &lt;Text style={{ fontSize: 14, color: '#8A6A14', fontWeight: 'bold' }}&gt;问题所在&lt;/Text&gt;&#10;                &lt;/Box&gt;&#10;            &lt;/Box&gt;&#10;&#10;            {/* 内容 */}&#10;            &lt;Box style={{ flexDirection: 'row', gap: 24, flex: 1, marginTop: 14 }}&gt;&#10;&#10;                {/* 左：示意图 */}&#10;                &lt;Box style={{&#10;                    width: 726, flexDirection: 'column', padding: '18px 20px 14px',&#10;                    background: '#F8FBFB', border: '1px solid #E2EBED', borderRadius: 10,&#10;                }}&gt;&#10;                    &lt;Box style={{ flexDirection: 'row', justifyContent: 'space-between', alignItems: 'center' }}&gt;&#10;                        &lt;Text style={{ fontSize: 19, fontWeight: 'bold', color: '#152129' }}&gt;任务表现随环境变化的变化趋势&lt;/Text&gt;&#10;                        &lt;Text style={{ fontSize: 13, color: '#8695A4' }}&gt;示意图 · 非实测数据&lt;/Text&gt;&#10;                    &lt;/Box&gt;&#10;&#10;                    &lt;svg width={686} height={404} viewBox='0 0 686 404' style={{ marginTop: 10 }}&gt;&#10;                        {/* 网格 */}&#10;                        &lt;g stroke='#E2EBED' strokeWidth='1'&gt;&#10;                            &lt;line x1='70' y1='60' x2='650' y2='60' /&gt;&#10;                            &lt;line x1='70' y1='140' x2='650' y2='140' /&gt;&#10;                            &lt;line x1='70' y1='220' x2='650' y2='220' /&gt;&#10;                            &lt;line x1='70' y1='300' x2='650' y2='300' /&gt;&#10;                        &lt;/g&gt;&#10;                        {/* 坐标轴 */}&#10;                        &lt;line x1='70' y1='40' x2='70' y2='340' stroke='#B9C6CC' strokeWidth='1.6' /&gt;&#10;                        &lt;line x1='70' y1='340' x2='660' y2='340' stroke='#B9C6CC' strokeWidth='1.6' /&gt;&#10;                        &lt;text x='30' y='62' fontSize='13' fill='#8695A4'&gt;高&lt;/text&gt;&#10;                        &lt;text x='30' y='308' fontSize='13' fill='#8695A4'&gt;低&lt;/text&gt;&#10;                        &lt;text x='20' y='200' fontSize='13' fill='#8695A4'&gt;表现&lt;/text&gt;&#10;&#10;                        {/* 设计边界 */}&#10;                        &lt;line x1='392' y1='40' x2='392' y2='340' stroke='#D9A441' strokeWidth='1.6' strokeDasharray='7 5' /&gt;&#10;                        &lt;rect x='320' y='44' width='144' height='26' rx='4' fill='#F7EED6' /&gt;&#10;                        &lt;text x='392' y='62' fontSize='14' fill='#8A6A14' textAnchor='middle'&gt;设计阶段的边界&lt;/text&gt;&#10;                        &lt;text x='208' y='374' fontSize='13' fill='#8695A4' textAnchor='middle'&gt;设计内情境&lt;/text&gt;&#10;                        &lt;text x='536' y='374' fontSize='13' fill='#8695A4' textAnchor='middle'&gt;设计外新情境&lt;/text&gt;&#10;&#10;                        {/* 学习型智能体：保持并上升 */}&#10;                        &lt;path d='M70 118 L392 106 L520 88 L650 74' fill='none' stroke='#007581' strokeWidth='3.4' strokeLinejoin='round' /&gt;&#10;                        &lt;circle cx='650' cy='74' r='6' fill='#007581' /&gt;&#10;                        &lt;rect x='468' y='40' width='182' height='28' rx='4' fill='#E3F0F2' /&gt;&#10;                        &lt;text x='478' y='60' fontSize='15' fill='#00646E' fontWeight='bold'&gt;具备学习与适应能力&lt;/text&gt;&#10;&#10;                        {/* 静态智能体：下滑 */}&#10;                        &lt;path d='M70 118 L392 142 L520 236 L650 300' fill='none' stroke='#C0392B' strokeWidth='3.4' strokeDasharray='9 6' strokeLinejoin='round' /&gt;&#10;                        &lt;circle cx='650' cy='300' r='6' fill='#C0392B' /&gt;&#10;                        &lt;rect x='504' y='236' width='146' height='28' rx='4' fill='#FAEBE9' /&gt;&#10;                        &lt;text x='514' y='256' fontSize='15' fill='#A62F22' fontWeight='bold'&gt;仅靠预编程逻辑&lt;/text&gt;&#10;&#10;                        {/* 下滑标注 */}&#10;                        &lt;path d='M470 200 L470 254' stroke='#C0392B' strokeWidth='1.4' markerEnd='' /&gt;&#10;                        &lt;text x='150' y='330' fontSize='14' fill='#C0392B'&gt;新情境未被设计覆盖 → 表现崩塌&lt;/text&gt;&#10;                    &lt;/svg&gt;&#10;                &lt;/Box&gt;&#10;&#10;                {/* 右：三类失效场景 */}&#10;                &lt;Box style={{ flex: 1, flexDirection: 'column', gap: 14 }}&gt;&#10;                    &lt;Box style={{ flexDirection: 'column', gap: 4 }}&gt;&#10;                        &lt;Text style={{ fontSize: 19, fontWeight: 'bold', color: '#152129' }}&gt;三类典型失效&lt;/Text&gt;&#10;                        &lt;Text style={{ fontSize: 14, color: '#8695A4' }}&gt;书中所指&quot;设计阶段未覆盖的新情境&quot;&lt;/Text&gt;&#10;                    &lt;/Box&gt;&#10;                    {[&#10;                        { n: '01', t: '需求漂移', d: '业务规则随时间改写，原逻辑未同步' },&#10;                        { n: '02', t: '分布变化', d: '输入数据的统计特征与训练期不同' },&#10;                        { n: '03', t: '全新场景', d: '从未出现过的任务类型突然到来' },&#10;                    ].map((it, i) =&gt; (&#10;                        &lt;Box key={i} style={{&#10;                            flex: 1, flexDirection: 'column', justifyContent: 'center', gap: 8,&#10;                            padding: '0 18px', background: '#F4F9FA',&#10;                            borderLeft: '4px solid #39A0AC', borderRadius: 8,&#10;                        }}&gt;&#10;                            &lt;Box style={{ flexDirection: 'row', alignItems: 'center', gap: 10 }}&gt;&#10;                                &lt;Text style={{ fontSize: 15, fontWeight: 'bold', color: '#39A0AC' }}&gt;{it.n}&lt;/Text&gt;&#10;                                &lt;Text style={{ fontSize: 20, fontWeight: 'bold', color: '#152129' }}&gt;{it.t}&lt;/Text&gt;&#10;                            &lt;/Box&gt;&#10;                            &lt;Text style={{ fontSize: 16, color: '#5B6E7E', lineHeight: 1.55 }}&gt;{it.d}&lt;/Text&gt;&#10;                        &lt;/Box&gt;&#10;                    ))}&#10;                &lt;/Box&gt;&#10;            &lt;/Box&gt;&#10;&#10;            {/* 结论条 */}&#10;            &lt;Box style={{&#10;                flexDirection: 'row', alignItems: 'center', gap: 16, marginTop: 14,&#10;                padding: '14px 22px', background: '#00505A', borderRadius: 8,&#10;            }}&gt;&#10;                &lt;FAIcon name='quote-left' style={{ fill: '#4FC0CB', width: 22, height: 22 }} /&gt;&#10;                &lt;Text style={{ fontSize: 19, color: '#FFFFFF', lineHeight: 1.5, flex: 1 }}&gt;&#10;                    书中原话：若不能从经验中学习，智能体便无法持续优化策略——&#10;                    &lt;span style={{ color: '#8FD3DA' }}&gt;这种僵化会直接限制其在复杂真实场景中的自主运行能力。&lt;/span&gt;&#10;                &lt;/Text&gt;&#10;            &lt;/Box&gt;&#10;&#10;            {/* 页脚 */}&#10;            &lt;Box style={{ flexDirection: 'row', justifyContent: 'space-between', alignItems: 'center', height: 26, marginTop: 4 }}&gt;&#10;                &lt;Text style={{ fontSize: 13, color: '#A8B4BE' }}&gt;第九组 · 学习与适应&lt;/Text&gt;&#10;                &lt;Text style={{ fontSize: 14, color: '#007581', fontWeight: 'bold' }}&gt;04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矩形 11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152" name="矩形 115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153" name="文本框 1152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4" name="文本框 1153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5" name="圆角矩形 1154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156" name="文本框 1155" descr="{&quot;isTemplate&quot;:true,&quot;type&quot;:&quot;text&quot;}"/>
          <p:cNvSpPr txBox="1"/>
          <p:nvPr/>
        </p:nvSpPr>
        <p:spPr>
          <a:xfrm>
            <a:off x="600075" y="561975"/>
            <a:ext cx="25908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预编程逻辑的边界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7" name="圆角矩形 1156"/>
          <p:cNvSpPr/>
          <p:nvPr/>
        </p:nvSpPr>
        <p:spPr>
          <a:xfrm>
            <a:off x="3324225" y="638175"/>
            <a:ext cx="762000" cy="238125"/>
          </a:xfrm>
          <a:prstGeom prst="roundRect">
            <a:avLst>
              <a:gd name="adj" fmla="val 16000"/>
            </a:avLst>
          </a:prstGeom>
          <a:solidFill>
            <a:srgbClr val="F7EED6"/>
          </a:solidFill>
        </p:spPr>
        <p:txBody>
          <a:bodyPr/>
          <a:lstStyle/>
          <a:p/>
        </p:txBody>
      </p:sp>
      <p:sp>
        <p:nvSpPr>
          <p:cNvPr id="1158" name="文本框 1157" descr="{&quot;isTemplate&quot;:true,&quot;type&quot;:&quot;text&quot;}"/>
          <p:cNvSpPr txBox="1"/>
          <p:nvPr/>
        </p:nvSpPr>
        <p:spPr>
          <a:xfrm>
            <a:off x="3438525" y="676275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6A14"/>
                </a:solidFill>
                <a:latin typeface="微软雅黑" panose="020B0503020204020204" charset="-122"/>
                <a:ea typeface="微软雅黑" panose="020B0503020204020204" charset="-122"/>
              </a:rPr>
              <a:t>问题所在</a:t>
            </a:r>
            <a:endParaRPr lang="zh-CN" sz="1050" b="1">
              <a:solidFill>
                <a:srgbClr val="8A6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9" name="圆角矩形 1158"/>
          <p:cNvSpPr/>
          <p:nvPr/>
        </p:nvSpPr>
        <p:spPr>
          <a:xfrm>
            <a:off x="419100" y="1104900"/>
            <a:ext cx="6915150" cy="4619625"/>
          </a:xfrm>
          <a:prstGeom prst="roundRect">
            <a:avLst>
              <a:gd name="adj" fmla="val 2062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1160" name="文本框 1159" descr="{&quot;isTemplate&quot;:true,&quot;type&quot;:&quot;text&quot;}"/>
          <p:cNvSpPr txBox="1"/>
          <p:nvPr/>
        </p:nvSpPr>
        <p:spPr>
          <a:xfrm>
            <a:off x="609600" y="1276350"/>
            <a:ext cx="2533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任务表现随环境变化的变化趋势</a:t>
            </a:r>
            <a:endParaRPr lang="zh-CN" sz="14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1" name="文本框 1160" descr="{&quot;isTemplate&quot;:true,&quot;type&quot;:&quot;text&quot;}"/>
          <p:cNvSpPr txBox="1"/>
          <p:nvPr/>
        </p:nvSpPr>
        <p:spPr>
          <a:xfrm>
            <a:off x="6048375" y="1314450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示意图</a:t>
            </a:r>
            <a:r>
              <a:rPr lang="en-US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非实测数据</a:t>
            </a:r>
            <a:endParaRPr lang="zh-CN" sz="9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62" name="图片 116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590675"/>
            <a:ext cx="6534150" cy="3848100"/>
          </a:xfrm>
          <a:prstGeom prst="rect">
            <a:avLst/>
          </a:prstGeom>
        </p:spPr>
      </p:pic>
      <p:sp>
        <p:nvSpPr>
          <p:cNvPr id="1163" name="文本框 1162" descr="{&quot;isTemplate&quot;:true,&quot;type&quot;:&quot;text&quot;}"/>
          <p:cNvSpPr txBox="1"/>
          <p:nvPr/>
        </p:nvSpPr>
        <p:spPr>
          <a:xfrm>
            <a:off x="7562850" y="1104900"/>
            <a:ext cx="42100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三类典型失效</a:t>
            </a:r>
            <a:endParaRPr lang="zh-CN" sz="14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4" name="文本框 1163" descr="{&quot;isTemplate&quot;:true,&quot;type&quot;:&quot;text&quot;}"/>
          <p:cNvSpPr txBox="1"/>
          <p:nvPr/>
        </p:nvSpPr>
        <p:spPr>
          <a:xfrm>
            <a:off x="7562850" y="1362075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书中所指</a:t>
            </a:r>
            <a:r>
              <a:rPr lang="en-US" sz="105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设计阶段未覆盖的新情境</a:t>
            </a:r>
            <a:r>
              <a:rPr lang="en-US" sz="105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5" name="圆角矩形 1164"/>
          <p:cNvSpPr/>
          <p:nvPr/>
        </p:nvSpPr>
        <p:spPr>
          <a:xfrm>
            <a:off x="7600950" y="1657350"/>
            <a:ext cx="4210050" cy="1266825"/>
          </a:xfrm>
          <a:prstGeom prst="roundRect">
            <a:avLst>
              <a:gd name="adj" fmla="val 6015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166" name="任意多边形 1165"/>
          <p:cNvSpPr/>
          <p:nvPr/>
        </p:nvSpPr>
        <p:spPr>
          <a:xfrm>
            <a:off x="7600950" y="1657350"/>
            <a:ext cx="4210050" cy="1266825"/>
          </a:xfrm>
          <a:custGeom>
            <a:avLst/>
            <a:gdLst/>
            <a:ahLst/>
            <a:cxnLst/>
            <a:rect l="0" t="0" r="0" b="0"/>
            <a:pathLst>
              <a:path w="442" h="13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9"/>
                </a:lnTo>
                <a:cubicBezTo>
                  <a:pt x="4" y="131"/>
                  <a:pt x="5" y="133"/>
                  <a:pt x="7" y="133"/>
                </a:cubicBezTo>
                <a:cubicBezTo>
                  <a:pt x="3" y="133"/>
                  <a:pt x="0" y="129"/>
                  <a:pt x="0" y="12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167" name="文本框 1166" descr="{&quot;isTemplate&quot;:true,&quot;type&quot;:&quot;text&quot;}"/>
          <p:cNvSpPr txBox="1"/>
          <p:nvPr/>
        </p:nvSpPr>
        <p:spPr>
          <a:xfrm>
            <a:off x="7772400" y="2028825"/>
            <a:ext cx="180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9A0A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125" b="1">
              <a:solidFill>
                <a:srgbClr val="39A0A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8" name="文本框 1167" descr="{&quot;isTemplate&quot;:true,&quot;type&quot;:&quot;text&quot;}"/>
          <p:cNvSpPr txBox="1"/>
          <p:nvPr/>
        </p:nvSpPr>
        <p:spPr>
          <a:xfrm>
            <a:off x="8048625" y="2000250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需求漂移</a:t>
            </a:r>
            <a:endParaRPr lang="zh-CN" sz="15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9" name="文本框 1168" descr="{&quot;isTemplate&quot;:true,&quot;type&quot;:&quot;text&quot;}"/>
          <p:cNvSpPr txBox="1"/>
          <p:nvPr/>
        </p:nvSpPr>
        <p:spPr>
          <a:xfrm>
            <a:off x="7772400" y="2305050"/>
            <a:ext cx="3829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5B6E7E"/>
                </a:solidFill>
                <a:latin typeface="微软雅黑" panose="020B0503020204020204" charset="-122"/>
                <a:ea typeface="微软雅黑" panose="020B0503020204020204" charset="-122"/>
              </a:rPr>
              <a:t>业务规则随时间改写，原逻辑未同步</a:t>
            </a:r>
            <a:endParaRPr lang="zh-CN" sz="1200">
              <a:solidFill>
                <a:srgbClr val="5B6E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0" name="圆角矩形 1169"/>
          <p:cNvSpPr/>
          <p:nvPr/>
        </p:nvSpPr>
        <p:spPr>
          <a:xfrm>
            <a:off x="7600950" y="3057525"/>
            <a:ext cx="4210050" cy="1266825"/>
          </a:xfrm>
          <a:prstGeom prst="roundRect">
            <a:avLst>
              <a:gd name="adj" fmla="val 6015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171" name="任意多边形 1170"/>
          <p:cNvSpPr/>
          <p:nvPr/>
        </p:nvSpPr>
        <p:spPr>
          <a:xfrm>
            <a:off x="7600950" y="3057525"/>
            <a:ext cx="4210050" cy="1266825"/>
          </a:xfrm>
          <a:custGeom>
            <a:avLst/>
            <a:gdLst/>
            <a:ahLst/>
            <a:cxnLst/>
            <a:rect l="0" t="0" r="0" b="0"/>
            <a:pathLst>
              <a:path w="442" h="13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9"/>
                </a:lnTo>
                <a:cubicBezTo>
                  <a:pt x="4" y="131"/>
                  <a:pt x="5" y="133"/>
                  <a:pt x="7" y="133"/>
                </a:cubicBezTo>
                <a:cubicBezTo>
                  <a:pt x="3" y="133"/>
                  <a:pt x="0" y="129"/>
                  <a:pt x="0" y="12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172" name="文本框 1171" descr="{&quot;isTemplate&quot;:true,&quot;type&quot;:&quot;text&quot;}"/>
          <p:cNvSpPr txBox="1"/>
          <p:nvPr/>
        </p:nvSpPr>
        <p:spPr>
          <a:xfrm>
            <a:off x="7772400" y="3429000"/>
            <a:ext cx="180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9A0A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125" b="1">
              <a:solidFill>
                <a:srgbClr val="39A0A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3" name="文本框 1172" descr="{&quot;isTemplate&quot;:true,&quot;type&quot;:&quot;text&quot;}"/>
          <p:cNvSpPr txBox="1"/>
          <p:nvPr/>
        </p:nvSpPr>
        <p:spPr>
          <a:xfrm>
            <a:off x="8048625" y="3400425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分布变化</a:t>
            </a:r>
            <a:endParaRPr lang="zh-CN" sz="15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4" name="文本框 1173" descr="{&quot;isTemplate&quot;:true,&quot;type&quot;:&quot;text&quot;}"/>
          <p:cNvSpPr txBox="1"/>
          <p:nvPr/>
        </p:nvSpPr>
        <p:spPr>
          <a:xfrm>
            <a:off x="7772400" y="3705225"/>
            <a:ext cx="3829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5B6E7E"/>
                </a:solidFill>
                <a:latin typeface="微软雅黑" panose="020B0503020204020204" charset="-122"/>
                <a:ea typeface="微软雅黑" panose="020B0503020204020204" charset="-122"/>
              </a:rPr>
              <a:t>输入数据的统计特征与训练期不同</a:t>
            </a:r>
            <a:endParaRPr lang="zh-CN" sz="1200">
              <a:solidFill>
                <a:srgbClr val="5B6E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5" name="圆角矩形 1174"/>
          <p:cNvSpPr/>
          <p:nvPr/>
        </p:nvSpPr>
        <p:spPr>
          <a:xfrm>
            <a:off x="7600950" y="4457700"/>
            <a:ext cx="4210050" cy="1266825"/>
          </a:xfrm>
          <a:prstGeom prst="roundRect">
            <a:avLst>
              <a:gd name="adj" fmla="val 6015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176" name="任意多边形 1175"/>
          <p:cNvSpPr/>
          <p:nvPr/>
        </p:nvSpPr>
        <p:spPr>
          <a:xfrm>
            <a:off x="7600950" y="4457700"/>
            <a:ext cx="4210050" cy="1266825"/>
          </a:xfrm>
          <a:custGeom>
            <a:avLst/>
            <a:gdLst/>
            <a:ahLst/>
            <a:cxnLst/>
            <a:rect l="0" t="0" r="0" b="0"/>
            <a:pathLst>
              <a:path w="442" h="13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9"/>
                </a:lnTo>
                <a:cubicBezTo>
                  <a:pt x="4" y="131"/>
                  <a:pt x="5" y="133"/>
                  <a:pt x="7" y="133"/>
                </a:cubicBezTo>
                <a:cubicBezTo>
                  <a:pt x="3" y="133"/>
                  <a:pt x="0" y="129"/>
                  <a:pt x="0" y="12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177" name="文本框 1176" descr="{&quot;isTemplate&quot;:true,&quot;type&quot;:&quot;text&quot;}"/>
          <p:cNvSpPr txBox="1"/>
          <p:nvPr/>
        </p:nvSpPr>
        <p:spPr>
          <a:xfrm>
            <a:off x="7772400" y="4829175"/>
            <a:ext cx="180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9A0A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125" b="1">
              <a:solidFill>
                <a:srgbClr val="39A0A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8" name="文本框 1177" descr="{&quot;isTemplate&quot;:true,&quot;type&quot;:&quot;text&quot;}"/>
          <p:cNvSpPr txBox="1"/>
          <p:nvPr/>
        </p:nvSpPr>
        <p:spPr>
          <a:xfrm>
            <a:off x="8048625" y="4800600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全新场景</a:t>
            </a:r>
            <a:endParaRPr lang="zh-CN" sz="15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9" name="文本框 1178" descr="{&quot;isTemplate&quot;:true,&quot;type&quot;:&quot;text&quot;}"/>
          <p:cNvSpPr txBox="1"/>
          <p:nvPr/>
        </p:nvSpPr>
        <p:spPr>
          <a:xfrm>
            <a:off x="7772400" y="5105400"/>
            <a:ext cx="3829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5B6E7E"/>
                </a:solidFill>
                <a:latin typeface="微软雅黑" panose="020B0503020204020204" charset="-122"/>
                <a:ea typeface="微软雅黑" panose="020B0503020204020204" charset="-122"/>
              </a:rPr>
              <a:t>从未出现过的任务类型突然到来</a:t>
            </a:r>
            <a:endParaRPr lang="zh-CN" sz="1200">
              <a:solidFill>
                <a:srgbClr val="5B6E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0" name="圆角矩形 1179"/>
          <p:cNvSpPr/>
          <p:nvPr/>
        </p:nvSpPr>
        <p:spPr>
          <a:xfrm>
            <a:off x="419100" y="5857875"/>
            <a:ext cx="11353800" cy="600075"/>
          </a:xfrm>
          <a:prstGeom prst="roundRect">
            <a:avLst>
              <a:gd name="adj" fmla="val 12698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pic>
        <p:nvPicPr>
          <p:cNvPr id="1181" name="图片 118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6057900"/>
            <a:ext cx="209550" cy="209550"/>
          </a:xfrm>
          <a:prstGeom prst="rect">
            <a:avLst/>
          </a:prstGeom>
        </p:spPr>
      </p:pic>
      <p:sp>
        <p:nvSpPr>
          <p:cNvPr id="1182" name="文本框 1181" descr="{&quot;isTemplate&quot;:true,&quot;type&quot;:&quot;text&quot;}"/>
          <p:cNvSpPr txBox="1"/>
          <p:nvPr/>
        </p:nvSpPr>
        <p:spPr>
          <a:xfrm>
            <a:off x="990600" y="5991225"/>
            <a:ext cx="105727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书中原话：若不能从经验中学习，智能体便无法持续优化策略——</a:t>
            </a:r>
            <a:r>
              <a:rPr lang="zh-CN" sz="1425">
                <a:solidFill>
                  <a:srgbClr val="8FD3DA"/>
                </a:solidFill>
                <a:latin typeface="微软雅黑" panose="020B0503020204020204" charset="-122"/>
                <a:ea typeface="微软雅黑" panose="020B0503020204020204" charset="-122"/>
              </a:rPr>
              <a:t>这种僵化会直接限制其在复杂真实场景中的自主运行能力。</a:t>
            </a:r>
            <a:endParaRPr lang="zh-CN" sz="1425">
              <a:solidFill>
                <a:srgbClr val="8FD3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3" name="文本框 1182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4" name="文本框 1183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04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{/* 页眉 */}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{/* 标题 */}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学习 ≠ 适应&lt;/Text&gt;&#10;                &lt;Box style={{ padding: '4px 12px', background: '#E3F0F2', borderRadius: 4 }}&gt;&#10;                    &lt;Text style={{ fontSize: 14, color: '#00646E', fontWeight: 'bold' }}&gt;核心定义&lt;/Text&gt;&#10;                &lt;/Box&gt;&#10;            &lt;/Box&gt;&#10;&#10;            {/* 内容：左右巨型词对照 */}&#10;            &lt;Box style={{ flexDirection: 'row', alignItems: 'stretch', gap: 18, height: 322, marginTop: 14 }}&gt;&#10;&#10;                &lt;Box style={{&#10;                    flex: 1, flexDirection: 'column', padding: '24px 26px 20px',&#10;                    background: '#F4F9FA', border: '1px solid #DFEAEC', borderRadius: 12,&#10;                    borderTop: '5px solid #007581',&#10;                }}&gt;&#10;                    &lt;Box style={{ flexDirection: 'row', alignItems: 'baseline', gap: 14 }}&gt;&#10;                        &lt;Text style={{ fontSize: 60, fontWeight: 'bold', color: '#007581', lineHeight: 1.05 }}&gt;学习&lt;/Text&gt;&#10;                        &lt;Text style={{ fontSize: 17, color: '#7F9BA3', letterSpacing: 2.5, fontWeight: 'bold' }}&gt;LEARNING&lt;/Text&gt;&#10;                    &lt;/Box&gt;&#10;                    &lt;Text style={{ fontSize: 21, color: '#152129', lineHeight: 1.6, marginTop: 14, fontWeight: 'bold' }}&gt;&#10;                        智能体调整自己的思考方式、&lt;br /&gt;行为策略或知识结构&#10;                    &lt;/Text&gt;&#10;                    &lt;Box style={{ flex: 1 }} /&gt;&#10;                    &lt;Box style={{ flexDirection: 'row', gap: 10, flexWrap: 'wrap' }}&gt;&#10;                        {['推理策略', '行动方式', '内部知识'].map((t, i) =&gt; (&#10;                            &lt;Box key={i} style={{ padding: '6px 14px', background: '#E3F0F2', borderRadius: 5 }}&gt;&#10;                                &lt;Text style={{ fontSize: 15, color: '#00646E' }}&gt;{t}&lt;/Text&gt;&#10;                            &lt;/Box&gt;&#10;                        ))}&#10;                    &lt;/Box&gt;&#10;                    &lt;Text style={{ fontSize: 15, color: '#7A8B98', marginTop: 14, lineHeight: 1.5 }}&gt;&#10;                        发生在系统内部，是「机制」&#10;                    &lt;/Text&gt;&#10;                &lt;/Box&gt;&#10;&#10;                {/* 中间箭头 */}&#10;                &lt;Box style={{ width: 92, justifyContent: 'center', alignItems: 'center', flexDirection: 'column', gap: 10 }}&gt;&#10;                    &lt;Box style={{&#10;                        width: 62, height: 62, borderRadius: 31, background: '#00505A',&#10;                        justifyContent: 'center', alignItems: 'center',&#10;                    }}&gt;&#10;                        &lt;FAIcon name='arrow-right-long' style={{ fill: '#8FD3DA', width: 30, height: 30 }} /&gt;&#10;                    &lt;/Box&gt;&#10;                    &lt;Text style={{ fontSize: 14, color: '#8695A4' }}&gt;外显为&lt;/Text&gt;&#10;                &lt;/Box&gt;&#10;&#10;                &lt;Box style={{&#10;                    flex: 1, flexDirection: 'column', padding: '24px 26px 20px',&#10;                    background: '#00505A', borderRadius: 12,&#10;                }}&gt;&#10;                    &lt;Box style={{ flexDirection: 'row', alignItems: 'baseline', gap: 14 }}&gt;&#10;                        &lt;Text style={{ fontSize: 60, fontWeight: 'bold', color: '#FFFFFF', lineHeight: 1.05 }}&gt;适应&lt;/Text&gt;&#10;                        &lt;Text style={{ fontSize: 17, color: '#6FB6C0', letterSpacing: 2.5, fontWeight: 'bold' }}&gt;ADAPTATION&lt;/Text&gt;&#10;                    &lt;/Box&gt;&#10;                    &lt;Text style={{ fontSize: 21, color: '#E8F5F6', lineHeight: 1.6, marginTop: 14, fontWeight: 'bold' }}&gt;&#10;                        学习所带来的、&lt;br /&gt;行为或知识上的可见变化&#10;                    &lt;/Text&gt;&#10;                    &lt;Box style={{ flex: 1 }} /&gt;&#10;                    &lt;Box style={{ flexDirection: 'row', gap: 10, flexWrap: 'wrap' }}&gt;&#10;                        {['行为改变', '表现提升', '应对新情境'].map((t, i) =&gt; (&#10;                            &lt;Box key={i} style={{ padding: '6px 14px', background: 'rgba(143,211,218,0.18)', borderRadius: 5 }}&gt;&#10;                                &lt;Text style={{ fontSize: 15, color: '#BFE7EB' }}&gt;{t}&lt;/Text&gt;&#10;                            &lt;/Box&gt;&#10;                        ))}&#10;                    &lt;/Box&gt;&#10;                    &lt;Text style={{ fontSize: 15, color: '#8FC3CB', marginTop: 14, lineHeight: 1.5 }}&gt;&#10;                        可被外部观测到，是「结果」&#10;                    &lt;/Text&gt;&#10;                &lt;/Box&gt;&#10;            &lt;/Box&gt;&#10;&#10;            {/* 闭环示意 */}&#10;            &lt;Box style={{&#10;                flex: 1, marginTop: 16, padding: '14px 24px 8px',&#10;                background: '#F8FBFB', border: '1px solid #E2EBED', borderRadius: 12,&#10;                flexDirection: 'column',&#10;            }}&gt;&#10;                &lt;Box style={{ flexDirection: 'row', justifyContent: 'space-between', alignItems: 'center' }}&gt;&#10;                    &lt;Text style={{ fontSize: 17, fontWeight: 'bold', color: '#152129' }}&gt;持续学习的闭环&lt;/Text&gt;&#10;                    &lt;Text style={{ fontSize: 13, color: '#8695A4' }}&gt;示意图&lt;/Text&gt;&#10;                &lt;/Box&gt;&#10;                &lt;svg width={1140} height={148} viewBox='0 0 1140 148' style={{ marginTop: 4 }}&gt;&#10;                    &lt;defs&gt;&#10;                        &lt;marker id='ar5' markerWidth='11' markerHeight='11' refX='9' refY='5.5' orient='auto'&gt;&#10;                            &lt;path d='M0,0 L11,5.5 L0,11 z' fill='#39A0AC' /&gt;&#10;                        &lt;/marker&gt;&#10;                    &lt;/defs&gt;&#10;                    {[&#10;                        { x: 44, t: '经验与反馈', s: '用户交互 / 环境信号' },&#10;                        { x: 292, t: '学习', s: '调整策略与知识' },&#10;                        { x: 540, t: '适应', s: '行为发生可见改变' },&#10;                        { x: 788, t: '新行为输出', s: '表现提升' },&#10;                    ].map((n, i) =&gt; (&#10;                        &lt;g key={i}&gt;&#10;                            &lt;rect x={n.x} y='26' width='212' height='70' rx='8' fill={i === 2 ? '#00505A' : '#FFFFFF'} stroke={i === 2 ? '#00505A' : '#C9DBDE'} strokeWidth='1.6' /&gt;&#10;                            &lt;text x={n.x + 106} y={i === 2 ? 54 : 54} fontSize='18' fontWeight='bold' fill={i === 2 ? '#FFFFFF' : '#152129'} textAnchor='middle'&gt;{n.t}&lt;/text&gt;&#10;                            &lt;text x={n.x + 106} y={76} fontSize='14' fill={i === 2 ? '#BFE7EB' : '#7A8B98'} textAnchor='middle'&gt;{n.s}&lt;/text&gt;&#10;                            {i &lt; 3 &amp;&amp; &lt;line x1={n.x + 216} y1='61' x2={n.x + 244} y2='61' stroke='#39A0AC' strokeWidth='2.4' markerEnd='url(#ar5)' /&gt;}&#10;                        &lt;/g&gt;&#10;                    ))}&#10;                    {/* 回环 */}&#10;                    &lt;path d='M894 96 L894 126 L150 126 L150 100' fill='none' stroke='#39A0AC' strokeWidth='2.4' strokeDasharray='7 5' markerEnd='url(#ar5)' /&gt;&#10;                    &lt;text x='522' y='146' fontSize='14' fill='#5B6E7E' textAnchor='middle'&gt;更新后的行为产生新经验，再次进入学习&lt;/text&gt;&#10;                &lt;/svg&gt;&#10;            &lt;/Box&gt;&#10;&#10;            {/* 页脚 */}&#10;            &lt;Box style={{ flexDirection: 'row', justifyContent: 'space-between', alignItems: 'center', height: 26, marginTop: 4 }}&gt;&#10;                &lt;Text style={{ fontSize: 13, color: '#A8B4BE' }}&gt;第九组 · 学习与适应&lt;/Text&gt;&#10;                &lt;Text style={{ fontSize: 14, color: '#007581', fontWeight: 'bold' }}&gt;05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矩形 11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187" name="矩形 118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188" name="文本框 1187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9" name="文本框 1188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0" name="圆角矩形 1189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191" name="文本框 1190" descr="{&quot;isTemplate&quot;:true,&quot;type&quot;:&quot;text&quot;}"/>
          <p:cNvSpPr txBox="1"/>
          <p:nvPr/>
        </p:nvSpPr>
        <p:spPr>
          <a:xfrm>
            <a:off x="600075" y="561975"/>
            <a:ext cx="17430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学习</a:t>
            </a: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 ≠ 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适应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2" name="圆角矩形 1191"/>
          <p:cNvSpPr/>
          <p:nvPr/>
        </p:nvSpPr>
        <p:spPr>
          <a:xfrm>
            <a:off x="2476500" y="638175"/>
            <a:ext cx="762000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1193" name="文本框 1192" descr="{&quot;isTemplate&quot;:true,&quot;type&quot;:&quot;text&quot;}"/>
          <p:cNvSpPr txBox="1"/>
          <p:nvPr/>
        </p:nvSpPr>
        <p:spPr>
          <a:xfrm>
            <a:off x="2590800" y="676275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核心定义</a:t>
            </a:r>
            <a:endParaRPr lang="zh-CN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4" name="圆角矩形 1193"/>
          <p:cNvSpPr/>
          <p:nvPr/>
        </p:nvSpPr>
        <p:spPr>
          <a:xfrm>
            <a:off x="419100" y="1152525"/>
            <a:ext cx="5067300" cy="3067050"/>
          </a:xfrm>
          <a:prstGeom prst="roundRect">
            <a:avLst>
              <a:gd name="adj" fmla="val 3727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195" name="任意多边形 1194"/>
          <p:cNvSpPr/>
          <p:nvPr/>
        </p:nvSpPr>
        <p:spPr>
          <a:xfrm>
            <a:off x="419100" y="1152525"/>
            <a:ext cx="5067300" cy="3067050"/>
          </a:xfrm>
          <a:custGeom>
            <a:avLst/>
            <a:gdLst/>
            <a:ahLst/>
            <a:cxnLst/>
            <a:rect l="0" t="0" r="0" b="0"/>
            <a:pathLst>
              <a:path w="532" h="322">
                <a:moveTo>
                  <a:pt x="521" y="0"/>
                </a:moveTo>
                <a:cubicBezTo>
                  <a:pt x="526" y="0"/>
                  <a:pt x="531" y="4"/>
                  <a:pt x="532" y="10"/>
                </a:cubicBezTo>
                <a:cubicBezTo>
                  <a:pt x="531" y="7"/>
                  <a:pt x="528" y="5"/>
                  <a:pt x="525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20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196" name="文本框 1195" descr="{&quot;isTemplate&quot;:true,&quot;type&quot;:&quot;text&quot;}"/>
          <p:cNvSpPr txBox="1"/>
          <p:nvPr/>
        </p:nvSpPr>
        <p:spPr>
          <a:xfrm>
            <a:off x="666750" y="1381125"/>
            <a:ext cx="1143000" cy="723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5000"/>
              </a:lnSpc>
            </a:pPr>
            <a:r>
              <a:rPr lang="zh-CN" sz="450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学习</a:t>
            </a:r>
            <a:endParaRPr lang="zh-CN" sz="450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7" name="文本框 1196" descr="{&quot;isTemplate&quot;:true,&quot;type&quot;:&quot;text&quot;}"/>
          <p:cNvSpPr txBox="1"/>
          <p:nvPr/>
        </p:nvSpPr>
        <p:spPr>
          <a:xfrm>
            <a:off x="1943100" y="1381125"/>
            <a:ext cx="1066800" cy="723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 spc="188">
                <a:solidFill>
                  <a:srgbClr val="7F9BA3"/>
                </a:solidFill>
                <a:latin typeface="微软雅黑" panose="020B0503020204020204" charset="-122"/>
                <a:ea typeface="微软雅黑" panose="020B0503020204020204" charset="-122"/>
              </a:rPr>
              <a:t>LEARNING</a:t>
            </a:r>
            <a:endParaRPr lang="en-US" sz="1275" b="1" spc="188">
              <a:solidFill>
                <a:srgbClr val="7F9B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8" name="文本框 1197" descr="{&quot;isTemplate&quot;:true,&quot;type&quot;:&quot;text&quot;}"/>
          <p:cNvSpPr txBox="1"/>
          <p:nvPr/>
        </p:nvSpPr>
        <p:spPr>
          <a:xfrm>
            <a:off x="666750" y="2238375"/>
            <a:ext cx="4572000" cy="771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5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智能体调整自己的思考方式、</a:t>
            </a:r>
            <a:endParaRPr lang="zh-CN" sz="15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5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行为策略或知识结构</a:t>
            </a:r>
            <a:endParaRPr lang="zh-CN" sz="15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9" name="圆角矩形 1198"/>
          <p:cNvSpPr/>
          <p:nvPr/>
        </p:nvSpPr>
        <p:spPr>
          <a:xfrm>
            <a:off x="666750" y="3305175"/>
            <a:ext cx="838200" cy="285750"/>
          </a:xfrm>
          <a:prstGeom prst="roundRect">
            <a:avLst>
              <a:gd name="adj" fmla="val 16667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1200" name="文本框 1199" descr="{&quot;isTemplate&quot;:true,&quot;type&quot;:&quot;text&quot;}"/>
          <p:cNvSpPr txBox="1"/>
          <p:nvPr/>
        </p:nvSpPr>
        <p:spPr>
          <a:xfrm>
            <a:off x="800100" y="336232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推理策略</a:t>
            </a:r>
            <a:endParaRPr lang="zh-CN" sz="1125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1" name="圆角矩形 1200"/>
          <p:cNvSpPr/>
          <p:nvPr/>
        </p:nvSpPr>
        <p:spPr>
          <a:xfrm>
            <a:off x="1600200" y="3305175"/>
            <a:ext cx="838200" cy="285750"/>
          </a:xfrm>
          <a:prstGeom prst="roundRect">
            <a:avLst>
              <a:gd name="adj" fmla="val 16667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1202" name="文本框 1201" descr="{&quot;isTemplate&quot;:true,&quot;type&quot;:&quot;text&quot;}"/>
          <p:cNvSpPr txBox="1"/>
          <p:nvPr/>
        </p:nvSpPr>
        <p:spPr>
          <a:xfrm>
            <a:off x="1733550" y="336232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行动方式</a:t>
            </a:r>
            <a:endParaRPr lang="zh-CN" sz="1125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3" name="圆角矩形 1202"/>
          <p:cNvSpPr/>
          <p:nvPr/>
        </p:nvSpPr>
        <p:spPr>
          <a:xfrm>
            <a:off x="2533650" y="3305175"/>
            <a:ext cx="838200" cy="285750"/>
          </a:xfrm>
          <a:prstGeom prst="roundRect">
            <a:avLst>
              <a:gd name="adj" fmla="val 16667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1204" name="文本框 1203" descr="{&quot;isTemplate&quot;:true,&quot;type&quot;:&quot;text&quot;}"/>
          <p:cNvSpPr txBox="1"/>
          <p:nvPr/>
        </p:nvSpPr>
        <p:spPr>
          <a:xfrm>
            <a:off x="2667000" y="336232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内部知识</a:t>
            </a:r>
            <a:endParaRPr lang="zh-CN" sz="1125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5" name="文本框 1204" descr="{&quot;isTemplate&quot;:true,&quot;type&quot;:&quot;text&quot;}"/>
          <p:cNvSpPr txBox="1"/>
          <p:nvPr/>
        </p:nvSpPr>
        <p:spPr>
          <a:xfrm>
            <a:off x="666750" y="3724275"/>
            <a:ext cx="45720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发生在系统内部，是「机制」</a:t>
            </a:r>
            <a:endParaRPr lang="zh-CN" sz="112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6" name="圆角矩形 1205"/>
          <p:cNvSpPr/>
          <p:nvPr/>
        </p:nvSpPr>
        <p:spPr>
          <a:xfrm>
            <a:off x="5800725" y="2219325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pic>
        <p:nvPicPr>
          <p:cNvPr id="1207" name="图片 120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53125" y="2371725"/>
            <a:ext cx="285750" cy="285750"/>
          </a:xfrm>
          <a:prstGeom prst="rect">
            <a:avLst/>
          </a:prstGeom>
        </p:spPr>
      </p:pic>
      <p:sp>
        <p:nvSpPr>
          <p:cNvPr id="1208" name="文本框 1207" descr="{&quot;isTemplate&quot;:true,&quot;type&quot;:&quot;text&quot;}"/>
          <p:cNvSpPr txBox="1"/>
          <p:nvPr/>
        </p:nvSpPr>
        <p:spPr>
          <a:xfrm>
            <a:off x="5895975" y="2905125"/>
            <a:ext cx="40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外显为</a:t>
            </a:r>
            <a:endParaRPr lang="zh-CN" sz="105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9" name="圆角矩形 1208"/>
          <p:cNvSpPr/>
          <p:nvPr/>
        </p:nvSpPr>
        <p:spPr>
          <a:xfrm>
            <a:off x="6705600" y="1104900"/>
            <a:ext cx="5067300" cy="3067050"/>
          </a:xfrm>
          <a:prstGeom prst="roundRect">
            <a:avLst>
              <a:gd name="adj" fmla="val 3727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1210" name="文本框 1209" descr="{&quot;isTemplate&quot;:true,&quot;type&quot;:&quot;text&quot;}"/>
          <p:cNvSpPr txBox="1"/>
          <p:nvPr/>
        </p:nvSpPr>
        <p:spPr>
          <a:xfrm>
            <a:off x="6953250" y="1333500"/>
            <a:ext cx="1143000" cy="723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5000"/>
              </a:lnSpc>
            </a:pPr>
            <a:r>
              <a:rPr lang="zh-CN"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适应</a:t>
            </a:r>
            <a:endParaRPr lang="zh-CN" sz="4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1" name="文本框 1210" descr="{&quot;isTemplate&quot;:true,&quot;type&quot;:&quot;text&quot;}"/>
          <p:cNvSpPr txBox="1"/>
          <p:nvPr/>
        </p:nvSpPr>
        <p:spPr>
          <a:xfrm>
            <a:off x="8229600" y="1333500"/>
            <a:ext cx="1371600" cy="723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 spc="188">
                <a:solidFill>
                  <a:srgbClr val="6FB6C0"/>
                </a:solidFill>
                <a:latin typeface="微软雅黑" panose="020B0503020204020204" charset="-122"/>
                <a:ea typeface="微软雅黑" panose="020B0503020204020204" charset="-122"/>
              </a:rPr>
              <a:t>ADAPTATION</a:t>
            </a:r>
            <a:endParaRPr lang="en-US" sz="1275" b="1" spc="188">
              <a:solidFill>
                <a:srgbClr val="6FB6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2" name="文本框 1211" descr="{&quot;isTemplate&quot;:true,&quot;type&quot;:&quot;text&quot;}"/>
          <p:cNvSpPr txBox="1"/>
          <p:nvPr/>
        </p:nvSpPr>
        <p:spPr>
          <a:xfrm>
            <a:off x="6953250" y="2190750"/>
            <a:ext cx="4572000" cy="771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575" b="1">
                <a:solidFill>
                  <a:srgbClr val="E8F5F6"/>
                </a:solidFill>
                <a:latin typeface="微软雅黑" panose="020B0503020204020204" charset="-122"/>
                <a:ea typeface="微软雅黑" panose="020B0503020204020204" charset="-122"/>
              </a:rPr>
              <a:t>学习所带来的、</a:t>
            </a:r>
            <a:endParaRPr lang="zh-CN" sz="1575" b="1">
              <a:solidFill>
                <a:srgbClr val="E8F5F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575" b="1">
                <a:solidFill>
                  <a:srgbClr val="E8F5F6"/>
                </a:solidFill>
                <a:latin typeface="微软雅黑" panose="020B0503020204020204" charset="-122"/>
                <a:ea typeface="微软雅黑" panose="020B0503020204020204" charset="-122"/>
              </a:rPr>
              <a:t>行为或知识上的可见变化</a:t>
            </a:r>
            <a:endParaRPr lang="zh-CN" sz="1575" b="1">
              <a:solidFill>
                <a:srgbClr val="E8F5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3" name="圆角矩形 1212"/>
          <p:cNvSpPr/>
          <p:nvPr/>
        </p:nvSpPr>
        <p:spPr>
          <a:xfrm>
            <a:off x="6953250" y="3305175"/>
            <a:ext cx="838200" cy="285750"/>
          </a:xfrm>
          <a:prstGeom prst="roundRect">
            <a:avLst>
              <a:gd name="adj" fmla="val 16667"/>
            </a:avLst>
          </a:prstGeom>
          <a:solidFill>
            <a:srgbClr val="8FD3DA">
              <a:alpha val="18000"/>
            </a:srgbClr>
          </a:solidFill>
        </p:spPr>
        <p:txBody>
          <a:bodyPr/>
          <a:lstStyle/>
          <a:p/>
        </p:txBody>
      </p:sp>
      <p:sp>
        <p:nvSpPr>
          <p:cNvPr id="1214" name="文本框 1213" descr="{&quot;isTemplate&quot;:true,&quot;type&quot;:&quot;text&quot;}"/>
          <p:cNvSpPr txBox="1"/>
          <p:nvPr/>
        </p:nvSpPr>
        <p:spPr>
          <a:xfrm>
            <a:off x="7086600" y="336232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行为改变</a:t>
            </a:r>
            <a:endParaRPr lang="zh-CN" sz="1125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5" name="圆角矩形 1214"/>
          <p:cNvSpPr/>
          <p:nvPr/>
        </p:nvSpPr>
        <p:spPr>
          <a:xfrm>
            <a:off x="7886700" y="3305175"/>
            <a:ext cx="838200" cy="285750"/>
          </a:xfrm>
          <a:prstGeom prst="roundRect">
            <a:avLst>
              <a:gd name="adj" fmla="val 16667"/>
            </a:avLst>
          </a:prstGeom>
          <a:solidFill>
            <a:srgbClr val="8FD3DA">
              <a:alpha val="18000"/>
            </a:srgbClr>
          </a:solidFill>
        </p:spPr>
        <p:txBody>
          <a:bodyPr/>
          <a:lstStyle/>
          <a:p/>
        </p:txBody>
      </p:sp>
      <p:sp>
        <p:nvSpPr>
          <p:cNvPr id="1216" name="文本框 1215" descr="{&quot;isTemplate&quot;:true,&quot;type&quot;:&quot;text&quot;}"/>
          <p:cNvSpPr txBox="1"/>
          <p:nvPr/>
        </p:nvSpPr>
        <p:spPr>
          <a:xfrm>
            <a:off x="8020050" y="336232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表现提升</a:t>
            </a:r>
            <a:endParaRPr lang="zh-CN" sz="1125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7" name="圆角矩形 1216"/>
          <p:cNvSpPr/>
          <p:nvPr/>
        </p:nvSpPr>
        <p:spPr>
          <a:xfrm>
            <a:off x="8820150" y="3305175"/>
            <a:ext cx="981075" cy="285750"/>
          </a:xfrm>
          <a:prstGeom prst="roundRect">
            <a:avLst>
              <a:gd name="adj" fmla="val 16667"/>
            </a:avLst>
          </a:prstGeom>
          <a:solidFill>
            <a:srgbClr val="8FD3DA">
              <a:alpha val="18000"/>
            </a:srgbClr>
          </a:solidFill>
        </p:spPr>
        <p:txBody>
          <a:bodyPr/>
          <a:lstStyle/>
          <a:p/>
        </p:txBody>
      </p:sp>
      <p:sp>
        <p:nvSpPr>
          <p:cNvPr id="1218" name="文本框 1217" descr="{&quot;isTemplate&quot;:true,&quot;type&quot;:&quot;text&quot;}"/>
          <p:cNvSpPr txBox="1"/>
          <p:nvPr/>
        </p:nvSpPr>
        <p:spPr>
          <a:xfrm>
            <a:off x="8953500" y="3362325"/>
            <a:ext cx="714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应对新情境</a:t>
            </a:r>
            <a:endParaRPr lang="zh-CN" sz="1125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9" name="文本框 1218" descr="{&quot;isTemplate&quot;:true,&quot;type&quot;:&quot;text&quot;}"/>
          <p:cNvSpPr txBox="1"/>
          <p:nvPr/>
        </p:nvSpPr>
        <p:spPr>
          <a:xfrm>
            <a:off x="6953250" y="3724275"/>
            <a:ext cx="45720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8FC3CB"/>
                </a:solidFill>
                <a:latin typeface="微软雅黑" panose="020B0503020204020204" charset="-122"/>
                <a:ea typeface="微软雅黑" panose="020B0503020204020204" charset="-122"/>
              </a:rPr>
              <a:t>可被外部观测到，是「结果」</a:t>
            </a:r>
            <a:endParaRPr lang="zh-CN" sz="1125">
              <a:solidFill>
                <a:srgbClr val="8FC3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0" name="圆角矩形 1219"/>
          <p:cNvSpPr/>
          <p:nvPr/>
        </p:nvSpPr>
        <p:spPr>
          <a:xfrm>
            <a:off x="419100" y="4324350"/>
            <a:ext cx="11353800" cy="2133600"/>
          </a:xfrm>
          <a:prstGeom prst="roundRect">
            <a:avLst>
              <a:gd name="adj" fmla="val 5357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1221" name="文本框 1220" descr="{&quot;isTemplate&quot;:true,&quot;type&quot;:&quot;text&quot;}"/>
          <p:cNvSpPr txBox="1"/>
          <p:nvPr/>
        </p:nvSpPr>
        <p:spPr>
          <a:xfrm>
            <a:off x="647700" y="4457700"/>
            <a:ext cx="11334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持续学习的闭环</a:t>
            </a:r>
            <a:endParaRPr lang="zh-CN" sz="12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2" name="文本框 1221" descr="{&quot;isTemplate&quot;:true,&quot;type&quot;:&quot;text&quot;}"/>
          <p:cNvSpPr txBox="1"/>
          <p:nvPr/>
        </p:nvSpPr>
        <p:spPr>
          <a:xfrm>
            <a:off x="11172825" y="4486275"/>
            <a:ext cx="371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示意图</a:t>
            </a:r>
            <a:endParaRPr lang="zh-CN" sz="9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23" name="图片 12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4695825"/>
            <a:ext cx="10858500" cy="1409700"/>
          </a:xfrm>
          <a:prstGeom prst="rect">
            <a:avLst/>
          </a:prstGeom>
        </p:spPr>
      </p:pic>
      <p:sp>
        <p:nvSpPr>
          <p:cNvPr id="1224" name="文本框 1223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5" name="文本框 1224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05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position: 'relative', background: '#F4F9FA',&#10;    fontFamily: '&quot;Microsoft YaHei&quot;, &quot;PingFang SC&quot;, sans-serif', overflow: 'hidden',&#10;}}&gt;&#10;    &lt;Box style={{ flexDirection: 'row', width: '100%', height: '100%' }}&gt;&#10;&#10;        &lt;Box style={{&#10;            width: 452, height: '100%', position: 'relative', overflow: 'hidden',&#10;            background: 'linear-gradient(160deg, #00505A 0%, #00646E 60%, #007581 100%)',&#10;            flexDirection: 'column', justifyContent: 'center', paddingLeft: 64,&#10;        }}&gt;&#10;            &lt;svg width={452} height={452} viewBox='0 0 452 452' style={{ position: 'absolute', left: 0, bottom: 96 }}&gt;&#10;                &lt;g opacity='0.14' stroke='#9AD4DB' strokeWidth='1.2' fill='none'&gt;&#10;                    &lt;circle cx='236' cy='236' r='68' /&gt;&#10;                    &lt;circle cx='236' cy='236' r='108' /&gt;&#10;                    &lt;circle cx='236' cy='236' r='148' /&gt;&#10;                &lt;/g&gt;&#10;            &lt;/svg&gt;&#10;            &lt;Box style={{ flexDirection: 'column', position: 'relative' }}&gt;&#10;                &lt;Text style={{ fontSize: 168, fontWeight: 'bold', color: '#FFFFFF', lineHeight: 1, letterSpacing: -6 }}&gt;02&lt;/Text&gt;&#10;                &lt;Text style={{ fontSize: 15, color: '#7FCBD4', letterSpacing: 5, fontWeight: 'bold', marginTop: 10 }}&gt;WHAT IT IS&lt;/Text&gt;&#10;            &lt;/Box&gt;&#10;        &lt;/Box&gt;&#10;&#10;        &lt;Box style={{&#10;            flex: 1, height: '100%', padding: '66px 56px 58px 60px',&#10;            flexDirection: 'column', justifyContent: 'space-between',&#10;        }}&gt;&#10;            &lt;Box style={{ flexDirection: 'column' }}&gt;&#10;                &lt;Box style={{ flexDirection: 'row', alignItems: 'center', gap: 14 }}&gt;&#10;                    &lt;Box style={{ width: 44, height: 4, background: '#007581', borderRadius: 2 }} /&gt;&#10;                    &lt;Text style={{ fontSize: 15, color: '#007581', letterSpacing: 3, fontWeight: 'bold' }}&gt;第二部分&lt;/Text&gt;&#10;                &lt;/Box&gt;&#10;                &lt;Text style={{ fontSize: 42, fontWeight: 'bold', color: '#00505A', lineHeight: 1.32, marginTop: 18 }}&gt;&#10;                    是什么：从学习范式&lt;br /&gt;到对齐算法&#10;                &lt;/Text&gt;&#10;                &lt;Box style={{ width: 120, height: 2, background: '#CFE1E4', marginTop: 22 }} /&gt;&#10;            &lt;/Box&gt;&#10;&#10;            &lt;Box style={{ flexDirection: 'column', gap: 16 }}&gt;&#10;                {[&#10;                    { k: '范式', v: '强化学习、监督学习、无监督学习等六条学习路径的适用边界' },&#10;                    { k: '算法', v: 'PPO 用裁剪保证稳定更新，DPO 直接优化人类偏好数据' },&#10;                    { k: '取舍', v: '稳定与简洁之间的权衡，决定了工程实现路径的选择' },&#10;                ].map((it, i) =&gt; (&#10;                    &lt;Box key={i} style={{&#10;                        flexDirection: 'row', alignItems: 'center', gap: 16,&#10;                        padding: '14px 20px', borderRadius: 8,&#10;                        background: i === 2 ? '#EAF3F4' : '#F7FAFB',&#10;                        border: '1px solid #DFEAEC',&#10;                    }}&gt;&#10;                        &lt;Box style={{&#10;                            width: 58, height: 30, background: i === 2 ? '#00505A' : '#007581', borderRadius: 4,&#10;                            justifyContent: 'center', alignItems: 'center',&#10;                        }}&gt;&#10;                            &lt;Text style={{ fontSize: 15, color: '#FFFFFF', fontWeight: 'bold' }}&gt;{it.k}&lt;/Text&gt;&#10;                        &lt;/Box&gt;&#10;                        &lt;Text style={{ fontSize: 18, color: '#3D4E5E', lineHeight: 1.55, flex: 1 }}&gt;{it.v}&lt;/Text&gt;&#10;                    &lt;/Box&gt;&#10;                ))}&#10;            &lt;/Box&gt;&#10;&#10;            &lt;Box style={{&#10;                flexDirection: 'row', alignItems: 'center', gap: 12,&#10;                padding: '15px 20px', borderLeft: '4px solid #007581', background: '#F4F9FA', borderRadius: 8,&#10;            }}&gt;&#10;                &lt;FAIcon name='arrow-right-long' style={{ fill: '#007581', width: 20, height: 20 }} /&gt;&#10;                &lt;Text style={{ fontSize: 17, color: '#00505A', lineHeight: 1.55, flex: 1, fontWeight: 'bold' }}&gt;&#10;                    范式决定「从什么信号学」，算法决定「怎么稳定地学」&#10;                &lt;/Text&gt;&#10;            &lt;/Box&gt;&#10;        &lt;/Box&gt;&#10;&#10;        &lt;Box style={{&#10;            position: 'absolute', left: 508, right: 56, bottom: 26,&#10;            flexDirection: 'row', justifyContent: 'space-between',&#10;        }}&gt;&#10;            &lt;Text style={{ fontSize: 13, color: '#A8B4BE' }}&gt;第九组 · 学习与适应&lt;/Text&gt;&#10;            &lt;Text style={{ fontSize: 14, color: '#007581', fontWeight: 'bold' }}&gt;06 / 33&lt;/Text&gt;&#10;        &lt;/Box&gt;&#10;&#10;        &lt;Box style={{ position: 'absolute', left: 452, top: 0, width: 828, height: 6, background: '#007581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矩形 12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228" name="圆角矩形 1227"/>
          <p:cNvSpPr/>
          <p:nvPr/>
        </p:nvSpPr>
        <p:spPr>
          <a:xfrm>
            <a:off x="4876800" y="6953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229" name="文本框 1228" descr="{&quot;isTemplate&quot;:true,&quot;type&quot;:&quot;text&quot;}"/>
          <p:cNvSpPr txBox="1"/>
          <p:nvPr/>
        </p:nvSpPr>
        <p:spPr>
          <a:xfrm>
            <a:off x="5429250" y="628650"/>
            <a:ext cx="685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lang="zh-CN" sz="1125" b="1" spc="225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0" name="文本框 1229" descr="{&quot;isTemplate&quot;:true,&quot;type&quot;:&quot;text&quot;}"/>
          <p:cNvSpPr txBox="1"/>
          <p:nvPr/>
        </p:nvSpPr>
        <p:spPr>
          <a:xfrm>
            <a:off x="4876800" y="971550"/>
            <a:ext cx="6781800" cy="1276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2000"/>
              </a:lnSpc>
            </a:pPr>
            <a:r>
              <a:rPr lang="zh-CN" sz="31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是什么：从学习范式</a:t>
            </a:r>
            <a:endParaRPr lang="zh-CN" sz="31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lang="zh-CN" sz="31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到对齐算法</a:t>
            </a:r>
            <a:endParaRPr lang="zh-CN" sz="31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1" name="矩形 1230"/>
          <p:cNvSpPr/>
          <p:nvPr/>
        </p:nvSpPr>
        <p:spPr>
          <a:xfrm>
            <a:off x="4876800" y="2457450"/>
            <a:ext cx="1143000" cy="19050"/>
          </a:xfrm>
          <a:prstGeom prst="rect">
            <a:avLst/>
          </a:prstGeom>
          <a:solidFill>
            <a:srgbClr val="CFE1E4"/>
          </a:solidFill>
        </p:spPr>
        <p:txBody>
          <a:bodyPr/>
          <a:lstStyle/>
          <a:p/>
        </p:txBody>
      </p:sp>
      <p:sp>
        <p:nvSpPr>
          <p:cNvPr id="1232" name="圆角矩形 1231"/>
          <p:cNvSpPr/>
          <p:nvPr/>
        </p:nvSpPr>
        <p:spPr>
          <a:xfrm>
            <a:off x="4876800" y="305752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7FAFB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1233" name="圆角矩形 1232"/>
          <p:cNvSpPr/>
          <p:nvPr/>
        </p:nvSpPr>
        <p:spPr>
          <a:xfrm>
            <a:off x="5067300" y="320992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234" name="文本框 1233" descr="{&quot;isTemplate&quot;:true,&quot;type&quot;:&quot;text&quot;}"/>
          <p:cNvSpPr txBox="1"/>
          <p:nvPr/>
        </p:nvSpPr>
        <p:spPr>
          <a:xfrm>
            <a:off x="5200650" y="3267075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范式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5" name="文本框 1234" descr="{&quot;isTemplate&quot;:true,&quot;type&quot;:&quot;text&quot;}"/>
          <p:cNvSpPr txBox="1"/>
          <p:nvPr/>
        </p:nvSpPr>
        <p:spPr>
          <a:xfrm>
            <a:off x="5772150" y="3190875"/>
            <a:ext cx="5695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强化学习、监督学习、无监督学习等六条学习路径的适用边界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6" name="圆角矩形 1235"/>
          <p:cNvSpPr/>
          <p:nvPr/>
        </p:nvSpPr>
        <p:spPr>
          <a:xfrm>
            <a:off x="4876800" y="380047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7FAFB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1237" name="圆角矩形 1236"/>
          <p:cNvSpPr/>
          <p:nvPr/>
        </p:nvSpPr>
        <p:spPr>
          <a:xfrm>
            <a:off x="5067300" y="395287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238" name="文本框 1237" descr="{&quot;isTemplate&quot;:true,&quot;type&quot;:&quot;text&quot;}"/>
          <p:cNvSpPr txBox="1"/>
          <p:nvPr/>
        </p:nvSpPr>
        <p:spPr>
          <a:xfrm>
            <a:off x="5200650" y="4010025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9" name="文本框 1238" descr="{&quot;isTemplate&quot;:true,&quot;type&quot;:&quot;text&quot;}"/>
          <p:cNvSpPr txBox="1"/>
          <p:nvPr/>
        </p:nvSpPr>
        <p:spPr>
          <a:xfrm>
            <a:off x="5772150" y="3933825"/>
            <a:ext cx="5695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PPO </a:t>
            </a: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用裁剪保证稳定更新，</a:t>
            </a:r>
            <a:r>
              <a:rPr lang="en-US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DPO </a:t>
            </a: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直接优化人类偏好数据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0" name="圆角矩形 1239"/>
          <p:cNvSpPr/>
          <p:nvPr/>
        </p:nvSpPr>
        <p:spPr>
          <a:xfrm>
            <a:off x="4876800" y="454342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EAF3F4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1241" name="圆角矩形 1240"/>
          <p:cNvSpPr/>
          <p:nvPr/>
        </p:nvSpPr>
        <p:spPr>
          <a:xfrm>
            <a:off x="5067300" y="469582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1242" name="文本框 1241" descr="{&quot;isTemplate&quot;:true,&quot;type&quot;:&quot;text&quot;}"/>
          <p:cNvSpPr txBox="1"/>
          <p:nvPr/>
        </p:nvSpPr>
        <p:spPr>
          <a:xfrm>
            <a:off x="5200650" y="4752975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取舍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3" name="文本框 1242" descr="{&quot;isTemplate&quot;:true,&quot;type&quot;:&quot;text&quot;}"/>
          <p:cNvSpPr txBox="1"/>
          <p:nvPr/>
        </p:nvSpPr>
        <p:spPr>
          <a:xfrm>
            <a:off x="5772150" y="4676775"/>
            <a:ext cx="5695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稳定与简洁之间的权衡，决定了工程实现路径的选择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4" name="圆角矩形 1243"/>
          <p:cNvSpPr/>
          <p:nvPr/>
        </p:nvSpPr>
        <p:spPr>
          <a:xfrm>
            <a:off x="4914900" y="5715000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245" name="任意多边形 1244"/>
          <p:cNvSpPr/>
          <p:nvPr/>
        </p:nvSpPr>
        <p:spPr>
          <a:xfrm>
            <a:off x="4914900" y="5715000"/>
            <a:ext cx="6781800" cy="590550"/>
          </a:xfrm>
          <a:custGeom>
            <a:avLst/>
            <a:gdLst/>
            <a:ahLst/>
            <a:cxnLst/>
            <a:rect l="0" t="0" r="0" b="0"/>
            <a:pathLst>
              <a:path w="712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1246" name="图片 124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5400" y="5915025"/>
            <a:ext cx="190500" cy="190500"/>
          </a:xfrm>
          <a:prstGeom prst="rect">
            <a:avLst/>
          </a:prstGeom>
        </p:spPr>
      </p:pic>
      <p:sp>
        <p:nvSpPr>
          <p:cNvPr id="1247" name="文本框 1246" descr="{&quot;isTemplate&quot;:true,&quot;type&quot;:&quot;text&quot;}"/>
          <p:cNvSpPr txBox="1"/>
          <p:nvPr/>
        </p:nvSpPr>
        <p:spPr>
          <a:xfrm>
            <a:off x="5410200" y="5857875"/>
            <a:ext cx="6057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范式决定「从什么信号学」，算法决定「怎么稳定地学」</a:t>
            </a:r>
            <a:endParaRPr lang="zh-CN" sz="127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8" name="矩形 1247"/>
          <p:cNvSpPr/>
          <p:nvPr/>
        </p:nvSpPr>
        <p:spPr>
          <a:xfrm>
            <a:off x="0" y="0"/>
            <a:ext cx="4305300" cy="6858000"/>
          </a:xfrm>
          <a:prstGeom prst="rect">
            <a:avLst/>
          </a:prstGeom>
          <a:gradFill>
            <a:gsLst>
              <a:gs pos="0">
                <a:srgbClr val="00505A"/>
              </a:gs>
              <a:gs pos="60000">
                <a:srgbClr val="00646E"/>
              </a:gs>
              <a:gs pos="100000">
                <a:srgbClr val="007581"/>
              </a:gs>
            </a:gsLst>
            <a:lin ang="4200000" scaled="1"/>
          </a:gradFill>
        </p:spPr>
        <p:txBody>
          <a:bodyPr/>
          <a:lstStyle/>
          <a:p/>
        </p:txBody>
      </p:sp>
      <p:pic>
        <p:nvPicPr>
          <p:cNvPr id="1249" name="图片 12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638300"/>
            <a:ext cx="4305300" cy="4305300"/>
          </a:xfrm>
          <a:prstGeom prst="rect">
            <a:avLst/>
          </a:prstGeom>
        </p:spPr>
      </p:pic>
      <p:sp>
        <p:nvSpPr>
          <p:cNvPr id="1250" name="文本框 1249" descr="{&quot;isTemplate&quot;:true,&quot;type&quot;:&quot;text&quot;}"/>
          <p:cNvSpPr txBox="1"/>
          <p:nvPr/>
        </p:nvSpPr>
        <p:spPr>
          <a:xfrm>
            <a:off x="609600" y="2333625"/>
            <a:ext cx="3695700" cy="1924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600" b="1" spc="-4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2600" b="1" spc="-4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1" name="文本框 1250" descr="{&quot;isTemplate&quot;:true,&quot;type&quot;:&quot;text&quot;}"/>
          <p:cNvSpPr txBox="1"/>
          <p:nvPr/>
        </p:nvSpPr>
        <p:spPr>
          <a:xfrm>
            <a:off x="609600" y="4352925"/>
            <a:ext cx="36957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 spc="375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WHAT IT IS</a:t>
            </a:r>
            <a:endParaRPr lang="en-US" sz="1125" b="1" spc="375">
              <a:solidFill>
                <a:srgbClr val="7FCB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2" name="文本框 1251" descr="{&quot;isTemplate&quot;:true,&quot;type&quot;:&quot;text&quot;}"/>
          <p:cNvSpPr txBox="1"/>
          <p:nvPr/>
        </p:nvSpPr>
        <p:spPr>
          <a:xfrm>
            <a:off x="4838700" y="6448425"/>
            <a:ext cx="1095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3" name="文本框 1252" descr="{&quot;isTemplate&quot;:true,&quot;type&quot;:&quot;text&quot;}"/>
          <p:cNvSpPr txBox="1"/>
          <p:nvPr/>
        </p:nvSpPr>
        <p:spPr>
          <a:xfrm>
            <a:off x="11182350" y="644842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06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4" name="矩形 1253"/>
          <p:cNvSpPr/>
          <p:nvPr/>
        </p:nvSpPr>
        <p:spPr>
          <a:xfrm>
            <a:off x="4305300" y="0"/>
            <a:ext cx="78867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六种学习范式全景&lt;/Text&gt;&#10;                &lt;Box style={{ padding: '4px 12px', background: '#E3F0F2', borderRadius: 4 }}&gt;&#10;                    &lt;Text style={{ fontSize: 14, color: '#00646E', fontWeight: 'bold' }}&gt;The Big Picture&lt;/Text&gt;&#10;                &lt;/Box&gt;&#10;            &lt;/Box&gt;&#10;&#10;            &lt;Box style={{ flexDirection: 'column', flex: 1, marginTop: 14, gap: 14 }}&gt;&#10;                &lt;Box style={{ flexDirection: 'row', gap: 14, flex: 1 }}&gt;&#10;                    {[&#10;                        { n: '01', ic: 'trophy', t: '强化学习', en: 'Reinforcement Learning', d: '尝试动作，好结果得奖励、坏结果受惩罚，在变化情境中学到最优行为。', tag: '机器人控制 / 博弈' },&#10;                        { n: '02', ic: 'tags', t: '监督学习', en: 'Supervised Learning', d: '从标注样本中学习输入到期望输出的映射，支撑决策与模式识别。', tag: '邮件分拣 / 趋势预测' },&#10;                        { n: '03', ic: 'sitemap', t: '无监督学习', en: 'Unsupervised Learning', d: '从未标注数据中发现隐含关联与模式，形成对环境的心智地图。', tag: '数据探索 / 聚类洞察' },&#10;                    ].map((c, i) =&gt; (&#10;                        &lt;Box key={i} style={{&#10;                            flex: 1, flexDirection: 'column', padding: '18px 20px 16px',&#10;                            background: i === 0 ? '#F4F9FA' : '#FFFFFF',&#10;                            border: '1px solid #DFEAEC', borderTop: '4px solid #007581', borderRadius: 10,&#10;                        }}&gt;&#10;                            &lt;Box style={{ flexDirection: 'row', justifyContent: 'space-between', alignItems: 'flex-start' }}&gt;&#10;                                &lt;FAIcon name={c.ic} style={{ fill: '#007581', width: 30, height: 30 }} /&gt;&#10;                                &lt;Text style={{ fontSize: 34, fontWeight: 'bold', color: '#D3E4E7', lineHeight: 1 }}&gt;{c.n}&lt;/Text&gt;&#10;                            &lt;/Box&gt;&#10;                            &lt;Text style={{ fontSize: 23, fontWeight: 'bold', color: '#152129', marginTop: 12 }}&gt;{c.t}&lt;/Text&gt;&#10;                            &lt;Text style={{ fontSize: 13, color: '#8FA3AE', letterSpacing: 0.6, marginTop: 4 }}&gt;{c.en}&lt;/Text&gt;&#10;                            &lt;Text style={{ fontSize: 16, color: '#4E6070', lineHeight: 1.62, marginTop: 12, flex: 1 }}&gt;{c.d}&lt;/Text&gt;&#10;                            &lt;Box style={{ flexDirection: 'row', alignItems: 'center', gap: 8, marginTop: 10, paddingTop: 10, borderTop: '1px dashed #DCE7E9' }}&gt;&#10;                                &lt;FAIcon name='circle-dot' style={{ fill: '#39A0AC', width: 11, height: 11 }} /&gt;&#10;                                &lt;Text style={{ fontSize: 14, color: '#00646E' }}&gt;适用：{c.tag}&lt;/Text&gt;&#10;                            &lt;/Box&gt;&#10;                        &lt;/Box&gt;&#10;                    ))}&#10;                &lt;/Box&gt;&#10;&#10;                &lt;Box style={{ flexDirection: 'row', gap: 14, flex: 1 }}&gt;&#10;                    {[&#10;                        { n: '04', ic: 'bolt', t: 'LLM 少样本 / 零样本', en: 'Few-Shot / Zero-Shot', d: '借助大模型，仅用极少示例或清晰指令即可快速适应新任务与新情境。', tag: '新指令 / 新场景即时应答' },&#10;                        { n: '05', ic: 'clock', t: '在线学习', en: 'Online Learning', d: '持续用新数据更新知识，是实时反应与动态环境中持续适应的关键。', tag: '连续数据流处理' },&#10;                        { n: '06', ic: 'brain', t: '基于记忆的学习', en: 'Memory-Based Learning', d: '回忆过去经验，在相似情境下调整当前行为，增强情境感知与决策。', tag: '具备记忆召回能力' },&#10;                    ].map((c, i) =&gt; (&#10;                        &lt;Box key={i} style={{&#10;                            flex: 1, flexDirection: 'column', padding: '18px 20px 16px',&#10;                            background: '#F4F9FA',&#10;                            border: '1px solid #DFEAEC', borderTop: '4px solid #39A0AC', borderRadius: 10,&#10;                        }}&gt;&#10;                            &lt;Box style={{ flexDirection: 'row', justifyContent: 'space-between', alignItems: 'flex-start' }}&gt;&#10;                                &lt;FAIcon name={c.ic} style={{ fill: '#39A0AC', width: 30, height: 30 }} /&gt;&#10;                                &lt;Text style={{ fontSize: 34, fontWeight: 'bold', color: '#D3E4E7', lineHeight: 1 }}&gt;{c.n}&lt;/Text&gt;&#10;                            &lt;/Box&gt;&#10;                            &lt;Text style={{ fontSize: 23, fontWeight: 'bold', color: '#152129', marginTop: 12 }}&gt;{c.t}&lt;/Text&gt;&#10;                            &lt;Text style={{ fontSize: 13, color: '#8FA3AE', letterSpacing: 0.6, marginTop: 4 }}&gt;{c.en}&lt;/Text&gt;&#10;                            &lt;Text style={{ fontSize: 16, color: '#4E6070', lineHeight: 1.62, marginTop: 12, flex: 1 }}&gt;{c.d}&lt;/Text&gt;&#10;                            &lt;Box style={{ flexDirection: 'row', alignItems: 'center', gap: 8, marginTop: 10, paddingTop: 10, borderTop: '1px dashed #DCE7E9' }}&gt;&#10;                                &lt;FAIcon name='circle-dot' style={{ fill: '#39A0AC', width: 11, height: 11 }} /&gt;&#10;                                &lt;Text style={{ fontSize: 14, color: '#00646E' }}&gt;适用：{c.tag}&lt;/Text&gt;&#10;                            &lt;/Box&gt;&#10;                        &lt;/Box&gt;&#10;                    ))}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07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矩形 12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257" name="矩形 125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258" name="文本框 1257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9" name="文本框 1258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0" name="圆角矩形 1259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261" name="文本框 1260" descr="{&quot;isTemplate&quot;:true,&quot;type&quot;:&quot;text&quot;}"/>
          <p:cNvSpPr txBox="1"/>
          <p:nvPr/>
        </p:nvSpPr>
        <p:spPr>
          <a:xfrm>
            <a:off x="600075" y="561975"/>
            <a:ext cx="25908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六种学习范式全景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2" name="圆角矩形 1261"/>
          <p:cNvSpPr/>
          <p:nvPr/>
        </p:nvSpPr>
        <p:spPr>
          <a:xfrm>
            <a:off x="3324225" y="638175"/>
            <a:ext cx="1247775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1263" name="文本框 1262" descr="{&quot;isTemplate&quot;:true,&quot;type&quot;:&quot;text&quot;}"/>
          <p:cNvSpPr txBox="1"/>
          <p:nvPr/>
        </p:nvSpPr>
        <p:spPr>
          <a:xfrm>
            <a:off x="3438525" y="676275"/>
            <a:ext cx="1019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The Big Picture</a:t>
            </a:r>
            <a:endParaRPr lang="en-US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4" name="圆角矩形 1263"/>
          <p:cNvSpPr/>
          <p:nvPr/>
        </p:nvSpPr>
        <p:spPr>
          <a:xfrm>
            <a:off x="419100" y="1143000"/>
            <a:ext cx="3695700" cy="2571750"/>
          </a:xfrm>
          <a:prstGeom prst="roundRect">
            <a:avLst>
              <a:gd name="adj" fmla="val 3704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265" name="任意多边形 1264"/>
          <p:cNvSpPr/>
          <p:nvPr/>
        </p:nvSpPr>
        <p:spPr>
          <a:xfrm>
            <a:off x="419100" y="1143000"/>
            <a:ext cx="3695700" cy="2571750"/>
          </a:xfrm>
          <a:custGeom>
            <a:avLst/>
            <a:gdLst/>
            <a:ahLst/>
            <a:cxnLst/>
            <a:rect l="0" t="0" r="0" b="0"/>
            <a:pathLst>
              <a:path w="388" h="270">
                <a:moveTo>
                  <a:pt x="378" y="0"/>
                </a:moveTo>
                <a:cubicBezTo>
                  <a:pt x="383" y="0"/>
                  <a:pt x="387" y="4"/>
                  <a:pt x="388" y="8"/>
                </a:cubicBezTo>
                <a:cubicBezTo>
                  <a:pt x="387" y="6"/>
                  <a:pt x="385" y="4"/>
                  <a:pt x="38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1266" name="图片 126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314450"/>
            <a:ext cx="285750" cy="285750"/>
          </a:xfrm>
          <a:prstGeom prst="rect">
            <a:avLst/>
          </a:prstGeom>
        </p:spPr>
      </p:pic>
      <p:sp>
        <p:nvSpPr>
          <p:cNvPr id="1267" name="文本框 1266" descr="{&quot;isTemplate&quot;:true,&quot;type&quot;:&quot;text&quot;}"/>
          <p:cNvSpPr txBox="1"/>
          <p:nvPr/>
        </p:nvSpPr>
        <p:spPr>
          <a:xfrm>
            <a:off x="3524250" y="131445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3E4E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550" b="1">
              <a:solidFill>
                <a:srgbClr val="D3E4E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8" name="文本框 1267" descr="{&quot;isTemplate&quot;:true,&quot;type&quot;:&quot;text&quot;}"/>
          <p:cNvSpPr txBox="1"/>
          <p:nvPr/>
        </p:nvSpPr>
        <p:spPr>
          <a:xfrm>
            <a:off x="609600" y="1819275"/>
            <a:ext cx="33147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强化学习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9" name="文本框 1268" descr="{&quot;isTemplate&quot;:true,&quot;type&quot;:&quot;text&quot;}"/>
          <p:cNvSpPr txBox="1"/>
          <p:nvPr/>
        </p:nvSpPr>
        <p:spPr>
          <a:xfrm>
            <a:off x="609600" y="2124075"/>
            <a:ext cx="3314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Reinforcement Learning</a:t>
            </a:r>
            <a:endParaRPr lang="en-US" sz="975" spc="4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0" name="文本框 1269" descr="{&quot;isTemplate&quot;:true,&quot;type&quot;:&quot;text&quot;}"/>
          <p:cNvSpPr txBox="1"/>
          <p:nvPr/>
        </p:nvSpPr>
        <p:spPr>
          <a:xfrm>
            <a:off x="609600" y="2390775"/>
            <a:ext cx="33147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尝试动作，好结果得奖励、坏结果受惩罚，在变化情境中学到最优行为。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1" name="任意多边形 1270"/>
          <p:cNvSpPr/>
          <p:nvPr/>
        </p:nvSpPr>
        <p:spPr>
          <a:xfrm>
            <a:off x="609600" y="3257550"/>
            <a:ext cx="3314700" cy="276225"/>
          </a:xfrm>
          <a:custGeom>
            <a:avLst/>
            <a:gdLst/>
            <a:ahLst/>
            <a:cxnLst/>
            <a:rect l="0" t="0" r="0" b="0"/>
            <a:pathLst>
              <a:path w="348" h="29">
                <a:moveTo>
                  <a:pt x="0" y="0"/>
                </a:moveTo>
                <a:lnTo>
                  <a:pt x="348" y="0"/>
                </a:lnTo>
                <a:lnTo>
                  <a:pt x="348" y="1"/>
                </a:lnTo>
                <a:lnTo>
                  <a:pt x="0" y="1"/>
                </a:lnTo>
                <a:close/>
              </a:path>
            </a:pathLst>
          </a:custGeom>
          <a:solidFill>
            <a:srgbClr val="DCE7E9"/>
          </a:solidFill>
        </p:spPr>
        <p:txBody>
          <a:bodyPr/>
          <a:lstStyle/>
          <a:p/>
        </p:txBody>
      </p:sp>
      <p:pic>
        <p:nvPicPr>
          <p:cNvPr id="1272" name="图片 127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3390900"/>
            <a:ext cx="104775" cy="104775"/>
          </a:xfrm>
          <a:prstGeom prst="rect">
            <a:avLst/>
          </a:prstGeom>
        </p:spPr>
      </p:pic>
      <p:sp>
        <p:nvSpPr>
          <p:cNvPr id="1273" name="文本框 1272" descr="{&quot;isTemplate&quot;:true,&quot;type&quot;:&quot;text&quot;}"/>
          <p:cNvSpPr txBox="1"/>
          <p:nvPr/>
        </p:nvSpPr>
        <p:spPr>
          <a:xfrm>
            <a:off x="790575" y="3362325"/>
            <a:ext cx="1476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适用：机器人控制</a:t>
            </a:r>
            <a:r>
              <a:rPr lang="en-US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博弈</a:t>
            </a:r>
            <a:endParaRPr lang="zh-CN" sz="105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4" name="圆角矩形 1273"/>
          <p:cNvSpPr/>
          <p:nvPr/>
        </p:nvSpPr>
        <p:spPr>
          <a:xfrm>
            <a:off x="4248150" y="1143000"/>
            <a:ext cx="369570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275" name="任意多边形 1274"/>
          <p:cNvSpPr/>
          <p:nvPr/>
        </p:nvSpPr>
        <p:spPr>
          <a:xfrm>
            <a:off x="4248150" y="1143000"/>
            <a:ext cx="3695700" cy="2571750"/>
          </a:xfrm>
          <a:custGeom>
            <a:avLst/>
            <a:gdLst/>
            <a:ahLst/>
            <a:cxnLst/>
            <a:rect l="0" t="0" r="0" b="0"/>
            <a:pathLst>
              <a:path w="388" h="270">
                <a:moveTo>
                  <a:pt x="378" y="0"/>
                </a:moveTo>
                <a:cubicBezTo>
                  <a:pt x="383" y="0"/>
                  <a:pt x="387" y="4"/>
                  <a:pt x="388" y="8"/>
                </a:cubicBezTo>
                <a:cubicBezTo>
                  <a:pt x="387" y="6"/>
                  <a:pt x="385" y="4"/>
                  <a:pt x="38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1276" name="图片 127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8650" y="1314450"/>
            <a:ext cx="285750" cy="285750"/>
          </a:xfrm>
          <a:prstGeom prst="rect">
            <a:avLst/>
          </a:prstGeom>
        </p:spPr>
      </p:pic>
      <p:sp>
        <p:nvSpPr>
          <p:cNvPr id="1277" name="文本框 1276" descr="{&quot;isTemplate&quot;:true,&quot;type&quot;:&quot;text&quot;}"/>
          <p:cNvSpPr txBox="1"/>
          <p:nvPr/>
        </p:nvSpPr>
        <p:spPr>
          <a:xfrm>
            <a:off x="7353300" y="131445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3E4E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550" b="1">
              <a:solidFill>
                <a:srgbClr val="D3E4E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8" name="文本框 1277" descr="{&quot;isTemplate&quot;:true,&quot;type&quot;:&quot;text&quot;}"/>
          <p:cNvSpPr txBox="1"/>
          <p:nvPr/>
        </p:nvSpPr>
        <p:spPr>
          <a:xfrm>
            <a:off x="4438650" y="1819275"/>
            <a:ext cx="33147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监督学习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9" name="文本框 1278" descr="{&quot;isTemplate&quot;:true,&quot;type&quot;:&quot;text&quot;}"/>
          <p:cNvSpPr txBox="1"/>
          <p:nvPr/>
        </p:nvSpPr>
        <p:spPr>
          <a:xfrm>
            <a:off x="4438650" y="2124075"/>
            <a:ext cx="3314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Supervised Learning</a:t>
            </a:r>
            <a:endParaRPr lang="en-US" sz="975" spc="4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0" name="文本框 1279" descr="{&quot;isTemplate&quot;:true,&quot;type&quot;:&quot;text&quot;}"/>
          <p:cNvSpPr txBox="1"/>
          <p:nvPr/>
        </p:nvSpPr>
        <p:spPr>
          <a:xfrm>
            <a:off x="4438650" y="2390775"/>
            <a:ext cx="33147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从标注样本中学习输入到期望输出的映射，支撑决策与模式识别。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1" name="任意多边形 1280"/>
          <p:cNvSpPr/>
          <p:nvPr/>
        </p:nvSpPr>
        <p:spPr>
          <a:xfrm>
            <a:off x="4438650" y="3257550"/>
            <a:ext cx="3314700" cy="276225"/>
          </a:xfrm>
          <a:custGeom>
            <a:avLst/>
            <a:gdLst/>
            <a:ahLst/>
            <a:cxnLst/>
            <a:rect l="0" t="0" r="0" b="0"/>
            <a:pathLst>
              <a:path w="348" h="29">
                <a:moveTo>
                  <a:pt x="0" y="0"/>
                </a:moveTo>
                <a:lnTo>
                  <a:pt x="348" y="0"/>
                </a:lnTo>
                <a:lnTo>
                  <a:pt x="348" y="1"/>
                </a:lnTo>
                <a:lnTo>
                  <a:pt x="0" y="1"/>
                </a:lnTo>
                <a:close/>
              </a:path>
            </a:pathLst>
          </a:custGeom>
          <a:solidFill>
            <a:srgbClr val="DCE7E9"/>
          </a:solidFill>
        </p:spPr>
        <p:txBody>
          <a:bodyPr/>
          <a:lstStyle/>
          <a:p/>
        </p:txBody>
      </p:sp>
      <p:pic>
        <p:nvPicPr>
          <p:cNvPr id="1282" name="图片 128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8650" y="3390900"/>
            <a:ext cx="104775" cy="104775"/>
          </a:xfrm>
          <a:prstGeom prst="rect">
            <a:avLst/>
          </a:prstGeom>
        </p:spPr>
      </p:pic>
      <p:sp>
        <p:nvSpPr>
          <p:cNvPr id="1283" name="文本框 1282" descr="{&quot;isTemplate&quot;:true,&quot;type&quot;:&quot;text&quot;}"/>
          <p:cNvSpPr txBox="1"/>
          <p:nvPr/>
        </p:nvSpPr>
        <p:spPr>
          <a:xfrm>
            <a:off x="4619625" y="3362325"/>
            <a:ext cx="1609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适用：邮件分拣</a:t>
            </a:r>
            <a:r>
              <a:rPr lang="en-US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趋势预测</a:t>
            </a:r>
            <a:endParaRPr lang="zh-CN" sz="105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4" name="圆角矩形 1283"/>
          <p:cNvSpPr/>
          <p:nvPr/>
        </p:nvSpPr>
        <p:spPr>
          <a:xfrm>
            <a:off x="8077200" y="1143000"/>
            <a:ext cx="369570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285" name="任意多边形 1284"/>
          <p:cNvSpPr/>
          <p:nvPr/>
        </p:nvSpPr>
        <p:spPr>
          <a:xfrm>
            <a:off x="8077200" y="1143000"/>
            <a:ext cx="3695700" cy="2571750"/>
          </a:xfrm>
          <a:custGeom>
            <a:avLst/>
            <a:gdLst/>
            <a:ahLst/>
            <a:cxnLst/>
            <a:rect l="0" t="0" r="0" b="0"/>
            <a:pathLst>
              <a:path w="388" h="270">
                <a:moveTo>
                  <a:pt x="378" y="0"/>
                </a:moveTo>
                <a:cubicBezTo>
                  <a:pt x="383" y="0"/>
                  <a:pt x="387" y="4"/>
                  <a:pt x="388" y="8"/>
                </a:cubicBezTo>
                <a:cubicBezTo>
                  <a:pt x="387" y="6"/>
                  <a:pt x="385" y="4"/>
                  <a:pt x="38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1286" name="图片 128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67700" y="1314450"/>
            <a:ext cx="285750" cy="285750"/>
          </a:xfrm>
          <a:prstGeom prst="rect">
            <a:avLst/>
          </a:prstGeom>
        </p:spPr>
      </p:pic>
      <p:sp>
        <p:nvSpPr>
          <p:cNvPr id="1287" name="文本框 1286" descr="{&quot;isTemplate&quot;:true,&quot;type&quot;:&quot;text&quot;}"/>
          <p:cNvSpPr txBox="1"/>
          <p:nvPr/>
        </p:nvSpPr>
        <p:spPr>
          <a:xfrm>
            <a:off x="11182350" y="131445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3E4E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550" b="1">
              <a:solidFill>
                <a:srgbClr val="D3E4E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8" name="文本框 1287" descr="{&quot;isTemplate&quot;:true,&quot;type&quot;:&quot;text&quot;}"/>
          <p:cNvSpPr txBox="1"/>
          <p:nvPr/>
        </p:nvSpPr>
        <p:spPr>
          <a:xfrm>
            <a:off x="8267700" y="1819275"/>
            <a:ext cx="33147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无监督学习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9" name="文本框 1288" descr="{&quot;isTemplate&quot;:true,&quot;type&quot;:&quot;text&quot;}"/>
          <p:cNvSpPr txBox="1"/>
          <p:nvPr/>
        </p:nvSpPr>
        <p:spPr>
          <a:xfrm>
            <a:off x="8267700" y="2124075"/>
            <a:ext cx="3314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Unsupervised Learning</a:t>
            </a:r>
            <a:endParaRPr lang="en-US" sz="975" spc="4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0" name="文本框 1289" descr="{&quot;isTemplate&quot;:true,&quot;type&quot;:&quot;text&quot;}"/>
          <p:cNvSpPr txBox="1"/>
          <p:nvPr/>
        </p:nvSpPr>
        <p:spPr>
          <a:xfrm>
            <a:off x="8267700" y="2390775"/>
            <a:ext cx="33147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从未标注数据中发现隐含关联与模式，形成对环境的心智地图。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1" name="任意多边形 1290"/>
          <p:cNvSpPr/>
          <p:nvPr/>
        </p:nvSpPr>
        <p:spPr>
          <a:xfrm>
            <a:off x="8267700" y="3257550"/>
            <a:ext cx="3314700" cy="276225"/>
          </a:xfrm>
          <a:custGeom>
            <a:avLst/>
            <a:gdLst/>
            <a:ahLst/>
            <a:cxnLst/>
            <a:rect l="0" t="0" r="0" b="0"/>
            <a:pathLst>
              <a:path w="348" h="29">
                <a:moveTo>
                  <a:pt x="0" y="0"/>
                </a:moveTo>
                <a:lnTo>
                  <a:pt x="348" y="0"/>
                </a:lnTo>
                <a:lnTo>
                  <a:pt x="348" y="1"/>
                </a:lnTo>
                <a:lnTo>
                  <a:pt x="0" y="1"/>
                </a:lnTo>
                <a:close/>
              </a:path>
            </a:pathLst>
          </a:custGeom>
          <a:solidFill>
            <a:srgbClr val="DCE7E9"/>
          </a:solidFill>
        </p:spPr>
        <p:txBody>
          <a:bodyPr/>
          <a:lstStyle/>
          <a:p/>
        </p:txBody>
      </p:sp>
      <p:pic>
        <p:nvPicPr>
          <p:cNvPr id="1292" name="图片 129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7700" y="3390900"/>
            <a:ext cx="104775" cy="104775"/>
          </a:xfrm>
          <a:prstGeom prst="rect">
            <a:avLst/>
          </a:prstGeom>
        </p:spPr>
      </p:pic>
      <p:sp>
        <p:nvSpPr>
          <p:cNvPr id="1293" name="文本框 1292" descr="{&quot;isTemplate&quot;:true,&quot;type&quot;:&quot;text&quot;}"/>
          <p:cNvSpPr txBox="1"/>
          <p:nvPr/>
        </p:nvSpPr>
        <p:spPr>
          <a:xfrm>
            <a:off x="8448675" y="3362325"/>
            <a:ext cx="1609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适用：数据探索</a:t>
            </a:r>
            <a:r>
              <a:rPr lang="en-US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聚类洞察</a:t>
            </a:r>
            <a:endParaRPr lang="zh-CN" sz="105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4" name="圆角矩形 1293"/>
          <p:cNvSpPr/>
          <p:nvPr/>
        </p:nvSpPr>
        <p:spPr>
          <a:xfrm>
            <a:off x="419100" y="3848100"/>
            <a:ext cx="3695700" cy="2571750"/>
          </a:xfrm>
          <a:prstGeom prst="roundRect">
            <a:avLst>
              <a:gd name="adj" fmla="val 3704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295" name="任意多边形 1294"/>
          <p:cNvSpPr/>
          <p:nvPr/>
        </p:nvSpPr>
        <p:spPr>
          <a:xfrm>
            <a:off x="419100" y="3848100"/>
            <a:ext cx="3695700" cy="2571750"/>
          </a:xfrm>
          <a:custGeom>
            <a:avLst/>
            <a:gdLst/>
            <a:ahLst/>
            <a:cxnLst/>
            <a:rect l="0" t="0" r="0" b="0"/>
            <a:pathLst>
              <a:path w="388" h="270">
                <a:moveTo>
                  <a:pt x="378" y="0"/>
                </a:moveTo>
                <a:cubicBezTo>
                  <a:pt x="383" y="0"/>
                  <a:pt x="387" y="4"/>
                  <a:pt x="388" y="8"/>
                </a:cubicBezTo>
                <a:cubicBezTo>
                  <a:pt x="387" y="6"/>
                  <a:pt x="385" y="4"/>
                  <a:pt x="38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39A0AC"/>
          </a:solidFill>
        </p:spPr>
        <p:txBody>
          <a:bodyPr/>
          <a:lstStyle/>
          <a:p/>
        </p:txBody>
      </p:sp>
      <p:pic>
        <p:nvPicPr>
          <p:cNvPr id="1296" name="图片 129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4019550"/>
            <a:ext cx="285750" cy="285750"/>
          </a:xfrm>
          <a:prstGeom prst="rect">
            <a:avLst/>
          </a:prstGeom>
        </p:spPr>
      </p:pic>
      <p:sp>
        <p:nvSpPr>
          <p:cNvPr id="1297" name="文本框 1296" descr="{&quot;isTemplate&quot;:true,&quot;type&quot;:&quot;text&quot;}"/>
          <p:cNvSpPr txBox="1"/>
          <p:nvPr/>
        </p:nvSpPr>
        <p:spPr>
          <a:xfrm>
            <a:off x="3524250" y="401955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3E4E7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550" b="1">
              <a:solidFill>
                <a:srgbClr val="D3E4E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8" name="文本框 1297" descr="{&quot;isTemplate&quot;:true,&quot;type&quot;:&quot;text&quot;}"/>
          <p:cNvSpPr txBox="1"/>
          <p:nvPr/>
        </p:nvSpPr>
        <p:spPr>
          <a:xfrm>
            <a:off x="609600" y="4524375"/>
            <a:ext cx="33147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少样本</a:t>
            </a:r>
            <a:r>
              <a:rPr lang="en-US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零样本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9" name="文本框 1298" descr="{&quot;isTemplate&quot;:true,&quot;type&quot;:&quot;text&quot;}"/>
          <p:cNvSpPr txBox="1"/>
          <p:nvPr/>
        </p:nvSpPr>
        <p:spPr>
          <a:xfrm>
            <a:off x="609600" y="4829175"/>
            <a:ext cx="3314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Few-Shot / Zero-Shot</a:t>
            </a:r>
            <a:endParaRPr lang="en-US" sz="975" spc="4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0" name="文本框 1299" descr="{&quot;isTemplate&quot;:true,&quot;type&quot;:&quot;text&quot;}"/>
          <p:cNvSpPr txBox="1"/>
          <p:nvPr/>
        </p:nvSpPr>
        <p:spPr>
          <a:xfrm>
            <a:off x="609600" y="5095875"/>
            <a:ext cx="33147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借助大模型，仅用极少示例或清晰指令即可快速适应新任务与新情境。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1" name="任意多边形 1300"/>
          <p:cNvSpPr/>
          <p:nvPr/>
        </p:nvSpPr>
        <p:spPr>
          <a:xfrm>
            <a:off x="609600" y="5962650"/>
            <a:ext cx="3314700" cy="276225"/>
          </a:xfrm>
          <a:custGeom>
            <a:avLst/>
            <a:gdLst/>
            <a:ahLst/>
            <a:cxnLst/>
            <a:rect l="0" t="0" r="0" b="0"/>
            <a:pathLst>
              <a:path w="348" h="29">
                <a:moveTo>
                  <a:pt x="0" y="0"/>
                </a:moveTo>
                <a:lnTo>
                  <a:pt x="348" y="0"/>
                </a:lnTo>
                <a:lnTo>
                  <a:pt x="348" y="1"/>
                </a:lnTo>
                <a:lnTo>
                  <a:pt x="0" y="1"/>
                </a:lnTo>
                <a:close/>
              </a:path>
            </a:pathLst>
          </a:custGeom>
          <a:solidFill>
            <a:srgbClr val="DCE7E9"/>
          </a:solidFill>
        </p:spPr>
        <p:txBody>
          <a:bodyPr/>
          <a:lstStyle/>
          <a:p/>
        </p:txBody>
      </p:sp>
      <p:pic>
        <p:nvPicPr>
          <p:cNvPr id="1302" name="图片 13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6096000"/>
            <a:ext cx="104775" cy="104775"/>
          </a:xfrm>
          <a:prstGeom prst="rect">
            <a:avLst/>
          </a:prstGeom>
        </p:spPr>
      </p:pic>
      <p:sp>
        <p:nvSpPr>
          <p:cNvPr id="1303" name="文本框 1302" descr="{&quot;isTemplate&quot;:true,&quot;type&quot;:&quot;text&quot;}"/>
          <p:cNvSpPr txBox="1"/>
          <p:nvPr/>
        </p:nvSpPr>
        <p:spPr>
          <a:xfrm>
            <a:off x="790575" y="6067425"/>
            <a:ext cx="1876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适用：新指令</a:t>
            </a:r>
            <a:r>
              <a:rPr lang="en-US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新场景即时应答</a:t>
            </a:r>
            <a:endParaRPr lang="zh-CN" sz="105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4" name="圆角矩形 1303"/>
          <p:cNvSpPr/>
          <p:nvPr/>
        </p:nvSpPr>
        <p:spPr>
          <a:xfrm>
            <a:off x="4248150" y="3848100"/>
            <a:ext cx="3695700" cy="2571750"/>
          </a:xfrm>
          <a:prstGeom prst="roundRect">
            <a:avLst>
              <a:gd name="adj" fmla="val 3704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305" name="任意多边形 1304"/>
          <p:cNvSpPr/>
          <p:nvPr/>
        </p:nvSpPr>
        <p:spPr>
          <a:xfrm>
            <a:off x="4248150" y="3848100"/>
            <a:ext cx="3695700" cy="2571750"/>
          </a:xfrm>
          <a:custGeom>
            <a:avLst/>
            <a:gdLst/>
            <a:ahLst/>
            <a:cxnLst/>
            <a:rect l="0" t="0" r="0" b="0"/>
            <a:pathLst>
              <a:path w="388" h="270">
                <a:moveTo>
                  <a:pt x="378" y="0"/>
                </a:moveTo>
                <a:cubicBezTo>
                  <a:pt x="383" y="0"/>
                  <a:pt x="387" y="4"/>
                  <a:pt x="388" y="8"/>
                </a:cubicBezTo>
                <a:cubicBezTo>
                  <a:pt x="387" y="6"/>
                  <a:pt x="385" y="4"/>
                  <a:pt x="38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39A0AC"/>
          </a:solidFill>
        </p:spPr>
        <p:txBody>
          <a:bodyPr/>
          <a:lstStyle/>
          <a:p/>
        </p:txBody>
      </p:sp>
      <p:pic>
        <p:nvPicPr>
          <p:cNvPr id="1306" name="图片 130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38650" y="4019550"/>
            <a:ext cx="285750" cy="285750"/>
          </a:xfrm>
          <a:prstGeom prst="rect">
            <a:avLst/>
          </a:prstGeom>
        </p:spPr>
      </p:pic>
      <p:sp>
        <p:nvSpPr>
          <p:cNvPr id="1307" name="文本框 1306" descr="{&quot;isTemplate&quot;:true,&quot;type&quot;:&quot;text&quot;}"/>
          <p:cNvSpPr txBox="1"/>
          <p:nvPr/>
        </p:nvSpPr>
        <p:spPr>
          <a:xfrm>
            <a:off x="7353300" y="401955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3E4E7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2550" b="1">
              <a:solidFill>
                <a:srgbClr val="D3E4E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8" name="文本框 1307" descr="{&quot;isTemplate&quot;:true,&quot;type&quot;:&quot;text&quot;}"/>
          <p:cNvSpPr txBox="1"/>
          <p:nvPr/>
        </p:nvSpPr>
        <p:spPr>
          <a:xfrm>
            <a:off x="4438650" y="4524375"/>
            <a:ext cx="33147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在线学习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9" name="文本框 1308" descr="{&quot;isTemplate&quot;:true,&quot;type&quot;:&quot;text&quot;}"/>
          <p:cNvSpPr txBox="1"/>
          <p:nvPr/>
        </p:nvSpPr>
        <p:spPr>
          <a:xfrm>
            <a:off x="4438650" y="4829175"/>
            <a:ext cx="3314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Online Learning</a:t>
            </a:r>
            <a:endParaRPr lang="en-US" sz="975" spc="4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0" name="文本框 1309" descr="{&quot;isTemplate&quot;:true,&quot;type&quot;:&quot;text&quot;}"/>
          <p:cNvSpPr txBox="1"/>
          <p:nvPr/>
        </p:nvSpPr>
        <p:spPr>
          <a:xfrm>
            <a:off x="4438650" y="5095875"/>
            <a:ext cx="33147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持续用新数据更新知识，是实时反应与动态环境中持续适应的关键。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1" name="任意多边形 1310"/>
          <p:cNvSpPr/>
          <p:nvPr/>
        </p:nvSpPr>
        <p:spPr>
          <a:xfrm>
            <a:off x="4438650" y="5962650"/>
            <a:ext cx="3314700" cy="276225"/>
          </a:xfrm>
          <a:custGeom>
            <a:avLst/>
            <a:gdLst/>
            <a:ahLst/>
            <a:cxnLst/>
            <a:rect l="0" t="0" r="0" b="0"/>
            <a:pathLst>
              <a:path w="348" h="29">
                <a:moveTo>
                  <a:pt x="0" y="0"/>
                </a:moveTo>
                <a:lnTo>
                  <a:pt x="348" y="0"/>
                </a:lnTo>
                <a:lnTo>
                  <a:pt x="348" y="1"/>
                </a:lnTo>
                <a:lnTo>
                  <a:pt x="0" y="1"/>
                </a:lnTo>
                <a:close/>
              </a:path>
            </a:pathLst>
          </a:custGeom>
          <a:solidFill>
            <a:srgbClr val="DCE7E9"/>
          </a:solidFill>
        </p:spPr>
        <p:txBody>
          <a:bodyPr/>
          <a:lstStyle/>
          <a:p/>
        </p:txBody>
      </p:sp>
      <p:pic>
        <p:nvPicPr>
          <p:cNvPr id="1312" name="图片 13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8650" y="6096000"/>
            <a:ext cx="104775" cy="104775"/>
          </a:xfrm>
          <a:prstGeom prst="rect">
            <a:avLst/>
          </a:prstGeom>
        </p:spPr>
      </p:pic>
      <p:sp>
        <p:nvSpPr>
          <p:cNvPr id="1313" name="文本框 1312" descr="{&quot;isTemplate&quot;:true,&quot;type&quot;:&quot;text&quot;}"/>
          <p:cNvSpPr txBox="1"/>
          <p:nvPr/>
        </p:nvSpPr>
        <p:spPr>
          <a:xfrm>
            <a:off x="4619625" y="6067425"/>
            <a:ext cx="1333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适用：连续数据流处理</a:t>
            </a:r>
            <a:endParaRPr lang="zh-CN" sz="105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4" name="圆角矩形 1313"/>
          <p:cNvSpPr/>
          <p:nvPr/>
        </p:nvSpPr>
        <p:spPr>
          <a:xfrm>
            <a:off x="8077200" y="3848100"/>
            <a:ext cx="3695700" cy="2571750"/>
          </a:xfrm>
          <a:prstGeom prst="roundRect">
            <a:avLst>
              <a:gd name="adj" fmla="val 3704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315" name="任意多边形 1314"/>
          <p:cNvSpPr/>
          <p:nvPr/>
        </p:nvSpPr>
        <p:spPr>
          <a:xfrm>
            <a:off x="8077200" y="3848100"/>
            <a:ext cx="3695700" cy="2571750"/>
          </a:xfrm>
          <a:custGeom>
            <a:avLst/>
            <a:gdLst/>
            <a:ahLst/>
            <a:cxnLst/>
            <a:rect l="0" t="0" r="0" b="0"/>
            <a:pathLst>
              <a:path w="388" h="270">
                <a:moveTo>
                  <a:pt x="378" y="0"/>
                </a:moveTo>
                <a:cubicBezTo>
                  <a:pt x="383" y="0"/>
                  <a:pt x="387" y="4"/>
                  <a:pt x="388" y="8"/>
                </a:cubicBezTo>
                <a:cubicBezTo>
                  <a:pt x="387" y="6"/>
                  <a:pt x="385" y="4"/>
                  <a:pt x="38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39A0AC"/>
          </a:solidFill>
        </p:spPr>
        <p:txBody>
          <a:bodyPr/>
          <a:lstStyle/>
          <a:p/>
        </p:txBody>
      </p:sp>
      <p:pic>
        <p:nvPicPr>
          <p:cNvPr id="1316" name="图片 1315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67700" y="4019550"/>
            <a:ext cx="285750" cy="285750"/>
          </a:xfrm>
          <a:prstGeom prst="rect">
            <a:avLst/>
          </a:prstGeom>
        </p:spPr>
      </p:pic>
      <p:sp>
        <p:nvSpPr>
          <p:cNvPr id="1317" name="文本框 1316" descr="{&quot;isTemplate&quot;:true,&quot;type&quot;:&quot;text&quot;}"/>
          <p:cNvSpPr txBox="1"/>
          <p:nvPr/>
        </p:nvSpPr>
        <p:spPr>
          <a:xfrm>
            <a:off x="11182350" y="401955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3E4E7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2550" b="1">
              <a:solidFill>
                <a:srgbClr val="D3E4E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8" name="文本框 1317" descr="{&quot;isTemplate&quot;:true,&quot;type&quot;:&quot;text&quot;}"/>
          <p:cNvSpPr txBox="1"/>
          <p:nvPr/>
        </p:nvSpPr>
        <p:spPr>
          <a:xfrm>
            <a:off x="8267700" y="4524375"/>
            <a:ext cx="33147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基于记忆的学习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9" name="文本框 1318" descr="{&quot;isTemplate&quot;:true,&quot;type&quot;:&quot;text&quot;}"/>
          <p:cNvSpPr txBox="1"/>
          <p:nvPr/>
        </p:nvSpPr>
        <p:spPr>
          <a:xfrm>
            <a:off x="8267700" y="4829175"/>
            <a:ext cx="3314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Memory-Based Learning</a:t>
            </a:r>
            <a:endParaRPr lang="en-US" sz="975" spc="4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0" name="文本框 1319" descr="{&quot;isTemplate&quot;:true,&quot;type&quot;:&quot;text&quot;}"/>
          <p:cNvSpPr txBox="1"/>
          <p:nvPr/>
        </p:nvSpPr>
        <p:spPr>
          <a:xfrm>
            <a:off x="8267700" y="5095875"/>
            <a:ext cx="33147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回忆过去经验，在相似情境下调整当前行为，增强情境感知与决策。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1" name="任意多边形 1320"/>
          <p:cNvSpPr/>
          <p:nvPr/>
        </p:nvSpPr>
        <p:spPr>
          <a:xfrm>
            <a:off x="8267700" y="5962650"/>
            <a:ext cx="3314700" cy="276225"/>
          </a:xfrm>
          <a:custGeom>
            <a:avLst/>
            <a:gdLst/>
            <a:ahLst/>
            <a:cxnLst/>
            <a:rect l="0" t="0" r="0" b="0"/>
            <a:pathLst>
              <a:path w="348" h="29">
                <a:moveTo>
                  <a:pt x="0" y="0"/>
                </a:moveTo>
                <a:lnTo>
                  <a:pt x="348" y="0"/>
                </a:lnTo>
                <a:lnTo>
                  <a:pt x="348" y="1"/>
                </a:lnTo>
                <a:lnTo>
                  <a:pt x="0" y="1"/>
                </a:lnTo>
                <a:close/>
              </a:path>
            </a:pathLst>
          </a:custGeom>
          <a:solidFill>
            <a:srgbClr val="DCE7E9"/>
          </a:solidFill>
        </p:spPr>
        <p:txBody>
          <a:bodyPr/>
          <a:lstStyle/>
          <a:p/>
        </p:txBody>
      </p:sp>
      <p:pic>
        <p:nvPicPr>
          <p:cNvPr id="1322" name="图片 132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7700" y="6096000"/>
            <a:ext cx="104775" cy="104775"/>
          </a:xfrm>
          <a:prstGeom prst="rect">
            <a:avLst/>
          </a:prstGeom>
        </p:spPr>
      </p:pic>
      <p:sp>
        <p:nvSpPr>
          <p:cNvPr id="1323" name="文本框 1322" descr="{&quot;isTemplate&quot;:true,&quot;type&quot;:&quot;text&quot;}"/>
          <p:cNvSpPr txBox="1"/>
          <p:nvPr/>
        </p:nvSpPr>
        <p:spPr>
          <a:xfrm>
            <a:off x="8448675" y="6067425"/>
            <a:ext cx="1466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适用：具备记忆召回能力</a:t>
            </a:r>
            <a:endParaRPr lang="zh-CN" sz="105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4" name="文本框 1323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5" name="文本框 1324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07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经典三范式：信号从哪来&lt;/Text&gt;&#10;                &lt;Box style={{ padding: '4px 12px', background: '#F7EED6', borderRadius: 4 }}&gt;&#10;                    &lt;Text style={{ fontSize: 14, color: '#8A6A14', fontWeight: 'bold' }}&gt;范式的区别在信号&lt;/Text&gt;&#10;                &lt;/Box&gt;&#10;            &lt;/Box&gt;&#10;&#10;            &lt;Box style={{ flexDirection: 'row', gap: 22, flex: 1, marginTop: 14 }}&gt;&#10;&#10;                {/* 左：标题栏 */}&#10;                &lt;Box style={{&#10;                    width: 316, flexDirection: 'column', justifyContent: 'space-between',&#10;                    background: '#F4F9FA', border: '1px solid #DFEAEC', borderRadius: 10,&#10;                    padding: '26px 24px', borderLeft: '5px solid #007581',&#10;                }}&gt;&#10;                    &lt;Box style={{ flexDirection: 'column', gap: 12 }}&gt;&#10;                        &lt;Text style={{ fontSize: 13, color: '#007581', letterSpacing: 2.5, fontWeight: 'bold' }}&gt;范式详解 · 上&lt;/Text&gt;&#10;                        &lt;Text style={{ fontSize: 30, fontWeight: 'bold', color: '#00505A', lineHeight: 1.35 }}&gt;&#10;                            奖励、标注&lt;br /&gt;与结构&#10;                        &lt;/Text&gt;&#10;                        &lt;Box style={{ width: 46, height: 3, background: '#007581', marginTop: 2 }} /&gt;&#10;                        &lt;Text style={{ fontSize: 16, color: '#5B6E7E', lineHeight: 1.75, marginTop: 8 }}&gt;&#10;                            三者都遵循同一条逻辑：&lt;br /&gt;&#10;                            把某种「学习信号」转换为&lt;br /&gt;更优的行为策略。&#10;                        &lt;/Text&gt;&#10;                    &lt;/Box&gt;&#10;                    &lt;Box style={{ flexDirection: 'column', gap: 8, marginTop: 16 }}&gt;&#10;                        {['奖励信号 → 试错', '标注信号 → 映射', '结构信号 → 发现'].map((t, i) =&gt; (&#10;                            &lt;Text key={i} style={{ fontSize: 14, color: '#7A8B98' }}&gt;· {t}&lt;/Text&gt;&#10;                        ))}&#10;                    &lt;/Box&gt;&#10;                &lt;/Box&gt;&#10;&#10;                {/* 右：三范式卡 */}&#10;                &lt;Box style={{ flex: 1, flexDirection: 'column', gap: 14 }}&gt;&#10;                    {[&#10;                        {&#10;                            ic: 'trophy', t: '强化学习', en: 'Reinforcement Learning',&#10;                            s: '环境给出的奖励与惩罚', m: '试错探索，逐步逼近最优策略', a: '机器人控制、游戏智能体',&#10;                        },&#10;                        {&#10;                            ic: 'tags', t: '监督学习', en: 'Supervised Learning',&#10;                            s: '人工标注的输入—输出对', m: '拟合映射函数，最小化预测误差', a: '邮件分拣、趋势预测',&#10;                        },&#10;                        {&#10;                            ic: 'sitemap', t: '无监督学习', en: 'Unsupervised Learning',&#10;                            s: '无标签数据自身的结构', m: '发现隐含关联与聚类模式', a: '数据探索、环境心智地图',&#10;                        },&#10;                    ].map((c, i) =&gt; (&#10;                        &lt;Box key={i} style={{&#10;                            flex: 1, flexDirection: 'row', gap: 20, alignItems: 'center',&#10;                            padding: '0 22px', borderRadius: 10,&#10;                            background: i === 1 ? '#F8FBFB' : '#FFFFFF',&#10;                            border: '1px solid #DFEAEC',&#10;                        }}&gt;&#10;                            &lt;Box style={{&#10;                                width: 62, height: 62, borderRadius: 12, background: '#E3F0F2',&#10;                                justifyContent: 'center', alignItems: 'center',&#10;                            }}&gt;&#10;                                &lt;FAIcon name={c.ic} style={{ fill: '#007581', width: 30, height: 30 }} /&gt;&#10;                            &lt;/Box&gt;&#10;                            &lt;Box style={{ width: 176, flexDirection: 'column', gap: 4 }}&gt;&#10;                                &lt;Text style={{ fontSize: 22, fontWeight: 'bold', color: '#152129' }}&gt;{c.t}&lt;/Text&gt;&#10;                                &lt;Text style={{ fontSize: 12, color: '#8FA3AE', letterSpacing: 0.4 }}&gt;{c.en}&lt;/Text&gt;&#10;                            &lt;/Box&gt;&#10;                            &lt;Box style={{ flex: 1, flexDirection: 'row', gap: 18 }}&gt;&#10;                                {[&#10;                                    { k: '信号', v: c.s },&#10;                                    { k: '机制', v: c.m },&#10;                                    { k: '应用', v: c.a },&#10;                                ].map((f, j) =&gt; (&#10;                                    &lt;Box key={j} style={{ flex: 1, flexDirection: 'column', gap: 5 }}&gt;&#10;                                        &lt;Box style={{ flexDirection: 'row', alignItems: 'center', gap: 6 }}&gt;&#10;                                            &lt;Box style={{ width: 4, height: 12, background: '#39A0AC', borderRadius: 2 }} /&gt;&#10;                                            &lt;Text style={{ fontSize: 13, color: '#007581', fontWeight: 'bold' }}&gt;{f.k}&lt;/Text&gt;&#10;                                        &lt;/Box&gt;&#10;                                        &lt;Text style={{ fontSize: 15, color: '#4E6070', lineHeight: 1.5 }}&gt;{f.v}&lt;/Text&gt;&#10;                                    &lt;/Box&gt;&#10;                                ))}&#10;                            &lt;/Box&gt;&#10;                        &lt;/Box&gt;&#10;                    ))}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08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矩形 13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328" name="矩形 132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329" name="文本框 1328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0" name="文本框 1329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" name="圆角矩形 1330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332" name="文本框 1331" descr="{&quot;isTemplate&quot;:true,&quot;type&quot;:&quot;text&quot;}"/>
          <p:cNvSpPr txBox="1"/>
          <p:nvPr/>
        </p:nvSpPr>
        <p:spPr>
          <a:xfrm>
            <a:off x="600075" y="561975"/>
            <a:ext cx="3562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经典三范式：信号从哪来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3" name="圆角矩形 1332"/>
          <p:cNvSpPr/>
          <p:nvPr/>
        </p:nvSpPr>
        <p:spPr>
          <a:xfrm>
            <a:off x="4295775" y="638175"/>
            <a:ext cx="1295400" cy="238125"/>
          </a:xfrm>
          <a:prstGeom prst="roundRect">
            <a:avLst>
              <a:gd name="adj" fmla="val 16000"/>
            </a:avLst>
          </a:prstGeom>
          <a:solidFill>
            <a:srgbClr val="F7EED6"/>
          </a:solidFill>
        </p:spPr>
        <p:txBody>
          <a:bodyPr/>
          <a:lstStyle/>
          <a:p/>
        </p:txBody>
      </p:sp>
      <p:sp>
        <p:nvSpPr>
          <p:cNvPr id="1334" name="文本框 1333" descr="{&quot;isTemplate&quot;:true,&quot;type&quot;:&quot;text&quot;}"/>
          <p:cNvSpPr txBox="1"/>
          <p:nvPr/>
        </p:nvSpPr>
        <p:spPr>
          <a:xfrm>
            <a:off x="4410075" y="676275"/>
            <a:ext cx="10668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6A14"/>
                </a:solidFill>
                <a:latin typeface="微软雅黑" panose="020B0503020204020204" charset="-122"/>
                <a:ea typeface="微软雅黑" panose="020B0503020204020204" charset="-122"/>
              </a:rPr>
              <a:t>范式的区别在信号</a:t>
            </a:r>
            <a:endParaRPr lang="zh-CN" sz="1050" b="1">
              <a:solidFill>
                <a:srgbClr val="8A6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5" name="圆角矩形 1334"/>
          <p:cNvSpPr/>
          <p:nvPr/>
        </p:nvSpPr>
        <p:spPr>
          <a:xfrm>
            <a:off x="466725" y="1104900"/>
            <a:ext cx="2962275" cy="5276850"/>
          </a:xfrm>
          <a:prstGeom prst="roundRect">
            <a:avLst>
              <a:gd name="adj" fmla="val 3215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336" name="任意多边形 1335"/>
          <p:cNvSpPr/>
          <p:nvPr/>
        </p:nvSpPr>
        <p:spPr>
          <a:xfrm>
            <a:off x="466725" y="1104900"/>
            <a:ext cx="2962275" cy="5276850"/>
          </a:xfrm>
          <a:custGeom>
            <a:avLst/>
            <a:gdLst/>
            <a:ahLst/>
            <a:cxnLst/>
            <a:rect l="0" t="0" r="0" b="0"/>
            <a:pathLst>
              <a:path w="311" h="55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49"/>
                </a:lnTo>
                <a:cubicBezTo>
                  <a:pt x="5" y="551"/>
                  <a:pt x="7" y="553"/>
                  <a:pt x="9" y="554"/>
                </a:cubicBezTo>
                <a:cubicBezTo>
                  <a:pt x="4" y="553"/>
                  <a:pt x="0" y="549"/>
                  <a:pt x="0" y="5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337" name="文本框 1336" descr="{&quot;isTemplate&quot;:true,&quot;type&quot;:&quot;text&quot;}"/>
          <p:cNvSpPr txBox="1"/>
          <p:nvPr/>
        </p:nvSpPr>
        <p:spPr>
          <a:xfrm>
            <a:off x="695325" y="1352550"/>
            <a:ext cx="2505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88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范式详解</a:t>
            </a:r>
            <a:r>
              <a:rPr lang="en-US" sz="975" b="1" spc="188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 spc="188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endParaRPr lang="zh-CN" sz="975" b="1" spc="188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8" name="文本框 1337" descr="{&quot;isTemplate&quot;:true,&quot;type&quot;:&quot;text&quot;}"/>
          <p:cNvSpPr txBox="1"/>
          <p:nvPr/>
        </p:nvSpPr>
        <p:spPr>
          <a:xfrm>
            <a:off x="695325" y="1619250"/>
            <a:ext cx="2505075" cy="933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奖励、标注</a:t>
            </a:r>
            <a:endParaRPr lang="zh-CN" sz="22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与结构</a:t>
            </a:r>
            <a:endParaRPr lang="zh-CN" sz="22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9" name="矩形 1338"/>
          <p:cNvSpPr/>
          <p:nvPr/>
        </p:nvSpPr>
        <p:spPr>
          <a:xfrm>
            <a:off x="695325" y="2686050"/>
            <a:ext cx="438150" cy="28575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340" name="文本框 1339" descr="{&quot;isTemplate&quot;:true,&quot;type&quot;:&quot;text&quot;}"/>
          <p:cNvSpPr txBox="1"/>
          <p:nvPr/>
        </p:nvSpPr>
        <p:spPr>
          <a:xfrm>
            <a:off x="695325" y="2905125"/>
            <a:ext cx="2505075" cy="962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zh-CN" sz="1200">
                <a:solidFill>
                  <a:srgbClr val="5B6E7E"/>
                </a:solidFill>
                <a:latin typeface="微软雅黑" panose="020B0503020204020204" charset="-122"/>
                <a:ea typeface="微软雅黑" panose="020B0503020204020204" charset="-122"/>
              </a:rPr>
              <a:t>三者都遵循同一条逻辑：</a:t>
            </a:r>
            <a:endParaRPr lang="zh-CN" sz="1200">
              <a:solidFill>
                <a:srgbClr val="5B6E7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5B6E7E"/>
                </a:solidFill>
                <a:latin typeface="微软雅黑" panose="020B0503020204020204" charset="-122"/>
                <a:ea typeface="微软雅黑" panose="020B0503020204020204" charset="-122"/>
              </a:rPr>
              <a:t>把某种「学习信号」转换为</a:t>
            </a:r>
            <a:endParaRPr lang="zh-CN" sz="1200">
              <a:solidFill>
                <a:srgbClr val="5B6E7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5B6E7E"/>
                </a:solidFill>
                <a:latin typeface="微软雅黑" panose="020B0503020204020204" charset="-122"/>
                <a:ea typeface="微软雅黑" panose="020B0503020204020204" charset="-122"/>
              </a:rPr>
              <a:t>更优的行为策略。</a:t>
            </a:r>
            <a:endParaRPr lang="zh-CN" sz="1200">
              <a:solidFill>
                <a:srgbClr val="5B6E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1" name="文本框 1340" descr="{&quot;isTemplate&quot;:true,&quot;type&quot;:&quot;text&quot;}"/>
          <p:cNvSpPr txBox="1"/>
          <p:nvPr/>
        </p:nvSpPr>
        <p:spPr>
          <a:xfrm>
            <a:off x="695325" y="5495925"/>
            <a:ext cx="25050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奖励信号</a:t>
            </a:r>
            <a:r>
              <a:rPr lang="en-US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试错</a:t>
            </a:r>
            <a:endParaRPr lang="zh-CN" sz="1050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2" name="文本框 1341" descr="{&quot;isTemplate&quot;:true,&quot;type&quot;:&quot;text&quot;}"/>
          <p:cNvSpPr txBox="1"/>
          <p:nvPr/>
        </p:nvSpPr>
        <p:spPr>
          <a:xfrm>
            <a:off x="695325" y="5734050"/>
            <a:ext cx="25050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标注信号</a:t>
            </a:r>
            <a:r>
              <a:rPr lang="en-US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映射</a:t>
            </a:r>
            <a:endParaRPr lang="zh-CN" sz="1050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3" name="文本框 1342" descr="{&quot;isTemplate&quot;:true,&quot;type&quot;:&quot;text&quot;}"/>
          <p:cNvSpPr txBox="1"/>
          <p:nvPr/>
        </p:nvSpPr>
        <p:spPr>
          <a:xfrm>
            <a:off x="695325" y="5972175"/>
            <a:ext cx="25050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结构信号</a:t>
            </a:r>
            <a:r>
              <a:rPr lang="en-US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发现</a:t>
            </a:r>
            <a:endParaRPr lang="zh-CN" sz="1050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4" name="圆角矩形 1343"/>
          <p:cNvSpPr/>
          <p:nvPr/>
        </p:nvSpPr>
        <p:spPr>
          <a:xfrm>
            <a:off x="3638550" y="1104900"/>
            <a:ext cx="81343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1345" name="圆角矩形 1344"/>
          <p:cNvSpPr/>
          <p:nvPr/>
        </p:nvSpPr>
        <p:spPr>
          <a:xfrm>
            <a:off x="3848100" y="1666875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1346" name="图片 134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500" y="1819275"/>
            <a:ext cx="285750" cy="285750"/>
          </a:xfrm>
          <a:prstGeom prst="rect">
            <a:avLst/>
          </a:prstGeom>
        </p:spPr>
      </p:pic>
      <p:sp>
        <p:nvSpPr>
          <p:cNvPr id="1347" name="文本框 1346" descr="{&quot;isTemplate&quot;:true,&quot;type&quot;:&quot;text&quot;}"/>
          <p:cNvSpPr txBox="1"/>
          <p:nvPr/>
        </p:nvSpPr>
        <p:spPr>
          <a:xfrm>
            <a:off x="4629150" y="1743075"/>
            <a:ext cx="1676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强化学习</a:t>
            </a:r>
            <a:endParaRPr lang="zh-CN" sz="16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8" name="文本框 1347" descr="{&quot;isTemplate&quot;:true,&quot;type&quot;:&quot;text&quot;}"/>
          <p:cNvSpPr txBox="1"/>
          <p:nvPr/>
        </p:nvSpPr>
        <p:spPr>
          <a:xfrm>
            <a:off x="4629150" y="2038350"/>
            <a:ext cx="16764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30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Reinforcement Learning</a:t>
            </a:r>
            <a:endParaRPr lang="en-US" sz="900" spc="30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9" name="圆角矩形 1348"/>
          <p:cNvSpPr/>
          <p:nvPr/>
        </p:nvSpPr>
        <p:spPr>
          <a:xfrm>
            <a:off x="6496050" y="1628775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350" name="文本框 1349" descr="{&quot;isTemplate&quot;:true,&quot;type&quot;:&quot;text&quot;}"/>
          <p:cNvSpPr txBox="1"/>
          <p:nvPr/>
        </p:nvSpPr>
        <p:spPr>
          <a:xfrm>
            <a:off x="6591300" y="1609725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信号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1" name="文本框 1350" descr="{&quot;isTemplate&quot;:true,&quot;type&quot;:&quot;text&quot;}"/>
          <p:cNvSpPr txBox="1"/>
          <p:nvPr/>
        </p:nvSpPr>
        <p:spPr>
          <a:xfrm>
            <a:off x="6496050" y="1809750"/>
            <a:ext cx="1571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环境给出的奖励与惩罚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2" name="圆角矩形 1351"/>
          <p:cNvSpPr/>
          <p:nvPr/>
        </p:nvSpPr>
        <p:spPr>
          <a:xfrm>
            <a:off x="8239125" y="1628775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353" name="文本框 1352" descr="{&quot;isTemplate&quot;:true,&quot;type&quot;:&quot;text&quot;}"/>
          <p:cNvSpPr txBox="1"/>
          <p:nvPr/>
        </p:nvSpPr>
        <p:spPr>
          <a:xfrm>
            <a:off x="8334375" y="1609725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4" name="文本框 1353" descr="{&quot;isTemplate&quot;:true,&quot;type&quot;:&quot;text&quot;}"/>
          <p:cNvSpPr txBox="1"/>
          <p:nvPr/>
        </p:nvSpPr>
        <p:spPr>
          <a:xfrm>
            <a:off x="8239125" y="1809750"/>
            <a:ext cx="15811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试错探索，逐步逼近最优策略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5" name="圆角矩形 1354"/>
          <p:cNvSpPr/>
          <p:nvPr/>
        </p:nvSpPr>
        <p:spPr>
          <a:xfrm>
            <a:off x="9991725" y="1628775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356" name="文本框 1355" descr="{&quot;isTemplate&quot;:true,&quot;type&quot;:&quot;text&quot;}"/>
          <p:cNvSpPr txBox="1"/>
          <p:nvPr/>
        </p:nvSpPr>
        <p:spPr>
          <a:xfrm>
            <a:off x="10086975" y="1609725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应用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7" name="文本框 1356" descr="{&quot;isTemplate&quot;:true,&quot;type&quot;:&quot;text&quot;}"/>
          <p:cNvSpPr txBox="1"/>
          <p:nvPr/>
        </p:nvSpPr>
        <p:spPr>
          <a:xfrm>
            <a:off x="9991725" y="1809750"/>
            <a:ext cx="1571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机器人控制、游戏智能体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8" name="圆角矩形 1357"/>
          <p:cNvSpPr/>
          <p:nvPr/>
        </p:nvSpPr>
        <p:spPr>
          <a:xfrm>
            <a:off x="3638550" y="2952750"/>
            <a:ext cx="8134350" cy="1704975"/>
          </a:xfrm>
          <a:prstGeom prst="roundRect">
            <a:avLst>
              <a:gd name="adj" fmla="val 5587"/>
            </a:avLst>
          </a:prstGeom>
          <a:solidFill>
            <a:srgbClr val="F8FBFB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1359" name="圆角矩形 1358"/>
          <p:cNvSpPr/>
          <p:nvPr/>
        </p:nvSpPr>
        <p:spPr>
          <a:xfrm>
            <a:off x="3848100" y="3514725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1360" name="图片 135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500" y="3667125"/>
            <a:ext cx="285750" cy="285750"/>
          </a:xfrm>
          <a:prstGeom prst="rect">
            <a:avLst/>
          </a:prstGeom>
        </p:spPr>
      </p:pic>
      <p:sp>
        <p:nvSpPr>
          <p:cNvPr id="1361" name="文本框 1360" descr="{&quot;isTemplate&quot;:true,&quot;type&quot;:&quot;text&quot;}"/>
          <p:cNvSpPr txBox="1"/>
          <p:nvPr/>
        </p:nvSpPr>
        <p:spPr>
          <a:xfrm>
            <a:off x="4629150" y="3590925"/>
            <a:ext cx="1676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监督学习</a:t>
            </a:r>
            <a:endParaRPr lang="zh-CN" sz="16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2" name="文本框 1361" descr="{&quot;isTemplate&quot;:true,&quot;type&quot;:&quot;text&quot;}"/>
          <p:cNvSpPr txBox="1"/>
          <p:nvPr/>
        </p:nvSpPr>
        <p:spPr>
          <a:xfrm>
            <a:off x="4629150" y="3886200"/>
            <a:ext cx="16764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30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Supervised Learning</a:t>
            </a:r>
            <a:endParaRPr lang="en-US" sz="900" spc="30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3" name="圆角矩形 1362"/>
          <p:cNvSpPr/>
          <p:nvPr/>
        </p:nvSpPr>
        <p:spPr>
          <a:xfrm>
            <a:off x="6496050" y="34671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364" name="文本框 1363" descr="{&quot;isTemplate&quot;:true,&quot;type&quot;:&quot;text&quot;}"/>
          <p:cNvSpPr txBox="1"/>
          <p:nvPr/>
        </p:nvSpPr>
        <p:spPr>
          <a:xfrm>
            <a:off x="6591300" y="3448050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信号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5" name="文本框 1364" descr="{&quot;isTemplate&quot;:true,&quot;type&quot;:&quot;text&quot;}"/>
          <p:cNvSpPr txBox="1"/>
          <p:nvPr/>
        </p:nvSpPr>
        <p:spPr>
          <a:xfrm>
            <a:off x="6496050" y="3648075"/>
            <a:ext cx="15716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人工标注的输入—输出对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6" name="圆角矩形 1365"/>
          <p:cNvSpPr/>
          <p:nvPr/>
        </p:nvSpPr>
        <p:spPr>
          <a:xfrm>
            <a:off x="8239125" y="34671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367" name="文本框 1366" descr="{&quot;isTemplate&quot;:true,&quot;type&quot;:&quot;text&quot;}"/>
          <p:cNvSpPr txBox="1"/>
          <p:nvPr/>
        </p:nvSpPr>
        <p:spPr>
          <a:xfrm>
            <a:off x="8334375" y="3448050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8" name="文本框 1367" descr="{&quot;isTemplate&quot;:true,&quot;type&quot;:&quot;text&quot;}"/>
          <p:cNvSpPr txBox="1"/>
          <p:nvPr/>
        </p:nvSpPr>
        <p:spPr>
          <a:xfrm>
            <a:off x="8239125" y="3648075"/>
            <a:ext cx="15811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拟合映射函数，最小化预测误差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9" name="圆角矩形 1368"/>
          <p:cNvSpPr/>
          <p:nvPr/>
        </p:nvSpPr>
        <p:spPr>
          <a:xfrm>
            <a:off x="9991725" y="34671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370" name="文本框 1369" descr="{&quot;isTemplate&quot;:true,&quot;type&quot;:&quot;text&quot;}"/>
          <p:cNvSpPr txBox="1"/>
          <p:nvPr/>
        </p:nvSpPr>
        <p:spPr>
          <a:xfrm>
            <a:off x="10086975" y="3448050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应用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1" name="文本框 1370" descr="{&quot;isTemplate&quot;:true,&quot;type&quot;:&quot;text&quot;}"/>
          <p:cNvSpPr txBox="1"/>
          <p:nvPr/>
        </p:nvSpPr>
        <p:spPr>
          <a:xfrm>
            <a:off x="9991725" y="3648075"/>
            <a:ext cx="1571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邮件分拣、趋势预测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2" name="圆角矩形 1371"/>
          <p:cNvSpPr/>
          <p:nvPr/>
        </p:nvSpPr>
        <p:spPr>
          <a:xfrm>
            <a:off x="3638550" y="4791075"/>
            <a:ext cx="8134350" cy="1590675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1373" name="圆角矩形 1372"/>
          <p:cNvSpPr/>
          <p:nvPr/>
        </p:nvSpPr>
        <p:spPr>
          <a:xfrm>
            <a:off x="3848100" y="5295900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1374" name="图片 137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0500" y="5448300"/>
            <a:ext cx="285750" cy="285750"/>
          </a:xfrm>
          <a:prstGeom prst="rect">
            <a:avLst/>
          </a:prstGeom>
        </p:spPr>
      </p:pic>
      <p:sp>
        <p:nvSpPr>
          <p:cNvPr id="1375" name="文本框 1374" descr="{&quot;isTemplate&quot;:true,&quot;type&quot;:&quot;text&quot;}"/>
          <p:cNvSpPr txBox="1"/>
          <p:nvPr/>
        </p:nvSpPr>
        <p:spPr>
          <a:xfrm>
            <a:off x="4629150" y="5372100"/>
            <a:ext cx="1676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无监督学习</a:t>
            </a:r>
            <a:endParaRPr lang="zh-CN" sz="16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6" name="文本框 1375" descr="{&quot;isTemplate&quot;:true,&quot;type&quot;:&quot;text&quot;}"/>
          <p:cNvSpPr txBox="1"/>
          <p:nvPr/>
        </p:nvSpPr>
        <p:spPr>
          <a:xfrm>
            <a:off x="4629150" y="5667375"/>
            <a:ext cx="16764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30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Unsupervised Learning</a:t>
            </a:r>
            <a:endParaRPr lang="en-US" sz="900" spc="30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7" name="圆角矩形 1376"/>
          <p:cNvSpPr/>
          <p:nvPr/>
        </p:nvSpPr>
        <p:spPr>
          <a:xfrm>
            <a:off x="6496050" y="5381625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378" name="文本框 1377" descr="{&quot;isTemplate&quot;:true,&quot;type&quot;:&quot;text&quot;}"/>
          <p:cNvSpPr txBox="1"/>
          <p:nvPr/>
        </p:nvSpPr>
        <p:spPr>
          <a:xfrm>
            <a:off x="6591300" y="5362575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信号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9" name="文本框 1378" descr="{&quot;isTemplate&quot;:true,&quot;type&quot;:&quot;text&quot;}"/>
          <p:cNvSpPr txBox="1"/>
          <p:nvPr/>
        </p:nvSpPr>
        <p:spPr>
          <a:xfrm>
            <a:off x="6496050" y="5562600"/>
            <a:ext cx="1571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无标签数据自身的结构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0" name="圆角矩形 1379"/>
          <p:cNvSpPr/>
          <p:nvPr/>
        </p:nvSpPr>
        <p:spPr>
          <a:xfrm>
            <a:off x="8239125" y="5381625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381" name="文本框 1380" descr="{&quot;isTemplate&quot;:true,&quot;type&quot;:&quot;text&quot;}"/>
          <p:cNvSpPr txBox="1"/>
          <p:nvPr/>
        </p:nvSpPr>
        <p:spPr>
          <a:xfrm>
            <a:off x="8334375" y="5362575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2" name="文本框 1381" descr="{&quot;isTemplate&quot;:true,&quot;type&quot;:&quot;text&quot;}"/>
          <p:cNvSpPr txBox="1"/>
          <p:nvPr/>
        </p:nvSpPr>
        <p:spPr>
          <a:xfrm>
            <a:off x="8239125" y="5562600"/>
            <a:ext cx="15811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发现隐含关联与聚类模式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3" name="圆角矩形 1382"/>
          <p:cNvSpPr/>
          <p:nvPr/>
        </p:nvSpPr>
        <p:spPr>
          <a:xfrm>
            <a:off x="9991725" y="5381625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384" name="文本框 1383" descr="{&quot;isTemplate&quot;:true,&quot;type&quot;:&quot;text&quot;}"/>
          <p:cNvSpPr txBox="1"/>
          <p:nvPr/>
        </p:nvSpPr>
        <p:spPr>
          <a:xfrm>
            <a:off x="10086975" y="5362575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应用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5" name="文本框 1384" descr="{&quot;isTemplate&quot;:true,&quot;type&quot;:&quot;text&quot;}"/>
          <p:cNvSpPr txBox="1"/>
          <p:nvPr/>
        </p:nvSpPr>
        <p:spPr>
          <a:xfrm>
            <a:off x="9991725" y="5562600"/>
            <a:ext cx="1571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数据探索、环境心智地图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6" name="文本框 1385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7" name="文本框 1386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08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LLM 时代的三条新路径&lt;/Text&gt;&#10;                &lt;Box style={{ padding: '4px 12px', background: '#E3F0F2', borderRadius: 4 }}&gt;&#10;                    &lt;Text style={{ fontSize: 14, color: '#00646E', fontWeight: 'bold' }}&gt;范式详解 · 下&lt;/Text&gt;&#10;                &lt;/Box&gt;&#10;            &lt;/Box&gt;&#10;&#10;            &lt;Box style={{ flexDirection: 'row', gap: 16, flex: 1, marginTop: 14 }}&gt;&#10;                {[&#10;                    {&#10;                        ic: 'bolt', n: '04', t: '少样本 / 零样本', en: 'Few-Shot · Zero-Shot',&#10;                        d: '借助大语言模型，只需极少示例或一段清晰指令，智能体就能适应全新任务。',&#10;                        pts: ['把「定制模型」变成「改写提示」', '新指令、新场景可即时应答'],&#10;                        key: '适应成本从训练级降到提示级',&#10;                    },&#10;                    {&#10;                        ic: 'clock', n: '05', t: '在线学习', en: 'Online Learning',&#10;                        d: '智能体用源源不断的新数据持续更新自身知识，不需要停机重训。',&#10;                        pts: ['支撑实时反应与滚动决策', '是动态环境持续适应的关键'],&#10;                        key: '知识随数据流持续更新',&#10;                    },&#10;                    {&#10;                        ic: 'brain', n: '06', t: '基于记忆的学习', en: 'Memory-Based Learning',&#10;                        d: '回忆过去在相似情境下的经验，据此调整当前的动作与判断。',&#10;                        pts: ['增强情境感知能力', '让决策参考历史经验'],&#10;                        key: '把历史经验变成当前判断依据',&#10;                    },&#10;                ].map((c, i) =&gt; (&#10;                    &lt;Box key={i} style={{&#10;                        flex: 1, flexDirection: 'column', padding: '24px 24px 20px',&#10;                        background: '#FFFFFF', border: '1px solid #DFEAEC', borderRadius: 10,&#10;                        borderTop: '5px solid #39A0AC',&#10;                    }}&gt;&#10;                        &lt;Box style={{ flexDirection: 'row', justifyContent: 'space-between', alignItems: 'center' }}&gt;&#10;                            &lt;Box style={{&#10;                                width: 66, height: 66, borderRadius: 33, background: '#EAF3F4',&#10;                                justifyContent: 'center', alignItems: 'center',&#10;                            }}&gt;&#10;                                &lt;FAIcon name={c.ic} style={{ fill: '#007581', width: 32, height: 32 }} /&gt;&#10;                            &lt;/Box&gt;&#10;                            &lt;Text style={{ fontSize: 44, fontWeight: 'bold', color: '#E0EDEF', lineHeight: 1 }}&gt;{c.n}&lt;/Text&gt;&#10;                        &lt;/Box&gt;&#10;&#10;                        &lt;Text style={{ fontSize: 25, fontWeight: 'bold', color: '#152129', marginTop: 18 }}&gt;{c.t}&lt;/Text&gt;&#10;                        &lt;Text style={{ fontSize: 13, color: '#8FA3AE', letterSpacing: 0.6, marginTop: 5 }}&gt;{c.en}&lt;/Text&gt;&#10;                        &lt;Box style={{ width: '100%', height: 1, background: '#E7EDEF', marginTop: 16 }} /&gt;&#10;&#10;                        &lt;Text style={{ fontSize: 17, color: '#4E6070', lineHeight: 1.68, marginTop: 16 }}&gt;&#10;                            {c.d}&#10;                        &lt;/Text&gt;&#10;&#10;                        &lt;Box style={{ flexDirection: 'column', gap: 11, marginTop: 18, flex: 1 }}&gt;&#10;                            {c.pts.map((p, j) =&gt; (&#10;                                &lt;Box key={j} style={{ flexDirection: 'row', alignItems: 'flex-start', gap: 10 }}&gt;&#10;                                    &lt;FAIcon name='circle-check' style={{ fill: '#39A0AC', width: 16, height: 16, marginTop: 2 }} /&gt;&#10;                                    &lt;Text style={{ fontSize: 16, color: '#3D4E5E', lineHeight: 1.5, flex: 1 }}&gt;{p}&lt;/Text&gt;&#10;                                &lt;/Box&gt;&#10;                            ))}&#10;                        &lt;/Box&gt;&#10;&#10;                        &lt;Box style={{&#10;                            marginTop: 14, padding: '11px 14px', borderRadius: 7,&#10;                            background: '#00505A',&#10;                        }}&gt;&#10;                            &lt;Text style={{ fontSize: 15, color: '#D7EEF1', lineHeight: 1.45 }}&gt;{c.key}&lt;/Text&gt;&#10;                        &lt;/Box&gt;&#10;                    &lt;/Box&gt;&#10;                ))}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09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矩形 13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390" name="矩形 138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391" name="文本框 1390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2" name="文本框 1391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3" name="圆角矩形 1392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394" name="文本框 1393" descr="{&quot;isTemplate&quot;:true,&quot;type&quot;:&quot;text&quot;}"/>
          <p:cNvSpPr txBox="1"/>
          <p:nvPr/>
        </p:nvSpPr>
        <p:spPr>
          <a:xfrm>
            <a:off x="600075" y="561975"/>
            <a:ext cx="33813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时代的三条新路径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5" name="圆角矩形 1394"/>
          <p:cNvSpPr/>
          <p:nvPr/>
        </p:nvSpPr>
        <p:spPr>
          <a:xfrm>
            <a:off x="4114800" y="638175"/>
            <a:ext cx="1038225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1396" name="文本框 1395" descr="{&quot;isTemplate&quot;:true,&quot;type&quot;:&quot;text&quot;}"/>
          <p:cNvSpPr txBox="1"/>
          <p:nvPr/>
        </p:nvSpPr>
        <p:spPr>
          <a:xfrm>
            <a:off x="4229100" y="676275"/>
            <a:ext cx="809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范式详解</a:t>
            </a: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下</a:t>
            </a:r>
            <a:endParaRPr lang="zh-CN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7" name="圆角矩形 1396"/>
          <p:cNvSpPr/>
          <p:nvPr/>
        </p:nvSpPr>
        <p:spPr>
          <a:xfrm>
            <a:off x="419100" y="1152525"/>
            <a:ext cx="3686175" cy="5276850"/>
          </a:xfrm>
          <a:prstGeom prst="roundRect">
            <a:avLst>
              <a:gd name="adj" fmla="val 2584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398" name="任意多边形 1397"/>
          <p:cNvSpPr/>
          <p:nvPr/>
        </p:nvSpPr>
        <p:spPr>
          <a:xfrm>
            <a:off x="419100" y="1152525"/>
            <a:ext cx="3686175" cy="5276850"/>
          </a:xfrm>
          <a:custGeom>
            <a:avLst/>
            <a:gdLst/>
            <a:ahLst/>
            <a:cxnLst/>
            <a:rect l="0" t="0" r="0" b="0"/>
            <a:pathLst>
              <a:path w="387" h="554">
                <a:moveTo>
                  <a:pt x="377" y="0"/>
                </a:moveTo>
                <a:cubicBezTo>
                  <a:pt x="382" y="0"/>
                  <a:pt x="386" y="4"/>
                  <a:pt x="387" y="9"/>
                </a:cubicBezTo>
                <a:cubicBezTo>
                  <a:pt x="386" y="6"/>
                  <a:pt x="384" y="5"/>
                  <a:pt x="382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7" y="0"/>
                </a:lnTo>
                <a:close/>
              </a:path>
            </a:pathLst>
          </a:cu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399" name="圆角矩形 1398"/>
          <p:cNvSpPr/>
          <p:nvPr/>
        </p:nvSpPr>
        <p:spPr>
          <a:xfrm>
            <a:off x="647700" y="1381125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pic>
        <p:nvPicPr>
          <p:cNvPr id="1400" name="图片 139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625" y="1543050"/>
            <a:ext cx="304800" cy="304800"/>
          </a:xfrm>
          <a:prstGeom prst="rect">
            <a:avLst/>
          </a:prstGeom>
        </p:spPr>
      </p:pic>
      <p:sp>
        <p:nvSpPr>
          <p:cNvPr id="1401" name="文本框 1400" descr="{&quot;isTemplate&quot;:true,&quot;type&quot;:&quot;text&quot;}"/>
          <p:cNvSpPr txBox="1"/>
          <p:nvPr/>
        </p:nvSpPr>
        <p:spPr>
          <a:xfrm>
            <a:off x="3352800" y="1447800"/>
            <a:ext cx="523875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0EDE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3300" b="1">
              <a:solidFill>
                <a:srgbClr val="E0ED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2" name="文本框 1401" descr="{&quot;isTemplate&quot;:true,&quot;type&quot;:&quot;text&quot;}"/>
          <p:cNvSpPr txBox="1"/>
          <p:nvPr/>
        </p:nvSpPr>
        <p:spPr>
          <a:xfrm>
            <a:off x="647700" y="2181225"/>
            <a:ext cx="32289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少样本</a:t>
            </a:r>
            <a:r>
              <a:rPr lang="en-US" sz="18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8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零样本</a:t>
            </a:r>
            <a:endParaRPr lang="zh-CN" sz="18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3" name="文本框 1402" descr="{&quot;isTemplate&quot;:true,&quot;type&quot;:&quot;text&quot;}"/>
          <p:cNvSpPr txBox="1"/>
          <p:nvPr/>
        </p:nvSpPr>
        <p:spPr>
          <a:xfrm>
            <a:off x="647700" y="2514600"/>
            <a:ext cx="3228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Few-Shot · Zero-Shot</a:t>
            </a:r>
            <a:endParaRPr lang="en-US" sz="975" spc="4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4" name="矩形 1403"/>
          <p:cNvSpPr/>
          <p:nvPr/>
        </p:nvSpPr>
        <p:spPr>
          <a:xfrm>
            <a:off x="647700" y="2819400"/>
            <a:ext cx="3228975" cy="9525"/>
          </a:xfrm>
          <a:prstGeom prst="rect">
            <a:avLst/>
          </a:prstGeom>
          <a:solidFill>
            <a:srgbClr val="E7EDEF"/>
          </a:solidFill>
        </p:spPr>
        <p:txBody>
          <a:bodyPr/>
          <a:lstStyle/>
          <a:p/>
        </p:txBody>
      </p:sp>
      <p:sp>
        <p:nvSpPr>
          <p:cNvPr id="1405" name="文本框 1404" descr="{&quot;isTemplate&quot;:true,&quot;type&quot;:&quot;text&quot;}"/>
          <p:cNvSpPr txBox="1"/>
          <p:nvPr/>
        </p:nvSpPr>
        <p:spPr>
          <a:xfrm>
            <a:off x="647700" y="2981325"/>
            <a:ext cx="3228975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8000"/>
              </a:lnSpc>
            </a:pP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借助大语言模型，只需极少示例或一段清晰指令，智能体就能适应全新任务。</a:t>
            </a:r>
            <a:endParaRPr lang="zh-CN" sz="127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06" name="图片 14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3829050"/>
            <a:ext cx="152400" cy="152400"/>
          </a:xfrm>
          <a:prstGeom prst="rect">
            <a:avLst/>
          </a:prstGeom>
        </p:spPr>
      </p:pic>
      <p:sp>
        <p:nvSpPr>
          <p:cNvPr id="1407" name="文本框 1406" descr="{&quot;isTemplate&quot;:true,&quot;type&quot;:&quot;text&quot;}"/>
          <p:cNvSpPr txBox="1"/>
          <p:nvPr/>
        </p:nvSpPr>
        <p:spPr>
          <a:xfrm>
            <a:off x="895350" y="3810000"/>
            <a:ext cx="2981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把「定制模型」变成「改写提示」</a:t>
            </a:r>
            <a:endParaRPr lang="zh-CN" sz="120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08" name="图片 14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4210050"/>
            <a:ext cx="152400" cy="152400"/>
          </a:xfrm>
          <a:prstGeom prst="rect">
            <a:avLst/>
          </a:prstGeom>
        </p:spPr>
      </p:pic>
      <p:sp>
        <p:nvSpPr>
          <p:cNvPr id="1409" name="文本框 1408" descr="{&quot;isTemplate&quot;:true,&quot;type&quot;:&quot;text&quot;}"/>
          <p:cNvSpPr txBox="1"/>
          <p:nvPr/>
        </p:nvSpPr>
        <p:spPr>
          <a:xfrm>
            <a:off x="895350" y="4191000"/>
            <a:ext cx="2981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新指令、新场景可即时应答</a:t>
            </a:r>
            <a:endParaRPr lang="zh-CN" sz="120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0" name="圆角矩形 1409"/>
          <p:cNvSpPr/>
          <p:nvPr/>
        </p:nvSpPr>
        <p:spPr>
          <a:xfrm>
            <a:off x="647700" y="5724525"/>
            <a:ext cx="3228975" cy="466725"/>
          </a:xfrm>
          <a:prstGeom prst="roundRect">
            <a:avLst>
              <a:gd name="adj" fmla="val 14286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1411" name="文本框 1410" descr="{&quot;isTemplate&quot;:true,&quot;type&quot;:&quot;text&quot;}"/>
          <p:cNvSpPr txBox="1"/>
          <p:nvPr/>
        </p:nvSpPr>
        <p:spPr>
          <a:xfrm>
            <a:off x="781050" y="5829300"/>
            <a:ext cx="29622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125">
                <a:solidFill>
                  <a:srgbClr val="D7EEF1"/>
                </a:solidFill>
                <a:latin typeface="微软雅黑" panose="020B0503020204020204" charset="-122"/>
                <a:ea typeface="微软雅黑" panose="020B0503020204020204" charset="-122"/>
              </a:rPr>
              <a:t>适应成本从训练级降到提示级</a:t>
            </a:r>
            <a:endParaRPr lang="zh-CN" sz="1125">
              <a:solidFill>
                <a:srgbClr val="D7EEF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2" name="圆角矩形 1411"/>
          <p:cNvSpPr/>
          <p:nvPr/>
        </p:nvSpPr>
        <p:spPr>
          <a:xfrm>
            <a:off x="4257675" y="1152525"/>
            <a:ext cx="3676650" cy="5276850"/>
          </a:xfrm>
          <a:prstGeom prst="roundRect">
            <a:avLst>
              <a:gd name="adj" fmla="val 2591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413" name="任意多边形 1412"/>
          <p:cNvSpPr/>
          <p:nvPr/>
        </p:nvSpPr>
        <p:spPr>
          <a:xfrm>
            <a:off x="4257675" y="1152525"/>
            <a:ext cx="3676650" cy="5276850"/>
          </a:xfrm>
          <a:custGeom>
            <a:avLst/>
            <a:gdLst/>
            <a:ahLst/>
            <a:cxnLst/>
            <a:rect l="0" t="0" r="0" b="0"/>
            <a:pathLst>
              <a:path w="386" h="554">
                <a:moveTo>
                  <a:pt x="376" y="0"/>
                </a:moveTo>
                <a:cubicBezTo>
                  <a:pt x="381" y="0"/>
                  <a:pt x="385" y="4"/>
                  <a:pt x="386" y="9"/>
                </a:cubicBezTo>
                <a:cubicBezTo>
                  <a:pt x="385" y="6"/>
                  <a:pt x="383" y="5"/>
                  <a:pt x="3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6" y="0"/>
                </a:lnTo>
                <a:close/>
              </a:path>
            </a:pathLst>
          </a:cu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414" name="圆角矩形 1413"/>
          <p:cNvSpPr/>
          <p:nvPr/>
        </p:nvSpPr>
        <p:spPr>
          <a:xfrm>
            <a:off x="4486275" y="1381125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pic>
        <p:nvPicPr>
          <p:cNvPr id="1415" name="图片 141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200" y="1543050"/>
            <a:ext cx="304800" cy="304800"/>
          </a:xfrm>
          <a:prstGeom prst="rect">
            <a:avLst/>
          </a:prstGeom>
        </p:spPr>
      </p:pic>
      <p:sp>
        <p:nvSpPr>
          <p:cNvPr id="1416" name="文本框 1415" descr="{&quot;isTemplate&quot;:true,&quot;type&quot;:&quot;text&quot;}"/>
          <p:cNvSpPr txBox="1"/>
          <p:nvPr/>
        </p:nvSpPr>
        <p:spPr>
          <a:xfrm>
            <a:off x="7181850" y="1447800"/>
            <a:ext cx="523875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0EDE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3300" b="1">
              <a:solidFill>
                <a:srgbClr val="E0ED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7" name="文本框 1416" descr="{&quot;isTemplate&quot;:true,&quot;type&quot;:&quot;text&quot;}"/>
          <p:cNvSpPr txBox="1"/>
          <p:nvPr/>
        </p:nvSpPr>
        <p:spPr>
          <a:xfrm>
            <a:off x="4486275" y="2181225"/>
            <a:ext cx="32194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在线学习</a:t>
            </a:r>
            <a:endParaRPr lang="zh-CN" sz="18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8" name="文本框 1417" descr="{&quot;isTemplate&quot;:true,&quot;type&quot;:&quot;text&quot;}"/>
          <p:cNvSpPr txBox="1"/>
          <p:nvPr/>
        </p:nvSpPr>
        <p:spPr>
          <a:xfrm>
            <a:off x="4486275" y="2514600"/>
            <a:ext cx="32194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Online Learning</a:t>
            </a:r>
            <a:endParaRPr lang="en-US" sz="975" spc="4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9" name="矩形 1418"/>
          <p:cNvSpPr/>
          <p:nvPr/>
        </p:nvSpPr>
        <p:spPr>
          <a:xfrm>
            <a:off x="4486275" y="2819400"/>
            <a:ext cx="3219450" cy="9525"/>
          </a:xfrm>
          <a:prstGeom prst="rect">
            <a:avLst/>
          </a:prstGeom>
          <a:solidFill>
            <a:srgbClr val="E7EDEF"/>
          </a:solidFill>
        </p:spPr>
        <p:txBody>
          <a:bodyPr/>
          <a:lstStyle/>
          <a:p/>
        </p:txBody>
      </p:sp>
      <p:sp>
        <p:nvSpPr>
          <p:cNvPr id="1420" name="文本框 1419" descr="{&quot;isTemplate&quot;:true,&quot;type&quot;:&quot;text&quot;}"/>
          <p:cNvSpPr txBox="1"/>
          <p:nvPr/>
        </p:nvSpPr>
        <p:spPr>
          <a:xfrm>
            <a:off x="4486275" y="2981325"/>
            <a:ext cx="321945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8000"/>
              </a:lnSpc>
            </a:pP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智能体用源源不断的新数据持续更新自身知识，不需要停机重训。</a:t>
            </a:r>
            <a:endParaRPr lang="zh-CN" sz="127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21" name="图片 14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6275" y="3829050"/>
            <a:ext cx="152400" cy="152400"/>
          </a:xfrm>
          <a:prstGeom prst="rect">
            <a:avLst/>
          </a:prstGeom>
        </p:spPr>
      </p:pic>
      <p:sp>
        <p:nvSpPr>
          <p:cNvPr id="1422" name="文本框 1421" descr="{&quot;isTemplate&quot;:true,&quot;type&quot;:&quot;text&quot;}"/>
          <p:cNvSpPr txBox="1"/>
          <p:nvPr/>
        </p:nvSpPr>
        <p:spPr>
          <a:xfrm>
            <a:off x="4733925" y="3810000"/>
            <a:ext cx="2971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支撑实时反应与滚动决策</a:t>
            </a:r>
            <a:endParaRPr lang="zh-CN" sz="120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23" name="图片 14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6275" y="4210050"/>
            <a:ext cx="152400" cy="152400"/>
          </a:xfrm>
          <a:prstGeom prst="rect">
            <a:avLst/>
          </a:prstGeom>
        </p:spPr>
      </p:pic>
      <p:sp>
        <p:nvSpPr>
          <p:cNvPr id="1424" name="文本框 1423" descr="{&quot;isTemplate&quot;:true,&quot;type&quot;:&quot;text&quot;}"/>
          <p:cNvSpPr txBox="1"/>
          <p:nvPr/>
        </p:nvSpPr>
        <p:spPr>
          <a:xfrm>
            <a:off x="4733925" y="4191000"/>
            <a:ext cx="2971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是动态环境持续适应的关键</a:t>
            </a:r>
            <a:endParaRPr lang="zh-CN" sz="120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5" name="圆角矩形 1424"/>
          <p:cNvSpPr/>
          <p:nvPr/>
        </p:nvSpPr>
        <p:spPr>
          <a:xfrm>
            <a:off x="4486275" y="5724525"/>
            <a:ext cx="3219450" cy="466725"/>
          </a:xfrm>
          <a:prstGeom prst="roundRect">
            <a:avLst>
              <a:gd name="adj" fmla="val 14286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1426" name="文本框 1425" descr="{&quot;isTemplate&quot;:true,&quot;type&quot;:&quot;text&quot;}"/>
          <p:cNvSpPr txBox="1"/>
          <p:nvPr/>
        </p:nvSpPr>
        <p:spPr>
          <a:xfrm>
            <a:off x="4619625" y="5829300"/>
            <a:ext cx="2952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125">
                <a:solidFill>
                  <a:srgbClr val="D7EEF1"/>
                </a:solidFill>
                <a:latin typeface="微软雅黑" panose="020B0503020204020204" charset="-122"/>
                <a:ea typeface="微软雅黑" panose="020B0503020204020204" charset="-122"/>
              </a:rPr>
              <a:t>知识随数据流持续更新</a:t>
            </a:r>
            <a:endParaRPr lang="zh-CN" sz="1125">
              <a:solidFill>
                <a:srgbClr val="D7EEF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7" name="圆角矩形 1426"/>
          <p:cNvSpPr/>
          <p:nvPr/>
        </p:nvSpPr>
        <p:spPr>
          <a:xfrm>
            <a:off x="8086725" y="1152525"/>
            <a:ext cx="3686175" cy="5276850"/>
          </a:xfrm>
          <a:prstGeom prst="roundRect">
            <a:avLst>
              <a:gd name="adj" fmla="val 2584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428" name="任意多边形 1427"/>
          <p:cNvSpPr/>
          <p:nvPr/>
        </p:nvSpPr>
        <p:spPr>
          <a:xfrm>
            <a:off x="8086725" y="1152525"/>
            <a:ext cx="3686175" cy="5276850"/>
          </a:xfrm>
          <a:custGeom>
            <a:avLst/>
            <a:gdLst/>
            <a:ahLst/>
            <a:cxnLst/>
            <a:rect l="0" t="0" r="0" b="0"/>
            <a:pathLst>
              <a:path w="387" h="554">
                <a:moveTo>
                  <a:pt x="377" y="0"/>
                </a:moveTo>
                <a:cubicBezTo>
                  <a:pt x="382" y="0"/>
                  <a:pt x="386" y="4"/>
                  <a:pt x="387" y="9"/>
                </a:cubicBezTo>
                <a:cubicBezTo>
                  <a:pt x="386" y="6"/>
                  <a:pt x="384" y="5"/>
                  <a:pt x="382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7" y="0"/>
                </a:lnTo>
                <a:close/>
              </a:path>
            </a:pathLst>
          </a:cu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1429" name="圆角矩形 1428"/>
          <p:cNvSpPr/>
          <p:nvPr/>
        </p:nvSpPr>
        <p:spPr>
          <a:xfrm>
            <a:off x="8315325" y="1381125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pic>
        <p:nvPicPr>
          <p:cNvPr id="1430" name="图片 142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7250" y="1543050"/>
            <a:ext cx="304800" cy="304800"/>
          </a:xfrm>
          <a:prstGeom prst="rect">
            <a:avLst/>
          </a:prstGeom>
        </p:spPr>
      </p:pic>
      <p:sp>
        <p:nvSpPr>
          <p:cNvPr id="1431" name="文本框 1430" descr="{&quot;isTemplate&quot;:true,&quot;type&quot;:&quot;text&quot;}"/>
          <p:cNvSpPr txBox="1"/>
          <p:nvPr/>
        </p:nvSpPr>
        <p:spPr>
          <a:xfrm>
            <a:off x="11020425" y="1447800"/>
            <a:ext cx="523875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0EDE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3300" b="1">
              <a:solidFill>
                <a:srgbClr val="E0ED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2" name="文本框 1431" descr="{&quot;isTemplate&quot;:true,&quot;type&quot;:&quot;text&quot;}"/>
          <p:cNvSpPr txBox="1"/>
          <p:nvPr/>
        </p:nvSpPr>
        <p:spPr>
          <a:xfrm>
            <a:off x="8315325" y="2181225"/>
            <a:ext cx="32289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基于记忆的学习</a:t>
            </a:r>
            <a:endParaRPr lang="zh-CN" sz="18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3" name="文本框 1432" descr="{&quot;isTemplate&quot;:true,&quot;type&quot;:&quot;text&quot;}"/>
          <p:cNvSpPr txBox="1"/>
          <p:nvPr/>
        </p:nvSpPr>
        <p:spPr>
          <a:xfrm>
            <a:off x="8315325" y="2514600"/>
            <a:ext cx="3228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Memory-Based Learning</a:t>
            </a:r>
            <a:endParaRPr lang="en-US" sz="975" spc="4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4" name="矩形 1433"/>
          <p:cNvSpPr/>
          <p:nvPr/>
        </p:nvSpPr>
        <p:spPr>
          <a:xfrm>
            <a:off x="8315325" y="2819400"/>
            <a:ext cx="3228975" cy="9525"/>
          </a:xfrm>
          <a:prstGeom prst="rect">
            <a:avLst/>
          </a:prstGeom>
          <a:solidFill>
            <a:srgbClr val="E7EDEF"/>
          </a:solidFill>
        </p:spPr>
        <p:txBody>
          <a:bodyPr/>
          <a:lstStyle/>
          <a:p/>
        </p:txBody>
      </p:sp>
      <p:sp>
        <p:nvSpPr>
          <p:cNvPr id="1435" name="文本框 1434" descr="{&quot;isTemplate&quot;:true,&quot;type&quot;:&quot;text&quot;}"/>
          <p:cNvSpPr txBox="1"/>
          <p:nvPr/>
        </p:nvSpPr>
        <p:spPr>
          <a:xfrm>
            <a:off x="8315325" y="2981325"/>
            <a:ext cx="3228975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8000"/>
              </a:lnSpc>
            </a:pP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回忆过去在相似情境下的经验，据此调整当前的动作与判断。</a:t>
            </a:r>
            <a:endParaRPr lang="zh-CN" sz="127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36" name="图片 14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325" y="3829050"/>
            <a:ext cx="152400" cy="152400"/>
          </a:xfrm>
          <a:prstGeom prst="rect">
            <a:avLst/>
          </a:prstGeom>
        </p:spPr>
      </p:pic>
      <p:sp>
        <p:nvSpPr>
          <p:cNvPr id="1437" name="文本框 1436" descr="{&quot;isTemplate&quot;:true,&quot;type&quot;:&quot;text&quot;}"/>
          <p:cNvSpPr txBox="1"/>
          <p:nvPr/>
        </p:nvSpPr>
        <p:spPr>
          <a:xfrm>
            <a:off x="8562975" y="3810000"/>
            <a:ext cx="2981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增强情境感知能力</a:t>
            </a:r>
            <a:endParaRPr lang="zh-CN" sz="120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38" name="图片 14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325" y="4210050"/>
            <a:ext cx="152400" cy="152400"/>
          </a:xfrm>
          <a:prstGeom prst="rect">
            <a:avLst/>
          </a:prstGeom>
        </p:spPr>
      </p:pic>
      <p:sp>
        <p:nvSpPr>
          <p:cNvPr id="1439" name="文本框 1438" descr="{&quot;isTemplate&quot;:true,&quot;type&quot;:&quot;text&quot;}"/>
          <p:cNvSpPr txBox="1"/>
          <p:nvPr/>
        </p:nvSpPr>
        <p:spPr>
          <a:xfrm>
            <a:off x="8562975" y="4191000"/>
            <a:ext cx="2981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让决策参考历史经验</a:t>
            </a:r>
            <a:endParaRPr lang="zh-CN" sz="120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0" name="圆角矩形 1439"/>
          <p:cNvSpPr/>
          <p:nvPr/>
        </p:nvSpPr>
        <p:spPr>
          <a:xfrm>
            <a:off x="8315325" y="5724525"/>
            <a:ext cx="3228975" cy="466725"/>
          </a:xfrm>
          <a:prstGeom prst="roundRect">
            <a:avLst>
              <a:gd name="adj" fmla="val 14286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1441" name="文本框 1440" descr="{&quot;isTemplate&quot;:true,&quot;type&quot;:&quot;text&quot;}"/>
          <p:cNvSpPr txBox="1"/>
          <p:nvPr/>
        </p:nvSpPr>
        <p:spPr>
          <a:xfrm>
            <a:off x="8448675" y="5829300"/>
            <a:ext cx="29622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125">
                <a:solidFill>
                  <a:srgbClr val="D7EEF1"/>
                </a:solidFill>
                <a:latin typeface="微软雅黑" panose="020B0503020204020204" charset="-122"/>
                <a:ea typeface="微软雅黑" panose="020B0503020204020204" charset="-122"/>
              </a:rPr>
              <a:t>把历史经验变成当前判断依据</a:t>
            </a:r>
            <a:endParaRPr lang="zh-CN" sz="1125">
              <a:solidFill>
                <a:srgbClr val="D7EEF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2" name="文本框 1441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3" name="文本框 1442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09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从范式到算法：三层递进&lt;/Text&gt;&#10;            &lt;/Box&gt;&#10;&#10;            {/* 上：三层递进图 */}&#10;            &lt;Box style={{&#10;                marginTop: 14, padding: '16px 22px 10px', borderRadius: 10,&#10;                background: '#F8FBFB', border: '1px solid #E2EBED', flexDirection: 'column',&#10;            }}&gt;&#10;                &lt;Box style={{ flexDirection: 'row', justifyContent: 'space-between', alignItems: 'center' }}&gt;&#10;                    &lt;Text style={{ fontSize: 18, fontWeight: 'bold', color: '#152129' }}&gt;适应能力的三个建设层次&lt;/Text&gt;&#10;                    &lt;Text style={{ fontSize: 13, color: '#8695A4' }}&gt;概念示意&lt;/Text&gt;&#10;                &lt;/Box&gt;&#10;                &lt;svg width={1136} height={224} viewBox='0 0 1136 224' style={{ marginTop: 6 }}&gt;&#10;                    &lt;defs&gt;&#10;                        &lt;marker id='ar10' markerWidth='10' markerHeight='10' refX='8' refY='5' orient='auto'&gt;&#10;                            &lt;path d='M0,0 L10,5 L0,10 z' fill='#39A0AC' /&gt;&#10;                        &lt;/marker&gt;&#10;                    &lt;/defs&gt;&#10;&#10;                    {/* 层一 */}&#10;                    &lt;rect x='0' y='4' width='1136' height='62' rx='9' fill='#EAF3F4' stroke='#C9E0E3' strokeWidth='1.4' /&gt;&#10;                    &lt;text x='30' y='44' fontSize='30' fontWeight='bold' fill='#007581' opacity='0.55'&gt;01&lt;/text&gt;&#10;                    &lt;text x='86' y='34' fontSize='20' fontWeight='bold' fill='#00505A'&gt;学习范式&lt;/text&gt;&#10;                    &lt;text x='86' y='54' fontSize='13' fill='#5B6E7E'&gt;从什么信号学&lt;/text&gt;&#10;                    &lt;rect x='296' y='21' width='84' height='28' rx='14' fill='#FFFFFF' /&gt;&#10;                    &lt;text x='338' y='40' fontSize='14' fill='#00646E' textAnchor='middle'&gt;奖励信号&lt;/text&gt;&#10;                    &lt;rect x='392' y='21' width='84' height='28' rx='14' fill='#FFFFFF' /&gt;&#10;                    &lt;text x='434' y='40' fontSize='14' fill='#00646E' textAnchor='middle'&gt;标注样本&lt;/text&gt;&#10;                    &lt;rect x='488' y='21' width='84' height='28' rx='14' fill='#FFFFFF' /&gt;&#10;                    &lt;text x='530' y='40' fontSize='14' fill='#00646E' textAnchor='middle'&gt;数据结构&lt;/text&gt;&#10;                    &lt;rect x='584' y='21' width='84' height='28' rx='14' fill='#FFFFFF' /&gt;&#10;                    &lt;text x='626' y='40' fontSize='14' fill='#00646E' textAnchor='middle'&gt;少量示例&lt;/text&gt;&#10;                    &lt;rect x='680' y='21' width='112' height='28' rx='14' fill='#FFFFFF' /&gt;&#10;                    &lt;text x='736' y='40' fontSize='14' fill='#00646E' textAnchor='middle'&gt;实时数据流&lt;/text&gt;&#10;                    &lt;rect x='804' y='21' width='84' height='28' rx='14' fill='#FFFFFF' /&gt;&#10;                    &lt;text x='846' y='40' fontSize='14' fill='#00646E' textAnchor='middle'&gt;历史经验&lt;/text&gt;&#10;&#10;                    {/* 层二 */}&#10;                    &lt;rect x='0' y='82' width='1136' height='62' rx='9' fill='#D5E9EB' stroke='#A9CFD4' strokeWidth='1.4' /&gt;&#10;                    &lt;text x='30' y='122' fontSize='30' fontWeight='bold' fill='#007581' opacity='0.7'&gt;02&lt;/text&gt;&#10;                    &lt;text x='86' y='112' fontSize='20' fontWeight='bold' fill='#00434C'&gt;对齐算法&lt;/text&gt;&#10;                    &lt;text x='86' y='132' fontSize='13' fill='#3F5866'&gt;怎么稳定地学&lt;/text&gt;&#10;                    &lt;rect x='296' y='99' width='200' height='28' rx='14' fill='#FFFFFF' /&gt;&#10;                    &lt;text x='403' y='118' fontSize='14' fill='#00565F' textAnchor='middle'&gt;　PPO：裁剪 + 信任域&lt;/text&gt;&#10;                    &lt;rect x='508' y='99' width='172' height='28' rx='14' fill='#FFFFFF' /&gt;&#10;                    &lt;text x='601' y='118' fontSize='14' fill='#00565F' textAnchor='middle'&gt;　DPO：直接优化偏好&lt;/text&gt;&#10;&#10;                    {/* 层三 */}&#10;                    &lt;rect x='0' y='160' width='1136' height='62' rx='9' fill='#00505A' stroke='#00505A' strokeWidth='1.4' /&gt;&#10;                    &lt;text x='30' y='200' fontSize='30' fontWeight='bold' fill='#4FC0CB'&gt;03&lt;/text&gt;&#10;                    &lt;text x='86' y='190' fontSize='20' fontWeight='bold' fill='#FFFFFF'&gt;自进化系统&lt;/text&gt;&#10;                    &lt;text x='86' y='210' fontSize='13' fill='#8FC3CB'&gt;在什么载体上进化&lt;/text&gt;&#10;                    &lt;rect x='296' y='177' width='88' height='28' rx='14' fill='rgba(143,211,218,0.22)' /&gt;&#10;                    &lt;text x='340' y='196' fontSize='14' fill='#BFE7EB' textAnchor='middle'&gt;SICA&lt;/text&gt;&#10;                    &lt;rect x='396' y='177' width='144' height='28' rx='14' fill='rgba(143,211,218,0.22)' /&gt;&#10;                    &lt;text x='468' y='196' fontSize='14' fill='#BFE7EB' textAnchor='middle'&gt;AlphaEvolve&lt;/text&gt;&#10;                    &lt;rect x='552' y='177' width='144' height='28' rx='14' fill='rgba(143,211,218,0.22)' /&gt;&#10;                    &lt;text x='624' y='196' fontSize='14' fill='#BFE7EB' textAnchor='middle'&gt;OpenEvolve&lt;/text&gt;&#10;&#10;                    {/* 递进箭头 */}&#10;                    &lt;line x1='46' y1='70' x2='46' y2='78' stroke='#39A0AC' strokeWidth='2.4' markerEnd='url(#ar10)' /&gt;&#10;                    &lt;line x1='46' y1='148' x2='46' y2='156' stroke='#39A0AC' strokeWidth='2.4' markerEnd='url(#ar10)' /&gt;&#10;                &lt;/svg&gt;&#10;            &lt;/Box&gt;&#10;&#10;            {/* 下：三卡 */}&#10;            &lt;Box style={{ flexDirection: 'row', gap: 16, flex: 1, marginTop: 14 }}&gt;&#10;                {[&#10;                    { k: '范式回答', v: '「从什么信号学」', d: '决定可用的学习来源与数据形态' },&#10;                    { k: '算法回答', v: '「怎么稳定地学」', d: '保证一次更新不会毁掉已有能力' },&#10;                    { k: '系统回答', v: '「在什么载体上进化」', d: '决定学习是改权重，还是直接改代码' },&#10;                ].map((c, i) =&gt; (&#10;                    &lt;Box key={i} style={{&#10;                        flex: 1, flexDirection: 'column', justifyContent: 'center', gap: 10,&#10;                        padding: '0 22px', borderRadius: 9, background: i === 1 ? '#E4F0F2' : '#F4F9FA',&#10;                        border: '1px solid #CFE0E3', borderTop: '4px solid #007581',&#10;                    }}&gt;&#10;                        &lt;Text style={{ fontSize: 13, color: '#007581', fontWeight: 'bold', letterSpacing: 1.5 }}&gt;{c.k}&lt;/Text&gt;&#10;                        &lt;Text style={{ fontSize: 22, fontWeight: 'bold', color: '#152129' }}&gt;{c.v}&lt;/Text&gt;&#10;                        &lt;Text style={{ fontSize: 16, color: '#5B6E7E', lineHeight: 1.5 }}&gt;{c.d}&lt;/Text&gt;&#10;                    &lt;/Box&gt;&#10;                ))}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10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600075" y="561975"/>
            <a:ext cx="3562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从范式到算法：三层递进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419100" y="1104900"/>
            <a:ext cx="11353800" cy="2647950"/>
          </a:xfrm>
          <a:prstGeom prst="roundRect">
            <a:avLst>
              <a:gd name="adj" fmla="val 3597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628650" y="1257300"/>
            <a:ext cx="1885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适应能力的三个建设层次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11068050" y="1285875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概念示意</a:t>
            </a:r>
            <a:endParaRPr lang="zh-CN" sz="9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" y="1524000"/>
            <a:ext cx="10820400" cy="2133600"/>
          </a:xfrm>
          <a:prstGeom prst="rect">
            <a:avLst/>
          </a:prstGeom>
        </p:spPr>
      </p:pic>
      <p:sp>
        <p:nvSpPr>
          <p:cNvPr id="40" name="圆角矩形 39"/>
          <p:cNvSpPr/>
          <p:nvPr/>
        </p:nvSpPr>
        <p:spPr>
          <a:xfrm>
            <a:off x="419100" y="3924300"/>
            <a:ext cx="3686175" cy="2495550"/>
          </a:xfrm>
          <a:prstGeom prst="roundRect">
            <a:avLst>
              <a:gd name="adj" fmla="val 3435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41" name="任意多边形 40"/>
          <p:cNvSpPr/>
          <p:nvPr/>
        </p:nvSpPr>
        <p:spPr>
          <a:xfrm>
            <a:off x="419100" y="3924300"/>
            <a:ext cx="3686175" cy="2495550"/>
          </a:xfrm>
          <a:custGeom>
            <a:avLst/>
            <a:gdLst/>
            <a:ahLst/>
            <a:cxnLst/>
            <a:rect l="0" t="0" r="0" b="0"/>
            <a:pathLst>
              <a:path w="387" h="262">
                <a:moveTo>
                  <a:pt x="378" y="0"/>
                </a:moveTo>
                <a:cubicBezTo>
                  <a:pt x="383" y="0"/>
                  <a:pt x="386" y="3"/>
                  <a:pt x="387" y="8"/>
                </a:cubicBezTo>
                <a:cubicBezTo>
                  <a:pt x="386" y="5"/>
                  <a:pt x="384" y="4"/>
                  <a:pt x="382" y="4"/>
                </a:cubicBezTo>
                <a:lnTo>
                  <a:pt x="5" y="4"/>
                </a:lnTo>
                <a:cubicBezTo>
                  <a:pt x="3" y="4"/>
                  <a:pt x="1" y="6"/>
                  <a:pt x="0" y="8"/>
                </a:cubicBezTo>
                <a:cubicBezTo>
                  <a:pt x="0" y="4"/>
                  <a:pt x="4" y="0"/>
                  <a:pt x="9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628650" y="4714875"/>
            <a:ext cx="3267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范式回答</a:t>
            </a:r>
            <a:endParaRPr lang="zh-CN" sz="975" b="1" spc="113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28650" y="4962525"/>
            <a:ext cx="32670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「从什么信号学」</a:t>
            </a:r>
            <a:endParaRPr lang="zh-CN" sz="16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628650" y="5314950"/>
            <a:ext cx="32670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5B6E7E"/>
                </a:solidFill>
                <a:latin typeface="微软雅黑" panose="020B0503020204020204" charset="-122"/>
                <a:ea typeface="微软雅黑" panose="020B0503020204020204" charset="-122"/>
              </a:rPr>
              <a:t>决定可用的学习来源与数据形态</a:t>
            </a:r>
            <a:endParaRPr lang="zh-CN" sz="1200">
              <a:solidFill>
                <a:srgbClr val="5B6E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4257675" y="3924300"/>
            <a:ext cx="3676650" cy="2495550"/>
          </a:xfrm>
          <a:prstGeom prst="roundRect">
            <a:avLst>
              <a:gd name="adj" fmla="val 3435"/>
            </a:avLst>
          </a:prstGeom>
          <a:solidFill>
            <a:srgbClr val="E4F0F2"/>
          </a:solidFill>
        </p:spPr>
        <p:txBody>
          <a:bodyPr/>
          <a:lstStyle/>
          <a:p/>
        </p:txBody>
      </p:sp>
      <p:sp>
        <p:nvSpPr>
          <p:cNvPr id="46" name="任意多边形 45"/>
          <p:cNvSpPr/>
          <p:nvPr/>
        </p:nvSpPr>
        <p:spPr>
          <a:xfrm>
            <a:off x="4257675" y="3924300"/>
            <a:ext cx="3676650" cy="2495550"/>
          </a:xfrm>
          <a:custGeom>
            <a:avLst/>
            <a:gdLst/>
            <a:ahLst/>
            <a:cxnLst/>
            <a:rect l="0" t="0" r="0" b="0"/>
            <a:pathLst>
              <a:path w="386" h="262">
                <a:moveTo>
                  <a:pt x="377" y="0"/>
                </a:moveTo>
                <a:cubicBezTo>
                  <a:pt x="382" y="0"/>
                  <a:pt x="385" y="3"/>
                  <a:pt x="386" y="8"/>
                </a:cubicBezTo>
                <a:cubicBezTo>
                  <a:pt x="385" y="5"/>
                  <a:pt x="383" y="4"/>
                  <a:pt x="381" y="4"/>
                </a:cubicBezTo>
                <a:lnTo>
                  <a:pt x="5" y="4"/>
                </a:lnTo>
                <a:cubicBezTo>
                  <a:pt x="3" y="4"/>
                  <a:pt x="1" y="6"/>
                  <a:pt x="0" y="8"/>
                </a:cubicBezTo>
                <a:cubicBezTo>
                  <a:pt x="0" y="4"/>
                  <a:pt x="4" y="0"/>
                  <a:pt x="9" y="0"/>
                </a:cubicBezTo>
                <a:lnTo>
                  <a:pt x="377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4467225" y="4714875"/>
            <a:ext cx="3257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算法回答</a:t>
            </a:r>
            <a:endParaRPr lang="zh-CN" sz="975" b="1" spc="113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4467225" y="4962525"/>
            <a:ext cx="3257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「怎么稳定地学」</a:t>
            </a:r>
            <a:endParaRPr lang="zh-CN" sz="16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4467225" y="5314950"/>
            <a:ext cx="32575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5B6E7E"/>
                </a:solidFill>
                <a:latin typeface="微软雅黑" panose="020B0503020204020204" charset="-122"/>
                <a:ea typeface="微软雅黑" panose="020B0503020204020204" charset="-122"/>
              </a:rPr>
              <a:t>保证一次更新不会毁掉已有能力</a:t>
            </a:r>
            <a:endParaRPr lang="zh-CN" sz="1200">
              <a:solidFill>
                <a:srgbClr val="5B6E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8086725" y="3924300"/>
            <a:ext cx="3686175" cy="2495550"/>
          </a:xfrm>
          <a:prstGeom prst="roundRect">
            <a:avLst>
              <a:gd name="adj" fmla="val 3435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51" name="任意多边形 50"/>
          <p:cNvSpPr/>
          <p:nvPr/>
        </p:nvSpPr>
        <p:spPr>
          <a:xfrm>
            <a:off x="8086725" y="3924300"/>
            <a:ext cx="3686175" cy="2495550"/>
          </a:xfrm>
          <a:custGeom>
            <a:avLst/>
            <a:gdLst/>
            <a:ahLst/>
            <a:cxnLst/>
            <a:rect l="0" t="0" r="0" b="0"/>
            <a:pathLst>
              <a:path w="387" h="262">
                <a:moveTo>
                  <a:pt x="378" y="0"/>
                </a:moveTo>
                <a:cubicBezTo>
                  <a:pt x="383" y="0"/>
                  <a:pt x="386" y="3"/>
                  <a:pt x="387" y="8"/>
                </a:cubicBezTo>
                <a:cubicBezTo>
                  <a:pt x="386" y="5"/>
                  <a:pt x="384" y="4"/>
                  <a:pt x="382" y="4"/>
                </a:cubicBezTo>
                <a:lnTo>
                  <a:pt x="5" y="4"/>
                </a:lnTo>
                <a:cubicBezTo>
                  <a:pt x="3" y="4"/>
                  <a:pt x="1" y="6"/>
                  <a:pt x="0" y="8"/>
                </a:cubicBezTo>
                <a:cubicBezTo>
                  <a:pt x="0" y="4"/>
                  <a:pt x="4" y="0"/>
                  <a:pt x="9" y="0"/>
                </a:cubicBezTo>
                <a:lnTo>
                  <a:pt x="378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296275" y="4714875"/>
            <a:ext cx="3267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系统回答</a:t>
            </a:r>
            <a:endParaRPr lang="zh-CN" sz="975" b="1" spc="113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8296275" y="4962525"/>
            <a:ext cx="32670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「在什么载体上进化」</a:t>
            </a:r>
            <a:endParaRPr lang="zh-CN" sz="16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8296275" y="5314950"/>
            <a:ext cx="32670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5B6E7E"/>
                </a:solidFill>
                <a:latin typeface="微软雅黑" panose="020B0503020204020204" charset="-122"/>
                <a:ea typeface="微软雅黑" panose="020B0503020204020204" charset="-122"/>
              </a:rPr>
              <a:t>决定学习是改权重，还是直接改代码</a:t>
            </a:r>
            <a:endParaRPr lang="zh-CN" sz="1200">
              <a:solidFill>
                <a:srgbClr val="5B6E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10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PPO：把更新限制在信任域内&lt;/Text&gt;&#10;                &lt;Box style={{ padding: '4px 12px', background: '#E3F0F2', borderRadius: 4 }}&gt;&#10;                    &lt;Text style={{ fontSize: 14, color: '#00646E', fontWeight: 'bold' }}&gt;对齐算法 · 一&lt;/Text&gt;&#10;                &lt;/Box&gt;&#10;            &lt;/Box&gt;&#10;&#10;            &lt;Box style={{ flexDirection: 'row', gap: 22, flex: 1, marginTop: 14 }}&gt;&#10;&#10;                {/* 左标题栏 */}&#10;                &lt;Box style={{&#10;                    width: 300, flexDirection: 'column', justifyContent: 'space-between',&#10;                    background: 'linear-gradient(165deg, #00505A 0%, #007581 100%)',&#10;                    borderRadius: 10, padding: '26px 24px',&#10;                }}&gt;&#10;                    &lt;Box style={{ flexDirection: 'column', gap: 10 }}&gt;&#10;                        &lt;Text style={{ fontSize: 13, color: '#7FCBD4', letterSpacing: 2, fontWeight: 'bold' }}&gt;PROXIMAL POLICY OPTIMIZATION&lt;/Text&gt;&#10;                        &lt;Text style={{ fontSize: 40, fontWeight: 'bold', color: '#FFFFFF', lineHeight: 1.15, marginTop: 4 }}&gt;PPO&lt;/Text&gt;&#10;                        &lt;Text style={{ fontSize: 19, color: '#BFE7EB', lineHeight: 1.5, marginTop: 6 }}&gt;近端策略优化&lt;/Text&gt;&#10;                        &lt;Box style={{ width: 46, height: 3, background: '#4FC0CB', marginTop: 8 }} /&gt;&#10;                    &lt;/Box&gt;&#10;                    &lt;Box style={{ flexDirection: 'column', gap: 12 }}&gt;&#10;                        &lt;Text style={{ fontSize: 16, color: '#D7EEF1', lineHeight: 1.7 }}&gt;&#10;                            适用于动作空间连续的场景，例如控制机器人关节、控制游戏角色。&#10;                        &lt;/Text&gt;&#10;                        &lt;Box style={{ padding: '12px 14px', background: 'rgba(143,211,218,0.16)', borderRadius: 7 }}&gt;&#10;                            &lt;Text style={{ fontSize: 16, color: '#FFFFFF', lineHeight: 1.55, fontWeight: 'bold' }}&gt;&#10;                                核心：对策略做小步、谨慎的更新，避免剧烈变化导致性能崩溃。&#10;                            &lt;/Text&gt;&#10;                        &lt;/Box&gt;&#10;                    &lt;/Box&gt;&#10;                &lt;/Box&gt;&#10;&#10;                {/* 右：三步 */}&#10;                &lt;Box style={{ flex: 1, flexDirection: 'column', gap: 14 }}&gt;&#10;                    {[&#10;                        { n: '1', t: '收集数据', d: '智能体以当前策略与环境交互（例如玩一局游戏），收集一批「状态—动作—奖励」轨迹。', ic: 'database' },&#10;                        { n: '2', t: '评估替代目标', d: '估算一次策略更新会如何改变期望奖励；但并不一味最大化该量，而是使用带「裁剪」的替代目标函数。', ic: 'scale-balanced' },&#10;                        { n: '3', t: '裁剪机制', d: '在当前策略周围划定「信任域」或安全区，禁止更新与现行策略偏离过大——如同给智能体装上安全阀。', ic: 'shield-halved' },&#10;                    ].map((c, i) =&gt; (&#10;                        &lt;Box key={i} style={{&#10;                            flex: 1, flexDirection: 'row', gap: 20, alignItems: 'center',&#10;                            padding: '0 24px', borderRadius: 10,&#10;                            background: i === 2 ? '#EAF3F4' : '#FFFFFF',&#10;                            border: '1px solid #DFEAEC',&#10;                            borderLeft: i === 2 ? '5px solid #007581' : '1px solid #DFEAEC',&#10;                        }}&gt;&#10;                            &lt;Box style={{&#10;                                width: 60, height: 60, borderRadius: 30,&#10;                                background: i === 2 ? '#007581' : '#F0F7F8',&#10;                                justifyContent: 'center', alignItems: 'center',&#10;                            }}&gt;&#10;                                &lt;Text style={{ fontSize: 26, fontWeight: 'bold', color: i === 2 ? '#FFFFFF' : '#007581' }}&gt;{c.n}&lt;/Text&gt;&#10;                            &lt;/Box&gt;&#10;                            &lt;Box style={{ flex: 1, flexDirection: 'column', gap: 7 }}&gt;&#10;                                &lt;Box style={{ flexDirection: 'row', alignItems: 'center', gap: 12 }}&gt;&#10;                                    &lt;Text style={{ fontSize: 23, fontWeight: 'bold', color: '#152129' }}&gt;{c.t}&lt;/Text&gt;&#10;                                    {i === 2 &amp;&amp; (&#10;                                        &lt;Box style={{ padding: '3px 10px', background: '#00505A', borderRadius: 4 }}&gt;&#10;                                            &lt;Text style={{ fontSize: 12, color: '#8FD3DA', fontWeight: 'bold' }}&gt;稳定性的关键&lt;/Text&gt;&#10;                                        &lt;/Box&gt;&#10;                                    )}&#10;                                &lt;/Box&gt;&#10;                                &lt;Text style={{ fontSize: 17, color: '#4E6070', lineHeight: 1.6 }}&gt;{c.d}&lt;/Text&gt;&#10;                            &lt;/Box&gt;&#10;                            &lt;FAIcon name={c.ic} style={{ fill: '#39A0AC', width: 28, height: 28, opacity: 0.75 }} /&gt;&#10;                        &lt;/Box&gt;&#10;                    ))}&#10;                &lt;/Box&gt;&#10;            &lt;/Box&gt;&#10;&#10;            &lt;Box style={{&#10;                flexDirection: 'row', alignItems: 'center', gap: 14, marginTop: 14,&#10;                padding: '13px 22px', background: '#F4F9FA', borderLeft: '5px solid #007581', borderRadius: 8,&#10;            }}&gt;&#10;                &lt;FAIcon name='arrow-right-long' style={{ fill: '#007581', width: 20, height: 20 }} /&gt;&#10;                &lt;Text style={{ fontSize: 18, color: '#00505A', lineHeight: 1.5, flex: 1 }}&gt;&#10;                    简言之，PPO 在「提升性能」与「贴近已知可行策略」之间取得平衡，&#10;                    &lt;span style={{ fontWeight: 'bold' }}&gt;减少训练中的灾难性失败&lt;/span&gt;，使学习更稳定。&#10;                &lt;/Text&gt;&#10;            &lt;/Box&gt;&#10;&#10;            &lt;Box style={{ flexDirection: 'row', justifyContent: 'space-between', alignItems: 'center', height: 26, marginTop: 8 }}&gt;&#10;                &lt;Text style={{ fontSize: 13, color: '#A8B4BE' }}&gt;第九组 · 学习与适应&lt;/Text&gt;&#10;                &lt;Text style={{ fontSize: 14, color: '#007581', fontWeight: 'bold' }}&gt;11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9" name="矩形 5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600075" y="561975"/>
            <a:ext cx="42576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PPO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：把更新限制在信任域内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4991100" y="638175"/>
            <a:ext cx="1038225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5105400" y="676275"/>
            <a:ext cx="809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对齐算法</a:t>
            </a: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lang="zh-CN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419100" y="1104900"/>
            <a:ext cx="2857500" cy="4619625"/>
          </a:xfrm>
          <a:prstGeom prst="roundRect">
            <a:avLst>
              <a:gd name="adj" fmla="val 3333"/>
            </a:avLst>
          </a:prstGeom>
          <a:gradFill>
            <a:gsLst>
              <a:gs pos="0">
                <a:srgbClr val="00505A"/>
              </a:gs>
              <a:gs pos="100000">
                <a:srgbClr val="007581"/>
              </a:gs>
            </a:gsLst>
            <a:lin ang="4500000" scaled="1"/>
          </a:gradFill>
        </p:spPr>
        <p:txBody>
          <a:bodyPr/>
          <a:lstStyle/>
          <a:p/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647700" y="1352550"/>
            <a:ext cx="2400300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PROXIMAL POLICY OPTIMIZATION</a:t>
            </a:r>
            <a:endParaRPr lang="en-US" sz="975" b="1" spc="150">
              <a:solidFill>
                <a:srgbClr val="7FCB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647700" y="1790700"/>
            <a:ext cx="24003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PPO</a:t>
            </a:r>
            <a:endParaRPr 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47700" y="2476500"/>
            <a:ext cx="24003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近端策略优化</a:t>
            </a:r>
            <a:endParaRPr lang="zh-CN" sz="1425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47700" y="2981325"/>
            <a:ext cx="438150" cy="28575"/>
          </a:xfrm>
          <a:prstGeom prst="rect">
            <a:avLst/>
          </a:prstGeom>
          <a:solidFill>
            <a:srgbClr val="4FC0CB"/>
          </a:solidFill>
        </p:spPr>
        <p:txBody>
          <a:bodyPr/>
          <a:lstStyle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647700" y="3648075"/>
            <a:ext cx="24003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D7EEF1"/>
                </a:solidFill>
                <a:latin typeface="微软雅黑" panose="020B0503020204020204" charset="-122"/>
                <a:ea typeface="微软雅黑" panose="020B0503020204020204" charset="-122"/>
              </a:rPr>
              <a:t>适用于动作空间连续的场景，例如控制机器人关节、控制游戏角色。</a:t>
            </a:r>
            <a:endParaRPr lang="zh-CN" sz="1200">
              <a:solidFill>
                <a:srgbClr val="D7EEF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647700" y="4391025"/>
            <a:ext cx="2400300" cy="1085850"/>
          </a:xfrm>
          <a:prstGeom prst="roundRect">
            <a:avLst>
              <a:gd name="adj" fmla="val 6140"/>
            </a:avLst>
          </a:prstGeom>
          <a:solidFill>
            <a:srgbClr val="8FD3DA">
              <a:alpha val="16000"/>
            </a:srgbClr>
          </a:solidFill>
        </p:spPr>
        <p:txBody>
          <a:bodyPr/>
          <a:lstStyle/>
          <a:p/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81050" y="4505325"/>
            <a:ext cx="2133600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核心：对策略做小步、谨慎的更新，避免剧烈变化导致性能崩溃。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3495675" y="1104900"/>
            <a:ext cx="8286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75" name="任意多边形 74"/>
          <p:cNvSpPr/>
          <p:nvPr/>
        </p:nvSpPr>
        <p:spPr>
          <a:xfrm>
            <a:off x="3495675" y="1104900"/>
            <a:ext cx="8286750" cy="1238250"/>
          </a:xfrm>
          <a:custGeom>
            <a:avLst/>
            <a:gdLst/>
            <a:ahLst/>
            <a:cxnLst/>
            <a:rect l="0" t="0" r="0" b="0"/>
            <a:pathLst>
              <a:path w="870" h="130">
                <a:moveTo>
                  <a:pt x="9" y="0"/>
                </a:moveTo>
                <a:cubicBezTo>
                  <a:pt x="5" y="0"/>
                  <a:pt x="1" y="4"/>
                  <a:pt x="1" y="9"/>
                </a:cubicBezTo>
                <a:lnTo>
                  <a:pt x="1" y="121"/>
                </a:lnTo>
                <a:cubicBezTo>
                  <a:pt x="1" y="125"/>
                  <a:pt x="3" y="128"/>
                  <a:pt x="7" y="130"/>
                </a:cubicBezTo>
                <a:cubicBezTo>
                  <a:pt x="3" y="128"/>
                  <a:pt x="0" y="124"/>
                  <a:pt x="0" y="12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FEAEC"/>
          </a:solidFill>
        </p:spPr>
        <p:txBody>
          <a:bodyPr/>
          <a:lstStyle/>
          <a:p/>
        </p:txBody>
      </p:sp>
      <p:sp>
        <p:nvSpPr>
          <p:cNvPr id="76" name="圆角矩形 75"/>
          <p:cNvSpPr/>
          <p:nvPr/>
        </p:nvSpPr>
        <p:spPr>
          <a:xfrm>
            <a:off x="3724275" y="143827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F0F7F8"/>
          </a:solidFill>
        </p:spPr>
        <p:txBody>
          <a:bodyPr/>
          <a:lstStyle/>
          <a:p/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3933825" y="1571625"/>
            <a:ext cx="1619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9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4486275" y="1400175"/>
            <a:ext cx="876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收集数据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4486275" y="1733550"/>
            <a:ext cx="66008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智能体以当前策略与环境交互（例如玩一局游戏），收集一批「状态—动作—奖励」轨迹。</a:t>
            </a:r>
            <a:endParaRPr lang="zh-CN" sz="127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3495675" y="2476500"/>
            <a:ext cx="8286750" cy="1562100"/>
          </a:xfrm>
          <a:prstGeom prst="roundRect">
            <a:avLst>
              <a:gd name="adj" fmla="val 6098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1" name="任意多边形 80"/>
          <p:cNvSpPr/>
          <p:nvPr/>
        </p:nvSpPr>
        <p:spPr>
          <a:xfrm>
            <a:off x="3495675" y="2476500"/>
            <a:ext cx="8286750" cy="1562100"/>
          </a:xfrm>
          <a:custGeom>
            <a:avLst/>
            <a:gdLst/>
            <a:ahLst/>
            <a:cxnLst/>
            <a:rect l="0" t="0" r="0" b="0"/>
            <a:pathLst>
              <a:path w="870" h="164">
                <a:moveTo>
                  <a:pt x="9" y="0"/>
                </a:moveTo>
                <a:cubicBezTo>
                  <a:pt x="5" y="0"/>
                  <a:pt x="1" y="4"/>
                  <a:pt x="1" y="9"/>
                </a:cubicBezTo>
                <a:lnTo>
                  <a:pt x="1" y="155"/>
                </a:lnTo>
                <a:cubicBezTo>
                  <a:pt x="1" y="159"/>
                  <a:pt x="3" y="162"/>
                  <a:pt x="7" y="164"/>
                </a:cubicBezTo>
                <a:cubicBezTo>
                  <a:pt x="3" y="162"/>
                  <a:pt x="0" y="158"/>
                  <a:pt x="0" y="15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FEAEC"/>
          </a:solidFill>
        </p:spPr>
        <p:txBody>
          <a:bodyPr/>
          <a:lstStyle/>
          <a:p/>
        </p:txBody>
      </p:sp>
      <p:sp>
        <p:nvSpPr>
          <p:cNvPr id="82" name="圆角矩形 81"/>
          <p:cNvSpPr/>
          <p:nvPr/>
        </p:nvSpPr>
        <p:spPr>
          <a:xfrm>
            <a:off x="3724275" y="29718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F0F7F8"/>
          </a:solidFill>
        </p:spPr>
        <p:txBody>
          <a:bodyPr/>
          <a:lstStyle/>
          <a:p/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3933825" y="3105150"/>
            <a:ext cx="1619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9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4486275" y="2781300"/>
            <a:ext cx="13144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评估替代目标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4486275" y="3114675"/>
            <a:ext cx="6600825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估算一次策略更新会如何改变期望奖励；但并不一味最大化该量，而是使用带「裁剪」的替代目标函数。</a:t>
            </a:r>
            <a:endParaRPr lang="zh-CN" sz="127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3533775" y="4171950"/>
            <a:ext cx="8286750" cy="1552575"/>
          </a:xfrm>
          <a:prstGeom prst="roundRect">
            <a:avLst>
              <a:gd name="adj" fmla="val 6135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87" name="任意多边形 86"/>
          <p:cNvSpPr/>
          <p:nvPr/>
        </p:nvSpPr>
        <p:spPr>
          <a:xfrm>
            <a:off x="3533775" y="4171950"/>
            <a:ext cx="8286750" cy="1552575"/>
          </a:xfrm>
          <a:custGeom>
            <a:avLst/>
            <a:gdLst/>
            <a:ahLst/>
            <a:cxnLst/>
            <a:rect l="0" t="0" r="0" b="0"/>
            <a:pathLst>
              <a:path w="870" h="16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58"/>
                </a:lnTo>
                <a:cubicBezTo>
                  <a:pt x="5" y="160"/>
                  <a:pt x="7" y="162"/>
                  <a:pt x="9" y="163"/>
                </a:cubicBezTo>
                <a:cubicBezTo>
                  <a:pt x="4" y="162"/>
                  <a:pt x="0" y="158"/>
                  <a:pt x="0" y="15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8" name="圆角矩形 87"/>
          <p:cNvSpPr/>
          <p:nvPr/>
        </p:nvSpPr>
        <p:spPr>
          <a:xfrm>
            <a:off x="3762375" y="46672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3971925" y="4800600"/>
            <a:ext cx="1619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4524375" y="4467225"/>
            <a:ext cx="876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裁剪机制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5514975" y="4505325"/>
            <a:ext cx="876300" cy="200025"/>
          </a:xfrm>
          <a:prstGeom prst="roundRect">
            <a:avLst>
              <a:gd name="adj" fmla="val 19048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5610225" y="4533900"/>
            <a:ext cx="685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8FD3DA"/>
                </a:solidFill>
                <a:latin typeface="微软雅黑" panose="020B0503020204020204" charset="-122"/>
                <a:ea typeface="微软雅黑" panose="020B0503020204020204" charset="-122"/>
              </a:rPr>
              <a:t>稳定性的关键</a:t>
            </a:r>
            <a:endParaRPr lang="zh-CN" sz="900" b="1">
              <a:solidFill>
                <a:srgbClr val="8FD3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4524375" y="4800600"/>
            <a:ext cx="6562725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在当前策略周围划定「信任域」或安全区，禁止更新与现行策略偏离过大——如同给智能体装上安全阀。</a:t>
            </a:r>
            <a:endParaRPr lang="zh-CN" sz="127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466725" y="5857875"/>
            <a:ext cx="11353800" cy="561975"/>
          </a:xfrm>
          <a:prstGeom prst="roundRect">
            <a:avLst>
              <a:gd name="adj" fmla="val 13559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95" name="任意多边形 94"/>
          <p:cNvSpPr/>
          <p:nvPr/>
        </p:nvSpPr>
        <p:spPr>
          <a:xfrm>
            <a:off x="466725" y="5857875"/>
            <a:ext cx="11353800" cy="561975"/>
          </a:xfrm>
          <a:custGeom>
            <a:avLst/>
            <a:gdLst/>
            <a:ahLst/>
            <a:cxnLst/>
            <a:rect l="0" t="0" r="0" b="0"/>
            <a:pathLst>
              <a:path w="1192" h="59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6"/>
                </a:lnTo>
                <a:cubicBezTo>
                  <a:pt x="5" y="58"/>
                  <a:pt x="6" y="59"/>
                  <a:pt x="8" y="59"/>
                </a:cubicBezTo>
                <a:cubicBezTo>
                  <a:pt x="3" y="59"/>
                  <a:pt x="0" y="55"/>
                  <a:pt x="0" y="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6275" y="6048375"/>
            <a:ext cx="190500" cy="190500"/>
          </a:xfrm>
          <a:prstGeom prst="rect">
            <a:avLst/>
          </a:prstGeom>
        </p:spPr>
      </p:pic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1000125" y="5981700"/>
            <a:ext cx="105632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简言之，</a:t>
            </a:r>
            <a:r>
              <a:rPr lang="en-US" sz="1350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PPO </a:t>
            </a:r>
            <a:r>
              <a:rPr lang="zh-CN" sz="1350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在「提升性能」与「贴近已知可行策略」之间取得平衡，</a:t>
            </a:r>
            <a:r>
              <a:rPr lang="zh-CN" sz="13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减少训练中的灾难性失败</a:t>
            </a:r>
            <a:r>
              <a:rPr lang="zh-CN" sz="1350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，使学习更稳定。</a:t>
            </a:r>
            <a:endParaRPr lang="zh-CN" sz="1350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11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3">
            <a:alphaModFix amt="7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7600" y="1590675"/>
            <a:ext cx="266700" cy="266700"/>
          </a:xfrm>
          <a:prstGeom prst="rect">
            <a:avLst/>
          </a:prstGeom>
        </p:spPr>
      </p:pic>
      <p:pic>
        <p:nvPicPr>
          <p:cNvPr id="101" name="图片 100"/>
          <p:cNvPicPr>
            <a:picLocks noChangeAspect="1"/>
          </p:cNvPicPr>
          <p:nvPr/>
        </p:nvPicPr>
        <p:blipFill>
          <a:blip r:embed="rId5">
            <a:alphaModFix amt="7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0" y="3124200"/>
            <a:ext cx="266700" cy="2667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7">
            <a:alphaModFix amt="75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77600" y="4819650"/>
            <a:ext cx="266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裁剪机制：给策略装上安全阀&lt;/Text&gt;&#10;                &lt;Box style={{ padding: '4px 12px', background: '#E3F0F2', borderRadius: 4 }}&gt;&#10;                    &lt;Text style={{ fontSize: 14, color: '#00646E', fontWeight: 'bold' }}&gt;PPO 稳定性的来源&lt;/Text&gt;&#10;                &lt;/Box&gt;&#10;                &lt;Box style={{ flex: 1, flexDirection: 'row', justifyContent: 'flex-end', alignItems: 'center', gap: 9 }}&gt;&#10;                    &lt;FAIcon name='circle-info' style={{ fill: '#9FB0BA', width: 16, height: 16 }} /&gt;&#10;                    &lt;Text style={{ fontSize: 15, color: '#7A8B98' }}&gt;信任域的宽窄由超参数 ε 控制，ε 越小越保守&lt;/Text&gt;&#10;                &lt;/Box&gt;&#10;            &lt;/Box&gt;&#10;&#10;            &lt;Box style={{ flexDirection: 'row', gap: 22, flex: 1, marginTop: 14 }}&gt;&#10;&#10;                {/* 左：裁剪曲线图 */}&#10;                &lt;Box style={{&#10;                    width: 716, flexDirection: 'column', padding: '16px 20px 10px',&#10;                    background: '#F8FBFB', border: '1px solid #E2EBED', borderRadius: 10,&#10;                }}&gt;&#10;                    &lt;Box style={{ flexDirection: 'row', justifyContent: 'space-between', alignItems: 'center' }}&gt;&#10;                        &lt;Text style={{ fontSize: 18, fontWeight: 'bold', color: '#152129' }}&gt;PPO 的裁剪替代目标函数&lt;/Text&gt;&#10;                        &lt;Text style={{ fontSize: 13, color: '#8695A4' }}&gt;示意图 · 以 ε = 0.2 为例&lt;/Text&gt;&#10;                    &lt;/Box&gt;&#10;&#10;                    &lt;svg width={676} height={424} viewBox='0 0 676 424' style={{ marginTop: 6 }}&gt;&#10;                        &lt;defs&gt;&#10;                            &lt;marker id='ar12' markerWidth='11' markerHeight='11' refX='9' refY='5.5' orient='auto'&gt;&#10;                                &lt;path d='M0,0 L11,5.5 L0,11 z' fill='#007581' /&gt;&#10;                            &lt;/marker&gt;&#10;                        &lt;/defs&gt;&#10;&#10;                        {/* 网格 */}&#10;                        &lt;g stroke='#E7EDEF' strokeWidth='1'&gt;&#10;                            &lt;line x1='90' y1='110' x2='620' y2='110' /&gt;&#10;                            &lt;line x1='90' y1='210' x2='620' y2='210' /&gt;&#10;                            &lt;line x1='90' y1='310' x2='620' y2='310' /&gt;&#10;                        &lt;/g&gt;&#10;&#10;                        {/* 坐标轴 */}&#10;                        &lt;line x1='90' y1='30' x2='90' y2='380' stroke='#B9C6CC' strokeWidth='1.6' /&gt;&#10;                        &lt;line x1='60' y1='210' x2='640' y2='210' stroke='#B9C6CC' strokeWidth='1.6' markerEnd='url(#ar12)' /&gt;&#10;                        &lt;text x='650' y='215' fontSize='14' fill='#5B6E7E'&gt;r&lt;/text&gt;&#10;                        &lt;text x='40' y='52' fontSize='14' fill='#5B6E7E'&gt;L&lt;/text&gt;&#10;                        &lt;text x='56' y='215' fontSize='13' fill='#8695A4'&gt;0&lt;/text&gt;&#10;&#10;                        {/* 信任域底色 */}&#10;                        &lt;rect x='249' y='34' width='212' height='346' fill='#EAF3F4' opacity='0.75' /&gt;&#10;                        &lt;text x='355' y='392' fontSize='15' fill='#007581' fontWeight='bold' textAnchor='middle'&gt;信任域 Trust Region&lt;/text&gt;&#10;&#10;                        {/* 边界虚线 */}&#10;                        &lt;line x1='249' y1='34' x2='249' y2='380' stroke='#39A0AC' strokeWidth='1.6' strokeDasharray='7 5' /&gt;&#10;                        &lt;line x1='461' y1='34' x2='461' y2='380' stroke='#39A0AC' strokeWidth='1.6' strokeDasharray='7 5' /&gt;&#10;                        &lt;text x='249' y='26' fontSize='14' fill='#00646E' textAnchor='middle'&gt;1 - ε&lt;/text&gt;&#10;                        &lt;text x='461' y='26' fontSize='14' fill='#00646E' textAnchor='middle'&gt;1 + ε&lt;/text&gt;&#10;                        &lt;text x='196' y='26' fontSize='13' fill='#8695A4' textAnchor='middle'&gt;r = 1&lt;/text&gt;&#10;                        &lt;line x1='196' y1='34' x2='196' y2='380' stroke='#C9D6DA' strokeWidth='1.2' strokeDasharray='4 4' /&gt;&#10;&#10;                        {/* A &gt; 0 曲线 */}&#10;                        &lt;path d='M90 160 L461 90 L620 90' fill='none' stroke='#007581' strokeWidth='3.4' strokeLinejoin='round' /&gt;&#10;                        &lt;circle cx='461' cy='90' r='6' fill='#007581' /&gt;&#10;                        &lt;rect x='478' y='70' width='166' height='30' rx='5' fill='#00505A' /&gt;&#10;                        &lt;text x='561' y='90' fontSize='14' fill='#FFFFFF' textAnchor='middle' fontWeight='bold'&gt;超出即被削平&lt;/text&gt;&#10;&#10;                        {/* A &lt; 0 曲线 */}&#10;                        &lt;path d='M90 290 L249 290 L620 360' fill='none' stroke='#C0392B' strokeWidth='3.4' strokeLinejoin='round' strokeDasharray='9 6' /&gt;&#10;                        &lt;circle cx='249' cy='290' r='6' fill='#C0392B' /&gt;&#10;                        &lt;rect x='262' y='268' width='166' height='30' rx='5' fill='#FAEBE9' /&gt;&#10;                        &lt;text x='345' y='288' fontSize='14' fill='#A62F22' textAnchor='middle' fontWeight='bold'&gt;低于边界同样削平&lt;/text&gt;&#10;&#10;                        {/* 说明 */}&#10;                        &lt;text x='104' y='146' fontSize='14' fill='#007581'&gt;优势为正时的目标值&lt;/text&gt;&#10;                        &lt;text x='104' y='326' fontSize='14' fill='#A62F22'&gt;优势为负时的目标值&lt;/text&gt;&#10;                        &lt;text x='355' y='412' fontSize='13' fill='#8695A4' textAnchor='middle'&gt;横轴 r：新旧策略的概率比　纵轴 L：替代目标值&lt;/text&gt;&#10;                    &lt;/svg&gt;&#10;                &lt;/Box&gt;&#10;&#10;                {/* 右：解读 */}&#10;                &lt;Box style={{ flex: 1, flexDirection: 'column', gap: 14 }}&gt;&#10;                    {[&#10;                        { ic: 'shield-halved', t: '信任域', d: '在当前策略周围划出一个安全区，把新策略与旧策略的概率比限制在 1±ε 之内，ε 通常取 0.1–0.2。' },&#10;                        { ic: 'minus', t: '削平收益', d: '一旦新策略与旧策略偏离过多，目标值不再增长——多走的部分拿不到额外奖励，更新自然收敛。' },&#10;                        { ic: 'gauge-high', t: '安全阀效应', d: '裁剪阻止智能体迈出过大、冒险的一步，从而保住已经学到的东西，避免性能崩溃。' },&#10;                    ].map((c, i) =&gt; (&#10;                        &lt;Box key={i} style={{&#10;                            flex: 1, flexDirection: 'row', gap: 16, alignItems: 'center',&#10;                            padding: '0 20px', borderRadius: 10, background: '#F4F9FA',&#10;                            border: '1px solid #DFEAEC',&#10;                        }}&gt;&#10;                            &lt;Box style={{&#10;                                width: 52, height: 52, borderRadius: 12, background: '#E3F0F2',&#10;                                justifyContent: 'center', alignItems: 'center',&#10;                            }}&gt;&#10;                                &lt;FAIcon name={c.ic} style={{ fill: '#007581', width: 26, height: 26 }} /&gt;&#10;                            &lt;/Box&gt;&#10;                            &lt;Box style={{ flex: 1, flexDirection: 'column', gap: 5 }}&gt;&#10;                                &lt;Text style={{ fontSize: 21, fontWeight: 'bold', color: '#152129' }}&gt;{c.t}&lt;/Text&gt;&#10;                                &lt;Text style={{ fontSize: 16, color: '#4E6070', lineHeight: 1.55 }}&gt;{c.d}&lt;/Text&gt;&#10;                            &lt;/Box&gt;&#10;                        &lt;/Box&gt;&#10;                    ))}&#10;                    &lt;Box style={{&#10;                        padding: '14px 18px', background: '#00505A', borderRadius: 9,&#10;                        flexDirection: 'row', gap: 12, alignItems: 'flex-start',&#10;                    }}&gt;&#10;                        &lt;FAIcon name='quote-left' style={{ fill: '#4FC0CB', width: 18, height: 18, marginTop: 2 }} /&gt;&#10;                        &lt;Text style={{ fontSize: 16, color: '#E8F5F6', lineHeight: 1.6, flex: 1 }}&gt;&#10;                            裁剪如同安全阀，避免智能体迈出过大、冒险的一步，而毁掉已得的进展。&#10;                        &lt;/Text&gt;&#10;                    &lt;/Box&gt;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12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05" name="矩形 10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600075" y="561975"/>
            <a:ext cx="421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裁剪机制：给策略装上安全阀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4943475" y="638175"/>
            <a:ext cx="1362075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5057775" y="676275"/>
            <a:ext cx="11334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PPO </a:t>
            </a: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稳定性的来源</a:t>
            </a:r>
            <a:endParaRPr lang="zh-CN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2" name="图片 1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96325" y="676275"/>
            <a:ext cx="152400" cy="152400"/>
          </a:xfrm>
          <a:prstGeom prst="rect">
            <a:avLst/>
          </a:prstGeom>
        </p:spPr>
      </p:pic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8934450" y="666750"/>
            <a:ext cx="2838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信任域的宽窄由超参数</a:t>
            </a:r>
            <a:r>
              <a:rPr lang="en-US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ε </a:t>
            </a: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控制，ε</a:t>
            </a:r>
            <a:r>
              <a:rPr lang="en-US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越小越保守</a:t>
            </a:r>
            <a:endParaRPr lang="zh-CN" sz="112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419100" y="1104900"/>
            <a:ext cx="6819900" cy="5276850"/>
          </a:xfrm>
          <a:prstGeom prst="roundRect">
            <a:avLst>
              <a:gd name="adj" fmla="val 1805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609600" y="1257300"/>
            <a:ext cx="1962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PPO </a:t>
            </a: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的裁剪替代目标函数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5724525" y="1285875"/>
            <a:ext cx="1323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示意图</a:t>
            </a:r>
            <a:r>
              <a:rPr lang="en-US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ε = 0.2 </a:t>
            </a:r>
            <a:r>
              <a:rPr lang="zh-CN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为例</a:t>
            </a:r>
            <a:endParaRPr lang="zh-CN" sz="9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1524000"/>
            <a:ext cx="6438900" cy="4038600"/>
          </a:xfrm>
          <a:prstGeom prst="rect">
            <a:avLst/>
          </a:prstGeom>
        </p:spPr>
      </p:pic>
      <p:sp>
        <p:nvSpPr>
          <p:cNvPr id="118" name="圆角矩形 117"/>
          <p:cNvSpPr/>
          <p:nvPr/>
        </p:nvSpPr>
        <p:spPr>
          <a:xfrm>
            <a:off x="7448550" y="1104900"/>
            <a:ext cx="4324350" cy="1438275"/>
          </a:xfrm>
          <a:prstGeom prst="roundRect">
            <a:avLst>
              <a:gd name="adj" fmla="val 6623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119" name="圆角矩形 118"/>
          <p:cNvSpPr/>
          <p:nvPr/>
        </p:nvSpPr>
        <p:spPr>
          <a:xfrm>
            <a:off x="7639050" y="15811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2875" y="1704975"/>
            <a:ext cx="247650" cy="247650"/>
          </a:xfrm>
          <a:prstGeom prst="rect">
            <a:avLst/>
          </a:prstGeom>
        </p:spPr>
      </p:pic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8286750" y="1247775"/>
            <a:ext cx="3295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信任域</a:t>
            </a:r>
            <a:endParaRPr lang="zh-CN" sz="15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8286750" y="1543050"/>
            <a:ext cx="3295650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在当前策略周围划出一个安全区，把新策略与旧策略的概率比限制在</a:t>
            </a:r>
            <a:r>
              <a:rPr lang="en-US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1±ε </a:t>
            </a: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之内，ε</a:t>
            </a:r>
            <a:r>
              <a:rPr lang="en-US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通常取</a:t>
            </a:r>
            <a:r>
              <a:rPr lang="en-US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0.1–0.2</a:t>
            </a: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7448550" y="2676525"/>
            <a:ext cx="4324350" cy="1428750"/>
          </a:xfrm>
          <a:prstGeom prst="roundRect">
            <a:avLst>
              <a:gd name="adj" fmla="val 6667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124" name="圆角矩形 123"/>
          <p:cNvSpPr/>
          <p:nvPr/>
        </p:nvSpPr>
        <p:spPr>
          <a:xfrm>
            <a:off x="7639050" y="31432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125" name="图片 12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62875" y="3267075"/>
            <a:ext cx="247650" cy="247650"/>
          </a:xfrm>
          <a:prstGeom prst="rect">
            <a:avLst/>
          </a:prstGeom>
        </p:spPr>
      </p:pic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8286750" y="2819400"/>
            <a:ext cx="3295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削平收益</a:t>
            </a:r>
            <a:endParaRPr lang="zh-CN" sz="15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8286750" y="3114675"/>
            <a:ext cx="3295650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一旦新策略与旧策略偏离过多，目标值不再增长——多走的部分拿不到额外奖励，更新自然收敛。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7448550" y="4238625"/>
            <a:ext cx="4324350" cy="1152525"/>
          </a:xfrm>
          <a:prstGeom prst="roundRect">
            <a:avLst>
              <a:gd name="adj" fmla="val 8264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129" name="圆角矩形 128"/>
          <p:cNvSpPr/>
          <p:nvPr/>
        </p:nvSpPr>
        <p:spPr>
          <a:xfrm>
            <a:off x="7639050" y="45720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130" name="图片 12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2875" y="4695825"/>
            <a:ext cx="247650" cy="247650"/>
          </a:xfrm>
          <a:prstGeom prst="rect">
            <a:avLst/>
          </a:prstGeom>
        </p:spPr>
      </p:pic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8286750" y="4381500"/>
            <a:ext cx="3295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安全阀效应</a:t>
            </a:r>
            <a:endParaRPr lang="zh-CN" sz="15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8286750" y="4676775"/>
            <a:ext cx="32956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裁剪阻止智能体迈出过大、冒险的一步，从而保住已经学到的东西，避免性能崩溃。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7448550" y="5524500"/>
            <a:ext cx="4324350" cy="857250"/>
          </a:xfrm>
          <a:prstGeom prst="roundRect">
            <a:avLst>
              <a:gd name="adj" fmla="val 10000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pic>
        <p:nvPicPr>
          <p:cNvPr id="134" name="图片 133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0" y="5676900"/>
            <a:ext cx="171450" cy="171450"/>
          </a:xfrm>
          <a:prstGeom prst="rect">
            <a:avLst/>
          </a:prstGeom>
        </p:spPr>
      </p:pic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7905750" y="5657850"/>
            <a:ext cx="36957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E8F5F6"/>
                </a:solidFill>
                <a:latin typeface="微软雅黑" panose="020B0503020204020204" charset="-122"/>
                <a:ea typeface="微软雅黑" panose="020B0503020204020204" charset="-122"/>
              </a:rPr>
              <a:t>裁剪如同安全阀，避免智能体迈出过大、冒险的一步，而毁掉已得的进展。</a:t>
            </a:r>
            <a:endParaRPr lang="zh-CN" sz="1200">
              <a:solidFill>
                <a:srgbClr val="E8F5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12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DPO：直接对齐偏好，跳过奖励模型&lt;/Text&gt;&#10;            &lt;/Box&gt;&#10;&#10;            &lt;Box style={{ flexDirection: 'row', gap: 20, flex: 1, marginTop: 14 }}&gt;&#10;&#10;                {/* 左：PPO 两步法 + 风险 */}&#10;                &lt;Box style={{&#10;                    width: 470, flexDirection: 'column', gap: 12,&#10;                    padding: '20px 20px 18px', borderRadius: 10,&#10;                    background: '#F8FBFB', border: '1px solid #DFEAEC',&#10;                }}&gt;&#10;                    &lt;Box style={{ flexDirection: 'row', alignItems: 'center', gap: 10 }}&gt;&#10;                        &lt;Box style={{ padding: '3px 11px', background: '#E3F0F2', borderRadius: 4 }}&gt;&#10;                            &lt;Text style={{ fontSize: 13, color: '#00646E', fontWeight: 'bold' }}&gt;PPO 路径&lt;/Text&gt;&#10;                        &lt;/Box&gt;&#10;                        &lt;Text style={{ fontSize: 20, fontWeight: 'bold', color: '#152129' }}&gt;传统两步法&lt;/Text&gt;&#10;                    &lt;/Box&gt;&#10;&#10;                    {[&#10;                        { n: '第 1 步', t: '训练奖励模型', d: '收集人类对回复的评分或比较数据（如「A 比 B 好」），单独训练一个奖励模型，预测人类会打多少分。' },&#10;                        { n: '第 2 步', t: '用 PPO 微调', d: '再用 PPO 微调大模型，让它生成在奖励模型看来得分最高的回复——奖励模型充当「裁判」。' },&#10;                    ].map((c, i) =&gt; (&#10;                        &lt;Box key={i} style={{&#10;                            flex: 1, flexDirection: 'column', justifyContent: 'center', gap: 6,&#10;                            padding: '12px 16px', borderRadius: 8, background: '#FFFFFF',&#10;                            border: '1px solid #E2EBED', borderLeft: '4px solid #7FB8BF',&#10;                        }}&gt;&#10;                            &lt;Box style={{ flexDirection: 'row', alignItems: 'center', gap: 9 }}&gt;&#10;                                &lt;Text style={{ fontSize: 13, color: '#7A8B98' }}&gt;{c.n}&lt;/Text&gt;&#10;                                &lt;Text style={{ fontSize: 19, fontWeight: 'bold', color: '#152129' }}&gt;{c.t}&lt;/Text&gt;&#10;                            &lt;/Box&gt;&#10;                            &lt;Text style={{ fontSize: 15, color: '#4E6070', lineHeight: 1.58 }}&gt;{c.d}&lt;/Text&gt;&#10;                        &lt;/Box&gt;&#10;                    ))}&#10;&#10;                    &lt;Box style={{&#10;                        flexDirection: 'row', gap: 12, alignItems: 'flex-start',&#10;                        padding: '13px 16px', borderRadius: 8,&#10;                        background: '#FAEBE9', border: '1px solid #EFC9C4',&#10;                    }}&gt;&#10;                        &lt;FAIcon name='triangle-exclamation' style={{ fill: '#C0392B', width: 20, height: 20, marginTop: 1 }} /&gt;&#10;                        &lt;Box style={{ flex: 1, flexDirection: 'column', gap: 5 }}&gt;&#10;                            &lt;Text style={{ fontSize: 16, fontWeight: 'bold', color: '#A62F22' }}&gt;已知风险：奖励模型被「钻空子」&lt;/Text&gt;&#10;                            &lt;Text style={{ fontSize: 15, color: '#8C3A2E', lineHeight: 1.55 }}&gt;&#10;                                大模型可能找到奖励模型的漏洞，让质量欠佳的回复仍获得高分，训练既复杂又不稳定。&#10;                            &lt;/Text&gt;&#10;                        &lt;/Box&gt;&#10;                    &lt;/Box&gt;&#10;                &lt;/Box&gt;&#10;&#10;                {/* 右：DPO 直接路径 */}&#10;                &lt;Box style={{&#10;                    flex: 1, flexDirection: 'column', justifyContent: 'space-between',&#10;                    padding: '20px 22px 18px', borderRadius: 10,&#10;                    background: '#00505A',&#10;                }}&gt;&#10;                    &lt;Box style={{ flexDirection: 'row', alignItems: 'center', gap: 10 }}&gt;&#10;                        &lt;Box style={{ padding: '3px 11px', background: 'rgba(143,211,218,0.22)', borderRadius: 4 }}&gt;&#10;                            &lt;Text style={{ fontSize: 13, color: '#BFE7EB', fontWeight: 'bold' }}&gt;DPO 路径&lt;/Text&gt;&#10;                        &lt;/Box&gt;&#10;                        &lt;Text style={{ fontSize: 20, fontWeight: 'bold', color: '#FFFFFF' }}&gt;直接法，少一层代理&lt;/Text&gt;&#10;                    &lt;/Box&gt;&#10;&#10;                    {/* 流程图 */}&#10;                    &lt;Box style={{ flexDirection: 'row', alignItems: 'center', gap: 10, marginTop: 14 }}&gt;&#10;                        &lt;Box style={{ flex: 1, padding: '12px 8px', background: 'rgba(255,255,255,0.10)', borderRadius: 7, border: '1px solid rgba(143,211,218,0.35)' }}&gt;&#10;                            &lt;Text style={{ fontSize: 15, color: '#FFFFFF', textAlign: 'center' }}&gt;人类偏好数据&lt;/Text&gt;&#10;                        &lt;/Box&gt;&#10;                        &lt;FAIcon name='arrow-right-long' style={{ fill: '#6FB6C0', width: 20, height: 20 }} /&gt;&#10;                        &lt;Box style={{&#10;                            flex: 1, padding: '12px 8px', borderRadius: 7,&#10;                            background: 'rgba(192,57,43,0.16)', border: '1px dashed rgba(239,160,150,0.75)',&#10;                            flexDirection: 'row', alignItems: 'center', justifyContent: 'center', gap: 7,&#10;                        }}&gt;&#10;                            &lt;FAIcon name='ban' style={{ fill: '#E9A79D', width: 15, height: 15 }} /&gt;&#10;                            &lt;Text style={{ fontSize: 15, color: '#E9A79D', textDecoration: 'line-through' }}&gt;奖励模型&lt;/Text&gt;&#10;                        &lt;/Box&gt;&#10;                        &lt;FAIcon name='arrow-right-long' style={{ fill: '#6FB6C0', width: 20, height: 20 }} /&gt;&#10;                        &lt;Box style={{ flex: 1, padding: '12px 8px', background: 'rgba(143,211,218,0.22)', borderRadius: 7, border: '1px solid rgba(143,211,218,0.55)' }}&gt;&#10;                            &lt;Text style={{ fontSize: 15, color: '#FFFFFF', textAlign: 'center' }}&gt;策略更新&lt;/Text&gt;&#10;                        &lt;/Box&gt;&#10;                    &lt;/Box&gt;&#10;&#10;                    {/* 说明 */}&#10;                    &lt;Box style={{ flexDirection: 'column', gap: 12, marginTop: 18, flex: 1, justifyContent: 'center' }}&gt;&#10;                        {[&#10;                            { t: '不训练、也不调用奖励模型', d: '省掉一整个独立的模型及其训练与在环调用。' },&#10;                            { t: '直接用偏好数据更新策略', d: '借由偏好数据与最优策略之间的数学关系完成优化。' },&#10;                            { t: '教模型「偏爱什么」', d: '提高生成被偏好回复的概率，降低生成不被偏好回复的概率。' },&#10;                        ].map((c, i) =&gt; (&#10;                            &lt;Box key={i} style={{ flexDirection: 'row', gap: 12, alignItems: 'flex-start' }}&gt;&#10;                                &lt;FAIcon name='circle-check' style={{ fill: '#4FC0CB', width: 18, height: 18, marginTop: 2 }} /&gt;&#10;                                &lt;Box style={{ flex: 1, flexDirection: 'column', gap: 3 }}&gt;&#10;                                    &lt;Text style={{ fontSize: 19, fontWeight: 'bold', color: '#FFFFFF' }}&gt;{c.t}&lt;/Text&gt;&#10;                                    &lt;Text style={{ fontSize: 15, color: '#A9D6DC', lineHeight: 1.5 }}&gt;{c.d}&lt;/Text&gt;&#10;                                &lt;/Box&gt;&#10;                            &lt;/Box&gt;&#10;                        ))}&#10;                    &lt;/Box&gt;&#10;&#10;                    &lt;Box style={{&#10;                        padding: '13px 16px', borderRadius: 8,&#10;                        background: 'rgba(143,211,218,0.16)', borderLeft: '4px solid #4FC0CB',&#10;                    }}&gt;&#10;                        &lt;Text style={{ fontSize: 16, color: '#FFFFFF', lineHeight: 1.55 }}&gt;&#10;                            对齐路径因此更短、更稳：绕开了单独训练奖励模型及其在环调用所带来的复杂性与不稳定。&#10;                        &lt;/Text&gt;&#10;                    &lt;/Box&gt;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13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矩形 1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40" name="矩形 13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圆角矩形 142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600075" y="561975"/>
            <a:ext cx="52768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DPO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：直接对齐偏好，跳过奖励模型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419100" y="1104900"/>
            <a:ext cx="4476750" cy="5276850"/>
          </a:xfrm>
          <a:prstGeom prst="roundRect">
            <a:avLst>
              <a:gd name="adj" fmla="val 2128"/>
            </a:avLst>
          </a:prstGeom>
          <a:solidFill>
            <a:srgbClr val="F8FBFB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146" name="圆角矩形 145"/>
          <p:cNvSpPr/>
          <p:nvPr/>
        </p:nvSpPr>
        <p:spPr>
          <a:xfrm>
            <a:off x="609600" y="1304925"/>
            <a:ext cx="762000" cy="209550"/>
          </a:xfrm>
          <a:prstGeom prst="roundRect">
            <a:avLst>
              <a:gd name="adj" fmla="val 18182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714375" y="1333500"/>
            <a:ext cx="5524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PPO </a:t>
            </a:r>
            <a:r>
              <a:rPr lang="zh-CN" sz="975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路径</a:t>
            </a:r>
            <a:endParaRPr lang="zh-CN" sz="975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1466850" y="1295400"/>
            <a:ext cx="952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传统两步法</a:t>
            </a:r>
            <a:endParaRPr lang="zh-CN" sz="15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647700" y="1638300"/>
            <a:ext cx="4095750" cy="1666875"/>
          </a:xfrm>
          <a:prstGeom prst="roundRect">
            <a:avLst>
              <a:gd name="adj" fmla="val 4571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50" name="任意多边形 149"/>
          <p:cNvSpPr/>
          <p:nvPr/>
        </p:nvSpPr>
        <p:spPr>
          <a:xfrm>
            <a:off x="647700" y="1638300"/>
            <a:ext cx="4095750" cy="1666875"/>
          </a:xfrm>
          <a:custGeom>
            <a:avLst/>
            <a:gdLst/>
            <a:ahLst/>
            <a:cxnLst/>
            <a:rect l="0" t="0" r="0" b="0"/>
            <a:pathLst>
              <a:path w="430" h="17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1"/>
                </a:lnTo>
                <a:cubicBezTo>
                  <a:pt x="4" y="173"/>
                  <a:pt x="5" y="175"/>
                  <a:pt x="7" y="175"/>
                </a:cubicBezTo>
                <a:cubicBezTo>
                  <a:pt x="3" y="175"/>
                  <a:pt x="0" y="171"/>
                  <a:pt x="0" y="1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800100" y="2105025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步</a:t>
            </a:r>
            <a:endParaRPr lang="zh-CN" sz="97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285875" y="2066925"/>
            <a:ext cx="10858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训练奖励模型</a:t>
            </a:r>
            <a:endParaRPr lang="zh-CN" sz="14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800100" y="2343150"/>
            <a:ext cx="375285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8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收集人类对回复的评分或比较数据（如「</a:t>
            </a:r>
            <a:r>
              <a:rPr lang="en-US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比</a:t>
            </a:r>
            <a:r>
              <a:rPr lang="en-US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B </a:t>
            </a: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好」），单独训练一个奖励模型，预测人类会打多少分。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647700" y="3419475"/>
            <a:ext cx="40957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55" name="任意多边形 154"/>
          <p:cNvSpPr/>
          <p:nvPr/>
        </p:nvSpPr>
        <p:spPr>
          <a:xfrm>
            <a:off x="647700" y="3419475"/>
            <a:ext cx="4095750" cy="1657350"/>
          </a:xfrm>
          <a:custGeom>
            <a:avLst/>
            <a:gdLst/>
            <a:ahLst/>
            <a:cxnLst/>
            <a:rect l="0" t="0" r="0" b="0"/>
            <a:pathLst>
              <a:path w="430" h="1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0"/>
                </a:lnTo>
                <a:cubicBezTo>
                  <a:pt x="4" y="172"/>
                  <a:pt x="5" y="174"/>
                  <a:pt x="7" y="174"/>
                </a:cubicBezTo>
                <a:cubicBezTo>
                  <a:pt x="3" y="174"/>
                  <a:pt x="0" y="170"/>
                  <a:pt x="0" y="1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800100" y="3876675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97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步</a:t>
            </a:r>
            <a:endParaRPr lang="zh-CN" sz="97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1285875" y="3838575"/>
            <a:ext cx="10382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4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 PPO </a:t>
            </a:r>
            <a:r>
              <a:rPr lang="zh-CN" sz="14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微调</a:t>
            </a:r>
            <a:endParaRPr lang="zh-CN" sz="14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800100" y="4114800"/>
            <a:ext cx="375285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8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再用</a:t>
            </a:r>
            <a:r>
              <a:rPr lang="en-US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PPO </a:t>
            </a: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微调大模型，让它生成在奖励模型看来得分最高的回复——奖励模型充当「裁判」。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609600" y="5191125"/>
            <a:ext cx="4095750" cy="1019175"/>
          </a:xfrm>
          <a:prstGeom prst="roundRect">
            <a:avLst>
              <a:gd name="adj" fmla="val 7477"/>
            </a:avLst>
          </a:prstGeom>
          <a:solidFill>
            <a:srgbClr val="FAEBE9"/>
          </a:solidFill>
          <a:ln w="12700">
            <a:solidFill>
              <a:srgbClr val="EFC9C4"/>
            </a:solidFill>
            <a:prstDash val="solid"/>
          </a:ln>
        </p:spPr>
        <p:txBody>
          <a:bodyPr/>
          <a:lstStyle/>
          <a:p/>
        </p:txBody>
      </p:sp>
      <p:pic>
        <p:nvPicPr>
          <p:cNvPr id="160" name="图片 15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324475"/>
            <a:ext cx="190500" cy="190500"/>
          </a:xfrm>
          <a:prstGeom prst="rect">
            <a:avLst/>
          </a:prstGeom>
        </p:spPr>
      </p:pic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1066800" y="5314950"/>
            <a:ext cx="3486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62F22"/>
                </a:solidFill>
                <a:latin typeface="微软雅黑" panose="020B0503020204020204" charset="-122"/>
                <a:ea typeface="微软雅黑" panose="020B0503020204020204" charset="-122"/>
              </a:rPr>
              <a:t>已知风险：奖励模型被「钻空子」</a:t>
            </a:r>
            <a:endParaRPr lang="zh-CN" sz="1200" b="1">
              <a:solidFill>
                <a:srgbClr val="A62F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1066800" y="5553075"/>
            <a:ext cx="34861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125">
                <a:solidFill>
                  <a:srgbClr val="8C3A2E"/>
                </a:solidFill>
                <a:latin typeface="微软雅黑" panose="020B0503020204020204" charset="-122"/>
                <a:ea typeface="微软雅黑" panose="020B0503020204020204" charset="-122"/>
              </a:rPr>
              <a:t>大模型可能找到奖励模型的漏洞，让质量欠佳的回复仍获得高分，训练既复杂又不稳定。</a:t>
            </a:r>
            <a:endParaRPr lang="zh-CN" sz="1125">
              <a:solidFill>
                <a:srgbClr val="8C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圆角矩形 162"/>
          <p:cNvSpPr/>
          <p:nvPr/>
        </p:nvSpPr>
        <p:spPr>
          <a:xfrm>
            <a:off x="5086350" y="1104900"/>
            <a:ext cx="6686550" cy="5276850"/>
          </a:xfrm>
          <a:prstGeom prst="roundRect">
            <a:avLst>
              <a:gd name="adj" fmla="val 1805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164" name="圆角矩形 163"/>
          <p:cNvSpPr/>
          <p:nvPr/>
        </p:nvSpPr>
        <p:spPr>
          <a:xfrm>
            <a:off x="5295900" y="1304925"/>
            <a:ext cx="781050" cy="209550"/>
          </a:xfrm>
          <a:prstGeom prst="roundRect">
            <a:avLst>
              <a:gd name="adj" fmla="val 18182"/>
            </a:avLst>
          </a:prstGeom>
          <a:solidFill>
            <a:srgbClr val="8FD3DA">
              <a:alpha val="22000"/>
            </a:srgbClr>
          </a:solidFill>
        </p:spPr>
        <p:txBody>
          <a:bodyPr/>
          <a:lstStyle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5400675" y="1333500"/>
            <a:ext cx="5715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DPO </a:t>
            </a:r>
            <a:r>
              <a:rPr lang="zh-CN" sz="975" b="1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路径</a:t>
            </a:r>
            <a:endParaRPr lang="zh-CN" sz="975" b="1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6172200" y="1295400"/>
            <a:ext cx="1714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直接法，少一层代理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5295900" y="1657350"/>
            <a:ext cx="1838325" cy="40005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FD3DA">
                <a:alpha val="35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372100" y="1771650"/>
            <a:ext cx="16859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人类偏好数据</a:t>
            </a:r>
            <a:endParaRPr lang="zh-CN"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9" name="图片 1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9475" y="1762125"/>
            <a:ext cx="190500" cy="190500"/>
          </a:xfrm>
          <a:prstGeom prst="rect">
            <a:avLst/>
          </a:prstGeom>
        </p:spPr>
      </p:pic>
      <p:sp>
        <p:nvSpPr>
          <p:cNvPr id="170" name="圆角矩形 169"/>
          <p:cNvSpPr/>
          <p:nvPr/>
        </p:nvSpPr>
        <p:spPr>
          <a:xfrm>
            <a:off x="7515225" y="1657350"/>
            <a:ext cx="1828800" cy="400050"/>
          </a:xfrm>
          <a:prstGeom prst="roundRect">
            <a:avLst>
              <a:gd name="adj" fmla="val 16667"/>
            </a:avLst>
          </a:prstGeom>
          <a:solidFill>
            <a:srgbClr val="C0392B">
              <a:alpha val="16000"/>
            </a:srgbClr>
          </a:solidFill>
          <a:ln w="12700">
            <a:solidFill>
              <a:srgbClr val="EFA096">
                <a:alpha val="75000"/>
              </a:srgbClr>
            </a:solidFill>
            <a:prstDash val="dash"/>
          </a:ln>
        </p:spPr>
        <p:txBody>
          <a:bodyPr/>
          <a:lstStyle/>
          <a:p/>
        </p:txBody>
      </p:sp>
      <p:pic>
        <p:nvPicPr>
          <p:cNvPr id="171" name="图片 17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9100" y="1790700"/>
            <a:ext cx="142875" cy="142875"/>
          </a:xfrm>
          <a:prstGeom prst="rect">
            <a:avLst/>
          </a:prstGeom>
        </p:spPr>
      </p:pic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8248650" y="177165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strike="sngStrike">
                <a:solidFill>
                  <a:srgbClr val="E9A79D"/>
                </a:solidFill>
                <a:latin typeface="微软雅黑" panose="020B0503020204020204" charset="-122"/>
                <a:ea typeface="微软雅黑" panose="020B0503020204020204" charset="-122"/>
              </a:rPr>
              <a:t>奖励模型</a:t>
            </a:r>
            <a:endParaRPr lang="zh-CN" sz="1125" strike="sngStrike">
              <a:solidFill>
                <a:srgbClr val="E9A7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3" name="图片 17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275" y="1762125"/>
            <a:ext cx="190500" cy="190500"/>
          </a:xfrm>
          <a:prstGeom prst="rect">
            <a:avLst/>
          </a:prstGeom>
        </p:spPr>
      </p:pic>
      <p:sp>
        <p:nvSpPr>
          <p:cNvPr id="174" name="圆角矩形 173"/>
          <p:cNvSpPr/>
          <p:nvPr/>
        </p:nvSpPr>
        <p:spPr>
          <a:xfrm>
            <a:off x="9725025" y="1657350"/>
            <a:ext cx="1838325" cy="400050"/>
          </a:xfrm>
          <a:prstGeom prst="roundRect">
            <a:avLst>
              <a:gd name="adj" fmla="val 16667"/>
            </a:avLst>
          </a:prstGeom>
          <a:solidFill>
            <a:srgbClr val="8FD3DA">
              <a:alpha val="22000"/>
            </a:srgbClr>
          </a:solidFill>
          <a:ln w="12700">
            <a:solidFill>
              <a:srgbClr val="8FD3DA">
                <a:alpha val="55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801225" y="1771650"/>
            <a:ext cx="16859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策略更新</a:t>
            </a:r>
            <a:endParaRPr lang="zh-CN"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6" name="图片 17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900" y="2962275"/>
            <a:ext cx="171450" cy="171450"/>
          </a:xfrm>
          <a:prstGeom prst="rect">
            <a:avLst/>
          </a:prstGeom>
        </p:spPr>
      </p:pic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5581650" y="2943225"/>
            <a:ext cx="5981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不训练、也不调用奖励模型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5581650" y="3190875"/>
            <a:ext cx="5981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省掉一整个独立的模型及其训练与在环调用。</a:t>
            </a:r>
            <a:endParaRPr lang="zh-CN" sz="1125">
              <a:solidFill>
                <a:srgbClr val="A9D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9" name="图片 17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900" y="3581400"/>
            <a:ext cx="171450" cy="171450"/>
          </a:xfrm>
          <a:prstGeom prst="rect">
            <a:avLst/>
          </a:prstGeom>
        </p:spPr>
      </p:pic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5581650" y="3562350"/>
            <a:ext cx="5981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直接用偏好数据更新策略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5581650" y="3810000"/>
            <a:ext cx="5981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借由偏好数据与最优策略之间的数学关系完成优化。</a:t>
            </a:r>
            <a:endParaRPr lang="zh-CN" sz="1125">
              <a:solidFill>
                <a:srgbClr val="A9D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2" name="图片 18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900" y="4200525"/>
            <a:ext cx="171450" cy="171450"/>
          </a:xfrm>
          <a:prstGeom prst="rect">
            <a:avLst/>
          </a:prstGeom>
        </p:spPr>
      </p:pic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5581650" y="4181475"/>
            <a:ext cx="5981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教模型「偏爱什么」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5581650" y="4429125"/>
            <a:ext cx="5981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提高生成被偏好回复的概率，降低生成不被偏好回复的概率。</a:t>
            </a:r>
            <a:endParaRPr lang="zh-CN" sz="1125">
              <a:solidFill>
                <a:srgbClr val="A9D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圆角矩形 184"/>
          <p:cNvSpPr/>
          <p:nvPr/>
        </p:nvSpPr>
        <p:spPr>
          <a:xfrm>
            <a:off x="5334000" y="5391150"/>
            <a:ext cx="6267450" cy="819150"/>
          </a:xfrm>
          <a:prstGeom prst="roundRect">
            <a:avLst>
              <a:gd name="adj" fmla="val 9302"/>
            </a:avLst>
          </a:prstGeom>
          <a:solidFill>
            <a:srgbClr val="8FD3DA">
              <a:alpha val="16000"/>
            </a:srgbClr>
          </a:solidFill>
        </p:spPr>
        <p:txBody>
          <a:bodyPr/>
          <a:lstStyle/>
          <a:p/>
        </p:txBody>
      </p:sp>
      <p:sp>
        <p:nvSpPr>
          <p:cNvPr id="186" name="任意多边形 185"/>
          <p:cNvSpPr/>
          <p:nvPr/>
        </p:nvSpPr>
        <p:spPr>
          <a:xfrm>
            <a:off x="5334000" y="5391150"/>
            <a:ext cx="6267450" cy="819150"/>
          </a:xfrm>
          <a:custGeom>
            <a:avLst/>
            <a:gdLst/>
            <a:ahLst/>
            <a:cxnLst/>
            <a:rect l="0" t="0" r="0" b="0"/>
            <a:pathLst>
              <a:path w="658" h="8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2"/>
                </a:lnTo>
                <a:cubicBezTo>
                  <a:pt x="4" y="84"/>
                  <a:pt x="5" y="86"/>
                  <a:pt x="7" y="86"/>
                </a:cubicBezTo>
                <a:cubicBezTo>
                  <a:pt x="3" y="86"/>
                  <a:pt x="0" y="82"/>
                  <a:pt x="0" y="7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C0CB"/>
          </a:solidFill>
        </p:spPr>
        <p:txBody>
          <a:bodyPr/>
          <a:lstStyle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5486400" y="5514975"/>
            <a:ext cx="59245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对齐路径因此更短、更稳：绕开了单独训练奖励模型及其在环调用所带来的复杂性与不稳定。</a:t>
            </a:r>
            <a:endParaRPr 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13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PPO 与 DPO：全流程对比&lt;/Text&gt;&#10;                &lt;Box style={{ padding: '4px 12px', background: '#E3F0F2', borderRadius: 4 }}&gt;&#10;                    &lt;Text style={{ fontSize: 14, color: '#00646E', fontWeight: 'bold' }}&gt;差在哪一层&lt;/Text&gt;&#10;                &lt;/Box&gt;&#10;            &lt;/Box&gt;&#10;&#10;            &lt;Box style={{ flexDirection: 'row', gap: 20, flex: 1, marginTop: 14 }}&gt;&#10;&#10;                {/* 左：双泳道流程图 */}&#10;                &lt;Box style={{&#10;                    flex: 1, flexDirection: 'column', padding: '18px 20px 14px',&#10;                    background: '#F8FBFB', border: '1px solid #E2EBED', borderRadius: 10,&#10;                }}&gt;&#10;                    &lt;Box style={{ flexDirection: 'row', justifyContent: 'space-between', alignItems: 'center' }}&gt;&#10;                        &lt;Text style={{ fontSize: 18, fontWeight: 'bold', color: '#152129' }}&gt;两条对齐流水线&lt;/Text&gt;&#10;                        &lt;Text style={{ fontSize: 13, color: '#8695A4' }}&gt;流程示意&lt;/Text&gt;&#10;                    &lt;/Box&gt;&#10;&#10;                    &lt;svg width={664} height={398} viewBox='0 0 664 398' style={{ marginTop: 8 }}&gt;&#10;                        &lt;defs&gt;&#10;                            &lt;marker id='arg14' markerWidth='10' markerHeight='10' refX='8' refY='5' orient='auto'&gt;&#10;                                &lt;path d='M0,0 L10,5 L0,10 z' fill='#7FA9B0' /&gt;&#10;                            &lt;/marker&gt;&#10;                        &lt;/defs&gt;&#10;&#10;                        {/* 泳道 A */}&#10;                        &lt;rect x='0' y='4' width='664' height='184' rx='10' fill='#FFFFFF' stroke='#DFEAEC' strokeWidth='1.4' /&gt;&#10;                        &lt;rect x='0' y='4' width='5' height='184' rx='2' fill='#7FB8BF' /&gt;&#10;                        &lt;text x='4' y='34' fontSize='18' fontWeight='bold' fill='#00505A'&gt;　PPO 路径&lt;/text&gt;&#10;                        &lt;text x='120' y='34' fontSize='14' fill='#7A8B98'&gt;多一层「奖励模型」作为代理目标&lt;/text&gt;&#10;&#10;                        &lt;rect x='22' y='56' width='160' height='72' rx='8' fill='#F0F7F8' stroke='#C9DBDE' strokeWidth='1.3' /&gt;&#10;                        &lt;text x='102' y='86' fontSize='15' fill='#152129' textAnchor='middle' fontWeight='bold'&gt;人类反馈数据&lt;/text&gt;&#10;                        &lt;text x='102' y='108' fontSize='12' fill='#7A8B98' textAnchor='middle'&gt;评分 / 两两比较&lt;/text&gt;&#10;                        &lt;line x1='186' y1='92' x2='214' y2='92' stroke='#7FA9B0' strokeWidth='2.2' markerEnd='url(#arg14)' /&gt;&#10;&#10;                        &lt;rect x='218' y='56' width='172' height='72' rx='8' fill='#FAEBE9' stroke='#E4B7B0' strokeWidth='1.6' strokeDasharray='7 5' /&gt;&#10;                        &lt;text x='304' y='86' fontSize='15' fill='#A62F22' textAnchor='middle' fontWeight='bold'&gt;训练奖励模型&lt;/text&gt;&#10;                        &lt;text x='304' y='108' fontSize='12' fill='#B4594B' textAnchor='middle'&gt;可能被钻空子&lt;/text&gt;&#10;                        &lt;line x1='394' y1='92' x2='422' y2='92' stroke='#7FA9B0' strokeWidth='2.2' markerEnd='url(#arg14)' /&gt;&#10;&#10;                        &lt;rect x='426' y='56' width='160' height='72' rx='8' fill='#F0F7F8' stroke='#C9DBDE' strokeWidth='1.3' /&gt;&#10;                        &lt;text x='513.5' y='86' fontSize='15' fill='#152129' textAnchor='middle' fontWeight='bold'&gt;　PPO 微调&lt;/text&gt;&#10;                        &lt;text x='506' y='108' fontSize='12' fill='#7A8B98' textAnchor='middle'&gt;带裁剪的稳定更新&lt;/text&gt;&#10;&#10;                        &lt;rect x='22' y='144' width='564' height='30' rx='6' fill='#F2F8F9' /&gt;&#10;                        &lt;text x='304' y='164' fontSize='13' fill='#5B6E7E' textAnchor='middle'&gt;总层数：数据 → 奖励模型 → 策略，共 3 层&lt;/text&gt;&#10;&#10;                        {/* 泳道 B */}&#10;                        &lt;rect x='0' y='200' width='664' height='184' rx='10' fill='#FFFFFF' stroke='#DFEAEC' strokeWidth='1.4' /&gt;&#10;                        &lt;rect x='0' y='200' width='5' height='184' rx='2' fill='#007581' /&gt;&#10;                        &lt;text x='4' y='230' fontSize='18' fontWeight='bold' fill='#00505A'&gt;　DPO 路径&lt;/text&gt;&#10;                        &lt;text x='120' y='230' fontSize='14' fill='#7A8B98'&gt;不引入独立的代理模型&lt;/text&gt;&#10;&#10;                        &lt;rect x='22' y='252' width='160' height='72' rx='8' fill='#F0F7F8' stroke='#C9DBDE' strokeWidth='1.3' /&gt;&#10;                        &lt;text x='102' y='282' fontSize='15' fill='#152129' textAnchor='middle' fontWeight='bold'&gt;人类偏好数据&lt;/text&gt;&#10;                        &lt;text x='102' y='304' fontSize='12' fill='#7A8B98' textAnchor='middle'&gt;同一份数据&lt;/text&gt;&#10;                        &lt;line x1='186' y1='288' x2='214' y2='288' stroke='#7FA9B0' strokeWidth='2.2' markerEnd='url(#arg14)' /&gt;&#10;&#10;                        &lt;rect x='218' y='252' width='172' height='72' rx='8' fill='#DDEDEF' stroke='#8FBDC3' strokeWidth='1.6' /&gt;&#10;                        &lt;text x='304' y='282' fontSize='15' fill='#00565F' textAnchor='middle' fontWeight='bold'&gt;直接更新策略&lt;/text&gt;&#10;                        &lt;text x='304' y='304' fontSize='12' fill='#3F6C73' textAnchor='middle'&gt;偏好直接关联最优策略&lt;/text&gt;&#10;                        &lt;line x1='394' y1='288' x2='422' y2='288' stroke='#7FA9B0' strokeWidth='2.2' markerEnd='url(#arg14)' /&gt;&#10;&#10;                        &lt;rect x='426' y='252' width='160' height='72' rx='8' fill='#F0F7F8' stroke='#C9DBDE' strokeWidth='1.3' /&gt;&#10;                        &lt;text x='506' y='282' fontSize='15' fill='#152129' textAnchor='middle' fontWeight='bold'&gt;对齐后的模型&lt;/text&gt;&#10;                        &lt;text x='506' y='304' fontSize='12' fill='#7A8B98' textAnchor='middle'&gt;路径更短、更稳&lt;/text&gt;&#10;&#10;                        &lt;rect x='22' y='340' width='564' height='30' rx='6' fill='#DDEDEF' /&gt;&#10;                        &lt;text x='304' y='360' fontSize='13' fill='#00565F' textAnchor='middle'&gt;总层数：数据 → 策略，共 2 层&lt;/text&gt;&#10;                    &lt;/svg&gt;&#10;                &lt;/Box&gt;&#10;&#10;                {/* 右：洞察 */}&#10;                &lt;Box style={{ width: 396, flexDirection: 'column', gap: 12 }}&gt;&#10;                    &lt;Box style={{ flexDirection: 'column', gap: 3 }}&gt;&#10;                        &lt;Text style={{ fontSize: 19, fontWeight: 'bold', color: '#152129' }}&gt;关键差异&lt;/Text&gt;&#10;                        &lt;Text style={{ fontSize: 14, color: '#8695A4' }}&gt;同一份偏好数据，两种使用方式&lt;/Text&gt;&#10;                    &lt;/Box&gt;&#10;&#10;                    {[&#10;                        { k: '中间层', a: '需要额外训练一个奖励模型', b: '不需要任何独立代理模型' },&#10;                        { k: '稳定性', a: '靠裁剪把更新限制在信任域', b: '靠偏好关系直接约束策略' },&#10;                        { k: '主要风险', a: '奖励模型可能被大模型绕过', b: '效果取决于偏好数据质量' },&#10;                    ].map((r, i) =&gt; (&#10;                        &lt;Box key={i} style={{&#10;                            flex: 1, flexDirection: 'column', justifyContent: 'center', gap: 10,&#10;                            padding: '0 16px', borderRadius: 9, background: '#EAF3F4', border: '1px solid #CFE0E3',&#10;                        }}&gt;&#10;                            &lt;Box style={{ flexDirection: 'row', alignItems: 'center', gap: 9 }}&gt;&#10;                                &lt;Box style={{ width: 4, height: 13, background: '#007581', borderRadius: 2 }} /&gt;&#10;                                &lt;Text style={{ fontSize: 15, color: '#00565F', fontWeight: 'bold' }}&gt;{r.k}&lt;/Text&gt;&#10;                            &lt;/Box&gt;&#10;                            &lt;Box style={{ flexDirection: 'row', gap: 10 }}&gt;&#10;                                &lt;Box style={{ flex: 1, flexDirection: 'row', gap: 6, alignItems: 'flex-start' }}&gt;&#10;                                    &lt;Text style={{ fontSize: 12, color: '#7FB8BF', fontWeight: 'bold', marginTop: 3 }}&gt;PPO&lt;/Text&gt;&#10;                                    &lt;Text style={{ fontSize: 14, color: '#2F4150', lineHeight: 1.5, flex: 1 }}&gt;{r.a}&lt;/Text&gt;&#10;                                &lt;/Box&gt;&#10;                                &lt;Box style={{ width: 1, background: '#C6DBDE' }} /&gt;&#10;                                &lt;Box style={{ flex: 1, flexDirection: 'row', gap: 6, alignItems: 'flex-start' }}&gt;&#10;                                    &lt;Text style={{ fontSize: 12, color: '#007581', fontWeight: 'bold', marginTop: 3 }}&gt;DPO&lt;/Text&gt;&#10;                                    &lt;Text style={{ fontSize: 14, color: '#2F4150', lineHeight: 1.5, flex: 1 }}&gt;{r.b}&lt;/Text&gt;&#10;                                &lt;/Box&gt;&#10;                            &lt;/Box&gt;&#10;                        &lt;/Box&gt;&#10;                    ))}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14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矩形 1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92" name="矩形 19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00075" y="561975"/>
            <a:ext cx="38862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PPO 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 DPO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：全流程对比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圆角矩形 196"/>
          <p:cNvSpPr/>
          <p:nvPr/>
        </p:nvSpPr>
        <p:spPr>
          <a:xfrm>
            <a:off x="4619625" y="638175"/>
            <a:ext cx="895350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733925" y="676275"/>
            <a:ext cx="666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差在哪一层</a:t>
            </a:r>
            <a:endParaRPr lang="zh-CN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圆角矩形 198"/>
          <p:cNvSpPr/>
          <p:nvPr/>
        </p:nvSpPr>
        <p:spPr>
          <a:xfrm>
            <a:off x="419100" y="1104900"/>
            <a:ext cx="7391400" cy="5276850"/>
          </a:xfrm>
          <a:prstGeom prst="roundRect">
            <a:avLst>
              <a:gd name="adj" fmla="val 1805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609600" y="1276350"/>
            <a:ext cx="1200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两条对齐流水线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7124700" y="1304925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流程示意</a:t>
            </a:r>
            <a:endParaRPr lang="zh-CN" sz="9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2" name="图片 2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562100"/>
            <a:ext cx="6324600" cy="3790950"/>
          </a:xfrm>
          <a:prstGeom prst="rect">
            <a:avLst/>
          </a:prstGeom>
        </p:spPr>
      </p:pic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8001000" y="1104900"/>
            <a:ext cx="3771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关键差异</a:t>
            </a:r>
            <a:endParaRPr lang="zh-CN" sz="14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8001000" y="1352550"/>
            <a:ext cx="3771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同一份偏好数据，两种使用方式</a:t>
            </a:r>
            <a:endParaRPr lang="zh-CN" sz="105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8001000" y="1628775"/>
            <a:ext cx="3771900" cy="1504950"/>
          </a:xfrm>
          <a:prstGeom prst="roundRect">
            <a:avLst>
              <a:gd name="adj" fmla="val 5696"/>
            </a:avLst>
          </a:prstGeom>
          <a:solidFill>
            <a:srgbClr val="EAF3F4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6" name="圆角矩形 205"/>
          <p:cNvSpPr/>
          <p:nvPr/>
        </p:nvSpPr>
        <p:spPr>
          <a:xfrm>
            <a:off x="8153400" y="2038350"/>
            <a:ext cx="38100" cy="123825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8277225" y="20097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中间层</a:t>
            </a:r>
            <a:endParaRPr lang="zh-CN" sz="112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8153400" y="2305050"/>
            <a:ext cx="2476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7FB8BF"/>
                </a:solidFill>
                <a:latin typeface="微软雅黑" panose="020B0503020204020204" charset="-122"/>
                <a:ea typeface="微软雅黑" panose="020B0503020204020204" charset="-122"/>
              </a:rPr>
              <a:t>PPO</a:t>
            </a:r>
            <a:endParaRPr lang="en-US" sz="900" b="1">
              <a:solidFill>
                <a:srgbClr val="7FB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8458200" y="2276475"/>
            <a:ext cx="13335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2F4150"/>
                </a:solidFill>
                <a:latin typeface="微软雅黑" panose="020B0503020204020204" charset="-122"/>
                <a:ea typeface="微软雅黑" panose="020B0503020204020204" charset="-122"/>
              </a:rPr>
              <a:t>需要额外训练一个奖励模型</a:t>
            </a:r>
            <a:endParaRPr lang="zh-CN" sz="1050">
              <a:solidFill>
                <a:srgbClr val="2F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矩形 209"/>
          <p:cNvSpPr/>
          <p:nvPr/>
        </p:nvSpPr>
        <p:spPr>
          <a:xfrm>
            <a:off x="9886950" y="2276475"/>
            <a:ext cx="9525" cy="485775"/>
          </a:xfrm>
          <a:prstGeom prst="rect">
            <a:avLst/>
          </a:prstGeom>
          <a:solidFill>
            <a:srgbClr val="C6DBDE"/>
          </a:solidFill>
        </p:spPr>
        <p:txBody>
          <a:bodyPr/>
          <a:lstStyle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991725" y="2305050"/>
            <a:ext cx="266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DPO</a:t>
            </a:r>
            <a:endParaRPr lang="en-US" sz="90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315575" y="2276475"/>
            <a:ext cx="13049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2F4150"/>
                </a:solidFill>
                <a:latin typeface="微软雅黑" panose="020B0503020204020204" charset="-122"/>
                <a:ea typeface="微软雅黑" panose="020B0503020204020204" charset="-122"/>
              </a:rPr>
              <a:t>不需要任何独立代理模型</a:t>
            </a:r>
            <a:endParaRPr lang="zh-CN" sz="1050">
              <a:solidFill>
                <a:srgbClr val="2F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8001000" y="3248025"/>
            <a:ext cx="3771900" cy="1514475"/>
          </a:xfrm>
          <a:prstGeom prst="roundRect">
            <a:avLst>
              <a:gd name="adj" fmla="val 5660"/>
            </a:avLst>
          </a:prstGeom>
          <a:solidFill>
            <a:srgbClr val="EAF3F4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214" name="圆角矩形 213"/>
          <p:cNvSpPr/>
          <p:nvPr/>
        </p:nvSpPr>
        <p:spPr>
          <a:xfrm>
            <a:off x="8153400" y="3657600"/>
            <a:ext cx="38100" cy="123825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8277225" y="362902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稳定性</a:t>
            </a:r>
            <a:endParaRPr lang="zh-CN" sz="112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8153400" y="3924300"/>
            <a:ext cx="2476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7FB8BF"/>
                </a:solidFill>
                <a:latin typeface="微软雅黑" panose="020B0503020204020204" charset="-122"/>
                <a:ea typeface="微软雅黑" panose="020B0503020204020204" charset="-122"/>
              </a:rPr>
              <a:t>PPO</a:t>
            </a:r>
            <a:endParaRPr lang="en-US" sz="900" b="1">
              <a:solidFill>
                <a:srgbClr val="7FB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8458200" y="3895725"/>
            <a:ext cx="13335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2F4150"/>
                </a:solidFill>
                <a:latin typeface="微软雅黑" panose="020B0503020204020204" charset="-122"/>
                <a:ea typeface="微软雅黑" panose="020B0503020204020204" charset="-122"/>
              </a:rPr>
              <a:t>靠裁剪把更新限制在信任域</a:t>
            </a:r>
            <a:endParaRPr lang="zh-CN" sz="1050">
              <a:solidFill>
                <a:srgbClr val="2F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9886950" y="3895725"/>
            <a:ext cx="9525" cy="485775"/>
          </a:xfrm>
          <a:prstGeom prst="rect">
            <a:avLst/>
          </a:prstGeom>
          <a:solidFill>
            <a:srgbClr val="C6DBDE"/>
          </a:solidFill>
        </p:spPr>
        <p:txBody>
          <a:bodyPr/>
          <a:lstStyle/>
          <a:p/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9991725" y="3924300"/>
            <a:ext cx="266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DPO</a:t>
            </a:r>
            <a:endParaRPr lang="en-US" sz="90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10315575" y="3895725"/>
            <a:ext cx="13049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2F4150"/>
                </a:solidFill>
                <a:latin typeface="微软雅黑" panose="020B0503020204020204" charset="-122"/>
                <a:ea typeface="微软雅黑" panose="020B0503020204020204" charset="-122"/>
              </a:rPr>
              <a:t>靠偏好关系直接约束策略</a:t>
            </a:r>
            <a:endParaRPr lang="zh-CN" sz="1050">
              <a:solidFill>
                <a:srgbClr val="2F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圆角矩形 220"/>
          <p:cNvSpPr/>
          <p:nvPr/>
        </p:nvSpPr>
        <p:spPr>
          <a:xfrm>
            <a:off x="8001000" y="4876800"/>
            <a:ext cx="3771900" cy="1504950"/>
          </a:xfrm>
          <a:prstGeom prst="roundRect">
            <a:avLst>
              <a:gd name="adj" fmla="val 5696"/>
            </a:avLst>
          </a:prstGeom>
          <a:solidFill>
            <a:srgbClr val="EAF3F4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222" name="圆角矩形 221"/>
          <p:cNvSpPr/>
          <p:nvPr/>
        </p:nvSpPr>
        <p:spPr>
          <a:xfrm>
            <a:off x="8153400" y="5286375"/>
            <a:ext cx="38100" cy="123825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8277225" y="525780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主要风险</a:t>
            </a:r>
            <a:endParaRPr lang="zh-CN" sz="112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8153400" y="5553075"/>
            <a:ext cx="2476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7FB8BF"/>
                </a:solidFill>
                <a:latin typeface="微软雅黑" panose="020B0503020204020204" charset="-122"/>
                <a:ea typeface="微软雅黑" panose="020B0503020204020204" charset="-122"/>
              </a:rPr>
              <a:t>PPO</a:t>
            </a:r>
            <a:endParaRPr lang="en-US" sz="900" b="1">
              <a:solidFill>
                <a:srgbClr val="7FB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8458200" y="5524500"/>
            <a:ext cx="13335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2F4150"/>
                </a:solidFill>
                <a:latin typeface="微软雅黑" panose="020B0503020204020204" charset="-122"/>
                <a:ea typeface="微软雅黑" panose="020B0503020204020204" charset="-122"/>
              </a:rPr>
              <a:t>奖励模型可能被大模型绕过</a:t>
            </a:r>
            <a:endParaRPr lang="zh-CN" sz="1050">
              <a:solidFill>
                <a:srgbClr val="2F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9886950" y="5524500"/>
            <a:ext cx="9525" cy="485775"/>
          </a:xfrm>
          <a:prstGeom prst="rect">
            <a:avLst/>
          </a:prstGeom>
          <a:solidFill>
            <a:srgbClr val="C6DBDE"/>
          </a:solidFill>
        </p:spPr>
        <p:txBody>
          <a:bodyPr/>
          <a:lstStyle/>
          <a:p/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9991725" y="5553075"/>
            <a:ext cx="266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DPO</a:t>
            </a:r>
            <a:endParaRPr lang="en-US" sz="90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10315575" y="5524500"/>
            <a:ext cx="13049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2F4150"/>
                </a:solidFill>
                <a:latin typeface="微软雅黑" panose="020B0503020204020204" charset="-122"/>
                <a:ea typeface="微软雅黑" panose="020B0503020204020204" charset="-122"/>
              </a:rPr>
              <a:t>效果取决于偏好数据质量</a:t>
            </a:r>
            <a:endParaRPr lang="zh-CN" sz="1050">
              <a:solidFill>
                <a:srgbClr val="2F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14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小结：两种对齐思路的取舍&lt;/Text&gt;&#10;                &lt;Box style={{ flex: 1, flexDirection: 'row', justifyContent: 'flex-end', alignItems: 'center', gap: 9 }}&gt;&#10;                    &lt;FAIcon name='circle-info' style={{ fill: '#9FB0BA', width: 16, height: 16 }} /&gt;&#10;                    &lt;Text style={{ fontSize: 15, color: '#7A8B98' }}&gt;书中顺序：先 PPO，后 DPO&lt;/Text&gt;&#10;                &lt;/Box&gt;&#10;            &lt;/Box&gt;&#10;&#10;            {/* 上：左右两卡 */}&#10;            &lt;Box style={{ flexDirection: 'row', gap: 20, height: 424, marginTop: 14 }}&gt;&#10;                {[&#10;                    {&#10;                        tag: 'PPO', tagBg: '#7FB8BF', title: '稳定，但多一层',&#10;                        pts: [&#10;                            { t: '奖励模型充当「裁判」', d: '把人类反馈先固化成可复用的打分器，后续训练都向它看齐。' },&#10;                            { t: '裁剪 + 信任域', d: '每一步只允许小幅偏离当前策略，避免一次冒进更新毁掉已有进展。' },&#10;                            { t: '适合连续动作空间', d: '常用于控制机器人关节、驱动游戏角色等连续决策场景。' },&#10;                        ],&#10;                        cost: '两步流程既复杂又不稳定：大模型可能找到奖励模型的漏洞，让质量欠佳的回复仍获得高分。',&#10;                        accent: '#7FB8BF',&#10;                    },&#10;                    {&#10;                        tag: 'DPO', tagBg: '#007581', title: '直接，但依赖数据',&#10;                        pts: [&#10;                            { t: '跳过奖励模型', d: '不把偏好先翻译成分数，直接用偏好数据更新策略参数，少一层代理。' },&#10;                            { t: '直接关联最优策略', d: '提高生成被偏好回复的概率，同时降低不被偏好回复的概率。' },&#10;                            { t: '专为大模型对齐而生', d: '是较新的方法，专门用于把大语言模型与人类偏好对齐。' },&#10;                        ],&#10;                        cost: '对齐效果直接取决于偏好数据的质量与覆盖范围，数据偏差会被直接学进去。',&#10;                        accent: '#007581',&#10;                    },&#10;                ].map((c, i) =&gt; (&#10;                    &lt;Box key={i} style={{&#10;                        flex: 1, flexDirection: 'column', padding: '22px 24px 20px',&#10;                        borderRadius: 10,&#10;                        background: i === 1 ? '#F4F9FA' : '#FFFFFF',&#10;                        border: '1px solid #DFEAEC', borderTop: '5px solid ' + c.accent,&#10;                    }}&gt;&#10;                        &lt;Box style={{ flexDirection: 'row', alignItems: 'center', gap: 12 }}&gt;&#10;                            &lt;Box style={{ padding: '4px 14px', background: c.accent, borderRadius: 4 }}&gt;&#10;                                &lt;Text style={{ fontSize: 15, color: '#FFFFFF', fontWeight: 'bold' }}&gt;{c.tag}&lt;/Text&gt;&#10;                            &lt;/Box&gt;&#10;                            &lt;Text style={{ fontSize: 24, fontWeight: 'bold', color: '#152129' }}&gt;{c.title}&lt;/Text&gt;&#10;                        &lt;/Box&gt;&#10;&#10;                        &lt;Box style={{ flexDirection: 'column', gap: 14, marginTop: 20, flex: 1 }}&gt;&#10;                            {c.pts.map((p, j) =&gt; (&#10;                                &lt;Box key={j} style={{ flexDirection: 'row', gap: 12, alignItems: 'flex-start' }}&gt;&#10;                                    &lt;FAIcon name='circle-check' style={{ fill: c.accent, width: 18, height: 18, marginTop: 2 }} /&gt;&#10;                                    &lt;Box style={{ flex: 1, flexDirection: 'column', gap: 3 }}&gt;&#10;                                        &lt;Text style={{ fontSize: 18, fontWeight: 'bold', color: '#152129' }}&gt;{p.t}&lt;/Text&gt;&#10;                                        &lt;Text style={{ fontSize: 15, color: '#4E6070', lineHeight: 1.5 }}&gt;{p.d}&lt;/Text&gt;&#10;                                    &lt;/Box&gt;&#10;                                &lt;/Box&gt;&#10;                            ))}&#10;                        &lt;/Box&gt;&#10;&#10;                        &lt;Box style={{&#10;                            flexDirection: 'row', gap: 10, alignItems: 'flex-start',&#10;                            padding: '12px 15px', borderRadius: 8, background: '#EAF3F4',&#10;                        }}&gt;&#10;                            &lt;FAIcon name='scale-unbalanced' style={{ fill: '#00646E', width: 17, height: 17, marginTop: 1 }} /&gt;&#10;                            &lt;Text style={{ fontSize: 15, color: '#00565F', lineHeight: 1.5, flex: 1 }}&gt;&#10;                                &lt;span style={{ fontWeight: 'bold' }}&gt;代价：&lt;/span&gt;{c.cost}&#10;                            &lt;/Text&gt;&#10;                        &lt;/Box&gt;&#10;                    &lt;/Box&gt;&#10;                ))}&#10;            &lt;/Box&gt;&#10;&#10;            {/* 下：结论条 */}&#10;            &lt;Box style={{&#10;                flex: 1, flexDirection: 'row', alignItems: 'center', gap: 18, marginTop: 16,&#10;                padding: '0 26px', background: '#00505A', borderRadius: 10,&#10;            }}&gt;&#10;                &lt;FAIcon name='arrow-right-long' style={{ fill: '#4FC0CB', width: 26, height: 26 }} /&gt;&#10;                &lt;Text style={{ fontSize: 21, color: '#FFFFFF', lineHeight: 1.5, flex: 1 }}&gt;&#10;                    PPO 用「多一层模型 + 裁剪」换取稳定，DPO 用「少一层代理」换取简洁；&#10;                    &lt;span style={{ color: '#8FD3DA' }}&gt;选哪条路，取决于数据形态与工程约束。&lt;/span&gt;&#10;                &lt;/Text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15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 2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33" name="矩形 23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圆角矩形 235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600075" y="561975"/>
            <a:ext cx="38862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小结：两种对齐思路的取舍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8" name="图片 23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6450" y="676275"/>
            <a:ext cx="152400" cy="152400"/>
          </a:xfrm>
          <a:prstGeom prst="rect">
            <a:avLst/>
          </a:prstGeom>
        </p:spPr>
      </p:pic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9934575" y="666750"/>
            <a:ext cx="18383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书中顺序：先</a:t>
            </a:r>
            <a:r>
              <a:rPr lang="en-US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PPO</a:t>
            </a: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，后</a:t>
            </a:r>
            <a:r>
              <a:rPr lang="en-US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DPO</a:t>
            </a:r>
            <a:endParaRPr lang="en-US" sz="112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圆角矩形 239"/>
          <p:cNvSpPr/>
          <p:nvPr/>
        </p:nvSpPr>
        <p:spPr>
          <a:xfrm>
            <a:off x="419100" y="1152525"/>
            <a:ext cx="5581650" cy="4038600"/>
          </a:xfrm>
          <a:prstGeom prst="roundRect">
            <a:avLst>
              <a:gd name="adj" fmla="val 2358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41" name="任意多边形 240"/>
          <p:cNvSpPr/>
          <p:nvPr/>
        </p:nvSpPr>
        <p:spPr>
          <a:xfrm>
            <a:off x="419100" y="1152525"/>
            <a:ext cx="5581650" cy="4038600"/>
          </a:xfrm>
          <a:custGeom>
            <a:avLst/>
            <a:gdLst/>
            <a:ahLst/>
            <a:cxnLst/>
            <a:rect l="0" t="0" r="0" b="0"/>
            <a:pathLst>
              <a:path w="586" h="424">
                <a:moveTo>
                  <a:pt x="576" y="0"/>
                </a:moveTo>
                <a:cubicBezTo>
                  <a:pt x="581" y="0"/>
                  <a:pt x="585" y="4"/>
                  <a:pt x="586" y="9"/>
                </a:cubicBezTo>
                <a:cubicBezTo>
                  <a:pt x="585" y="6"/>
                  <a:pt x="583" y="5"/>
                  <a:pt x="5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76" y="0"/>
                </a:lnTo>
                <a:close/>
              </a:path>
            </a:pathLst>
          </a:cu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242" name="圆角矩形 241"/>
          <p:cNvSpPr/>
          <p:nvPr/>
        </p:nvSpPr>
        <p:spPr>
          <a:xfrm>
            <a:off x="647700" y="1381125"/>
            <a:ext cx="571500" cy="247650"/>
          </a:xfrm>
          <a:prstGeom prst="roundRect">
            <a:avLst>
              <a:gd name="adj" fmla="val 15385"/>
            </a:avLst>
          </a:pr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781050" y="1419225"/>
            <a:ext cx="304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PPO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1333500" y="1362075"/>
            <a:ext cx="16002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稳定，但多一层</a:t>
            </a:r>
            <a:endParaRPr lang="zh-CN" sz="18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5" name="图片 24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1847850"/>
            <a:ext cx="171450" cy="171450"/>
          </a:xfrm>
          <a:prstGeom prst="rect">
            <a:avLst/>
          </a:prstGeom>
        </p:spPr>
      </p:pic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33450" y="1828800"/>
            <a:ext cx="48387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奖励模型充当「裁判」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933450" y="2066925"/>
            <a:ext cx="4838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把人类反馈先固化成可复用的打分器，后续训练都向它看齐。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8" name="图片 2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2476500"/>
            <a:ext cx="171450" cy="171450"/>
          </a:xfrm>
          <a:prstGeom prst="rect">
            <a:avLst/>
          </a:prstGeom>
        </p:spPr>
      </p:pic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933450" y="2457450"/>
            <a:ext cx="48387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裁剪</a:t>
            </a: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信任域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933450" y="2695575"/>
            <a:ext cx="4838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每一步只允许小幅偏离当前策略，避免一次冒进更新毁掉已有进展。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1" name="图片 2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3105150"/>
            <a:ext cx="171450" cy="171450"/>
          </a:xfrm>
          <a:prstGeom prst="rect">
            <a:avLst/>
          </a:prstGeom>
        </p:spPr>
      </p:pic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933450" y="3086100"/>
            <a:ext cx="48387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适合连续动作空间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933450" y="3324225"/>
            <a:ext cx="4838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常用于控制机器人关节、驱动游戏角色等连续决策场景。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圆角矩形 253"/>
          <p:cNvSpPr/>
          <p:nvPr/>
        </p:nvSpPr>
        <p:spPr>
          <a:xfrm>
            <a:off x="647700" y="4210050"/>
            <a:ext cx="5124450" cy="742950"/>
          </a:xfrm>
          <a:prstGeom prst="roundRect">
            <a:avLst>
              <a:gd name="adj" fmla="val 10256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pic>
        <p:nvPicPr>
          <p:cNvPr id="255" name="图片 25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575" y="4333875"/>
            <a:ext cx="161925" cy="161925"/>
          </a:xfrm>
          <a:prstGeom prst="rect">
            <a:avLst/>
          </a:prstGeom>
        </p:spPr>
      </p:pic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047750" y="4324350"/>
            <a:ext cx="45815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代价：</a:t>
            </a:r>
            <a:r>
              <a:rPr lang="zh-CN" sz="112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两步流程既复杂又不稳定：大模型可能找到奖励模型的漏洞，让质量欠佳的回复仍获得高分。</a:t>
            </a:r>
            <a:endParaRPr lang="zh-CN" sz="1125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圆角矩形 256"/>
          <p:cNvSpPr/>
          <p:nvPr/>
        </p:nvSpPr>
        <p:spPr>
          <a:xfrm>
            <a:off x="6191250" y="1152525"/>
            <a:ext cx="5581650" cy="4038600"/>
          </a:xfrm>
          <a:prstGeom prst="roundRect">
            <a:avLst>
              <a:gd name="adj" fmla="val 2358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258" name="任意多边形 257"/>
          <p:cNvSpPr/>
          <p:nvPr/>
        </p:nvSpPr>
        <p:spPr>
          <a:xfrm>
            <a:off x="6191250" y="1152525"/>
            <a:ext cx="5581650" cy="4038600"/>
          </a:xfrm>
          <a:custGeom>
            <a:avLst/>
            <a:gdLst/>
            <a:ahLst/>
            <a:cxnLst/>
            <a:rect l="0" t="0" r="0" b="0"/>
            <a:pathLst>
              <a:path w="586" h="424">
                <a:moveTo>
                  <a:pt x="576" y="0"/>
                </a:moveTo>
                <a:cubicBezTo>
                  <a:pt x="581" y="0"/>
                  <a:pt x="585" y="4"/>
                  <a:pt x="586" y="9"/>
                </a:cubicBezTo>
                <a:cubicBezTo>
                  <a:pt x="585" y="6"/>
                  <a:pt x="583" y="5"/>
                  <a:pt x="5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76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259" name="圆角矩形 258"/>
          <p:cNvSpPr/>
          <p:nvPr/>
        </p:nvSpPr>
        <p:spPr>
          <a:xfrm>
            <a:off x="6419850" y="1381125"/>
            <a:ext cx="600075" cy="247650"/>
          </a:xfrm>
          <a:prstGeom prst="roundRect">
            <a:avLst>
              <a:gd name="adj" fmla="val 15385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553200" y="1419225"/>
            <a:ext cx="333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DPO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7134225" y="1362075"/>
            <a:ext cx="1828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直接，但依赖数据</a:t>
            </a:r>
            <a:endParaRPr lang="zh-CN" sz="18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2" name="图片 26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9850" y="1847850"/>
            <a:ext cx="171450" cy="171450"/>
          </a:xfrm>
          <a:prstGeom prst="rect">
            <a:avLst/>
          </a:prstGeom>
        </p:spPr>
      </p:pic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6705600" y="1828800"/>
            <a:ext cx="48387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跳过奖励模型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705600" y="2066925"/>
            <a:ext cx="4838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不把偏好先翻译成分数，直接用偏好数据更新策略参数，少一层代理。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5" name="图片 26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9850" y="2476500"/>
            <a:ext cx="171450" cy="171450"/>
          </a:xfrm>
          <a:prstGeom prst="rect">
            <a:avLst/>
          </a:prstGeom>
        </p:spPr>
      </p:pic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705600" y="2457450"/>
            <a:ext cx="48387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直接关联最优策略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705600" y="2695575"/>
            <a:ext cx="4838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提高生成被偏好回复的概率，同时降低不被偏好回复的概率。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8" name="图片 26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9850" y="3105150"/>
            <a:ext cx="171450" cy="171450"/>
          </a:xfrm>
          <a:prstGeom prst="rect">
            <a:avLst/>
          </a:prstGeom>
        </p:spPr>
      </p:pic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705600" y="3086100"/>
            <a:ext cx="48387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专为大模型对齐而生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6705600" y="3324225"/>
            <a:ext cx="4838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是较新的方法，专门用于把大语言模型与人类偏好对齐。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6419850" y="4210050"/>
            <a:ext cx="5124450" cy="742950"/>
          </a:xfrm>
          <a:prstGeom prst="roundRect">
            <a:avLst>
              <a:gd name="adj" fmla="val 10256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pic>
        <p:nvPicPr>
          <p:cNvPr id="272" name="图片 27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2725" y="4333875"/>
            <a:ext cx="161925" cy="161925"/>
          </a:xfrm>
          <a:prstGeom prst="rect">
            <a:avLst/>
          </a:prstGeom>
        </p:spPr>
      </p:pic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6819900" y="4324350"/>
            <a:ext cx="45815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代价：</a:t>
            </a:r>
            <a:r>
              <a:rPr lang="zh-CN" sz="112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对齐效果直接取决于偏好数据的质量与覆盖范围，数据偏差会被直接学进去。</a:t>
            </a:r>
            <a:endParaRPr lang="zh-CN" sz="1125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圆角矩形 273"/>
          <p:cNvSpPr/>
          <p:nvPr/>
        </p:nvSpPr>
        <p:spPr>
          <a:xfrm>
            <a:off x="419100" y="5295900"/>
            <a:ext cx="11353800" cy="1085850"/>
          </a:xfrm>
          <a:prstGeom prst="roundRect">
            <a:avLst>
              <a:gd name="adj" fmla="val 8772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pic>
        <p:nvPicPr>
          <p:cNvPr id="275" name="图片 27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" y="5715000"/>
            <a:ext cx="247650" cy="247650"/>
          </a:xfrm>
          <a:prstGeom prst="rect">
            <a:avLst/>
          </a:prstGeom>
        </p:spPr>
      </p:pic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1085850" y="5657850"/>
            <a:ext cx="104394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5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PPO </a:t>
            </a:r>
            <a:r>
              <a:rPr lang="zh-CN" sz="15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用「多一层模型</a:t>
            </a:r>
            <a:r>
              <a:rPr lang="en-US" sz="15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5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裁剪」换取稳定，</a:t>
            </a:r>
            <a:r>
              <a:rPr lang="en-US" sz="15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DPO </a:t>
            </a:r>
            <a:r>
              <a:rPr lang="zh-CN" sz="15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用「少一层代理」换取简洁；</a:t>
            </a:r>
            <a:r>
              <a:rPr lang="zh-CN" sz="1575">
                <a:solidFill>
                  <a:srgbClr val="8FD3DA"/>
                </a:solidFill>
                <a:latin typeface="微软雅黑" panose="020B0503020204020204" charset="-122"/>
                <a:ea typeface="微软雅黑" panose="020B0503020204020204" charset="-122"/>
              </a:rPr>
              <a:t>选哪条路，取决于数据形态与工程约束。</a:t>
            </a:r>
            <a:endParaRPr lang="zh-CN" sz="1575">
              <a:solidFill>
                <a:srgbClr val="8FD3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15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position: 'relative', background: '#F4F9FA',&#10;    fontFamily: '&quot;Microsoft YaHei&quot;, &quot;PingFang SC&quot;, sans-serif', overflow: 'hidden',&#10;}}&gt;&#10;    &lt;Box style={{ flexDirection: 'row', width: '100%', height: '100%' }}&gt;&#10;&#10;        &lt;Box style={{&#10;            width: 452, height: '100%', position: 'relative', overflow: 'hidden',&#10;            background: 'linear-gradient(160deg, #00505A 0%, #00646E 60%, #007581 100%)',&#10;            flexDirection: 'column', justifyContent: 'center', paddingLeft: 64,&#10;        }}&gt;&#10;            &lt;svg width={452} height={452} viewBox='0 0 452 452' style={{ position: 'absolute', left: 0, bottom: 96 }}&gt;&#10;                &lt;g opacity='0.14' stroke='#9AD4DB' strokeWidth='1.2' fill='none'&gt;&#10;                    &lt;circle cx='236' cy='236' r='68' /&gt;&#10;                    &lt;circle cx='236' cy='236' r='108' /&gt;&#10;                    &lt;circle cx='236' cy='236' r='148' /&gt;&#10;                &lt;/g&gt;&#10;            &lt;/svg&gt;&#10;            &lt;Box style={{ flexDirection: 'column', position: 'relative' }}&gt;&#10;                &lt;Text style={{ fontSize: 168, fontWeight: 'bold', color: '#FFFFFF', lineHeight: 1, letterSpacing: -6 }}&gt;03&lt;/Text&gt;&#10;                &lt;Text style={{ fontSize: 15, color: '#7FCBD4', letterSpacing: 5, fontWeight: 'bold', marginTop: 10 }}&gt;HOW IT WORKS&lt;/Text&gt;&#10;            &lt;/Box&gt;&#10;        &lt;/Box&gt;&#10;&#10;        &lt;Box style={{&#10;            flex: 1, height: '100%', padding: '66px 56px 58px 60px',&#10;            flexDirection: 'column', justifyContent: 'space-between',&#10;        }}&gt;&#10;            &lt;Box style={{ flexDirection: 'column' }}&gt;&#10;                &lt;Box style={{ flexDirection: 'row', alignItems: 'center', gap: 14 }}&gt;&#10;                    &lt;Box style={{ width: 44, height: 4, background: '#007581', borderRadius: 2 }} /&gt;&#10;                    &lt;Text style={{ fontSize: 15, color: '#007581', letterSpacing: 3, fontWeight: 'bold' }}&gt;第三部分&lt;/Text&gt;&#10;                &lt;/Box&gt;&#10;                &lt;Text style={{ fontSize: 42, fontWeight: 'bold', color: '#00505A', lineHeight: 1.32, marginTop: 18 }}&gt;&#10;                    怎么做：三大自进化&lt;br /&gt;系统案例&#10;                &lt;/Text&gt;&#10;                &lt;Box style={{ width: 120, height: 2, background: '#CFE1E4', marginTop: 22 }} /&gt;&#10;            &lt;/Box&gt;&#10;&#10;            &lt;Box style={{ flexDirection: 'column', gap: 16 }}&gt;&#10;                {[&#10;                    { k: 'SICA', v: '智能体直接修改自己的源代码，用历史表现驱动迭代精炼' },&#10;                    { k: 'AlphaEvolve', v: 'Google 用大模型组合与进化算法，自主发现并优化算法' },&#10;                    { k: 'OpenEvolve', v: '把进化式编程智能体工程化开源，可进化整个代码文件' },&#10;                ].map((it, i) =&gt; (&#10;                    &lt;Box key={i} style={{&#10;                        flexDirection: 'row', alignItems: 'center', gap: 16,&#10;                        padding: '14px 20px', borderRadius: 8,&#10;                        background: i === 2 ? '#EAF3F4' : '#F7FAFB',&#10;                        border: '1px solid #DFEAEC',&#10;                    }}&gt;&#10;                        &lt;Box style={{&#10;                            width: 108, height: 30, background: i === 2 ? '#00505A' : '#007581', borderRadius: 4,&#10;                            justifyContent: 'center', alignItems: 'center',&#10;                        }}&gt;&#10;                            &lt;Text style={{ fontSize: 15, color: '#FFFFFF', fontWeight: 'bold' }}&gt;{it.k}&lt;/Text&gt;&#10;                        &lt;/Box&gt;&#10;                        &lt;Text style={{ fontSize: 18, color: '#3D4E5E', lineHeight: 1.55, flex: 1 }}&gt;{it.v}&lt;/Text&gt;&#10;                    &lt;/Box&gt;&#10;                ))}&#10;            &lt;/Box&gt;&#10;&#10;            &lt;Box style={{&#10;                flexDirection: 'row', alignItems: 'center', gap: 12,&#10;                padding: '15px 20px', borderLeft: '4px solid #007581', background: '#F4F9FA', borderRadius: 8,&#10;            }}&gt;&#10;                &lt;FAIcon name='arrow-right-long' style={{ fill: '#007581', width: 20, height: 20 }} /&gt;&#10;                &lt;Text style={{ fontSize: 17, color: '#00505A', lineHeight: 1.55, flex: 1, fontWeight: 'bold' }}&gt;&#10;                    三个案例，展示「自改进」从研究概念走向工程实现的三条路径&#10;                &lt;/Text&gt;&#10;            &lt;/Box&gt;&#10;        &lt;/Box&gt;&#10;&#10;        &lt;Box style={{&#10;            position: 'absolute', left: 508, right: 56, bottom: 26,&#10;            flexDirection: 'row', justifyContent: 'space-between',&#10;        }}&gt;&#10;            &lt;Text style={{ fontSize: 13, color: '#A8B4BE' }}&gt;第九组 · 学习与适应&lt;/Text&gt;&#10;            &lt;Text style={{ fontSize: 14, color: '#007581', fontWeight: 'bold' }}&gt;16 / 33&lt;/Text&gt;&#10;        &lt;/Box&gt;&#10;&#10;        &lt;Box style={{ position: 'absolute', left: 452, top: 0, width: 828, height: 6, background: '#007581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281" name="圆角矩形 280"/>
          <p:cNvSpPr/>
          <p:nvPr/>
        </p:nvSpPr>
        <p:spPr>
          <a:xfrm>
            <a:off x="4876800" y="6953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5429250" y="628650"/>
            <a:ext cx="685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第三部分</a:t>
            </a:r>
            <a:endParaRPr lang="zh-CN" sz="1125" b="1" spc="225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4876800" y="971550"/>
            <a:ext cx="6781800" cy="1276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2000"/>
              </a:lnSpc>
            </a:pPr>
            <a:r>
              <a:rPr lang="zh-CN" sz="31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怎么做：三大自进化</a:t>
            </a:r>
            <a:endParaRPr lang="zh-CN" sz="31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lang="zh-CN" sz="31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系统案例</a:t>
            </a:r>
            <a:endParaRPr lang="zh-CN" sz="31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矩形 283"/>
          <p:cNvSpPr/>
          <p:nvPr/>
        </p:nvSpPr>
        <p:spPr>
          <a:xfrm>
            <a:off x="4876800" y="2457450"/>
            <a:ext cx="1143000" cy="19050"/>
          </a:xfrm>
          <a:prstGeom prst="rect">
            <a:avLst/>
          </a:prstGeom>
          <a:solidFill>
            <a:srgbClr val="CFE1E4"/>
          </a:solidFill>
        </p:spPr>
        <p:txBody>
          <a:bodyPr/>
          <a:lstStyle/>
          <a:p/>
        </p:txBody>
      </p:sp>
      <p:sp>
        <p:nvSpPr>
          <p:cNvPr id="285" name="圆角矩形 284"/>
          <p:cNvSpPr/>
          <p:nvPr/>
        </p:nvSpPr>
        <p:spPr>
          <a:xfrm>
            <a:off x="4876800" y="305752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7FAFB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286" name="圆角矩形 285"/>
          <p:cNvSpPr/>
          <p:nvPr/>
        </p:nvSpPr>
        <p:spPr>
          <a:xfrm>
            <a:off x="5067300" y="3209925"/>
            <a:ext cx="1028700" cy="285750"/>
          </a:xfrm>
          <a:prstGeom prst="roundRect">
            <a:avLst>
              <a:gd name="adj" fmla="val 13333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5410200" y="3267075"/>
            <a:ext cx="342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SICA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6248400" y="3190875"/>
            <a:ext cx="52197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智能体直接修改自己的源代码，用历史表现驱动迭代精炼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4876800" y="380047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7FAFB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290" name="圆角矩形 289"/>
          <p:cNvSpPr/>
          <p:nvPr/>
        </p:nvSpPr>
        <p:spPr>
          <a:xfrm>
            <a:off x="5067300" y="3952875"/>
            <a:ext cx="1028700" cy="285750"/>
          </a:xfrm>
          <a:prstGeom prst="roundRect">
            <a:avLst>
              <a:gd name="adj" fmla="val 13333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5143500" y="4010025"/>
            <a:ext cx="885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AlphaEvolve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6248400" y="3933825"/>
            <a:ext cx="52197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Google </a:t>
            </a: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用大模型组合与进化算法，自主发现并优化算法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圆角矩形 292"/>
          <p:cNvSpPr/>
          <p:nvPr/>
        </p:nvSpPr>
        <p:spPr>
          <a:xfrm>
            <a:off x="4876800" y="454342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EAF3F4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294" name="圆角矩形 293"/>
          <p:cNvSpPr/>
          <p:nvPr/>
        </p:nvSpPr>
        <p:spPr>
          <a:xfrm>
            <a:off x="5067300" y="4695825"/>
            <a:ext cx="1028700" cy="285750"/>
          </a:xfrm>
          <a:prstGeom prst="roundRect">
            <a:avLst>
              <a:gd name="adj" fmla="val 13333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5153025" y="4752975"/>
            <a:ext cx="857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OpenEvolve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6248400" y="4676775"/>
            <a:ext cx="52197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把进化式编程智能体工程化开源，可进化整个代码文件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圆角矩形 296"/>
          <p:cNvSpPr/>
          <p:nvPr/>
        </p:nvSpPr>
        <p:spPr>
          <a:xfrm>
            <a:off x="4914900" y="5715000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298" name="任意多边形 297"/>
          <p:cNvSpPr/>
          <p:nvPr/>
        </p:nvSpPr>
        <p:spPr>
          <a:xfrm>
            <a:off x="4914900" y="5715000"/>
            <a:ext cx="6781800" cy="590550"/>
          </a:xfrm>
          <a:custGeom>
            <a:avLst/>
            <a:gdLst/>
            <a:ahLst/>
            <a:cxnLst/>
            <a:rect l="0" t="0" r="0" b="0"/>
            <a:pathLst>
              <a:path w="712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299" name="图片 29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5400" y="5915025"/>
            <a:ext cx="190500" cy="190500"/>
          </a:xfrm>
          <a:prstGeom prst="rect">
            <a:avLst/>
          </a:prstGeom>
        </p:spPr>
      </p:pic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5410200" y="5857875"/>
            <a:ext cx="6057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三个案例，展示「自改进」从研究概念走向工程实现的三条路径</a:t>
            </a:r>
            <a:endParaRPr lang="zh-CN" sz="127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矩形 300"/>
          <p:cNvSpPr/>
          <p:nvPr/>
        </p:nvSpPr>
        <p:spPr>
          <a:xfrm>
            <a:off x="0" y="0"/>
            <a:ext cx="4305300" cy="6858000"/>
          </a:xfrm>
          <a:prstGeom prst="rect">
            <a:avLst/>
          </a:prstGeom>
          <a:gradFill>
            <a:gsLst>
              <a:gs pos="0">
                <a:srgbClr val="00505A"/>
              </a:gs>
              <a:gs pos="60000">
                <a:srgbClr val="00646E"/>
              </a:gs>
              <a:gs pos="100000">
                <a:srgbClr val="007581"/>
              </a:gs>
            </a:gsLst>
            <a:lin ang="4200000" scaled="1"/>
          </a:gradFill>
        </p:spPr>
        <p:txBody>
          <a:bodyPr/>
          <a:lstStyle/>
          <a:p/>
        </p:txBody>
      </p:sp>
      <p:pic>
        <p:nvPicPr>
          <p:cNvPr id="302" name="图片 3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638300"/>
            <a:ext cx="4305300" cy="4305300"/>
          </a:xfrm>
          <a:prstGeom prst="rect">
            <a:avLst/>
          </a:prstGeom>
        </p:spPr>
      </p:pic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609600" y="2333625"/>
            <a:ext cx="3695700" cy="1924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600" b="1" spc="-4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2600" b="1" spc="-4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609600" y="4352925"/>
            <a:ext cx="36957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 spc="375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HOW IT WORKS</a:t>
            </a:r>
            <a:endParaRPr lang="en-US" sz="1125" b="1" spc="375">
              <a:solidFill>
                <a:srgbClr val="7FCB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4838700" y="6448425"/>
            <a:ext cx="1095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11182350" y="644842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16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4305300" y="0"/>
            <a:ext cx="78867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三大自进化系统全景&lt;/Text&gt;&#10;                &lt;Box style={{ flex: 1, flexDirection: 'row', justifyContent: 'flex-end', alignItems: 'center', gap: 9 }}&gt;&#10;                    &lt;FAIcon name='circle-info' style={{ fill: '#9FB0BA', width: 16, height: 16 }} /&gt;&#10;                    &lt;Text style={{ fontSize: 15, color: '#7A8B98' }}&gt;三者都在回答：让什么来自我改进？&lt;/Text&gt;&#10;                &lt;/Box&gt;&#10;            &lt;/Box&gt;&#10;&#10;            &lt;Box style={{ flexDirection: 'row', gap: 16, flex: 1, marginTop: 14 }}&gt;&#10;                {[&#10;                    {&#10;                        n: '01', t: 'SICA', en: 'Self-Improving Coding Agent', accent: '#007581',&#10;                        role: '自改进编程智能体',&#10;                        obj: '自身的源代码',&#10;                        mech: '回顾历史版本并按成功率、耗时、算力加权打分，选最优版本继续改写代码，再跑分入库',&#10;                        out: 'Smart Editor、AST Symbol Locator 等工具',&#10;                    },&#10;                    {&#10;                        n: '02', t: 'AlphaEvolve', en: 'Google · Algorithm Discovery', accent: '#39A0AC',&#10;                        role: '算法发现与优化智能体',&#10;                        obj: '算法与程序本身',&#10;                        mech: 'Gemini Flash 批量生成候选、Pro 深入精炼，自动评估打分后反馈迭代，配合进化算法框架',&#10;                        out: '数据中心调度降 0.7% 算力、核心内核提速 23%',&#10;                    },&#10;                    {&#10;                        n: '03', t: 'OpenEvolve', en: 'Open-Source Evolutionary Agent', accent: '#00505A',&#10;                        role: '开源进化式编程智能体',&#10;                        obj: '整个代码文件（不止单函数）',&#10;                        mech: '控制器编排程序采样器、程序数据库、评估器池与 LLM 集成，持续生成—评估—选择',&#10;                        out: '多语言、兼容 OpenAI API、支持分布式评估',&#10;                    },&#10;                ].map((c, i) =&gt; (&#10;                    &lt;Box key={i} style={{&#10;                        flex: 1, flexDirection: 'column', padding: '20px 22px 18px',&#10;                        background: i === 1 ? '#FFFFFF' : '#F8FBFB',&#10;                        border: '1px solid #DFEAEC', borderTop: '5px solid ' + c.accent, borderRadius: 10,&#10;                    }}&gt;&#10;                        &lt;Box style={{ flexDirection: 'row', justifyContent: 'space-between', alignItems: 'flex-start' }}&gt;&#10;                            &lt;Box style={{ flexDirection: 'column', gap: 4 }}&gt;&#10;                                &lt;Text style={{ fontSize: 26, fontWeight: 'bold', color: '#152129' }}&gt;{c.t}&lt;/Text&gt;&#10;                                &lt;Text style={{ fontSize: 12, color: '#8FA3AE', letterSpacing: 0.4 }}&gt;{c.en}&lt;/Text&gt;&#10;                            &lt;/Box&gt;&#10;                            &lt;Text style={{ fontSize: 38, fontWeight: 'bold', color: '#DCEAEC', lineHeight: 1 }}&gt;{c.n}&lt;/Text&gt;&#10;                        &lt;/Box&gt;&#10;&#10;                        &lt;Box style={{ padding: '9px 12px', background: '#E3F0F2', borderRadius: 6, marginTop: 14 }}&gt;&#10;                            &lt;Text style={{ fontSize: 15, color: '#00565F', fontWeight: 'bold' }}&gt;{c.role}&lt;/Text&gt;&#10;                        &lt;/Box&gt;&#10;&#10;                        &lt;Box style={{ flexDirection: 'column', gap: 13, marginTop: 16, flex: 1 }}&gt;&#10;                            {[&#10;                                { k: '学习对象', v: c.obj },&#10;                                { k: '关键机制', v: c.mech },&#10;                                { k: '代表成果', v: c.out },&#10;                            ].map((f, j) =&gt; (&#10;                                &lt;Box key={j} style={{ flexDirection: 'column', gap: 4 }}&gt;&#10;                                    &lt;Box style={{ flexDirection: 'row', alignItems: 'center', gap: 7 }}&gt;&#10;                                        &lt;Box style={{ width: 4, height: 12, background: c.accent, borderRadius: 2 }} /&gt;&#10;                                        &lt;Text style={{ fontSize: 13, color: c.accent, fontWeight: 'bold' }}&gt;{f.k}&lt;/Text&gt;&#10;                                    &lt;/Box&gt;&#10;                                    &lt;Text style={{ fontSize: 15, color: '#3D4E5E', lineHeight: 1.58 }}&gt;{f.v}&lt;/Text&gt;&#10;                                &lt;/Box&gt;&#10;                            ))}&#10;                        &lt;/Box&gt;&#10;                    &lt;/Box&gt;&#10;                ))}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17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矩形 3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10" name="矩形 30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圆角矩形 312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00075" y="561975"/>
            <a:ext cx="29146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三大自进化系统全景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5" name="图片 31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48775" y="676275"/>
            <a:ext cx="152400" cy="152400"/>
          </a:xfrm>
          <a:prstGeom prst="rect">
            <a:avLst/>
          </a:prstGeom>
        </p:spPr>
      </p:pic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9486900" y="666750"/>
            <a:ext cx="2286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三者都在回答：让什么来自我改进？</a:t>
            </a:r>
            <a:endParaRPr lang="zh-CN" sz="112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圆角矩形 316"/>
          <p:cNvSpPr/>
          <p:nvPr/>
        </p:nvSpPr>
        <p:spPr>
          <a:xfrm>
            <a:off x="419100" y="1152525"/>
            <a:ext cx="3686175" cy="5276850"/>
          </a:xfrm>
          <a:prstGeom prst="roundRect">
            <a:avLst>
              <a:gd name="adj" fmla="val 2584"/>
            </a:avLst>
          </a:prstGeom>
          <a:solidFill>
            <a:srgbClr val="F8FBFB"/>
          </a:solidFill>
        </p:spPr>
        <p:txBody>
          <a:bodyPr/>
          <a:lstStyle/>
          <a:p/>
        </p:txBody>
      </p:sp>
      <p:sp>
        <p:nvSpPr>
          <p:cNvPr id="318" name="任意多边形 317"/>
          <p:cNvSpPr/>
          <p:nvPr/>
        </p:nvSpPr>
        <p:spPr>
          <a:xfrm>
            <a:off x="419100" y="1152525"/>
            <a:ext cx="3686175" cy="5276850"/>
          </a:xfrm>
          <a:custGeom>
            <a:avLst/>
            <a:gdLst/>
            <a:ahLst/>
            <a:cxnLst/>
            <a:rect l="0" t="0" r="0" b="0"/>
            <a:pathLst>
              <a:path w="387" h="554">
                <a:moveTo>
                  <a:pt x="377" y="0"/>
                </a:moveTo>
                <a:cubicBezTo>
                  <a:pt x="382" y="0"/>
                  <a:pt x="386" y="4"/>
                  <a:pt x="387" y="9"/>
                </a:cubicBezTo>
                <a:cubicBezTo>
                  <a:pt x="386" y="6"/>
                  <a:pt x="384" y="5"/>
                  <a:pt x="382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7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628650" y="1343025"/>
            <a:ext cx="1714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SICA</a:t>
            </a:r>
            <a:endParaRPr lang="en-US" sz="19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628650" y="1685925"/>
            <a:ext cx="17145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30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Self-Improving Coding Agent</a:t>
            </a:r>
            <a:endParaRPr lang="en-US" sz="900" spc="30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3448050" y="1343025"/>
            <a:ext cx="44767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DCEAE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850" b="1">
              <a:solidFill>
                <a:srgbClr val="DCEA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圆角矩形 321"/>
          <p:cNvSpPr/>
          <p:nvPr/>
        </p:nvSpPr>
        <p:spPr>
          <a:xfrm>
            <a:off x="628650" y="1962150"/>
            <a:ext cx="3267075" cy="342900"/>
          </a:xfrm>
          <a:prstGeom prst="roundRect">
            <a:avLst>
              <a:gd name="adj" fmla="val 16667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742950" y="2047875"/>
            <a:ext cx="30384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自改进编程智能体</a:t>
            </a:r>
            <a:endParaRPr lang="zh-CN" sz="112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圆角矩形 323"/>
          <p:cNvSpPr/>
          <p:nvPr/>
        </p:nvSpPr>
        <p:spPr>
          <a:xfrm>
            <a:off x="628650" y="24765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733425" y="2457450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学习对象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628650" y="2647950"/>
            <a:ext cx="32670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8000"/>
              </a:lnSpc>
            </a:pP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自身的源代码</a:t>
            </a:r>
            <a:endParaRPr lang="zh-CN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圆角矩形 326"/>
          <p:cNvSpPr/>
          <p:nvPr/>
        </p:nvSpPr>
        <p:spPr>
          <a:xfrm>
            <a:off x="628650" y="306705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733425" y="3048000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关键机制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628650" y="3238500"/>
            <a:ext cx="3267075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8000"/>
              </a:lnSpc>
            </a:pP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回顾历史版本并按成功率、耗时、算力加权打分，选最优版本继续改写代码，再跑分入库</a:t>
            </a:r>
            <a:endParaRPr lang="zh-CN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圆角矩形 329"/>
          <p:cNvSpPr/>
          <p:nvPr/>
        </p:nvSpPr>
        <p:spPr>
          <a:xfrm>
            <a:off x="628650" y="39243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733425" y="3905250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代表成果</a:t>
            </a:r>
            <a:endParaRPr lang="zh-CN" sz="97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28650" y="4095750"/>
            <a:ext cx="32670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8000"/>
              </a:lnSpc>
            </a:pP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Smart Editor</a:t>
            </a: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AST Symbol Locator </a:t>
            </a: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等工具</a:t>
            </a:r>
            <a:endParaRPr lang="zh-CN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圆角矩形 332"/>
          <p:cNvSpPr/>
          <p:nvPr/>
        </p:nvSpPr>
        <p:spPr>
          <a:xfrm>
            <a:off x="4257675" y="1152525"/>
            <a:ext cx="3676650" cy="5276850"/>
          </a:xfrm>
          <a:prstGeom prst="roundRect">
            <a:avLst>
              <a:gd name="adj" fmla="val 2591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34" name="任意多边形 333"/>
          <p:cNvSpPr/>
          <p:nvPr/>
        </p:nvSpPr>
        <p:spPr>
          <a:xfrm>
            <a:off x="4257675" y="1152525"/>
            <a:ext cx="3676650" cy="5276850"/>
          </a:xfrm>
          <a:custGeom>
            <a:avLst/>
            <a:gdLst/>
            <a:ahLst/>
            <a:cxnLst/>
            <a:rect l="0" t="0" r="0" b="0"/>
            <a:pathLst>
              <a:path w="386" h="554">
                <a:moveTo>
                  <a:pt x="376" y="0"/>
                </a:moveTo>
                <a:cubicBezTo>
                  <a:pt x="381" y="0"/>
                  <a:pt x="385" y="4"/>
                  <a:pt x="386" y="9"/>
                </a:cubicBezTo>
                <a:cubicBezTo>
                  <a:pt x="385" y="6"/>
                  <a:pt x="383" y="5"/>
                  <a:pt x="3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6" y="0"/>
                </a:lnTo>
                <a:close/>
              </a:path>
            </a:pathLst>
          </a:cu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4467225" y="1343025"/>
            <a:ext cx="1714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AlphaEvolve</a:t>
            </a:r>
            <a:endParaRPr lang="en-US" sz="19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4467225" y="1685925"/>
            <a:ext cx="17145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30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Google · Algorithm Discovery</a:t>
            </a:r>
            <a:endParaRPr lang="en-US" sz="900" spc="30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7277100" y="1343025"/>
            <a:ext cx="44767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DCEAE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850" b="1">
              <a:solidFill>
                <a:srgbClr val="DCEA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圆角矩形 337"/>
          <p:cNvSpPr/>
          <p:nvPr/>
        </p:nvSpPr>
        <p:spPr>
          <a:xfrm>
            <a:off x="4467225" y="1962150"/>
            <a:ext cx="3257550" cy="342900"/>
          </a:xfrm>
          <a:prstGeom prst="roundRect">
            <a:avLst>
              <a:gd name="adj" fmla="val 16667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4581525" y="2047875"/>
            <a:ext cx="30289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算法发现与优化智能体</a:t>
            </a:r>
            <a:endParaRPr lang="zh-CN" sz="112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圆角矩形 339"/>
          <p:cNvSpPr/>
          <p:nvPr/>
        </p:nvSpPr>
        <p:spPr>
          <a:xfrm>
            <a:off x="4467225" y="24765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4572000" y="2457450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9A0AC"/>
                </a:solidFill>
                <a:latin typeface="微软雅黑" panose="020B0503020204020204" charset="-122"/>
                <a:ea typeface="微软雅黑" panose="020B0503020204020204" charset="-122"/>
              </a:rPr>
              <a:t>学习对象</a:t>
            </a:r>
            <a:endParaRPr lang="zh-CN" sz="975" b="1">
              <a:solidFill>
                <a:srgbClr val="39A0A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4467225" y="2647950"/>
            <a:ext cx="32575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8000"/>
              </a:lnSpc>
            </a:pP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算法与程序本身</a:t>
            </a:r>
            <a:endParaRPr lang="zh-CN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圆角矩形 342"/>
          <p:cNvSpPr/>
          <p:nvPr/>
        </p:nvSpPr>
        <p:spPr>
          <a:xfrm>
            <a:off x="4467225" y="306705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4572000" y="3048000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9A0AC"/>
                </a:solidFill>
                <a:latin typeface="微软雅黑" panose="020B0503020204020204" charset="-122"/>
                <a:ea typeface="微软雅黑" panose="020B0503020204020204" charset="-122"/>
              </a:rPr>
              <a:t>关键机制</a:t>
            </a:r>
            <a:endParaRPr lang="zh-CN" sz="975" b="1">
              <a:solidFill>
                <a:srgbClr val="39A0A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4467225" y="3238500"/>
            <a:ext cx="325755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8000"/>
              </a:lnSpc>
            </a:pP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Gemini Flash </a:t>
            </a: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批量生成候选、</a:t>
            </a: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Pro </a:t>
            </a: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深入精炼，自动评估打分后反馈迭代，配合进化算法框架</a:t>
            </a:r>
            <a:endParaRPr lang="zh-CN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圆角矩形 345"/>
          <p:cNvSpPr/>
          <p:nvPr/>
        </p:nvSpPr>
        <p:spPr>
          <a:xfrm>
            <a:off x="4467225" y="39243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39A0AC"/>
          </a:solidFill>
        </p:spPr>
        <p:txBody>
          <a:bodyPr/>
          <a:lstStyle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4572000" y="3905250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9A0AC"/>
                </a:solidFill>
                <a:latin typeface="微软雅黑" panose="020B0503020204020204" charset="-122"/>
                <a:ea typeface="微软雅黑" panose="020B0503020204020204" charset="-122"/>
              </a:rPr>
              <a:t>代表成果</a:t>
            </a:r>
            <a:endParaRPr lang="zh-CN" sz="975" b="1">
              <a:solidFill>
                <a:srgbClr val="39A0A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4467225" y="4095750"/>
            <a:ext cx="32575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8000"/>
              </a:lnSpc>
            </a:pP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数据中心调度降</a:t>
            </a: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 0.7% </a:t>
            </a: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算力、核心内核提速</a:t>
            </a: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 23%</a:t>
            </a:r>
            <a:endParaRPr lang="en-US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8086725" y="1152525"/>
            <a:ext cx="3686175" cy="5276850"/>
          </a:xfrm>
          <a:prstGeom prst="roundRect">
            <a:avLst>
              <a:gd name="adj" fmla="val 2584"/>
            </a:avLst>
          </a:prstGeom>
          <a:solidFill>
            <a:srgbClr val="F8FBFB"/>
          </a:solidFill>
        </p:spPr>
        <p:txBody>
          <a:bodyPr/>
          <a:lstStyle/>
          <a:p/>
        </p:txBody>
      </p:sp>
      <p:sp>
        <p:nvSpPr>
          <p:cNvPr id="350" name="任意多边形 349"/>
          <p:cNvSpPr/>
          <p:nvPr/>
        </p:nvSpPr>
        <p:spPr>
          <a:xfrm>
            <a:off x="8086725" y="1152525"/>
            <a:ext cx="3686175" cy="5276850"/>
          </a:xfrm>
          <a:custGeom>
            <a:avLst/>
            <a:gdLst/>
            <a:ahLst/>
            <a:cxnLst/>
            <a:rect l="0" t="0" r="0" b="0"/>
            <a:pathLst>
              <a:path w="387" h="554">
                <a:moveTo>
                  <a:pt x="377" y="0"/>
                </a:moveTo>
                <a:cubicBezTo>
                  <a:pt x="382" y="0"/>
                  <a:pt x="386" y="4"/>
                  <a:pt x="387" y="9"/>
                </a:cubicBezTo>
                <a:cubicBezTo>
                  <a:pt x="386" y="6"/>
                  <a:pt x="384" y="5"/>
                  <a:pt x="382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7" y="0"/>
                </a:lnTo>
                <a:close/>
              </a:path>
            </a:pathLst>
          </a:cu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8296275" y="1343025"/>
            <a:ext cx="19240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OpenEvolve</a:t>
            </a:r>
            <a:endParaRPr lang="en-US" sz="19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8296275" y="168592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30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Open-Source Evolutionary Agent</a:t>
            </a:r>
            <a:endParaRPr lang="en-US" sz="900" spc="30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1115675" y="1343025"/>
            <a:ext cx="44767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DCEAE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850" b="1">
              <a:solidFill>
                <a:srgbClr val="DCEA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圆角矩形 353"/>
          <p:cNvSpPr/>
          <p:nvPr/>
        </p:nvSpPr>
        <p:spPr>
          <a:xfrm>
            <a:off x="8296275" y="1962150"/>
            <a:ext cx="3267075" cy="342900"/>
          </a:xfrm>
          <a:prstGeom prst="roundRect">
            <a:avLst>
              <a:gd name="adj" fmla="val 16667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8410575" y="2047875"/>
            <a:ext cx="30384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开源进化式编程智能体</a:t>
            </a:r>
            <a:endParaRPr lang="zh-CN" sz="112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8296275" y="24765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8401050" y="2457450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学习对象</a:t>
            </a:r>
            <a:endParaRPr lang="zh-CN" sz="97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8296275" y="2647950"/>
            <a:ext cx="32670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8000"/>
              </a:lnSpc>
            </a:pP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整个代码文件（不止单函数）</a:t>
            </a:r>
            <a:endParaRPr lang="zh-CN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圆角矩形 358"/>
          <p:cNvSpPr/>
          <p:nvPr/>
        </p:nvSpPr>
        <p:spPr>
          <a:xfrm>
            <a:off x="8296275" y="306705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8401050" y="3048000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关键机制</a:t>
            </a:r>
            <a:endParaRPr lang="zh-CN" sz="97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8296275" y="3238500"/>
            <a:ext cx="3267075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8000"/>
              </a:lnSpc>
            </a:pP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控制器编排程序采样器、程序数据库、评估器池与</a:t>
            </a: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 LLM </a:t>
            </a: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集成，持续生成—评估—选择</a:t>
            </a:r>
            <a:endParaRPr lang="zh-CN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圆角矩形 361"/>
          <p:cNvSpPr/>
          <p:nvPr/>
        </p:nvSpPr>
        <p:spPr>
          <a:xfrm>
            <a:off x="8296275" y="39243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8401050" y="3905250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代表成果</a:t>
            </a:r>
            <a:endParaRPr lang="zh-CN" sz="97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8296275" y="4095750"/>
            <a:ext cx="32670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8000"/>
              </a:lnSpc>
            </a:pP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多语言、兼容</a:t>
            </a: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 OpenAI API</a:t>
            </a:r>
            <a:r>
              <a:rPr lang="zh-CN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、支持分布式评估</a:t>
            </a:r>
            <a:endParaRPr lang="zh-CN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17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SICA：一个会改自己代码的智能体&lt;/Text&gt;&#10;                &lt;Box style={{ padding: '4px 12px', background: '#E3F0F2', borderRadius: 4 }}&gt;&#10;                    &lt;Text style={{ fontSize: 14, color: '#00646E', fontWeight: 'bold' }}&gt;原书图 1&lt;/Text&gt;&#10;                &lt;/Box&gt;&#10;            &lt;/Box&gt;&#10;&#10;            &lt;Box style={{ flexDirection: 'row', gap: 22, flex: 1, marginTop: 14 }}&gt;&#10;&#10;                {/* 左：原书图 */}&#10;                &lt;Box style={{&#10;                    width: 700, flexDirection: 'column', padding: '14px 16px 12px',&#10;                    background: '#F8FBFB', border: '1px solid #E2EBED', borderRadius: 10,&#10;                }}&gt;&#10;                    &lt;Box style={{ flexDirection: 'row', justifyContent: 'space-between', alignItems: 'center' }}&gt;&#10;                        &lt;Text style={{ fontSize: 16, fontWeight: 'bold', color: '#152129' }}&gt;SICA 基于过往版本的自改进过程&lt;/Text&gt;&#10;                        &lt;Text style={{ fontSize: 12, color: '#8695A4' }}&gt;原书 Fig.1&lt;/Text&gt;&#10;                    &lt;/Box&gt;&#10;                    &lt;Box style={{&#10;                        flex: 1, marginTop: 10, background: '#FFFFFF',&#10;                        border: '1px solid #E7EDEF', borderRadius: 8,&#10;                        justifyContent: 'center', alignItems: 'center', padding: 10,&#10;                    }}&gt;&#10;                        &lt;Image src='assets/fig1_sica_loop.png' style={{ width: 628, height: 364 }} /&gt;&#10;                    &lt;/Box&gt;&#10;                    &lt;Text style={{ fontSize: 12, color: '#8695A4', marginTop: 7 }}&gt;&#10;                        图源：Robeyns, Aitchison &amp;amp; Szummer, A Self-Improving Coding Agent (arXiv:2504.15228v2)&#10;                    &lt;/Text&gt;&#10;                &lt;/Box&gt;&#10;&#10;                {/* 右：解读 */}&#10;                &lt;Box style={{ flex: 1, flexDirection: 'column', gap: 14 }}&gt;&#10;                    &lt;Box style={{ flexDirection: 'column', gap: 8 }}&gt;&#10;                        &lt;Text style={{ fontSize: 13, color: '#007581', letterSpacing: 2, fontWeight: 'bold' }}&gt;CASE STUDY · SICA&lt;/Text&gt;&#10;                        &lt;Text style={{ fontSize: 24, fontWeight: 'bold', color: '#152129', lineHeight: 1.4 }}&gt;&#10;                            它既是修改者，&lt;br /&gt;也是被修改的对象&#10;                        &lt;/Text&gt;&#10;                    &lt;/Box&gt;&#10;&#10;                    {[&#10;                        { ic: 'arrows-rotate', t: '迭代自改进', d: '回顾历史版本与其基准表现，挑出最优版本作为下一轮改动的起点。' },&#10;                        { ic: 'code', t: '直接改写代码库', d: '分析档案找出可改进之处，直接修改自身源码，再跑基准测试并记录结果。' },&#10;                        { ic: 'chart-line', t: '不依赖传统训练', d: '改进锚定在可观测的表现上，因而不必依赖传统离线训练范式。' },&#10;                    ].map((c, i) =&gt; (&#10;                        &lt;Box key={i} style={{&#10;                            flex: 1, flexDirection: 'row', gap: 14, alignItems: 'center',&#10;                            padding: '0 18px', borderRadius: 9, background: '#F4F9FA', border: '1px solid #DFEAEC',&#10;                        }}&gt;&#10;                            &lt;Box style={{&#10;                                width: 46, height: 46, borderRadius: 11, background: '#E3F0F2',&#10;                                justifyContent: 'center', alignItems: 'center',&#10;                            }}&gt;&#10;                                &lt;FAIcon name={c.ic} style={{ fill: '#007581', width: 22, height: 22 }} /&gt;&#10;                            &lt;/Box&gt;&#10;                            &lt;Box style={{ flex: 1, flexDirection: 'column', gap: 4 }}&gt;&#10;                                &lt;Text style={{ fontSize: 19, fontWeight: 'bold', color: '#152129' }}&gt;{c.t}&lt;/Text&gt;&#10;                                &lt;Text style={{ fontSize: 15, color: '#4E6070', lineHeight: 1.55 }}&gt;{c.d}&lt;/Text&gt;&#10;                            &lt;/Box&gt;&#10;                        &lt;/Box&gt;&#10;                    ))}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18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矩形 3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69" name="矩形 36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圆角矩形 371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600075" y="561975"/>
            <a:ext cx="49815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SICA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：一个会改自己代码的智能体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4" name="圆角矩形 373"/>
          <p:cNvSpPr/>
          <p:nvPr/>
        </p:nvSpPr>
        <p:spPr>
          <a:xfrm>
            <a:off x="5715000" y="638175"/>
            <a:ext cx="752475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5829300" y="676275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原书图</a:t>
            </a: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圆角矩形 375"/>
          <p:cNvSpPr/>
          <p:nvPr/>
        </p:nvSpPr>
        <p:spPr>
          <a:xfrm>
            <a:off x="419100" y="1104900"/>
            <a:ext cx="6667500" cy="5276850"/>
          </a:xfrm>
          <a:prstGeom prst="roundRect">
            <a:avLst>
              <a:gd name="adj" fmla="val 1805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571500" y="1238250"/>
            <a:ext cx="2238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12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基于过往版本的自改进过程</a:t>
            </a:r>
            <a:endParaRPr lang="zh-CN" sz="12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10325" y="1266825"/>
            <a:ext cx="5238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原书</a:t>
            </a:r>
            <a:r>
              <a:rPr lang="en-US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Fig.1</a:t>
            </a:r>
            <a:endParaRPr lang="en-US" sz="90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571500" y="1524000"/>
            <a:ext cx="6362700" cy="453390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7EDEF"/>
            </a:solidFill>
            <a:prstDash val="solid"/>
          </a:ln>
        </p:spPr>
        <p:txBody>
          <a:bodyPr/>
          <a:lstStyle/>
          <a:p/>
        </p:txBody>
      </p:sp>
      <p:pic>
        <p:nvPicPr>
          <p:cNvPr id="380" name="图片 379"/>
          <p:cNvPicPr>
            <a:picLocks noChangeAspect="1"/>
          </p:cNvPicPr>
          <p:nvPr/>
        </p:nvPicPr>
        <p:blipFill>
          <a:blip r:embed="rId1"/>
          <a:srcRect t="39" b="39"/>
          <a:stretch>
            <a:fillRect/>
          </a:stretch>
        </p:blipFill>
        <p:spPr>
          <a:xfrm>
            <a:off x="762000" y="2057400"/>
            <a:ext cx="5981700" cy="3467100"/>
          </a:xfrm>
          <a:prstGeom prst="rect">
            <a:avLst/>
          </a:prstGeom>
        </p:spPr>
      </p:pic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571500" y="6124575"/>
            <a:ext cx="6362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图源：</a:t>
            </a:r>
            <a:r>
              <a:rPr lang="en-US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Robeyns, Aitchison &amp; Szummer, A Self-Improving Coding Agent (arXiv:2504.15228v2)</a:t>
            </a:r>
            <a:endParaRPr lang="en-US" sz="90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7296150" y="1104900"/>
            <a:ext cx="4476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CASE STUDY · SICA</a:t>
            </a:r>
            <a:endParaRPr lang="en-US" sz="975" b="1" spc="150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7296150" y="1333500"/>
            <a:ext cx="4476750" cy="771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它既是修改者，</a:t>
            </a:r>
            <a:endParaRPr lang="zh-CN" sz="18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也是被修改的对象</a:t>
            </a:r>
            <a:endParaRPr lang="zh-CN" sz="18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7296150" y="2238375"/>
            <a:ext cx="4476750" cy="1295400"/>
          </a:xfrm>
          <a:prstGeom prst="roundRect">
            <a:avLst>
              <a:gd name="adj" fmla="val 6618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385" name="圆角矩形 384"/>
          <p:cNvSpPr/>
          <p:nvPr/>
        </p:nvSpPr>
        <p:spPr>
          <a:xfrm>
            <a:off x="7467600" y="2667000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386" name="图片 38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1900" y="2781300"/>
            <a:ext cx="209550" cy="209550"/>
          </a:xfrm>
          <a:prstGeom prst="rect">
            <a:avLst/>
          </a:prstGeom>
        </p:spPr>
      </p:pic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8039100" y="2495550"/>
            <a:ext cx="3562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迭代自改进</a:t>
            </a:r>
            <a:endParaRPr lang="zh-CN" sz="14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8039100" y="2752725"/>
            <a:ext cx="3562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回顾历史版本与其基准表现，挑出最优版本作为下一轮改动的起点。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圆角矩形 388"/>
          <p:cNvSpPr/>
          <p:nvPr/>
        </p:nvSpPr>
        <p:spPr>
          <a:xfrm>
            <a:off x="7296150" y="3667125"/>
            <a:ext cx="4476750" cy="1285875"/>
          </a:xfrm>
          <a:prstGeom prst="roundRect">
            <a:avLst>
              <a:gd name="adj" fmla="val 6667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390" name="圆角矩形 389"/>
          <p:cNvSpPr/>
          <p:nvPr/>
        </p:nvSpPr>
        <p:spPr>
          <a:xfrm>
            <a:off x="7467600" y="4095750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391" name="图片 39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1900" y="4210050"/>
            <a:ext cx="209550" cy="209550"/>
          </a:xfrm>
          <a:prstGeom prst="rect">
            <a:avLst/>
          </a:prstGeom>
        </p:spPr>
      </p:pic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8039100" y="3914775"/>
            <a:ext cx="3562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直接改写代码库</a:t>
            </a:r>
            <a:endParaRPr lang="zh-CN" sz="14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8039100" y="4171950"/>
            <a:ext cx="3562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分析档案找出可改进之处，直接修改自身源码，再跑基准测试并记录结果。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圆角矩形 393"/>
          <p:cNvSpPr/>
          <p:nvPr/>
        </p:nvSpPr>
        <p:spPr>
          <a:xfrm>
            <a:off x="7296150" y="5086350"/>
            <a:ext cx="4476750" cy="1295400"/>
          </a:xfrm>
          <a:prstGeom prst="roundRect">
            <a:avLst>
              <a:gd name="adj" fmla="val 6618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395" name="圆角矩形 394"/>
          <p:cNvSpPr/>
          <p:nvPr/>
        </p:nvSpPr>
        <p:spPr>
          <a:xfrm>
            <a:off x="7467600" y="5514975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396" name="图片 39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1900" y="5629275"/>
            <a:ext cx="209550" cy="209550"/>
          </a:xfrm>
          <a:prstGeom prst="rect">
            <a:avLst/>
          </a:prstGeom>
        </p:spPr>
      </p:pic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8039100" y="5343525"/>
            <a:ext cx="3562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不依赖传统训练</a:t>
            </a:r>
            <a:endParaRPr lang="zh-CN" sz="14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8039100" y="5600700"/>
            <a:ext cx="3562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改进锚定在可观测的表现上，因而不必依赖传统离线训练范式。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18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SICA 的四步自改进循环&lt;/Text&gt;&#10;                &lt;Box style={{ flex: 1, flexDirection: 'row', justifyContent: 'flex-end', alignItems: 'center', gap: 9 }}&gt;&#10;                    &lt;FAIcon name='circle-info' style={{ fill: '#9FB0BA', width: 16, height: 16 }} /&gt;&#10;                    &lt;Text style={{ fontSize: 15, color: '#7A8B98' }}&gt;对应原书图 1 的展开细节&lt;/Text&gt;&#10;                &lt;/Box&gt;&#10;            &lt;/Box&gt;&#10;&#10;            {/* 四步 */}&#10;            &lt;Box style={{ flexDirection: 'row', gap: 16, height: 286, marginTop: 14 }}&gt;&#10;                {[&#10;                    { n: '01', ic: 'clipboard-list', t: '回顾档案并打分', d: '回顾历史版本与其基准表现，按成功率、耗时与算力成本加权，算出每个版本的性能得分。' },&#10;                    { n: '02', ic: 'ranking-star', t: '选出最优版本', d: '得分最高的版本被挑选出来，成为下一轮自我改动的起点，而不是从零开始试。' },&#10;                    { n: '03', ic: 'pen-to-square', t: '分析并改写代码', d: '分析档案找出可改进之处，直接修改自身的代码库——它是自己的修改者。' },&#10;                    { n: '04', ic: 'flask-vial', t: '跑分并记录入库', d: '新版本在基准测试上重新跑分，结果写回档案，等待下一轮被挑选与比较。' },&#10;                ].map((c, i) =&gt; (&#10;                    &lt;Box key={i} style={{&#10;                        flex: 1, flexDirection: 'column', padding: '22px 20px 20px',&#10;                        background: i === 1 || i === 3 ? '#F4F9FA' : '#FFFFFF',&#10;                        border: '1px solid #DFEAEC', borderRadius: 10,&#10;                        borderTop: '5px solid ' + (i === 3 ? '#00505A' : '#007581'),&#10;                    }}&gt;&#10;                        &lt;Box style={{ flexDirection: 'row', justifyContent: 'space-between', alignItems: 'center' }}&gt;&#10;                            &lt;Box style={{&#10;                                width: 52, height: 52, borderRadius: 13, background: '#E3F0F2',&#10;                                justifyContent: 'center', alignItems: 'center',&#10;                            }}&gt;&#10;                                &lt;FAIcon name={c.ic} style={{ fill: '#007581', width: 25, height: 25 }} /&gt;&#10;                            &lt;/Box&gt;&#10;                            &lt;Text style={{ fontSize: 40, fontWeight: 'bold', color: '#DCEAEC', lineHeight: 1 }}&gt;{c.n}&lt;/Text&gt;&#10;                        &lt;/Box&gt;&#10;                        &lt;Text style={{ fontSize: 21, fontWeight: 'bold', color: '#152129', marginTop: 16, lineHeight: 1.35 }}&gt;{c.t}&lt;/Text&gt;&#10;                        &lt;Box style={{ width: 34, height: 3, background: '#7FB8BF', marginTop: 12 }} /&gt;&#10;                        &lt;Text style={{ fontSize: 15.5, color: '#4E6070', lineHeight: 1.65, marginTop: 12 }}&gt;{c.d}&lt;/Text&gt;&#10;                    &lt;/Box&gt;&#10;                ))}&#10;            &lt;/Box&gt;&#10;&#10;            {/* 回环示意 */}&#10;            &lt;Box style={{&#10;                flex: 1, marginTop: 14, flexDirection: 'row', alignItems: 'center', gap: 22,&#10;                padding: '0 26px', background: '#EAF3F4', borderRadius: 10,&#10;                border: '1px solid #CFE0E3',&#10;            }}&gt;&#10;                &lt;svg width={210} height={100} viewBox='0 0 210 100'&gt;&#10;                    &lt;defs&gt;&#10;                        &lt;marker id='ar19' markerWidth='10' markerHeight='10' refX='8' refY='5' orient='auto'&gt;&#10;                            &lt;path d='M0,0 L10,5 L0,10 z' fill='#007581' /&gt;&#10;                        &lt;/marker&gt;&#10;                    &lt;/defs&gt;&#10;                    &lt;path d='M14 62 L176 62' stroke='#007581' strokeWidth='3' fill='none' markerEnd='url(#ar19)' /&gt;&#10;                    &lt;path d='M176 62 C 202 62, 202 22, 176 22 L 30 22' stroke='#7FB8BF' strokeWidth='2.6' fill='none' strokeDasharray='9 6' markerEnd='url(#ar19)' /&gt;&#10;                    &lt;circle cx='14' cy='62' r='6' fill='#007581' /&gt;&#10;                    &lt;text x='95' y='84' fontSize='13' fill='#3F6C73' textAnchor='middle'&gt;完成一轮改动&lt;/text&gt;&#10;                    &lt;text x='100' y='14' fontSize='13' fill='#7A8B98' textAnchor='middle'&gt;回到第 1 步重新打分&lt;/text&gt;&#10;                &lt;/svg&gt;&#10;                &lt;Text style={{ fontSize: 19, color: '#00505A', lineHeight: 1.55, flex: 1 }}&gt;&#10;                    这个循环往复的机制，让 SICA 的改进&#10;                    &lt;span style={{ fontWeight: 'bold' }}&gt;直接锚定在可观测的表现上&lt;/span&gt;——&#10;                    每一次改动都要经受基准测试的检验，不合格的版本自然被档案淘汰。&#10;                &lt;/Text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19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矩形 4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03" name="矩形 40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圆角矩形 405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600075" y="561975"/>
            <a:ext cx="34575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的四步自改进循环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8" name="图片 40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575" y="676275"/>
            <a:ext cx="152400" cy="152400"/>
          </a:xfrm>
          <a:prstGeom prst="rect">
            <a:avLst/>
          </a:prstGeom>
        </p:spPr>
      </p:pic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10172700" y="666750"/>
            <a:ext cx="16002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对应原书图</a:t>
            </a:r>
            <a:r>
              <a:rPr lang="en-US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的展开细节</a:t>
            </a:r>
            <a:endParaRPr lang="zh-CN" sz="112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419100" y="1152525"/>
            <a:ext cx="2724150" cy="2724150"/>
          </a:xfrm>
          <a:prstGeom prst="roundRect">
            <a:avLst>
              <a:gd name="adj" fmla="val 3497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11" name="任意多边形 410"/>
          <p:cNvSpPr/>
          <p:nvPr/>
        </p:nvSpPr>
        <p:spPr>
          <a:xfrm>
            <a:off x="419100" y="1152525"/>
            <a:ext cx="2724150" cy="2724150"/>
          </a:xfrm>
          <a:custGeom>
            <a:avLst/>
            <a:gdLst/>
            <a:ahLst/>
            <a:cxnLst/>
            <a:rect l="0" t="0" r="0" b="0"/>
            <a:pathLst>
              <a:path w="286" h="286">
                <a:moveTo>
                  <a:pt x="276" y="0"/>
                </a:moveTo>
                <a:cubicBezTo>
                  <a:pt x="281" y="0"/>
                  <a:pt x="285" y="4"/>
                  <a:pt x="286" y="9"/>
                </a:cubicBezTo>
                <a:cubicBezTo>
                  <a:pt x="285" y="6"/>
                  <a:pt x="283" y="5"/>
                  <a:pt x="2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12" name="圆角矩形 411"/>
          <p:cNvSpPr/>
          <p:nvPr/>
        </p:nvSpPr>
        <p:spPr>
          <a:xfrm>
            <a:off x="609600" y="136207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413" name="图片 4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1495425"/>
            <a:ext cx="238125" cy="238125"/>
          </a:xfrm>
          <a:prstGeom prst="rect">
            <a:avLst/>
          </a:prstGeom>
        </p:spPr>
      </p:pic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2476500" y="1381125"/>
            <a:ext cx="4762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CEAE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3000" b="1">
              <a:solidFill>
                <a:srgbClr val="DCEA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609600" y="2009775"/>
            <a:ext cx="23431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回顾档案并打分</a:t>
            </a:r>
            <a:endParaRPr lang="zh-CN" sz="15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6" name="矩形 415"/>
          <p:cNvSpPr/>
          <p:nvPr/>
        </p:nvSpPr>
        <p:spPr>
          <a:xfrm>
            <a:off x="609600" y="2457450"/>
            <a:ext cx="323850" cy="28575"/>
          </a:xfrm>
          <a:prstGeom prst="rect">
            <a:avLst/>
          </a:pr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609600" y="2600325"/>
            <a:ext cx="234315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16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回顾历史版本与其基准表现，按成功率、耗时与算力成本加权，算出每个版本的性能得分。</a:t>
            </a:r>
            <a:endParaRPr lang="zh-CN" sz="116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8" name="圆角矩形 417"/>
          <p:cNvSpPr/>
          <p:nvPr/>
        </p:nvSpPr>
        <p:spPr>
          <a:xfrm>
            <a:off x="3295650" y="1152525"/>
            <a:ext cx="2724150" cy="2724150"/>
          </a:xfrm>
          <a:prstGeom prst="roundRect">
            <a:avLst>
              <a:gd name="adj" fmla="val 3497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419" name="任意多边形 418"/>
          <p:cNvSpPr/>
          <p:nvPr/>
        </p:nvSpPr>
        <p:spPr>
          <a:xfrm>
            <a:off x="3295650" y="1152525"/>
            <a:ext cx="2724150" cy="2724150"/>
          </a:xfrm>
          <a:custGeom>
            <a:avLst/>
            <a:gdLst/>
            <a:ahLst/>
            <a:cxnLst/>
            <a:rect l="0" t="0" r="0" b="0"/>
            <a:pathLst>
              <a:path w="286" h="286">
                <a:moveTo>
                  <a:pt x="276" y="0"/>
                </a:moveTo>
                <a:cubicBezTo>
                  <a:pt x="281" y="0"/>
                  <a:pt x="285" y="4"/>
                  <a:pt x="286" y="9"/>
                </a:cubicBezTo>
                <a:cubicBezTo>
                  <a:pt x="285" y="6"/>
                  <a:pt x="283" y="5"/>
                  <a:pt x="2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20" name="圆角矩形 419"/>
          <p:cNvSpPr/>
          <p:nvPr/>
        </p:nvSpPr>
        <p:spPr>
          <a:xfrm>
            <a:off x="3486150" y="136207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421" name="图片 42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9500" y="1495425"/>
            <a:ext cx="238125" cy="238125"/>
          </a:xfrm>
          <a:prstGeom prst="rect">
            <a:avLst/>
          </a:prstGeom>
        </p:spPr>
      </p:pic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5353050" y="1381125"/>
            <a:ext cx="4762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CEAE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3000" b="1">
              <a:solidFill>
                <a:srgbClr val="DCEA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3486150" y="2009775"/>
            <a:ext cx="23431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选出最优版本</a:t>
            </a:r>
            <a:endParaRPr lang="zh-CN" sz="15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矩形 423"/>
          <p:cNvSpPr/>
          <p:nvPr/>
        </p:nvSpPr>
        <p:spPr>
          <a:xfrm>
            <a:off x="3486150" y="2457450"/>
            <a:ext cx="323850" cy="28575"/>
          </a:xfrm>
          <a:prstGeom prst="rect">
            <a:avLst/>
          </a:pr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3486150" y="2600325"/>
            <a:ext cx="234315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16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得分最高的版本被挑选出来，成为下一轮自我改动的起点，而不是从零开始试。</a:t>
            </a:r>
            <a:endParaRPr lang="zh-CN" sz="116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6" name="圆角矩形 425"/>
          <p:cNvSpPr/>
          <p:nvPr/>
        </p:nvSpPr>
        <p:spPr>
          <a:xfrm>
            <a:off x="6172200" y="1152525"/>
            <a:ext cx="2724150" cy="2724150"/>
          </a:xfrm>
          <a:prstGeom prst="roundRect">
            <a:avLst>
              <a:gd name="adj" fmla="val 3497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27" name="任意多边形 426"/>
          <p:cNvSpPr/>
          <p:nvPr/>
        </p:nvSpPr>
        <p:spPr>
          <a:xfrm>
            <a:off x="6172200" y="1152525"/>
            <a:ext cx="2724150" cy="2724150"/>
          </a:xfrm>
          <a:custGeom>
            <a:avLst/>
            <a:gdLst/>
            <a:ahLst/>
            <a:cxnLst/>
            <a:rect l="0" t="0" r="0" b="0"/>
            <a:pathLst>
              <a:path w="286" h="286">
                <a:moveTo>
                  <a:pt x="276" y="0"/>
                </a:moveTo>
                <a:cubicBezTo>
                  <a:pt x="281" y="0"/>
                  <a:pt x="285" y="4"/>
                  <a:pt x="286" y="9"/>
                </a:cubicBezTo>
                <a:cubicBezTo>
                  <a:pt x="285" y="6"/>
                  <a:pt x="283" y="5"/>
                  <a:pt x="2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28" name="圆角矩形 427"/>
          <p:cNvSpPr/>
          <p:nvPr/>
        </p:nvSpPr>
        <p:spPr>
          <a:xfrm>
            <a:off x="6362700" y="136207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429" name="图片 42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6050" y="1495425"/>
            <a:ext cx="238125" cy="238125"/>
          </a:xfrm>
          <a:prstGeom prst="rect">
            <a:avLst/>
          </a:prstGeom>
        </p:spPr>
      </p:pic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8229600" y="1381125"/>
            <a:ext cx="4762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CEAE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3000" b="1">
              <a:solidFill>
                <a:srgbClr val="DCEA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6362700" y="2009775"/>
            <a:ext cx="23431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分析并改写代码</a:t>
            </a:r>
            <a:endParaRPr lang="zh-CN" sz="15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矩形 431"/>
          <p:cNvSpPr/>
          <p:nvPr/>
        </p:nvSpPr>
        <p:spPr>
          <a:xfrm>
            <a:off x="6362700" y="2457450"/>
            <a:ext cx="323850" cy="28575"/>
          </a:xfrm>
          <a:prstGeom prst="rect">
            <a:avLst/>
          </a:pr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6362700" y="2600325"/>
            <a:ext cx="234315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16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分析档案找出可改进之处，直接修改自身的代码库——它是自己的修改者。</a:t>
            </a:r>
            <a:endParaRPr lang="zh-CN" sz="116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圆角矩形 433"/>
          <p:cNvSpPr/>
          <p:nvPr/>
        </p:nvSpPr>
        <p:spPr>
          <a:xfrm>
            <a:off x="9048750" y="1152525"/>
            <a:ext cx="2724150" cy="2724150"/>
          </a:xfrm>
          <a:prstGeom prst="roundRect">
            <a:avLst>
              <a:gd name="adj" fmla="val 3497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435" name="任意多边形 434"/>
          <p:cNvSpPr/>
          <p:nvPr/>
        </p:nvSpPr>
        <p:spPr>
          <a:xfrm>
            <a:off x="9048750" y="1152525"/>
            <a:ext cx="2724150" cy="2724150"/>
          </a:xfrm>
          <a:custGeom>
            <a:avLst/>
            <a:gdLst/>
            <a:ahLst/>
            <a:cxnLst/>
            <a:rect l="0" t="0" r="0" b="0"/>
            <a:pathLst>
              <a:path w="286" h="286">
                <a:moveTo>
                  <a:pt x="276" y="0"/>
                </a:moveTo>
                <a:cubicBezTo>
                  <a:pt x="281" y="0"/>
                  <a:pt x="285" y="4"/>
                  <a:pt x="286" y="9"/>
                </a:cubicBezTo>
                <a:cubicBezTo>
                  <a:pt x="285" y="6"/>
                  <a:pt x="283" y="5"/>
                  <a:pt x="2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436" name="圆角矩形 435"/>
          <p:cNvSpPr/>
          <p:nvPr/>
        </p:nvSpPr>
        <p:spPr>
          <a:xfrm>
            <a:off x="9239250" y="136207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437" name="图片 43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72600" y="1495425"/>
            <a:ext cx="238125" cy="238125"/>
          </a:xfrm>
          <a:prstGeom prst="rect">
            <a:avLst/>
          </a:prstGeom>
        </p:spPr>
      </p:pic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11106150" y="1381125"/>
            <a:ext cx="4762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CEAE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3000" b="1">
              <a:solidFill>
                <a:srgbClr val="DCEA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9239250" y="2009775"/>
            <a:ext cx="23431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跑分并记录入库</a:t>
            </a:r>
            <a:endParaRPr lang="zh-CN" sz="15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" name="矩形 439"/>
          <p:cNvSpPr/>
          <p:nvPr/>
        </p:nvSpPr>
        <p:spPr>
          <a:xfrm>
            <a:off x="9239250" y="2457450"/>
            <a:ext cx="323850" cy="28575"/>
          </a:xfrm>
          <a:prstGeom prst="rect">
            <a:avLst/>
          </a:pr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9239250" y="2600325"/>
            <a:ext cx="234315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16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新版本在基准测试上重新跑分，结果写回档案，等待下一轮被挑选与比较。</a:t>
            </a:r>
            <a:endParaRPr lang="zh-CN" sz="116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圆角矩形 441"/>
          <p:cNvSpPr/>
          <p:nvPr/>
        </p:nvSpPr>
        <p:spPr>
          <a:xfrm>
            <a:off x="419100" y="3962400"/>
            <a:ext cx="11353800" cy="2419350"/>
          </a:xfrm>
          <a:prstGeom prst="roundRect">
            <a:avLst>
              <a:gd name="adj" fmla="val 3937"/>
            </a:avLst>
          </a:prstGeom>
          <a:solidFill>
            <a:srgbClr val="EAF3F4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pic>
        <p:nvPicPr>
          <p:cNvPr id="443" name="图片 44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" y="4695825"/>
            <a:ext cx="2000250" cy="952500"/>
          </a:xfrm>
          <a:prstGeom prst="rect">
            <a:avLst/>
          </a:prstGeom>
        </p:spPr>
      </p:pic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2876550" y="4838700"/>
            <a:ext cx="8648700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425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这个循环往复的机制，让</a:t>
            </a:r>
            <a:r>
              <a:rPr lang="en-US" sz="1425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 SICA </a:t>
            </a:r>
            <a:r>
              <a:rPr lang="zh-CN" sz="1425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的改进</a:t>
            </a:r>
            <a:r>
              <a:rPr lang="zh-CN" sz="142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直接锚定在可观测的表现上</a:t>
            </a:r>
            <a:r>
              <a:rPr lang="en-US" sz="1425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—— </a:t>
            </a:r>
            <a:r>
              <a:rPr lang="zh-CN" sz="1425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每一次改动都要经受基准测试的检验，不合格的版本自然被档案淘汰。</a:t>
            </a:r>
            <a:endParaRPr lang="zh-CN" sz="1425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19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SICA 自己长出了哪些能力&lt;/Text&gt;&#10;                &lt;Box style={{ flex: 1, flexDirection: 'row', justifyContent: 'flex-end', alignItems: 'center', gap: 9 }}&gt;&#10;                    &lt;FAIcon name='circle-info' style={{ fill: '#9FB0BA', width: 16, height: 16 }} /&gt;&#10;                    &lt;Text style={{ fontSize: 15, color: '#7A8B98' }}&gt;这些工具都不是人类预先写好的&lt;/Text&gt;&#10;                &lt;/Box&gt;&#10;            &lt;/Box&gt;&#10;&#10;            &lt;Box style={{ flexDirection: 'row', gap: 20, flex: 1, marginTop: 14 }}&gt;&#10;&#10;                {/* 左：编辑侧 */}&#10;                &lt;Box style={{&#10;                    width: 718, flexDirection: 'column', gap: 12, padding: '18px 20px 16px',&#10;                    background: '#F8FBFB', border: '1px solid #E2EBED', borderRadius: 10,&#10;                }}&gt;&#10;                    &lt;Box style={{ flexDirection: 'row', alignItems: 'center', gap: 12 }}&gt;&#10;                        &lt;Box style={{ width: 5, height: 22, background: '#007581', borderRadius: 3 }} /&gt;&#10;                        &lt;Text style={{ fontSize: 20, fontWeight: 'bold', color: '#152129' }}&gt;代码编辑侧&lt;/Text&gt;&#10;                        &lt;Text style={{ fontSize: 14, color: '#7A8B98' }}&gt;从「整文件覆盖」到「按 AST 精准改」&lt;/Text&gt;&#10;                    &lt;/Box&gt;&#10;&#10;                    {[&#10;                        { n: '1', t: '整文件覆盖', d: '最初的基础方式：改动一次就重写整个文件，简单但代价高。' },&#10;                        { n: '2', t: 'Smart Editor', d: '更智能、更具情境感的编辑方式，能理解上下文而不是盲目重写。' },&#10;                        { n: '3', t: 'Diff-Enhanced Smart Editor', d: '引入 diff 做定向修改与模式化编辑，只改该改的地方。' },&#10;                        { n: '4', t: 'Quick Overwrite Tool', d: '用于快速覆盖，降低简单改动所需处理量，避免小题大做。' },&#10;                        { n: '5', t: 'Minimal Diff Output Optimization', d: '配合 Context-Sensitive Diff Minimization 与 AST 解析，把输出压到最小；另加 SmartEditor Input Normalizer 规整输入。' },&#10;                    ].map((c, i) =&gt; (&#10;                        &lt;Box key={i} style={{&#10;                            flex: 1, flexDirection: 'row', alignItems: 'center', gap: 16,&#10;                            padding: '0 18px', borderRadius: 8,&#10;                            background: i === 4 ? '#EAF3F4' : '#FFFFFF',&#10;                            border: '1px solid #E2EBED', borderLeft: '4px solid ' + (i === 4 ? '#00505A' : '#7FB8BF'),&#10;                        }}&gt;&#10;                            &lt;Text style={{ fontSize: 22, fontWeight: 'bold', color: '#B7D5D9', width: 24 }}&gt;{c.n}&lt;/Text&gt;&#10;                            &lt;Box style={{ flex: 1, flexDirection: 'column', gap: 3 }}&gt;&#10;                                &lt;Text style={{ fontSize: 18, fontWeight: 'bold', color: '#152129' }}&gt;{c.t}&lt;/Text&gt;&#10;                                &lt;Text style={{ fontSize: 14, color: '#4E6070', lineHeight: 1.5 }}&gt;{c.d}&lt;/Text&gt;&#10;                            &lt;/Box&gt;&#10;                        &lt;/Box&gt;&#10;                    ))}&#10;                &lt;/Box&gt;&#10;&#10;                {/* 右：导航侧 */}&#10;                &lt;Box style={{&#10;                    flex: 1, flexDirection: 'column', gap: 12, padding: '18px 20px 16px',&#10;                    background: '#00505A', borderRadius: 10,&#10;                }}&gt;&#10;                    &lt;Box style={{ flexDirection: 'row', alignItems: 'center', gap: 12 }}&gt;&#10;                        &lt;Box style={{ width: 5, height: 22, background: '#4FC0CB', borderRadius: 3 }} /&gt;&#10;                        &lt;Text style={{ fontSize: 20, fontWeight: 'bold', color: '#FFFFFF' }}&gt;代码导航侧&lt;/Text&gt;&#10;                    &lt;/Box&gt;&#10;                    &lt;Text style={{ fontSize: 14, color: '#A9D6DC', lineHeight: 1.5, marginTop: -4 }}&gt;&#10;                        目标：在大代码库里快速、准确定位一个符号的定义&#10;                    &lt;/Text&gt;&#10;&#10;                    {[&#10;                        { n: '1', t: 'AST Symbol Locator', d: '用代码的结构图（AST）在代码库中定位定义，比纯文本匹配更准确。' },&#10;                        { n: '2', t: 'Hybrid Symbol Locator', d: '把快速文本搜索与 AST 校验结合起来，先快速缩小范围，再精确确认。' },&#10;                        { n: '3', t: 'Optimized AST Parsing', d: '在混合定位器中只解析相关代码段而不是整库，显著提升搜索速度。' },&#10;                    ].map((c, i) =&gt; (&#10;                        &lt;Box key={i} style={{&#10;                            flex: 1, flexDirection: 'column', justifyContent: 'center', gap: 7,&#10;                            padding: '0 18px', borderRadius: 9,&#10;                            background: 'rgba(143,211,218,0.12)',&#10;                            border: '1px solid rgba(143,211,218,0.32)',&#10;                        }}&gt;&#10;                            &lt;Box style={{ flexDirection: 'row', alignItems: 'center', gap: 10 }}&gt;&#10;                                &lt;Box style={{&#10;                                    width: 26, height: 26, borderRadius: 13, background: '#4FC0CB',&#10;                                    justifyContent: 'center', alignItems: 'center',&#10;                                }}&gt;&#10;                                    &lt;Text style={{ fontSize: 14, fontWeight: 'bold', color: '#00434C' }}&gt;{c.n}&lt;/Text&gt;&#10;                                &lt;/Box&gt;&#10;                                &lt;Text style={{ fontSize: 18, fontWeight: 'bold', color: '#FFFFFF' }}&gt;{c.t}&lt;/Text&gt;&#10;                            &lt;/Box&gt;&#10;                            &lt;Text style={{ fontSize: 14, color: '#A9D6DC', lineHeight: 1.6, marginLeft: 36 }}&gt;{c.d}&lt;/Text&gt;&#10;                        &lt;/Box&gt;&#10;                    ))}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20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矩形 4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89" name="矩形 48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圆角矩形 491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600075" y="561975"/>
            <a:ext cx="37814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自己长出了哪些能力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4" name="图片 49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34525" y="676275"/>
            <a:ext cx="152400" cy="152400"/>
          </a:xfrm>
          <a:prstGeom prst="rect">
            <a:avLst/>
          </a:prstGeom>
        </p:spPr>
      </p:pic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9772650" y="666750"/>
            <a:ext cx="2000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这些工具都不是人类预先写好的</a:t>
            </a:r>
            <a:endParaRPr lang="zh-CN" sz="112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6" name="圆角矩形 495"/>
          <p:cNvSpPr/>
          <p:nvPr/>
        </p:nvSpPr>
        <p:spPr>
          <a:xfrm>
            <a:off x="419100" y="1104900"/>
            <a:ext cx="6838950" cy="5276850"/>
          </a:xfrm>
          <a:prstGeom prst="roundRect">
            <a:avLst>
              <a:gd name="adj" fmla="val 1805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497" name="圆角矩形 496"/>
          <p:cNvSpPr/>
          <p:nvPr/>
        </p:nvSpPr>
        <p:spPr>
          <a:xfrm>
            <a:off x="609600" y="1285875"/>
            <a:ext cx="47625" cy="2095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771525" y="1276350"/>
            <a:ext cx="952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代码编辑侧</a:t>
            </a:r>
            <a:endParaRPr lang="zh-CN" sz="15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文本框 498" descr="{&quot;isTemplate&quot;:true,&quot;type&quot;:&quot;text&quot;}"/>
          <p:cNvSpPr txBox="1"/>
          <p:nvPr/>
        </p:nvSpPr>
        <p:spPr>
          <a:xfrm>
            <a:off x="1838325" y="1314450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从「整文件覆盖」到「按</a:t>
            </a:r>
            <a:r>
              <a:rPr lang="en-US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AST </a:t>
            </a:r>
            <a:r>
              <a:rPr lang="zh-CN" sz="1050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精准改」</a:t>
            </a:r>
            <a:endParaRPr lang="zh-CN" sz="1050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0" name="圆角矩形 499"/>
          <p:cNvSpPr/>
          <p:nvPr/>
        </p:nvSpPr>
        <p:spPr>
          <a:xfrm>
            <a:off x="647700" y="1619250"/>
            <a:ext cx="64579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01" name="任意多边形 500"/>
          <p:cNvSpPr/>
          <p:nvPr/>
        </p:nvSpPr>
        <p:spPr>
          <a:xfrm>
            <a:off x="647700" y="1619250"/>
            <a:ext cx="6457950" cy="781050"/>
          </a:xfrm>
          <a:custGeom>
            <a:avLst/>
            <a:gdLst/>
            <a:ahLst/>
            <a:cxnLst/>
            <a:rect l="0" t="0" r="0" b="0"/>
            <a:pathLst>
              <a:path w="678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819150" y="1885950"/>
            <a:ext cx="2286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650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1200150" y="1771650"/>
            <a:ext cx="5695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整文件覆盖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1200150" y="2009775"/>
            <a:ext cx="56959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最初的基础方式：改动一次就重写整个文件，简单但代价高。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圆角矩形 504"/>
          <p:cNvSpPr/>
          <p:nvPr/>
        </p:nvSpPr>
        <p:spPr>
          <a:xfrm>
            <a:off x="647700" y="2514600"/>
            <a:ext cx="64579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06" name="任意多边形 505"/>
          <p:cNvSpPr/>
          <p:nvPr/>
        </p:nvSpPr>
        <p:spPr>
          <a:xfrm>
            <a:off x="647700" y="2514600"/>
            <a:ext cx="6457950" cy="781050"/>
          </a:xfrm>
          <a:custGeom>
            <a:avLst/>
            <a:gdLst/>
            <a:ahLst/>
            <a:cxnLst/>
            <a:rect l="0" t="0" r="0" b="0"/>
            <a:pathLst>
              <a:path w="678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819150" y="2781300"/>
            <a:ext cx="2286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650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1200150" y="2667000"/>
            <a:ext cx="5695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Smart Editor</a:t>
            </a:r>
            <a:endParaRPr lang="en-US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1200150" y="2905125"/>
            <a:ext cx="56959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更智能、更具情境感的编辑方式，能理解上下文而不是盲目重写。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647700" y="3409950"/>
            <a:ext cx="645795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11" name="任意多边形 510"/>
          <p:cNvSpPr/>
          <p:nvPr/>
        </p:nvSpPr>
        <p:spPr>
          <a:xfrm>
            <a:off x="647700" y="3409950"/>
            <a:ext cx="6457950" cy="790575"/>
          </a:xfrm>
          <a:custGeom>
            <a:avLst/>
            <a:gdLst/>
            <a:ahLst/>
            <a:cxnLst/>
            <a:rect l="0" t="0" r="0" b="0"/>
            <a:pathLst>
              <a:path w="678" h="8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9"/>
                </a:lnTo>
                <a:cubicBezTo>
                  <a:pt x="4" y="81"/>
                  <a:pt x="5" y="83"/>
                  <a:pt x="7" y="83"/>
                </a:cubicBezTo>
                <a:cubicBezTo>
                  <a:pt x="3" y="83"/>
                  <a:pt x="0" y="79"/>
                  <a:pt x="0" y="7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819150" y="3676650"/>
            <a:ext cx="2286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650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1200150" y="3562350"/>
            <a:ext cx="5695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Diff-Enhanced Smart Editor</a:t>
            </a:r>
            <a:endParaRPr lang="en-US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1200150" y="3800475"/>
            <a:ext cx="56959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引入</a:t>
            </a:r>
            <a:r>
              <a:rPr lang="en-US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diff </a:t>
            </a: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做定向修改与模式化编辑，只改该改的地方。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5" name="圆角矩形 514"/>
          <p:cNvSpPr/>
          <p:nvPr/>
        </p:nvSpPr>
        <p:spPr>
          <a:xfrm>
            <a:off x="647700" y="4314825"/>
            <a:ext cx="64579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16" name="任意多边形 515"/>
          <p:cNvSpPr/>
          <p:nvPr/>
        </p:nvSpPr>
        <p:spPr>
          <a:xfrm>
            <a:off x="647700" y="4314825"/>
            <a:ext cx="6457950" cy="781050"/>
          </a:xfrm>
          <a:custGeom>
            <a:avLst/>
            <a:gdLst/>
            <a:ahLst/>
            <a:cxnLst/>
            <a:rect l="0" t="0" r="0" b="0"/>
            <a:pathLst>
              <a:path w="678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819150" y="4581525"/>
            <a:ext cx="2286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650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1200150" y="4467225"/>
            <a:ext cx="5695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Quick Overwrite Tool</a:t>
            </a:r>
            <a:endParaRPr lang="en-US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1200150" y="4705350"/>
            <a:ext cx="56959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用于快速覆盖，降低简单改动所需处理量，避免小题大做。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0" name="圆角矩形 519"/>
          <p:cNvSpPr/>
          <p:nvPr/>
        </p:nvSpPr>
        <p:spPr>
          <a:xfrm>
            <a:off x="647700" y="5210175"/>
            <a:ext cx="6457950" cy="1019175"/>
          </a:xfrm>
          <a:prstGeom prst="roundRect">
            <a:avLst>
              <a:gd name="adj" fmla="val 7477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521" name="任意多边形 520"/>
          <p:cNvSpPr/>
          <p:nvPr/>
        </p:nvSpPr>
        <p:spPr>
          <a:xfrm>
            <a:off x="647700" y="5210175"/>
            <a:ext cx="6457950" cy="1019175"/>
          </a:xfrm>
          <a:custGeom>
            <a:avLst/>
            <a:gdLst/>
            <a:ahLst/>
            <a:cxnLst/>
            <a:rect l="0" t="0" r="0" b="0"/>
            <a:pathLst>
              <a:path w="678" h="10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3"/>
                </a:lnTo>
                <a:cubicBezTo>
                  <a:pt x="4" y="105"/>
                  <a:pt x="5" y="107"/>
                  <a:pt x="7" y="107"/>
                </a:cubicBezTo>
                <a:cubicBezTo>
                  <a:pt x="3" y="107"/>
                  <a:pt x="0" y="103"/>
                  <a:pt x="0" y="9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819150" y="5591175"/>
            <a:ext cx="2286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650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1200150" y="5362575"/>
            <a:ext cx="5695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Minimal Diff Output Optimization</a:t>
            </a:r>
            <a:endParaRPr lang="en-US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1200150" y="5600700"/>
            <a:ext cx="56959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Context-Sensitive Diff Minimization </a:t>
            </a: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AST </a:t>
            </a: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解析，把输出压到最小；另加</a:t>
            </a:r>
            <a:r>
              <a:rPr lang="en-US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SmartEditor Input Normalizer </a:t>
            </a: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规整输入。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7448550" y="1104900"/>
            <a:ext cx="4324350" cy="5276850"/>
          </a:xfrm>
          <a:prstGeom prst="roundRect">
            <a:avLst>
              <a:gd name="adj" fmla="val 2203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526" name="圆角矩形 525"/>
          <p:cNvSpPr/>
          <p:nvPr/>
        </p:nvSpPr>
        <p:spPr>
          <a:xfrm>
            <a:off x="7639050" y="1285875"/>
            <a:ext cx="47625" cy="209550"/>
          </a:xfrm>
          <a:prstGeom prst="roundRect">
            <a:avLst>
              <a:gd name="adj" fmla="val 60000"/>
            </a:avLst>
          </a:prstGeom>
          <a:solidFill>
            <a:srgbClr val="4FC0CB"/>
          </a:solidFill>
        </p:spPr>
        <p:txBody>
          <a:bodyPr/>
          <a:lstStyle/>
          <a:p/>
        </p:txBody>
      </p:sp>
      <p:sp>
        <p:nvSpPr>
          <p:cNvPr id="527" name="文本框 526" descr="{&quot;isTemplate&quot;:true,&quot;type&quot;:&quot;text&quot;}"/>
          <p:cNvSpPr txBox="1"/>
          <p:nvPr/>
        </p:nvSpPr>
        <p:spPr>
          <a:xfrm>
            <a:off x="7800975" y="1276350"/>
            <a:ext cx="952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代码导航侧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7639050" y="1581150"/>
            <a:ext cx="39433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目标：在大代码库里快速、准确定位一个符号的定义</a:t>
            </a:r>
            <a:endParaRPr lang="zh-CN" sz="1050">
              <a:solidFill>
                <a:srgbClr val="A9D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圆角矩形 528"/>
          <p:cNvSpPr/>
          <p:nvPr/>
        </p:nvSpPr>
        <p:spPr>
          <a:xfrm>
            <a:off x="7639050" y="1943100"/>
            <a:ext cx="3943350" cy="1352550"/>
          </a:xfrm>
          <a:prstGeom prst="roundRect">
            <a:avLst>
              <a:gd name="adj" fmla="val 6338"/>
            </a:avLst>
          </a:prstGeom>
          <a:solidFill>
            <a:srgbClr val="8FD3DA">
              <a:alpha val="12000"/>
            </a:srgbClr>
          </a:solidFill>
          <a:ln w="12700">
            <a:solidFill>
              <a:srgbClr val="8FD3DA">
                <a:alpha val="32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30" name="圆角矩形 529"/>
          <p:cNvSpPr/>
          <p:nvPr/>
        </p:nvSpPr>
        <p:spPr>
          <a:xfrm>
            <a:off x="7810500" y="22098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4FC0CB"/>
          </a:solidFill>
        </p:spPr>
        <p:txBody>
          <a:bodyPr/>
          <a:lstStyle/>
          <a:p/>
        </p:txBody>
      </p:sp>
      <p:sp>
        <p:nvSpPr>
          <p:cNvPr id="531" name="文本框 530" descr="{&quot;isTemplate&quot;:true,&quot;type&quot;:&quot;text&quot;}"/>
          <p:cNvSpPr txBox="1"/>
          <p:nvPr/>
        </p:nvSpPr>
        <p:spPr>
          <a:xfrm>
            <a:off x="7896225" y="2257425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434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050" b="1">
              <a:solidFill>
                <a:srgbClr val="0043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2" name="文本框 531" descr="{&quot;isTemplate&quot;:true,&quot;type&quot;:&quot;text&quot;}"/>
          <p:cNvSpPr txBox="1"/>
          <p:nvPr/>
        </p:nvSpPr>
        <p:spPr>
          <a:xfrm>
            <a:off x="8153400" y="2228850"/>
            <a:ext cx="1743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AST Symbol Locator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3" name="文本框 532" descr="{&quot;isTemplate&quot;:true,&quot;type&quot;:&quot;text&quot;}"/>
          <p:cNvSpPr txBox="1"/>
          <p:nvPr/>
        </p:nvSpPr>
        <p:spPr>
          <a:xfrm>
            <a:off x="8153400" y="2524125"/>
            <a:ext cx="32575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050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用代码的结构图（</a:t>
            </a:r>
            <a:r>
              <a:rPr lang="en-US" sz="1050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AST</a:t>
            </a:r>
            <a:r>
              <a:rPr lang="zh-CN" sz="1050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）在代码库中定位定义，比纯文本匹配更准确。</a:t>
            </a:r>
            <a:endParaRPr lang="zh-CN" sz="1050">
              <a:solidFill>
                <a:srgbClr val="A9D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4" name="圆角矩形 533"/>
          <p:cNvSpPr/>
          <p:nvPr/>
        </p:nvSpPr>
        <p:spPr>
          <a:xfrm>
            <a:off x="7639050" y="3409950"/>
            <a:ext cx="3943350" cy="1352550"/>
          </a:xfrm>
          <a:prstGeom prst="roundRect">
            <a:avLst>
              <a:gd name="adj" fmla="val 6338"/>
            </a:avLst>
          </a:prstGeom>
          <a:solidFill>
            <a:srgbClr val="8FD3DA">
              <a:alpha val="12000"/>
            </a:srgbClr>
          </a:solidFill>
          <a:ln w="12700">
            <a:solidFill>
              <a:srgbClr val="8FD3DA">
                <a:alpha val="32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35" name="圆角矩形 534"/>
          <p:cNvSpPr/>
          <p:nvPr/>
        </p:nvSpPr>
        <p:spPr>
          <a:xfrm>
            <a:off x="7810500" y="36766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4FC0CB"/>
          </a:solidFill>
        </p:spPr>
        <p:txBody>
          <a:bodyPr/>
          <a:lstStyle/>
          <a:p/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7896225" y="3724275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434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050" b="1">
              <a:solidFill>
                <a:srgbClr val="0043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8153400" y="3695700"/>
            <a:ext cx="1990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Hybrid Symbol Locator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8153400" y="3990975"/>
            <a:ext cx="32575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050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把快速文本搜索与</a:t>
            </a:r>
            <a:r>
              <a:rPr lang="en-US" sz="1050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 AST </a:t>
            </a:r>
            <a:r>
              <a:rPr lang="zh-CN" sz="1050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校验结合起来，先快速缩小范围，再精确确认。</a:t>
            </a:r>
            <a:endParaRPr lang="zh-CN" sz="1050">
              <a:solidFill>
                <a:srgbClr val="A9D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9" name="圆角矩形 538"/>
          <p:cNvSpPr/>
          <p:nvPr/>
        </p:nvSpPr>
        <p:spPr>
          <a:xfrm>
            <a:off x="7639050" y="4876800"/>
            <a:ext cx="3943350" cy="1352550"/>
          </a:xfrm>
          <a:prstGeom prst="roundRect">
            <a:avLst>
              <a:gd name="adj" fmla="val 6338"/>
            </a:avLst>
          </a:prstGeom>
          <a:solidFill>
            <a:srgbClr val="8FD3DA">
              <a:alpha val="12000"/>
            </a:srgbClr>
          </a:solidFill>
          <a:ln w="12700">
            <a:solidFill>
              <a:srgbClr val="8FD3DA">
                <a:alpha val="32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40" name="圆角矩形 539"/>
          <p:cNvSpPr/>
          <p:nvPr/>
        </p:nvSpPr>
        <p:spPr>
          <a:xfrm>
            <a:off x="7810500" y="51435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4FC0CB"/>
          </a:solidFill>
        </p:spPr>
        <p:txBody>
          <a:bodyPr/>
          <a:lstStyle/>
          <a:p/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7896225" y="5191125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434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050" b="1">
              <a:solidFill>
                <a:srgbClr val="0043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8153400" y="5162550"/>
            <a:ext cx="1981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Optimized AST Parsing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8153400" y="5457825"/>
            <a:ext cx="32575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050">
                <a:solidFill>
                  <a:srgbClr val="A9D6DC"/>
                </a:solidFill>
                <a:latin typeface="微软雅黑" panose="020B0503020204020204" charset="-122"/>
                <a:ea typeface="微软雅黑" panose="020B0503020204020204" charset="-122"/>
              </a:rPr>
              <a:t>在混合定位器中只解析相关代码段而不是整库，显著提升搜索速度。</a:t>
            </a:r>
            <a:endParaRPr lang="zh-CN" sz="1050">
              <a:solidFill>
                <a:srgbClr val="A9D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4" name="文本框 543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20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SICA 的实测表现：14 轮迭代&lt;/Text&gt;&#10;                &lt;Box style={{ padding: '4px 12px', background: '#E3F0F2', borderRadius: 4 }}&gt;&#10;                    &lt;Text style={{ fontSize: 14, color: '#00646E', fontWeight: 'bold' }}&gt;原书图 2&lt;/Text&gt;&#10;                &lt;/Box&gt;&#10;            &lt;/Box&gt;&#10;&#10;            &lt;Box style={{ flexDirection: 'row', gap: 22, flex: 1, marginTop: 14 }}&gt;&#10;&#10;                {/* 左：原书图 2 */}&#10;                &lt;Box style={{&#10;                    width: 700, flexDirection: 'column', padding: '14px 16px 12px',&#10;                    background: '#F8FBFB', border: '1px solid #E2EBED', borderRadius: 10,&#10;                }}&gt;&#10;                    &lt;Box style={{ flexDirection: 'row', justifyContent: 'space-between', alignItems: 'center' }}&gt;&#10;                        &lt;Text style={{ fontSize: 16, fontWeight: 'bold', color: '#152129' }}&gt;各迭代上的性能表现&lt;/Text&gt;&#10;                        &lt;Text style={{ fontSize: 12, color: '#8695A4' }}&gt;原书 Fig.2&lt;/Text&gt;&#10;                    &lt;/Box&gt;&#10;                    &lt;Box style={{&#10;                        flex: 1, marginTop: 10, background: '#FFFFFF',&#10;                        border: '1px solid #E7EDEF', borderRadius: 8,&#10;                        justifyContent: 'center', alignItems: 'center', padding: 10,&#10;                    }}&gt;&#10;                        &lt;Image src='assets/fig2_sica_perf.png' style={{ width: 628, height: 357 }} /&gt;&#10;                    &lt;/Box&gt;&#10;                    &lt;Text style={{ fontSize: 12, color: '#8695A4', marginTop: 7 }}&gt;&#10;                        图源：Robeyns, Aitchison &amp;amp; Szummer（原图注明关键改进已标注在曲线上）&#10;                    &lt;/Text&gt;&#10;                &lt;/Box&gt;&#10;&#10;                {/* 右：数据与解读 */}&#10;                &lt;Box style={{ flex: 1, flexDirection: 'column', gap: 14 }}&gt;&#10;                    &lt;Box style={{ flexDirection: 'row', gap: 12 }}&gt;&#10;                        {[&#10;                            { k: '起点', v: '0.56', s: '迭代 0' },&#10;                            { k: '终点', v: '0.67', s: '迭代 14' },&#10;                            { k: '净提升', v: '+0.11', s: '相对约 +20%' },&#10;                        ].map((d, i) =&gt; (&#10;                            &lt;Box key={i} style={{&#10;                                flex: 1, flexDirection: 'column', gap: 3, padding: '12px 14px',&#10;                                borderRadius: 9, background: '#E4F0F2', justifyContent: 'center',&#10;                                border: '1px solid #CFE0E3',&#10;                            }}&gt;&#10;                                &lt;Text style={{ fontSize: 12, color: '#007581', fontWeight: 'bold' }}&gt;{d.k}&lt;/Text&gt;&#10;                                &lt;Text style={{ fontSize: 31, fontWeight: 'bold', color: '#00505A', lineHeight: 1.1 }}&gt;{d.v}&lt;/Text&gt;&#10;                                &lt;Text style={{ fontSize: 11, color: '#7A8B98' }}&gt;{d.s}&lt;/Text&gt;&#10;                            &lt;/Box&gt;&#10;                        ))}&#10;                    &lt;/Box&gt;&#10;&#10;                    &lt;Box style={{&#10;                        flex: 1, flexDirection: 'column', gap: 9, padding: '14px 16px',&#10;                        background: '#F4F9FA', border: '1px solid #DFEAEC', borderRadius: 9,&#10;                    }}&gt;&#10;                        &lt;Text style={{ fontSize: 16, fontWeight: 'bold', color: '#152129' }}&gt;曲线上被标注的五个关键改进&lt;/Text&gt;&#10;                        {[&#10;                            { x: '迭代 1', t: '“Smart Edit” Tool', k: '编辑侧' },&#10;                            { x: '迭代 5', t: 'Code Context Summarization', k: '编辑侧' },&#10;                            { x: '迭代 7', t: 'File Edit Verification', k: '编辑侧' },&#10;                            { x: '迭代 9', t: 'AST Symbol Locator', k: '导航侧' },&#10;                            { x: '迭代 14', t: 'Hybrid Symbol Locator', k: '导航侧' },&#10;                        ].map((c, i) =&gt; (&#10;                            &lt;Box key={i} style={{ flexDirection: 'row', alignItems: 'center', gap: 10, flex: 1 }}&gt;&#10;                                &lt;Box style={{ width: 62, padding: '2px 0', background: '#E3F0F2', borderRadius: 4 }}&gt;&#10;                                    &lt;Text style={{ fontSize: 12, color: '#00646E', textAlign: 'center' }}&gt;{c.x}&lt;/Text&gt;&#10;                                &lt;/Box&gt;&#10;                                &lt;Text style={{ fontSize: 15, color: '#3D4E5E', flex: 1 }}&gt;{c.t}&lt;/Text&gt;&#10;                                &lt;Box style={{ padding: '3px 11px', background: '#FFFFFF', border: '1px solid #CFE0E3', borderRadius: 4 }}&gt;&#10;                                    &lt;Text style={{ fontSize: 12, color: '#00646E' }}&gt;{c.k}&lt;/Text&gt;&#10;                                &lt;/Box&gt;&#10;                            &lt;/Box&gt;&#10;                        ))}&#10;                    &lt;/Box&gt;&#10;&#10;                    &lt;Box style={{&#10;                        flexDirection: 'row', alignItems: 'center', gap: 12,&#10;                        padding: '14px 16px', background: '#EAF3F4', borderRadius: 9,&#10;                        border: '1px solid #CFE0E3',&#10;                    }}&gt;&#10;                        &lt;FAIcon name='lightbulb' style={{ fill: '#007581', width: 19, height: 19 }} /&gt;&#10;                        &lt;Text style={{ fontSize: 15, color: '#00565F', lineHeight: 1.5, flex: 1 }}&gt;&#10;                            每一次抬升背后都是一次具体的工程改进，而不是单纯的调参。&#10;                        &lt;/Text&gt;&#10;                    &lt;/Box&gt;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21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矩形 5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48" name="矩形 54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600075" y="561975"/>
            <a:ext cx="42767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的实测表现：</a:t>
            </a: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14 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轮迭代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3" name="圆角矩形 552"/>
          <p:cNvSpPr/>
          <p:nvPr/>
        </p:nvSpPr>
        <p:spPr>
          <a:xfrm>
            <a:off x="5010150" y="638175"/>
            <a:ext cx="752475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5124450" y="676275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原书图</a:t>
            </a: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5" name="圆角矩形 554"/>
          <p:cNvSpPr/>
          <p:nvPr/>
        </p:nvSpPr>
        <p:spPr>
          <a:xfrm>
            <a:off x="419100" y="1104900"/>
            <a:ext cx="6667500" cy="5276850"/>
          </a:xfrm>
          <a:prstGeom prst="roundRect">
            <a:avLst>
              <a:gd name="adj" fmla="val 1805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571500" y="1238250"/>
            <a:ext cx="1371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各迭代上的性能表现</a:t>
            </a:r>
            <a:endParaRPr lang="zh-CN" sz="12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6410325" y="1266825"/>
            <a:ext cx="5238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原书</a:t>
            </a:r>
            <a:r>
              <a:rPr lang="en-US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Fig.2</a:t>
            </a:r>
            <a:endParaRPr lang="en-US" sz="90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圆角矩形 557"/>
          <p:cNvSpPr/>
          <p:nvPr/>
        </p:nvSpPr>
        <p:spPr>
          <a:xfrm>
            <a:off x="571500" y="1524000"/>
            <a:ext cx="6362700" cy="453390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7EDEF"/>
            </a:solidFill>
            <a:prstDash val="solid"/>
          </a:ln>
        </p:spPr>
        <p:txBody>
          <a:bodyPr/>
          <a:lstStyle/>
          <a:p/>
        </p:txBody>
      </p:sp>
      <p:pic>
        <p:nvPicPr>
          <p:cNvPr id="559" name="图片 558"/>
          <p:cNvPicPr>
            <a:picLocks noChangeAspect="1"/>
          </p:cNvPicPr>
          <p:nvPr/>
        </p:nvPicPr>
        <p:blipFill>
          <a:blip r:embed="rId1"/>
          <a:srcRect t="26" b="26"/>
          <a:stretch>
            <a:fillRect/>
          </a:stretch>
        </p:blipFill>
        <p:spPr>
          <a:xfrm>
            <a:off x="762000" y="2095500"/>
            <a:ext cx="5981700" cy="3400425"/>
          </a:xfrm>
          <a:prstGeom prst="rect">
            <a:avLst/>
          </a:prstGeom>
        </p:spPr>
      </p:pic>
      <p:sp>
        <p:nvSpPr>
          <p:cNvPr id="560" name="文本框 559" descr="{&quot;isTemplate&quot;:true,&quot;type&quot;:&quot;text&quot;}"/>
          <p:cNvSpPr txBox="1"/>
          <p:nvPr/>
        </p:nvSpPr>
        <p:spPr>
          <a:xfrm>
            <a:off x="571500" y="6124575"/>
            <a:ext cx="6362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图源：</a:t>
            </a:r>
            <a:r>
              <a:rPr lang="en-US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Robeyns, Aitchison &amp; Szummer</a:t>
            </a: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（原图注明关键改进已标注在曲线上）</a:t>
            </a:r>
            <a:endParaRPr lang="zh-CN" sz="90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1" name="圆角矩形 560"/>
          <p:cNvSpPr/>
          <p:nvPr/>
        </p:nvSpPr>
        <p:spPr>
          <a:xfrm>
            <a:off x="7296150" y="1104900"/>
            <a:ext cx="1419225" cy="952500"/>
          </a:xfrm>
          <a:prstGeom prst="roundRect">
            <a:avLst>
              <a:gd name="adj" fmla="val 9000"/>
            </a:avLst>
          </a:prstGeom>
          <a:solidFill>
            <a:srgbClr val="E4F0F2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7429500" y="1219200"/>
            <a:ext cx="1152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起点</a:t>
            </a:r>
            <a:endParaRPr lang="zh-CN" sz="90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7429500" y="1390650"/>
            <a:ext cx="11525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32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0.56</a:t>
            </a:r>
            <a:endParaRPr lang="en-US" sz="232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7429500" y="1809750"/>
            <a:ext cx="11525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8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endParaRPr lang="en-US" sz="82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5" name="圆角矩形 564"/>
          <p:cNvSpPr/>
          <p:nvPr/>
        </p:nvSpPr>
        <p:spPr>
          <a:xfrm>
            <a:off x="8829675" y="1104900"/>
            <a:ext cx="1409700" cy="952500"/>
          </a:xfrm>
          <a:prstGeom prst="roundRect">
            <a:avLst>
              <a:gd name="adj" fmla="val 9000"/>
            </a:avLst>
          </a:prstGeom>
          <a:solidFill>
            <a:srgbClr val="E4F0F2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566" name="文本框 565" descr="{&quot;isTemplate&quot;:true,&quot;type&quot;:&quot;text&quot;}"/>
          <p:cNvSpPr txBox="1"/>
          <p:nvPr/>
        </p:nvSpPr>
        <p:spPr>
          <a:xfrm>
            <a:off x="8963025" y="1219200"/>
            <a:ext cx="11430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终点</a:t>
            </a:r>
            <a:endParaRPr lang="zh-CN" sz="90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文本框 566" descr="{&quot;isTemplate&quot;:true,&quot;type&quot;:&quot;text&quot;}"/>
          <p:cNvSpPr txBox="1"/>
          <p:nvPr/>
        </p:nvSpPr>
        <p:spPr>
          <a:xfrm>
            <a:off x="8963025" y="1390650"/>
            <a:ext cx="1143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32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0.67</a:t>
            </a:r>
            <a:endParaRPr lang="en-US" sz="232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8963025" y="1809750"/>
            <a:ext cx="11430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8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14</a:t>
            </a:r>
            <a:endParaRPr lang="en-US" sz="82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圆角矩形 568"/>
          <p:cNvSpPr/>
          <p:nvPr/>
        </p:nvSpPr>
        <p:spPr>
          <a:xfrm>
            <a:off x="10353675" y="1104900"/>
            <a:ext cx="1419225" cy="952500"/>
          </a:xfrm>
          <a:prstGeom prst="roundRect">
            <a:avLst>
              <a:gd name="adj" fmla="val 9000"/>
            </a:avLst>
          </a:prstGeom>
          <a:solidFill>
            <a:srgbClr val="E4F0F2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10487025" y="1219200"/>
            <a:ext cx="1152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净提升</a:t>
            </a:r>
            <a:endParaRPr lang="zh-CN" sz="90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文本框 570" descr="{&quot;isTemplate&quot;:true,&quot;type&quot;:&quot;text&quot;}"/>
          <p:cNvSpPr txBox="1"/>
          <p:nvPr/>
        </p:nvSpPr>
        <p:spPr>
          <a:xfrm>
            <a:off x="10487025" y="1390650"/>
            <a:ext cx="11525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32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+0.11</a:t>
            </a:r>
            <a:endParaRPr lang="en-US" sz="232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10487025" y="1809750"/>
            <a:ext cx="11525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相对约</a:t>
            </a:r>
            <a:r>
              <a:rPr lang="en-US" sz="8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 +20%</a:t>
            </a:r>
            <a:endParaRPr lang="en-US" sz="82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圆角矩形 572"/>
          <p:cNvSpPr/>
          <p:nvPr/>
        </p:nvSpPr>
        <p:spPr>
          <a:xfrm>
            <a:off x="7296150" y="2190750"/>
            <a:ext cx="4476750" cy="3276600"/>
          </a:xfrm>
          <a:prstGeom prst="roundRect">
            <a:avLst>
              <a:gd name="adj" fmla="val 2616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7448550" y="2324100"/>
            <a:ext cx="41719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曲线上被标注的五个关键改进</a:t>
            </a:r>
            <a:endParaRPr lang="zh-CN" sz="12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5" name="圆角矩形 574"/>
          <p:cNvSpPr/>
          <p:nvPr/>
        </p:nvSpPr>
        <p:spPr>
          <a:xfrm>
            <a:off x="7448550" y="2752725"/>
            <a:ext cx="590550" cy="180975"/>
          </a:xfrm>
          <a:prstGeom prst="roundRect">
            <a:avLst>
              <a:gd name="adj" fmla="val 21053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7448550" y="2771775"/>
            <a:ext cx="5905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8134350" y="2752725"/>
            <a:ext cx="2838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“Smart Edit” Tool</a:t>
            </a:r>
            <a:endParaRPr lang="en-US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圆角矩形 577"/>
          <p:cNvSpPr/>
          <p:nvPr/>
        </p:nvSpPr>
        <p:spPr>
          <a:xfrm>
            <a:off x="11068050" y="2743200"/>
            <a:ext cx="55245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579" name="文本框 578" descr="{&quot;isTemplate&quot;:true,&quot;type&quot;:&quot;text&quot;}"/>
          <p:cNvSpPr txBox="1"/>
          <p:nvPr/>
        </p:nvSpPr>
        <p:spPr>
          <a:xfrm>
            <a:off x="11172825" y="277177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编辑侧</a:t>
            </a:r>
            <a:endParaRPr lang="zh-CN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0" name="圆角矩形 579"/>
          <p:cNvSpPr/>
          <p:nvPr/>
        </p:nvSpPr>
        <p:spPr>
          <a:xfrm>
            <a:off x="7448550" y="3314700"/>
            <a:ext cx="590550" cy="180975"/>
          </a:xfrm>
          <a:prstGeom prst="roundRect">
            <a:avLst>
              <a:gd name="adj" fmla="val 21053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7448550" y="3333750"/>
            <a:ext cx="5905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5</a:t>
            </a:r>
            <a:endParaRPr lang="en-US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134350" y="3314700"/>
            <a:ext cx="2838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Code Context Summarization</a:t>
            </a:r>
            <a:endParaRPr lang="en-US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3" name="圆角矩形 582"/>
          <p:cNvSpPr/>
          <p:nvPr/>
        </p:nvSpPr>
        <p:spPr>
          <a:xfrm>
            <a:off x="11068050" y="3305175"/>
            <a:ext cx="55245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11172825" y="3333750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编辑侧</a:t>
            </a:r>
            <a:endParaRPr lang="zh-CN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5" name="圆角矩形 584"/>
          <p:cNvSpPr/>
          <p:nvPr/>
        </p:nvSpPr>
        <p:spPr>
          <a:xfrm>
            <a:off x="7448550" y="3876675"/>
            <a:ext cx="590550" cy="180975"/>
          </a:xfrm>
          <a:prstGeom prst="roundRect">
            <a:avLst>
              <a:gd name="adj" fmla="val 21053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586" name="文本框 585" descr="{&quot;isTemplate&quot;:true,&quot;type&quot;:&quot;text&quot;}"/>
          <p:cNvSpPr txBox="1"/>
          <p:nvPr/>
        </p:nvSpPr>
        <p:spPr>
          <a:xfrm>
            <a:off x="7448550" y="3895725"/>
            <a:ext cx="5905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7</a:t>
            </a:r>
            <a:endParaRPr lang="en-US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7" name="文本框 586" descr="{&quot;isTemplate&quot;:true,&quot;type&quot;:&quot;text&quot;}"/>
          <p:cNvSpPr txBox="1"/>
          <p:nvPr/>
        </p:nvSpPr>
        <p:spPr>
          <a:xfrm>
            <a:off x="8134350" y="3886200"/>
            <a:ext cx="2838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File Edit Verification</a:t>
            </a:r>
            <a:endParaRPr lang="en-US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8" name="圆角矩形 587"/>
          <p:cNvSpPr/>
          <p:nvPr/>
        </p:nvSpPr>
        <p:spPr>
          <a:xfrm>
            <a:off x="11068050" y="3867150"/>
            <a:ext cx="55245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589" name="文本框 588" descr="{&quot;isTemplate&quot;:true,&quot;type&quot;:&quot;text&quot;}"/>
          <p:cNvSpPr txBox="1"/>
          <p:nvPr/>
        </p:nvSpPr>
        <p:spPr>
          <a:xfrm>
            <a:off x="11172825" y="38957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编辑侧</a:t>
            </a:r>
            <a:endParaRPr lang="zh-CN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0" name="圆角矩形 589"/>
          <p:cNvSpPr/>
          <p:nvPr/>
        </p:nvSpPr>
        <p:spPr>
          <a:xfrm>
            <a:off x="7448550" y="4448175"/>
            <a:ext cx="590550" cy="180975"/>
          </a:xfrm>
          <a:prstGeom prst="roundRect">
            <a:avLst>
              <a:gd name="adj" fmla="val 21053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7448550" y="4467225"/>
            <a:ext cx="5905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9</a:t>
            </a:r>
            <a:endParaRPr lang="en-US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134350" y="4448175"/>
            <a:ext cx="2838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AST Symbol Locator</a:t>
            </a:r>
            <a:endParaRPr lang="en-US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3" name="圆角矩形 592"/>
          <p:cNvSpPr/>
          <p:nvPr/>
        </p:nvSpPr>
        <p:spPr>
          <a:xfrm>
            <a:off x="11068050" y="4438650"/>
            <a:ext cx="55245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11172825" y="44672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导航侧</a:t>
            </a:r>
            <a:endParaRPr lang="zh-CN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7448550" y="5010150"/>
            <a:ext cx="590550" cy="180975"/>
          </a:xfrm>
          <a:prstGeom prst="roundRect">
            <a:avLst>
              <a:gd name="adj" fmla="val 21053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7448550" y="5029200"/>
            <a:ext cx="5905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14</a:t>
            </a:r>
            <a:endParaRPr lang="en-US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7" name="文本框 596" descr="{&quot;isTemplate&quot;:true,&quot;type&quot;:&quot;text&quot;}"/>
          <p:cNvSpPr txBox="1"/>
          <p:nvPr/>
        </p:nvSpPr>
        <p:spPr>
          <a:xfrm>
            <a:off x="8134350" y="5010150"/>
            <a:ext cx="2838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Hybrid Symbol Locator</a:t>
            </a:r>
            <a:endParaRPr lang="en-US" sz="1125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8" name="圆角矩形 597"/>
          <p:cNvSpPr/>
          <p:nvPr/>
        </p:nvSpPr>
        <p:spPr>
          <a:xfrm>
            <a:off x="11068050" y="5000625"/>
            <a:ext cx="55245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sp>
        <p:nvSpPr>
          <p:cNvPr id="599" name="文本框 598" descr="{&quot;isTemplate&quot;:true,&quot;type&quot;:&quot;text&quot;}"/>
          <p:cNvSpPr txBox="1"/>
          <p:nvPr/>
        </p:nvSpPr>
        <p:spPr>
          <a:xfrm>
            <a:off x="11172825" y="5029200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导航侧</a:t>
            </a:r>
            <a:endParaRPr lang="zh-CN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0" name="圆角矩形 599"/>
          <p:cNvSpPr/>
          <p:nvPr/>
        </p:nvSpPr>
        <p:spPr>
          <a:xfrm>
            <a:off x="7296150" y="5600700"/>
            <a:ext cx="4476750" cy="781050"/>
          </a:xfrm>
          <a:prstGeom prst="roundRect">
            <a:avLst>
              <a:gd name="adj" fmla="val 10976"/>
            </a:avLst>
          </a:prstGeom>
          <a:solidFill>
            <a:srgbClr val="EAF3F4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pic>
        <p:nvPicPr>
          <p:cNvPr id="601" name="图片 60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8550" y="5905500"/>
            <a:ext cx="180975" cy="180975"/>
          </a:xfrm>
          <a:prstGeom prst="rect">
            <a:avLst/>
          </a:prstGeom>
        </p:spPr>
      </p:pic>
      <p:sp>
        <p:nvSpPr>
          <p:cNvPr id="602" name="文本框 601" descr="{&quot;isTemplate&quot;:true,&quot;type&quot;:&quot;text&quot;}"/>
          <p:cNvSpPr txBox="1"/>
          <p:nvPr/>
        </p:nvSpPr>
        <p:spPr>
          <a:xfrm>
            <a:off x="7743825" y="5734050"/>
            <a:ext cx="38766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每一次抬升背后都是一次具体的工程改进，而不是单纯的调参。</a:t>
            </a:r>
            <a:endParaRPr lang="zh-CN" sz="1125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4" name="文本框 603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21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SICA 的架构：子智能体与监督者&lt;/Text&gt;&#10;                &lt;Box style={{ flex: 1, flexDirection: 'row', justifyContent: 'flex-end', alignItems: 'center', gap: 9 }}&gt;&#10;                    &lt;FAIcon name='circle-info' style={{ fill: '#9FB0BA', width: 16, height: 16 }} /&gt;&#10;                    &lt;Text style={{ fontSize: 15, color: '#7A8B98' }}&gt;自改进系统凭什么「不跑偏」&lt;/Text&gt;&#10;                &lt;/Box&gt;&#10;            &lt;/Box&gt;&#10;&#10;            &lt;Box style={{ flexDirection: 'row', gap: 22, flex: 1, marginTop: 14 }}&gt;&#10;&#10;                {/* 左：架构图 */}&#10;                &lt;Box style={{&#10;                    width: 706, flexDirection: 'column', padding: '14px 16px 12px',&#10;                    background: '#F8FBFB', border: '1px solid #E2EBED', borderRadius: 10,&#10;                }}&gt;&#10;                    &lt;Box style={{ flexDirection: 'row', justifyContent: 'space-between', alignItems: 'center' }}&gt;&#10;                        &lt;Text style={{ fontSize: 16, fontWeight: 'bold', color: '#152129' }}&gt;SICA 的结构组成&lt;/Text&gt;&#10;                        &lt;Text style={{ fontSize: 12, color: '#8695A4' }}&gt;据原书正文整理&lt;/Text&gt;&#10;                    &lt;/Box&gt;&#10;                    &lt;svg width={670} height={444} viewBox='0 0 670 444' style={{ marginTop: 6 }}&gt;&#10;                        &lt;defs&gt;&#10;                            &lt;marker id='ar22' markerWidth='10' markerHeight='10' refX='8' refY='5' orient='auto'&gt;&#10;                                &lt;path d='M0,0 L10,5 L0,10 z' fill='#39A0AC' /&gt;&#10;                            &lt;/marker&gt;&#10;                            &lt;marker id='ar22d' markerWidth='10' markerHeight='10' refX='8' refY='5' orient='auto'&gt;&#10;                                &lt;path d='M0,0 L10,5 L0,10 z' fill='#C0392B' /&gt;&#10;                            &lt;/marker&gt;&#10;                        &lt;/defs&gt;&#10;&#10;                        {/* 主智能体 */}&#10;                        &lt;rect x='20' y='10' width='330' height='58' rx='9' fill='#00505A' /&gt;&#10;                        &lt;text x='185' y='36' fontSize='17' fontWeight='bold' fill='#FFFFFF' textAnchor='middle'&gt;主智能体（SICA）&lt;/text&gt;&#10;                        &lt;text x='185' y='56' fontSize='13' fill='#8FC3CB' textAnchor='middle'&gt;调度、决策、改写自身代码&lt;/text&gt;&#10;&#10;                        {/* 监督者 */}&#10;                        &lt;rect x='390' y='10' width='260' height='58' rx='9' fill='#FAEBE9' stroke='#E4B7B0' strokeWidth='1.6' strokeDasharray='8 5' /&gt;&#10;                        &lt;text x='520' y='36' fontSize='17' fontWeight='bold' fill='#A62F22' textAnchor='middle'&gt;异步监督者&lt;/text&gt;&#10;                        &lt;text x='520' y='56' fontSize='13' fill='#B4594B' textAnchor='middle'&gt;另一个 LLM，并行运行&lt;/text&gt;&#10;                        &lt;line x1='386' y1='22' x2='354' y2='22' stroke='#C0392B' strokeWidth='2.2' strokeDasharray='6 4' markerEnd='url(#ar22d)' /&gt;&#10;                        &lt;line x1='354' y1='52' x2='386' y2='52' stroke='#C0392B' strokeWidth='2.2' strokeDasharray='6 4' markerEnd='url(#ar22d)' /&gt;&#10;                        &lt;text x='370' y='92' fontSize='12' fill='#B4594B' textAnchor='middle'&gt;监控 / 可中止&lt;/text&gt;&#10;&#10;                        {/* 子智能体 */}&#10;                        &lt;text x='20' y='106' fontSize='13' fill='#7A8B98'&gt;专用子智能体（像工具一样被调用）&lt;/text&gt;&#10;                        {[&#10;                            { x: 20, t: '编程子智能体', s: '写与改代码' },&#10;                            { x: 232, t: '解题子智能体', s: '拆解复杂任务' },&#10;                            { x: 444, t: '推理子智能体', s: '多步思考' },&#10;                        ].map((b, i) =&gt; (&#10;                            &lt;g key={i}&gt;&#10;                                &lt;rect x={b.x} y='116' width='196' height='56' rx='8' fill='#E3F0F2' stroke='#A9CFD4' strokeWidth='1.4' /&gt;&#10;                                &lt;text x={b.x + 98} y='140' fontSize='15' fontWeight='bold' fill='#00565F' textAnchor='middle'&gt;{b.t}&lt;/text&gt;&#10;                                &lt;text x={b.x + 98} y='159' fontSize='12' fill='#3F6C73' textAnchor='middle'&gt;{b.s}&lt;/text&gt;&#10;                            &lt;/g&gt;&#10;                        ))}&#10;                        &lt;line x1='185' y1='70' x2='185' y2='112' stroke='#39A0AC' strokeWidth='2' markerEnd='url(#ar22)' /&gt;&#10;&#10;                        {/* 工具集 */}&#10;                        &lt;rect x='20' y='196' width='620' height='58' rx='9' fill='#FFFFFF' stroke='#C9DBDE' strokeWidth='1.4' /&gt;&#10;                        &lt;text x='40' y='220' fontSize='15' fontWeight='bold' fill='#152129'&gt;基础工具集&lt;/text&gt;&#10;                        &lt;text x='40' y='240' fontSize='12.5' fill='#7A8B98'&gt;文件操作 · 命令执行 · 算术计算 · 结果提交&lt;/text&gt;&#10;                        {[380, 470, 560].map((x, i) =&gt; (&#10;                            &lt;rect key={i} x={x} y='212' width='72' height='26' rx='13' fill='#EAF3F4' /&gt;&#10;                        ))}&#10;                        &lt;text x='416' y='230' fontSize='12' fill='#00646E' textAnchor='middle'&gt;文件操作&lt;/text&gt;&#10;                        &lt;text x='506' y='230' fontSize='12' fill='#00646E' textAnchor='middle'&gt;命令执行&lt;/text&gt;&#10;                        &lt;text x='596' y='230' fontSize='12' fill='#00646E' textAnchor='middle'&gt;结果提交&lt;/text&gt;&#10;&#10;                        {/* 上下文窗口 */}&#10;                        &lt;rect x='20' y='268' width='620' height='96' rx='9' fill='#F4F9FA' stroke='#C9DBDE' strokeWidth='1.4' /&gt;&#10;                        &lt;text x='40' y='292' fontSize='15' fontWeight='bold' fill='#152129'&gt;上下文窗口的三段式组织&lt;/text&gt;&#10;                        {[&#10;                            { x: 40, w: 186, t: 'System Prompt', s: '目标、工具与子智能体文档、系统指令' },&#10;                            { x: 236, w: 186, t: 'Core Prompt', s: '问题陈述、打开文件内容、目录图' },&#10;                            { x: 432, w: 188, t: 'Assistant Messages', s: '逐步推理、调用与结果、监督者通信' },&#10;                        ].map((b, i) =&gt; (&#10;                            &lt;g key={i}&gt;&#10;                                &lt;rect x={b.x} y='302' width={b.w} height='50' rx='6' fill='#FFFFFF' stroke='#DFEAEC' strokeWidth='1.2' /&gt;&#10;                                &lt;text x={b.x + 10} y='321' fontSize='12.5' fontWeight='bold' fill='#007581'&gt;{b.t}&lt;/text&gt;&#10;                                &lt;text x={b.x + 10} y='338' fontSize='11' fill='#5B6E7E'&gt;{b.s.substring(0, 16)}&lt;/text&gt;&#10;                                &lt;text x={b.x + 10} y='350' fontSize='11' fill='#5B6E7E'&gt;{b.s.substring(16)}&lt;/text&gt;&#10;                            &lt;/g&gt;&#10;                        ))}&#10;&#10;                        {/* 安全与可观测 */}&#10;                        &lt;rect x='20' y='380' width='302' height='52' rx='8' fill='#FFFFFF' stroke='#C9DBDE' strokeWidth='1.4' /&gt;&#10;                        &lt;text x='22' y='403' fontSize='14' fontWeight='bold' fill='#152129'&gt;　Docker 容器化隔离&lt;/text&gt;&#10;                        &lt;text x='36' y='421' fontSize='12' fill='#7A8B98'&gt;与宿主机隔离，降低误操作文件系统的风险&lt;/text&gt;&#10;                        &lt;rect x='338' y='380' width='302' height='52' rx='8' fill='#FFFFFF' stroke='#C9DBDE' strokeWidth='1.4' /&gt;&#10;                        &lt;text x='354' y='403' fontSize='14' fontWeight='bold' fill='#152129'&gt;交互式可观测网页&lt;/text&gt;&#10;                        &lt;text x='354' y='421' fontSize='12' fill='#7A8B98'&gt;可视化事件总线与调用图，可折叠子智能体轨迹&lt;/text&gt;&#10;                    &lt;/svg&gt;&#10;                &lt;/Box&gt;&#10;&#10;                {/* 右：要点 */}&#10;                &lt;Box style={{ flex: 1, flexDirection: 'column', gap: 14 }}&gt;&#10;                    {[&#10;                        { ic: 'diagram-project', t: '子智能体负责拆解', d: '主智能体像调用工具一样调度编程、解题、推理三个子智能体，在漫长的元改进迭代中把上下文长度控制在可用范围内。' },&#10;                        { ic: 'user-shield', t: '监督者负责纠偏', d: '异步监督者周期性检视主智能体是否陷入循环、停滞或异常路径，必要时发出通知甚至直接终止本次执行。' },&#10;                        { ic: 'layer-group', t: '上下文结构决定效率', d: '系统提示、核心提示与助手消息的三段式组织，直接决定信息流转效率与运行的时间、成本开销。' },&#10;                    ].map((c, i) =&gt; (&#10;                        &lt;Box key={i} style={{&#10;                            flex: 1, flexDirection: 'column', justifyContent: 'center', gap: 8,&#10;                            padding: '0 20px', borderRadius: 10, background: '#F4F9FA', border: '1px solid #DFEAEC',&#10;                            borderLeft: '4px solid ' + (i === 1 ? '#C0392B' : '#007581'),&#10;                        }}&gt;&#10;                            &lt;Box style={{ flexDirection: 'row', alignItems: 'center', gap: 11 }}&gt;&#10;                                &lt;FAIcon name={c.ic} style={{ fill: i === 1 ? '#C0392B' : '#007581', width: 21, height: 21 }} /&gt;&#10;                                &lt;Text style={{ fontSize: 20, fontWeight: 'bold', color: '#152129' }}&gt;{c.t}&lt;/Text&gt;&#10;                            &lt;/Box&gt;&#10;                            &lt;Text style={{ fontSize: 15, color: '#4E6070', lineHeight: 1.6 }}&gt;{c.d}&lt;/Text&gt;&#10;                        &lt;/Box&gt;&#10;                    ))}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22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矩形 6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07" name="矩形 60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0" name="圆角矩形 609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611" name="文本框 610" descr="{&quot;isTemplate&quot;:true,&quot;type&quot;:&quot;text&quot;}"/>
          <p:cNvSpPr txBox="1"/>
          <p:nvPr/>
        </p:nvSpPr>
        <p:spPr>
          <a:xfrm>
            <a:off x="600075" y="561975"/>
            <a:ext cx="47529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的架构：子智能体与监督者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2" name="图片 6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7400" y="676275"/>
            <a:ext cx="152400" cy="152400"/>
          </a:xfrm>
          <a:prstGeom prst="rect">
            <a:avLst/>
          </a:prstGeom>
        </p:spPr>
      </p:pic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9915525" y="666750"/>
            <a:ext cx="1857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自改进系统凭什么「不跑偏」</a:t>
            </a:r>
            <a:endParaRPr lang="zh-CN" sz="1125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4" name="圆角矩形 613"/>
          <p:cNvSpPr/>
          <p:nvPr/>
        </p:nvSpPr>
        <p:spPr>
          <a:xfrm>
            <a:off x="419100" y="1104900"/>
            <a:ext cx="6724650" cy="5276850"/>
          </a:xfrm>
          <a:prstGeom prst="roundRect">
            <a:avLst>
              <a:gd name="adj" fmla="val 1805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615" name="文本框 614" descr="{&quot;isTemplate&quot;:true,&quot;type&quot;:&quot;text&quot;}"/>
          <p:cNvSpPr txBox="1"/>
          <p:nvPr/>
        </p:nvSpPr>
        <p:spPr>
          <a:xfrm>
            <a:off x="571500" y="1238250"/>
            <a:ext cx="11715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12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的结构组成</a:t>
            </a:r>
            <a:endParaRPr lang="zh-CN" sz="12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6191250" y="1266825"/>
            <a:ext cx="800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据原书正文整理</a:t>
            </a:r>
            <a:endParaRPr lang="zh-CN" sz="90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7" name="图片 6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1485900"/>
            <a:ext cx="6381750" cy="4229100"/>
          </a:xfrm>
          <a:prstGeom prst="rect">
            <a:avLst/>
          </a:prstGeom>
        </p:spPr>
      </p:pic>
      <p:sp>
        <p:nvSpPr>
          <p:cNvPr id="618" name="圆角矩形 617"/>
          <p:cNvSpPr/>
          <p:nvPr/>
        </p:nvSpPr>
        <p:spPr>
          <a:xfrm>
            <a:off x="7391400" y="1104900"/>
            <a:ext cx="4419600" cy="1666875"/>
          </a:xfrm>
          <a:prstGeom prst="roundRect">
            <a:avLst>
              <a:gd name="adj" fmla="val 5714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619" name="任意多边形 618"/>
          <p:cNvSpPr/>
          <p:nvPr/>
        </p:nvSpPr>
        <p:spPr>
          <a:xfrm>
            <a:off x="7391400" y="1104900"/>
            <a:ext cx="4419600" cy="1666875"/>
          </a:xfrm>
          <a:custGeom>
            <a:avLst/>
            <a:gdLst/>
            <a:ahLst/>
            <a:cxnLst/>
            <a:rect l="0" t="0" r="0" b="0"/>
            <a:pathLst>
              <a:path w="464" h="17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69"/>
                </a:lnTo>
                <a:cubicBezTo>
                  <a:pt x="4" y="172"/>
                  <a:pt x="6" y="174"/>
                  <a:pt x="9" y="175"/>
                </a:cubicBezTo>
                <a:cubicBezTo>
                  <a:pt x="4" y="174"/>
                  <a:pt x="0" y="170"/>
                  <a:pt x="0" y="16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620" name="图片 61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1900" y="1533525"/>
            <a:ext cx="200025" cy="200025"/>
          </a:xfrm>
          <a:prstGeom prst="rect">
            <a:avLst/>
          </a:prstGeom>
        </p:spPr>
      </p:pic>
      <p:sp>
        <p:nvSpPr>
          <p:cNvPr id="621" name="文本框 620" descr="{&quot;isTemplate&quot;:true,&quot;type&quot;:&quot;text&quot;}"/>
          <p:cNvSpPr txBox="1"/>
          <p:nvPr/>
        </p:nvSpPr>
        <p:spPr>
          <a:xfrm>
            <a:off x="7886700" y="1514475"/>
            <a:ext cx="1524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子智能体负责拆解</a:t>
            </a:r>
            <a:endParaRPr lang="zh-CN" sz="15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7581900" y="1819275"/>
            <a:ext cx="4000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主智能体像调用工具一样调度编程、解题、推理三个子智能体，在漫长的元改进迭代中把上下文长度控制在可用范围内。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3" name="圆角矩形 622"/>
          <p:cNvSpPr/>
          <p:nvPr/>
        </p:nvSpPr>
        <p:spPr>
          <a:xfrm>
            <a:off x="7391400" y="2905125"/>
            <a:ext cx="4419600" cy="1676400"/>
          </a:xfrm>
          <a:prstGeom prst="roundRect">
            <a:avLst>
              <a:gd name="adj" fmla="val 5682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624" name="任意多边形 623"/>
          <p:cNvSpPr/>
          <p:nvPr/>
        </p:nvSpPr>
        <p:spPr>
          <a:xfrm>
            <a:off x="7391400" y="2905125"/>
            <a:ext cx="4419600" cy="1676400"/>
          </a:xfrm>
          <a:custGeom>
            <a:avLst/>
            <a:gdLst/>
            <a:ahLst/>
            <a:cxnLst/>
            <a:rect l="0" t="0" r="0" b="0"/>
            <a:pathLst>
              <a:path w="464" h="17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70"/>
                </a:lnTo>
                <a:cubicBezTo>
                  <a:pt x="4" y="173"/>
                  <a:pt x="6" y="175"/>
                  <a:pt x="9" y="176"/>
                </a:cubicBezTo>
                <a:cubicBezTo>
                  <a:pt x="4" y="175"/>
                  <a:pt x="0" y="171"/>
                  <a:pt x="0" y="1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</p:spPr>
        <p:txBody>
          <a:bodyPr/>
          <a:lstStyle/>
          <a:p/>
        </p:txBody>
      </p:sp>
      <p:pic>
        <p:nvPicPr>
          <p:cNvPr id="625" name="图片 62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1900" y="3333750"/>
            <a:ext cx="200025" cy="200025"/>
          </a:xfrm>
          <a:prstGeom prst="rect">
            <a:avLst/>
          </a:prstGeom>
        </p:spPr>
      </p:pic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7886700" y="3314700"/>
            <a:ext cx="1333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监督者负责纠偏</a:t>
            </a:r>
            <a:endParaRPr lang="zh-CN" sz="15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7581900" y="3619500"/>
            <a:ext cx="4000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异步监督者周期性检视主智能体是否陷入循环、停滞或异常路径，必要时发出通知甚至直接终止本次执行。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8" name="圆角矩形 627"/>
          <p:cNvSpPr/>
          <p:nvPr/>
        </p:nvSpPr>
        <p:spPr>
          <a:xfrm>
            <a:off x="7391400" y="4714875"/>
            <a:ext cx="4419600" cy="1666875"/>
          </a:xfrm>
          <a:prstGeom prst="roundRect">
            <a:avLst>
              <a:gd name="adj" fmla="val 5714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629" name="任意多边形 628"/>
          <p:cNvSpPr/>
          <p:nvPr/>
        </p:nvSpPr>
        <p:spPr>
          <a:xfrm>
            <a:off x="7391400" y="4714875"/>
            <a:ext cx="4419600" cy="1666875"/>
          </a:xfrm>
          <a:custGeom>
            <a:avLst/>
            <a:gdLst/>
            <a:ahLst/>
            <a:cxnLst/>
            <a:rect l="0" t="0" r="0" b="0"/>
            <a:pathLst>
              <a:path w="464" h="17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69"/>
                </a:lnTo>
                <a:cubicBezTo>
                  <a:pt x="4" y="172"/>
                  <a:pt x="6" y="174"/>
                  <a:pt x="9" y="175"/>
                </a:cubicBezTo>
                <a:cubicBezTo>
                  <a:pt x="4" y="174"/>
                  <a:pt x="0" y="170"/>
                  <a:pt x="0" y="16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630" name="图片 62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81900" y="5143500"/>
            <a:ext cx="200025" cy="200025"/>
          </a:xfrm>
          <a:prstGeom prst="rect">
            <a:avLst/>
          </a:prstGeom>
        </p:spPr>
      </p:pic>
      <p:sp>
        <p:nvSpPr>
          <p:cNvPr id="631" name="文本框 630" descr="{&quot;isTemplate&quot;:true,&quot;type&quot;:&quot;text&quot;}"/>
          <p:cNvSpPr txBox="1"/>
          <p:nvPr/>
        </p:nvSpPr>
        <p:spPr>
          <a:xfrm>
            <a:off x="7886700" y="5124450"/>
            <a:ext cx="1714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上下文结构决定效率</a:t>
            </a:r>
            <a:endParaRPr lang="zh-CN" sz="15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2" name="文本框 631" descr="{&quot;isTemplate&quot;:true,&quot;type&quot;:&quot;text&quot;}"/>
          <p:cNvSpPr txBox="1"/>
          <p:nvPr/>
        </p:nvSpPr>
        <p:spPr>
          <a:xfrm>
            <a:off x="7581900" y="5429250"/>
            <a:ext cx="4000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系统提示、核心提示与助手消息的三段式组织，直接决定信息流转效率与运行的时间、成本开销。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3" name="文本框 632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4" name="文本框 633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22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AlphaEvolve：用进化搜索算法&lt;/Text&gt;&#10;                &lt;Box style={{ padding: '4px 12px', background: '#E3F0F2', borderRadius: 4 }}&gt;&#10;                    &lt;Text style={{ fontSize: 14, color: '#00646E', fontWeight: 'bold' }}&gt;案例 B&lt;/Text&gt;&#10;                &lt;/Box&gt;&#10;            &lt;/Box&gt;&#10;&#10;            &lt;Box style={{ flexDirection: 'row', gap: 22, flex: 1, marginTop: 14 }}&gt;&#10;&#10;                {/* 左：标题栏 */}&#10;                &lt;Box style={{&#10;                    width: 306, flexDirection: 'column', justifyContent: 'space-between',&#10;                    padding: '26px 24px', borderRadius: 10,&#10;                    background: '#F4F9FA', border: '1px solid #DFEAEC', borderLeft: '5px solid #007581',&#10;                }}&gt;&#10;                    &lt;Box style={{ flexDirection: 'column', gap: 10 }}&gt;&#10;                        &lt;Text style={{ fontSize: 12, color: '#007581', letterSpacing: 1.6, fontWeight: 'bold' }}&gt;GOOGLE · ALGORITHM DISCOVERY&lt;/Text&gt;&#10;                        &lt;Text style={{ fontSize: 33, fontWeight: 'bold', color: '#00505A', lineHeight: 1.15, marginTop: 4 }}&gt;AlphaEvolve&lt;/Text&gt;&#10;                        &lt;Box style={{ width: 46, height: 3, background: '#007581', marginTop: 6 }} /&gt;&#10;                        &lt;Text style={{ fontSize: 16, color: '#4E6070', lineHeight: 1.7, marginTop: 10 }}&gt;&#10;                            由 Google 开发的智能体，用于自动发现与优化算法，目标是同时推进理论数学与实用计算应用。&#10;                        &lt;/Text&gt;&#10;                    &lt;/Box&gt;&#10;                    &lt;Box style={{ flexDirection: 'column', gap: 9 }}&gt;&#10;                        &lt;Text style={{ fontSize: 13, color: '#7A8B98', fontWeight: 'bold' }}&gt;三个组成部分&lt;/Text&gt;&#10;                        {['大模型组合（Flash + Pro）', '自动评估系统', '进化算法框架'].map((t, i) =&gt; (&#10;                            &lt;Box key={i} style={{ flexDirection: 'row', alignItems: 'center', gap: 9 }}&gt;&#10;                                &lt;FAIcon name='circle-dot' style={{ fill: '#39A0AC', width: 12, height: 12 }} /&gt;&#10;                                &lt;Text style={{ fontSize: 15, color: '#00565F' }}&gt;{t}&lt;/Text&gt;&#10;                            &lt;/Box&gt;&#10;                        ))}&#10;                    &lt;/Box&gt;&#10;                &lt;/Box&gt;&#10;&#10;                {/* 右：三步 + 结论 */}&#10;                &lt;Box style={{ flex: 1, flexDirection: 'column', gap: 14 }}&gt;&#10;                    {[&#10;                        { n: '1', ic: 'layer-group', t: 'Flash 批量生成候选', d: '用 Gemini Flash 生成大量初始算法提案，先把搜索的广度铺开，保证候选的多样性。' },&#10;                        { n: '2', ic: 'magnifying-glass-chart', t: 'Pro 深入分析与精炼', d: '由 Gemini Pro 对候选做更深入的分析与改写，把「能跑」的提案变成「更好」的提案。' },&#10;                        { n: '3', ic: 'arrows-rotate', t: '自动评估并反馈', d: '提案按预设标准自动评估打分，分数回灌到下一轮生成，驱动算法在迭代中持续进化。' },&#10;                    ].map((c, i) =&gt; (&#10;                        &lt;Box key={i} style={{&#10;                            flex: 1, flexDirection: 'row', gap: 18, alignItems: 'center',&#10;                            padding: '0 22px', borderRadius: 10,&#10;                            background: i === 1 ? '#F4F9FA' : '#FFFFFF',&#10;                            border: '1px solid #DFEAEC',&#10;                        }}&gt;&#10;                            &lt;Box style={{&#10;                                width: 54, height: 54, borderRadius: 27, background: '#E3F0F2',&#10;                                justifyContent: 'center', alignItems: 'center',&#10;                            }}&gt;&#10;                                &lt;Text style={{ fontSize: 24, fontWeight: 'bold', color: '#007581' }}&gt;{c.n}&lt;/Text&gt;&#10;                            &lt;/Box&gt;&#10;                            &lt;Box style={{ flex: 1, flexDirection: 'column', gap: 6 }}&gt;&#10;                                &lt;Box style={{ flexDirection: 'row', alignItems: 'center', gap: 11 }}&gt;&#10;                                    &lt;FAIcon name={c.ic} style={{ fill: '#39A0AC', width: 19, height: 19 }} /&gt;&#10;                                    &lt;Text style={{ fontSize: 22, fontWeight: 'bold', color: '#152129' }}&gt;{c.t}&lt;/Text&gt;&#10;                                &lt;/Box&gt;&#10;                                &lt;Text style={{ fontSize: 16, color: '#4E6070', lineHeight: 1.6 }}&gt;{c.d}&lt;/Text&gt;&#10;                            &lt;/Box&gt;&#10;                        &lt;/Box&gt;&#10;                    ))}&#10;&#10;                    &lt;Box style={{&#10;                        flexDirection: 'row', alignItems: 'center', gap: 12,&#10;                        padding: '14px 20px', background: '#EAF3F4', borderRadius: 9,&#10;                        border: '1px solid #CFE0E3',&#10;                    }}&gt;&#10;                        &lt;FAIcon name='circle-info' style={{ fill: '#007581', width: 19, height: 19 }} /&gt;&#10;                        &lt;Text style={{ fontSize: 16, color: '#00565F', lineHeight: 1.55, flex: 1 }}&gt;&#10;                            这是一条「生成 → 评估 → 再生成」的闭环：搜索空间由大模型提供，选择压力由自动评估提供。&#10;                        &lt;/Text&gt;&#10;                    &lt;/Box&gt;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23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矩形 6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37" name="矩形 63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9" name="文本框 638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0" name="圆角矩形 639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600075" y="561975"/>
            <a:ext cx="46005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AlphaEvolve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：用进化搜索算法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2" name="圆角矩形 641"/>
          <p:cNvSpPr/>
          <p:nvPr/>
        </p:nvSpPr>
        <p:spPr>
          <a:xfrm>
            <a:off x="5334000" y="638175"/>
            <a:ext cx="628650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5448300" y="676275"/>
            <a:ext cx="40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B</a:t>
            </a:r>
            <a:endParaRPr lang="en-US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4" name="圆角矩形 643"/>
          <p:cNvSpPr/>
          <p:nvPr/>
        </p:nvSpPr>
        <p:spPr>
          <a:xfrm>
            <a:off x="466725" y="1104900"/>
            <a:ext cx="2867025" cy="5276850"/>
          </a:xfrm>
          <a:prstGeom prst="roundRect">
            <a:avLst>
              <a:gd name="adj" fmla="val 3322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645" name="任意多边形 644"/>
          <p:cNvSpPr/>
          <p:nvPr/>
        </p:nvSpPr>
        <p:spPr>
          <a:xfrm>
            <a:off x="466725" y="1104900"/>
            <a:ext cx="2867025" cy="5276850"/>
          </a:xfrm>
          <a:custGeom>
            <a:avLst/>
            <a:gdLst/>
            <a:ahLst/>
            <a:cxnLst/>
            <a:rect l="0" t="0" r="0" b="0"/>
            <a:pathLst>
              <a:path w="301" h="55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49"/>
                </a:lnTo>
                <a:cubicBezTo>
                  <a:pt x="5" y="551"/>
                  <a:pt x="7" y="553"/>
                  <a:pt x="9" y="554"/>
                </a:cubicBezTo>
                <a:cubicBezTo>
                  <a:pt x="4" y="553"/>
                  <a:pt x="0" y="549"/>
                  <a:pt x="0" y="5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695325" y="1352550"/>
            <a:ext cx="2409825" cy="276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GOOGLE · ALGORITHM DISCOVERY</a:t>
            </a:r>
            <a:endParaRPr lang="en-US" sz="900" b="1" spc="120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695325" y="1762125"/>
            <a:ext cx="240982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5000"/>
              </a:lnSpc>
            </a:pPr>
            <a:r>
              <a:rPr lang="en-US" sz="247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AlphaEvolve</a:t>
            </a:r>
            <a:endParaRPr lang="en-US" sz="247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8" name="矩形 647"/>
          <p:cNvSpPr/>
          <p:nvPr/>
        </p:nvSpPr>
        <p:spPr>
          <a:xfrm>
            <a:off x="695325" y="2352675"/>
            <a:ext cx="438150" cy="28575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649" name="文本框 648" descr="{&quot;isTemplate&quot;:true,&quot;type&quot;:&quot;text&quot;}"/>
          <p:cNvSpPr txBox="1"/>
          <p:nvPr/>
        </p:nvSpPr>
        <p:spPr>
          <a:xfrm>
            <a:off x="695325" y="2571750"/>
            <a:ext cx="24098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Google </a:t>
            </a: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开发的智能体，用于自动发现与优化算法，目标是同时推进理论数学与实用计算应用。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695325" y="5210175"/>
            <a:ext cx="2409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三个组成部分</a:t>
            </a:r>
            <a:endParaRPr lang="zh-CN" sz="975" b="1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51" name="图片 6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" y="5476875"/>
            <a:ext cx="114300" cy="114300"/>
          </a:xfrm>
          <a:prstGeom prst="rect">
            <a:avLst/>
          </a:prstGeom>
        </p:spPr>
      </p:pic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895350" y="5448300"/>
            <a:ext cx="17716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大模型组合（</a:t>
            </a:r>
            <a:r>
              <a:rPr lang="en-US" sz="112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Flash + Pro</a:t>
            </a:r>
            <a:r>
              <a:rPr lang="zh-CN" sz="112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53" name="图片 65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" y="5734050"/>
            <a:ext cx="114300" cy="114300"/>
          </a:xfrm>
          <a:prstGeom prst="rect">
            <a:avLst/>
          </a:prstGeom>
        </p:spPr>
      </p:pic>
      <p:sp>
        <p:nvSpPr>
          <p:cNvPr id="654" name="文本框 653" descr="{&quot;isTemplate&quot;:true,&quot;type&quot;:&quot;text&quot;}"/>
          <p:cNvSpPr txBox="1"/>
          <p:nvPr/>
        </p:nvSpPr>
        <p:spPr>
          <a:xfrm>
            <a:off x="895350" y="5705475"/>
            <a:ext cx="857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自动评估系统</a:t>
            </a:r>
            <a:endParaRPr lang="zh-CN" sz="1125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55" name="图片 65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" y="5991225"/>
            <a:ext cx="114300" cy="114300"/>
          </a:xfrm>
          <a:prstGeom prst="rect">
            <a:avLst/>
          </a:prstGeom>
        </p:spPr>
      </p:pic>
      <p:sp>
        <p:nvSpPr>
          <p:cNvPr id="656" name="文本框 655" descr="{&quot;isTemplate&quot;:true,&quot;type&quot;:&quot;text&quot;}"/>
          <p:cNvSpPr txBox="1"/>
          <p:nvPr/>
        </p:nvSpPr>
        <p:spPr>
          <a:xfrm>
            <a:off x="895350" y="5962650"/>
            <a:ext cx="857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进化算法框架</a:t>
            </a:r>
            <a:endParaRPr lang="zh-CN" sz="1125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7" name="圆角矩形 656"/>
          <p:cNvSpPr/>
          <p:nvPr/>
        </p:nvSpPr>
        <p:spPr>
          <a:xfrm>
            <a:off x="3543300" y="1104900"/>
            <a:ext cx="8229600" cy="1438275"/>
          </a:xfrm>
          <a:prstGeom prst="roundRect">
            <a:avLst>
              <a:gd name="adj" fmla="val 6623"/>
            </a:avLst>
          </a:prstGeom>
          <a:solidFill>
            <a:srgbClr val="FFFFFF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658" name="圆角矩形 657"/>
          <p:cNvSpPr/>
          <p:nvPr/>
        </p:nvSpPr>
        <p:spPr>
          <a:xfrm>
            <a:off x="3752850" y="15716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659" name="文本框 658" descr="{&quot;isTemplate&quot;:true,&quot;type&quot;:&quot;text&quot;}"/>
          <p:cNvSpPr txBox="1"/>
          <p:nvPr/>
        </p:nvSpPr>
        <p:spPr>
          <a:xfrm>
            <a:off x="3943350" y="1695450"/>
            <a:ext cx="1428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80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60" name="图片 65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8650" y="1562100"/>
            <a:ext cx="180975" cy="180975"/>
          </a:xfrm>
          <a:prstGeom prst="rect">
            <a:avLst/>
          </a:prstGeom>
        </p:spPr>
      </p:pic>
      <p:sp>
        <p:nvSpPr>
          <p:cNvPr id="661" name="文本框 660" descr="{&quot;isTemplate&quot;:true,&quot;type&quot;:&quot;text&quot;}"/>
          <p:cNvSpPr txBox="1"/>
          <p:nvPr/>
        </p:nvSpPr>
        <p:spPr>
          <a:xfrm>
            <a:off x="4724400" y="1524000"/>
            <a:ext cx="18669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Flash </a:t>
            </a:r>
            <a:r>
              <a:rPr lang="zh-CN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批量生成候选</a:t>
            </a:r>
            <a:endParaRPr lang="zh-CN" sz="16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2" name="文本框 661" descr="{&quot;isTemplate&quot;:true,&quot;type&quot;:&quot;text&quot;}"/>
          <p:cNvSpPr txBox="1"/>
          <p:nvPr/>
        </p:nvSpPr>
        <p:spPr>
          <a:xfrm>
            <a:off x="4438650" y="1838325"/>
            <a:ext cx="71247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Gemini Flash </a:t>
            </a: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生成大量初始算法提案，先把搜索的广度铺开，保证候选的多样性。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3" name="圆角矩形 662"/>
          <p:cNvSpPr/>
          <p:nvPr/>
        </p:nvSpPr>
        <p:spPr>
          <a:xfrm>
            <a:off x="3543300" y="2676525"/>
            <a:ext cx="8229600" cy="1447800"/>
          </a:xfrm>
          <a:prstGeom prst="roundRect">
            <a:avLst>
              <a:gd name="adj" fmla="val 6579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664" name="圆角矩形 663"/>
          <p:cNvSpPr/>
          <p:nvPr/>
        </p:nvSpPr>
        <p:spPr>
          <a:xfrm>
            <a:off x="3752850" y="31432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665" name="文本框 664" descr="{&quot;isTemplate&quot;:true,&quot;type&quot;:&quot;text&quot;}"/>
          <p:cNvSpPr txBox="1"/>
          <p:nvPr/>
        </p:nvSpPr>
        <p:spPr>
          <a:xfrm>
            <a:off x="3943350" y="3267075"/>
            <a:ext cx="1428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80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66" name="图片 66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8650" y="3133725"/>
            <a:ext cx="180975" cy="180975"/>
          </a:xfrm>
          <a:prstGeom prst="rect">
            <a:avLst/>
          </a:prstGeom>
        </p:spPr>
      </p:pic>
      <p:sp>
        <p:nvSpPr>
          <p:cNvPr id="667" name="文本框 666" descr="{&quot;isTemplate&quot;:true,&quot;type&quot;:&quot;text&quot;}"/>
          <p:cNvSpPr txBox="1"/>
          <p:nvPr/>
        </p:nvSpPr>
        <p:spPr>
          <a:xfrm>
            <a:off x="4724400" y="3095625"/>
            <a:ext cx="18954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Pro </a:t>
            </a:r>
            <a:r>
              <a:rPr lang="zh-CN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深入分析与精炼</a:t>
            </a:r>
            <a:endParaRPr lang="zh-CN" sz="16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8" name="文本框 667" descr="{&quot;isTemplate&quot;:true,&quot;type&quot;:&quot;text&quot;}"/>
          <p:cNvSpPr txBox="1"/>
          <p:nvPr/>
        </p:nvSpPr>
        <p:spPr>
          <a:xfrm>
            <a:off x="4438650" y="3409950"/>
            <a:ext cx="71247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Gemini Pro </a:t>
            </a: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对候选做更深入的分析与改写，把「能跑」的提案变成「更好」的提案。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9" name="圆角矩形 668"/>
          <p:cNvSpPr/>
          <p:nvPr/>
        </p:nvSpPr>
        <p:spPr>
          <a:xfrm>
            <a:off x="3543300" y="4257675"/>
            <a:ext cx="8229600" cy="1438275"/>
          </a:xfrm>
          <a:prstGeom prst="roundRect">
            <a:avLst>
              <a:gd name="adj" fmla="val 6623"/>
            </a:avLst>
          </a:prstGeom>
          <a:solidFill>
            <a:srgbClr val="FFFFFF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670" name="圆角矩形 669"/>
          <p:cNvSpPr/>
          <p:nvPr/>
        </p:nvSpPr>
        <p:spPr>
          <a:xfrm>
            <a:off x="3752850" y="47244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671" name="文本框 670" descr="{&quot;isTemplate&quot;:true,&quot;type&quot;:&quot;text&quot;}"/>
          <p:cNvSpPr txBox="1"/>
          <p:nvPr/>
        </p:nvSpPr>
        <p:spPr>
          <a:xfrm>
            <a:off x="3943350" y="4848225"/>
            <a:ext cx="1428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80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72" name="图片 67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38650" y="4714875"/>
            <a:ext cx="180975" cy="180975"/>
          </a:xfrm>
          <a:prstGeom prst="rect">
            <a:avLst/>
          </a:prstGeom>
        </p:spPr>
      </p:pic>
      <p:sp>
        <p:nvSpPr>
          <p:cNvPr id="673" name="文本框 672" descr="{&quot;isTemplate&quot;:true,&quot;type&quot;:&quot;text&quot;}"/>
          <p:cNvSpPr txBox="1"/>
          <p:nvPr/>
        </p:nvSpPr>
        <p:spPr>
          <a:xfrm>
            <a:off x="4724400" y="4676775"/>
            <a:ext cx="14668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自动评估并反馈</a:t>
            </a:r>
            <a:endParaRPr lang="zh-CN" sz="16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4" name="文本框 673" descr="{&quot;isTemplate&quot;:true,&quot;type&quot;:&quot;text&quot;}"/>
          <p:cNvSpPr txBox="1"/>
          <p:nvPr/>
        </p:nvSpPr>
        <p:spPr>
          <a:xfrm>
            <a:off x="4438650" y="4991100"/>
            <a:ext cx="71247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提案按预设标准自动评估打分，分数回灌到下一轮生成，驱动算法在迭代中持续进化。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" name="圆角矩形 674"/>
          <p:cNvSpPr/>
          <p:nvPr/>
        </p:nvSpPr>
        <p:spPr>
          <a:xfrm>
            <a:off x="3543300" y="5829300"/>
            <a:ext cx="8229600" cy="552450"/>
          </a:xfrm>
          <a:prstGeom prst="roundRect">
            <a:avLst>
              <a:gd name="adj" fmla="val 15517"/>
            </a:avLst>
          </a:prstGeom>
          <a:solidFill>
            <a:srgbClr val="EAF3F4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pic>
        <p:nvPicPr>
          <p:cNvPr id="676" name="图片 67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33800" y="6019800"/>
            <a:ext cx="180975" cy="180975"/>
          </a:xfrm>
          <a:prstGeom prst="rect">
            <a:avLst/>
          </a:prstGeom>
        </p:spPr>
      </p:pic>
      <p:sp>
        <p:nvSpPr>
          <p:cNvPr id="677" name="文本框 676" descr="{&quot;isTemplate&quot;:true,&quot;type&quot;:&quot;text&quot;}"/>
          <p:cNvSpPr txBox="1"/>
          <p:nvPr/>
        </p:nvSpPr>
        <p:spPr>
          <a:xfrm>
            <a:off x="4029075" y="5962650"/>
            <a:ext cx="755332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这是一条「生成</a:t>
            </a:r>
            <a:r>
              <a:rPr lang="en-US" sz="1200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评估</a:t>
            </a:r>
            <a:r>
              <a:rPr lang="en-US" sz="1200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再生成」的闭环：搜索空间由大模型提供，选择压力由自动评估提供。</a:t>
            </a:r>
            <a:endParaRPr lang="zh-CN" sz="1200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8" name="文本框 677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9" name="文本框 678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23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AlphaEvolve 的成绩单&lt;/Text&gt;&#10;                &lt;Box style={{ padding: '4px 12px', background: '#F7EED6', borderRadius: 4 }}&gt;&#10;                    &lt;Text style={{ fontSize: 14, color: '#8A6A14', fontWeight: 'bold' }}&gt;已部署于 Google 基础设施&lt;/Text&gt;&#10;                &lt;/Box&gt;&#10;            &lt;/Box&gt;&#10;&#10;            {/* 上：数据图表 */}&#10;            &lt;Box style={{&#10;                height: 306, marginTop: 14, padding: '12px 18px 6px', borderRadius: 10,&#10;                background: '#F8FBFB', border: '1px solid #E2EBED', flexDirection: 'column',&#10;            }}&gt;&#10;                &lt;Box style={{ flexDirection: 'row', justifyContent: 'space-between', alignItems: 'center' }}&gt;&#10;                    &lt;Text style={{ fontSize: 17, fontWeight: 'bold', color: '#152129' }}&gt;实用计算场景中的实测收益&lt;/Text&gt;&#10;                    &lt;Text style={{ fontSize: 12, color: '#8695A4' }}&gt;数据来源：原书正文&lt;/Text&gt;&#10;                &lt;/Box&gt;&#10;                &lt;Chart&#10;                    style={{ flex: 1, marginTop: 4 }}&#10;                    chartType='barChart'&#10;                    barDirection='bar'&#10;                    grouping='clustered'&#10;                    colors={['#007581']}&#10;                    background='#F8FBFB'&#10;                    showLegend={false}&#10;                    showDataLabels={true}&#10;                    dataLabelColor='#00505A'&#10;                    axisColor='#7A8B98'&#10;                    data={[&#10;                        ['优化场景', '收益（%）'],&#10;                        ['数据中心调度：全球算力使用下降', 0.7],&#10;                        ['Gemini 架构某核心内核：提速', 23],&#10;                        ['FlashAttention 低级 GPU 指令：优化', 32.5],&#10;                    ]}&#10;                /&gt;&#10;            &lt;/Box&gt;&#10;&#10;            {/* 下：基础研究 + 洞察 */}&#10;            &lt;Box style={{ flexDirection: 'row', gap: 20, flex: 1, marginTop: 14 }}&gt;&#10;                &lt;Box style={{&#10;                    flex: 1, flexDirection: 'column', gap: 11, padding: '16px 20px',&#10;                    borderRadius: 10, background: '#F4F9FA', border: '1px solid #DFEAEC',&#10;                    borderLeft: '5px solid #007581',&#10;                }}&gt;&#10;                    &lt;Box style={{ flexDirection: 'row', alignItems: 'center', gap: 11 }}&gt;&#10;                        &lt;FAIcon name='square-root-variable' style={{ fill: '#007581', width: 20, height: 20 }} /&gt;&#10;                        &lt;Text style={{ fontSize: 20, fontWeight: 'bold', color: '#152129' }}&gt;基础研究侧的两个结果&lt;/Text&gt;&#10;                    &lt;/Box&gt;&#10;                    &lt;Box style={{ flexDirection: 'row', gap: 18, flex: 1 }}&gt;&#10;                        &lt;Box style={{ flex: 1, flexDirection: 'column', gap: 6 }}&gt;&#10;                            &lt;Text style={{ fontSize: 27, fontWeight: 'bold', color: '#007581', lineHeight: 1.1 }}&gt;48 次&lt;/Text&gt;&#10;                            &lt;Text style={{ fontSize: 15, color: '#4E6070', lineHeight: 1.55 }}&gt;&#10;                                发现 4×4 复矩阵乘法新算法，仅需 48 次标量乘法，优于此前已知结果。&#10;                            &lt;/Text&gt;&#10;                        &lt;/Box&gt;&#10;                        &lt;Box style={{ width: 1, background: '#D3E4E7' }} /&gt;&#10;                        &lt;Box style={{ flex: 1, flexDirection: 'column', gap: 6 }}&gt;&#10;                            &lt;Text style={{ fontSize: 27, fontWeight: 'bold', color: '#007581', lineHeight: 1.1 }}&gt;75% / 20%&lt;/Text&gt;&#10;                            &lt;Text style={{ fontSize: 15, color: '#4E6070', lineHeight: 1.55 }}&gt;&#10;                                在 50 余个数学开放问题上，约 75% 复现了已知最优解，约 20% 改进了既有解。&#10;                            &lt;/Text&gt;&#10;                        &lt;/Box&gt;&#10;                    &lt;/Box&gt;&#10;                &lt;/Box&gt;&#10;&#10;                &lt;Box style={{&#10;                    flex: 1, flexDirection: 'column', justifyContent: 'center', gap: 12,&#10;                    padding: '16px 20px', borderRadius: 10, background: '#EAF3F4', border: '1px solid #CFE0E3',&#10;                }}&gt;&#10;                    &lt;Box style={{ flexDirection: 'row', alignItems: 'center', gap: 11 }}&gt;&#10;                        &lt;FAIcon name='lightbulb' style={{ fill: '#007581', width: 20, height: 20 }} /&gt;&#10;                        &lt;Text style={{ fontSize: 20, fontWeight: 'bold', color: '#152129' }}&gt;这组数据说明了什么&lt;/Text&gt;&#10;                    &lt;/Box&gt;&#10;                    &lt;Text style={{ fontSize: 17, color: '#00565F', lineHeight: 1.75 }}&gt;&#10;                        智能体既能优化工程参数，也能参与基础研究：&lt;br /&gt;&#10;                        在一个巨大的算法空间里持续试探、评估、保留更优解，&#10;                        &lt;span style={{ fontWeight: 'bold' }}&gt;这是「学习与适应」在系统层面的直接体现。&lt;/span&gt;&#10;                    &lt;/Text&gt;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24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矩形 6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82" name="矩形 68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683" name="文本框 682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5" name="圆角矩形 684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686" name="文本框 685" descr="{&quot;isTemplate&quot;:true,&quot;type&quot;:&quot;text&quot;}"/>
          <p:cNvSpPr txBox="1"/>
          <p:nvPr/>
        </p:nvSpPr>
        <p:spPr>
          <a:xfrm>
            <a:off x="600075" y="561975"/>
            <a:ext cx="34004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AlphaEvolve 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的成绩单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7" name="圆角矩形 686"/>
          <p:cNvSpPr/>
          <p:nvPr/>
        </p:nvSpPr>
        <p:spPr>
          <a:xfrm>
            <a:off x="4133850" y="638175"/>
            <a:ext cx="1866900" cy="238125"/>
          </a:xfrm>
          <a:prstGeom prst="roundRect">
            <a:avLst>
              <a:gd name="adj" fmla="val 16000"/>
            </a:avLst>
          </a:prstGeom>
          <a:solidFill>
            <a:srgbClr val="F7EED6"/>
          </a:solidFill>
        </p:spPr>
        <p:txBody>
          <a:bodyPr/>
          <a:lstStyle/>
          <a:p/>
        </p:txBody>
      </p:sp>
      <p:sp>
        <p:nvSpPr>
          <p:cNvPr id="688" name="文本框 687" descr="{&quot;isTemplate&quot;:true,&quot;type&quot;:&quot;text&quot;}"/>
          <p:cNvSpPr txBox="1"/>
          <p:nvPr/>
        </p:nvSpPr>
        <p:spPr>
          <a:xfrm>
            <a:off x="4248150" y="676275"/>
            <a:ext cx="1638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6A14"/>
                </a:solidFill>
                <a:latin typeface="微软雅黑" panose="020B0503020204020204" charset="-122"/>
                <a:ea typeface="微软雅黑" panose="020B0503020204020204" charset="-122"/>
              </a:rPr>
              <a:t>已部署于</a:t>
            </a:r>
            <a:r>
              <a:rPr lang="en-US" sz="1050" b="1">
                <a:solidFill>
                  <a:srgbClr val="8A6A14"/>
                </a:solidFill>
                <a:latin typeface="微软雅黑" panose="020B0503020204020204" charset="-122"/>
                <a:ea typeface="微软雅黑" panose="020B0503020204020204" charset="-122"/>
              </a:rPr>
              <a:t> Google </a:t>
            </a:r>
            <a:r>
              <a:rPr lang="zh-CN" sz="1050" b="1">
                <a:solidFill>
                  <a:srgbClr val="8A6A14"/>
                </a:solidFill>
                <a:latin typeface="微软雅黑" panose="020B0503020204020204" charset="-122"/>
                <a:ea typeface="微软雅黑" panose="020B0503020204020204" charset="-122"/>
              </a:rPr>
              <a:t>基础设施</a:t>
            </a:r>
            <a:endParaRPr lang="zh-CN" sz="1050" b="1">
              <a:solidFill>
                <a:srgbClr val="8A6A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9" name="圆角矩形 688"/>
          <p:cNvSpPr/>
          <p:nvPr/>
        </p:nvSpPr>
        <p:spPr>
          <a:xfrm>
            <a:off x="419100" y="1104900"/>
            <a:ext cx="11353800" cy="2914650"/>
          </a:xfrm>
          <a:prstGeom prst="roundRect">
            <a:avLst>
              <a:gd name="adj" fmla="val 3268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690" name="文本框 689" descr="{&quot;isTemplate&quot;:true,&quot;type&quot;:&quot;text&quot;}"/>
          <p:cNvSpPr txBox="1"/>
          <p:nvPr/>
        </p:nvSpPr>
        <p:spPr>
          <a:xfrm>
            <a:off x="590550" y="1219200"/>
            <a:ext cx="1943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实用计算场景中的实测收益</a:t>
            </a:r>
            <a:endParaRPr lang="zh-CN" sz="12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1" name="文本框 690" descr="{&quot;isTemplate&quot;:true,&quot;type&quot;:&quot;text&quot;}"/>
          <p:cNvSpPr txBox="1"/>
          <p:nvPr/>
        </p:nvSpPr>
        <p:spPr>
          <a:xfrm>
            <a:off x="10572750" y="1247775"/>
            <a:ext cx="1028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数据来源：原书正文</a:t>
            </a:r>
            <a:endParaRPr lang="zh-CN" sz="90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92" name="692"/>
          <p:cNvGraphicFramePr/>
          <p:nvPr/>
        </p:nvGraphicFramePr>
        <p:xfrm>
          <a:off x="590550" y="1457325"/>
          <a:ext cx="11010900" cy="2505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93" name="圆角矩形 692"/>
          <p:cNvSpPr/>
          <p:nvPr/>
        </p:nvSpPr>
        <p:spPr>
          <a:xfrm>
            <a:off x="466725" y="4152900"/>
            <a:ext cx="5581650" cy="2228850"/>
          </a:xfrm>
          <a:prstGeom prst="roundRect">
            <a:avLst>
              <a:gd name="adj" fmla="val 4274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694" name="任意多边形 693"/>
          <p:cNvSpPr/>
          <p:nvPr/>
        </p:nvSpPr>
        <p:spPr>
          <a:xfrm>
            <a:off x="466725" y="4152900"/>
            <a:ext cx="5581650" cy="2228850"/>
          </a:xfrm>
          <a:custGeom>
            <a:avLst/>
            <a:gdLst/>
            <a:ahLst/>
            <a:cxnLst/>
            <a:rect l="0" t="0" r="0" b="0"/>
            <a:pathLst>
              <a:path w="586" h="23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229"/>
                </a:lnTo>
                <a:cubicBezTo>
                  <a:pt x="5" y="231"/>
                  <a:pt x="7" y="233"/>
                  <a:pt x="9" y="234"/>
                </a:cubicBezTo>
                <a:cubicBezTo>
                  <a:pt x="4" y="233"/>
                  <a:pt x="0" y="229"/>
                  <a:pt x="0" y="22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695" name="图片 69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225" y="4324350"/>
            <a:ext cx="190500" cy="190500"/>
          </a:xfrm>
          <a:prstGeom prst="rect">
            <a:avLst/>
          </a:prstGeom>
        </p:spPr>
      </p:pic>
      <p:sp>
        <p:nvSpPr>
          <p:cNvPr id="696" name="文本框 695" descr="{&quot;isTemplate&quot;:true,&quot;type&quot;:&quot;text&quot;}"/>
          <p:cNvSpPr txBox="1"/>
          <p:nvPr/>
        </p:nvSpPr>
        <p:spPr>
          <a:xfrm>
            <a:off x="952500" y="4305300"/>
            <a:ext cx="1905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基础研究侧的两个结果</a:t>
            </a:r>
            <a:endParaRPr lang="zh-CN" sz="15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7" name="文本框 696" descr="{&quot;isTemplate&quot;:true,&quot;type&quot;:&quot;text&quot;}"/>
          <p:cNvSpPr txBox="1"/>
          <p:nvPr/>
        </p:nvSpPr>
        <p:spPr>
          <a:xfrm>
            <a:off x="657225" y="4638675"/>
            <a:ext cx="24003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02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48 </a:t>
            </a:r>
            <a:r>
              <a:rPr lang="zh-CN" sz="202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zh-CN" sz="202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8" name="文本框 697" descr="{&quot;isTemplate&quot;:true,&quot;type&quot;:&quot;text&quot;}"/>
          <p:cNvSpPr txBox="1"/>
          <p:nvPr/>
        </p:nvSpPr>
        <p:spPr>
          <a:xfrm>
            <a:off x="657225" y="5038725"/>
            <a:ext cx="24003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发现</a:t>
            </a:r>
            <a:r>
              <a:rPr lang="en-US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4×4 </a:t>
            </a: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复矩阵乘法新算法，仅需</a:t>
            </a:r>
            <a:r>
              <a:rPr lang="en-US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48 </a:t>
            </a: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次标量乘法，优于此前已知结果。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9" name="矩形 698"/>
          <p:cNvSpPr/>
          <p:nvPr/>
        </p:nvSpPr>
        <p:spPr>
          <a:xfrm>
            <a:off x="3228975" y="4638675"/>
            <a:ext cx="9525" cy="1590675"/>
          </a:xfrm>
          <a:prstGeom prst="rect">
            <a:avLst/>
          </a:prstGeom>
          <a:solidFill>
            <a:srgbClr val="D3E4E7"/>
          </a:solidFill>
        </p:spPr>
        <p:txBody>
          <a:bodyPr/>
          <a:lstStyle/>
          <a:p/>
        </p:txBody>
      </p:sp>
      <p:sp>
        <p:nvSpPr>
          <p:cNvPr id="700" name="文本框 699" descr="{&quot;isTemplate&quot;:true,&quot;type&quot;:&quot;text&quot;}"/>
          <p:cNvSpPr txBox="1"/>
          <p:nvPr/>
        </p:nvSpPr>
        <p:spPr>
          <a:xfrm>
            <a:off x="3409950" y="4638675"/>
            <a:ext cx="24003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025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75% / 20%</a:t>
            </a:r>
            <a:endParaRPr lang="en-US" sz="2025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1" name="文本框 700" descr="{&quot;isTemplate&quot;:true,&quot;type&quot;:&quot;text&quot;}"/>
          <p:cNvSpPr txBox="1"/>
          <p:nvPr/>
        </p:nvSpPr>
        <p:spPr>
          <a:xfrm>
            <a:off x="3409950" y="5038725"/>
            <a:ext cx="24003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50 </a:t>
            </a: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余个数学开放问题上，约</a:t>
            </a:r>
            <a:r>
              <a:rPr lang="en-US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75% </a:t>
            </a: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复现了已知最优解，约</a:t>
            </a:r>
            <a:r>
              <a:rPr lang="en-US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20% </a:t>
            </a: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改进了既有解。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2" name="圆角矩形 701"/>
          <p:cNvSpPr/>
          <p:nvPr/>
        </p:nvSpPr>
        <p:spPr>
          <a:xfrm>
            <a:off x="6191250" y="4152900"/>
            <a:ext cx="5581650" cy="2228850"/>
          </a:xfrm>
          <a:prstGeom prst="roundRect">
            <a:avLst>
              <a:gd name="adj" fmla="val 4274"/>
            </a:avLst>
          </a:prstGeom>
          <a:solidFill>
            <a:srgbClr val="EAF3F4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pic>
        <p:nvPicPr>
          <p:cNvPr id="703" name="图片 70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1750" y="4600575"/>
            <a:ext cx="190500" cy="190500"/>
          </a:xfrm>
          <a:prstGeom prst="rect">
            <a:avLst/>
          </a:prstGeom>
        </p:spPr>
      </p:pic>
      <p:sp>
        <p:nvSpPr>
          <p:cNvPr id="704" name="文本框 703" descr="{&quot;isTemplate&quot;:true,&quot;type&quot;:&quot;text&quot;}"/>
          <p:cNvSpPr txBox="1"/>
          <p:nvPr/>
        </p:nvSpPr>
        <p:spPr>
          <a:xfrm>
            <a:off x="6677025" y="4581525"/>
            <a:ext cx="1714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这组数据说明了什么</a:t>
            </a:r>
            <a:endParaRPr lang="zh-CN" sz="15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5" name="文本框 704" descr="{&quot;isTemplate&quot;:true,&quot;type&quot;:&quot;text&quot;}"/>
          <p:cNvSpPr txBox="1"/>
          <p:nvPr/>
        </p:nvSpPr>
        <p:spPr>
          <a:xfrm>
            <a:off x="6381750" y="4924425"/>
            <a:ext cx="52006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zh-CN" sz="127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智能体既能优化工程参数，也能参与基础研究：</a:t>
            </a:r>
            <a:endParaRPr lang="zh-CN" sz="1275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在一个巨大的算法空间里持续试探、评估、保留更优解，</a:t>
            </a:r>
            <a:r>
              <a:rPr lang="zh-CN" sz="127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这是「学习与适应」在系统层面的直接体现。</a:t>
            </a:r>
            <a:endParaRPr lang="zh-CN" sz="127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6" name="文本框 705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7" name="文本框 706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24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OpenEvolve：开源版进化编程智能体&lt;/Text&gt;&#10;                &lt;Box style={{ padding: '4px 12px', background: '#E3F0F2', borderRadius: 4 }}&gt;&#10;                    &lt;Text style={{ fontSize: 14, color: '#00646E', fontWeight: 'bold' }}&gt;原书图 3&lt;/Text&gt;&#10;                &lt;/Box&gt;&#10;            &lt;/Box&gt;&#10;&#10;            &lt;Box style={{ flexDirection: 'row', gap: 22, flex: 1, marginTop: 14 }}&gt;&#10;&#10;                {/* 左：原书图 3 */}&#10;                &lt;Box style={{&#10;                    width: 690, flexDirection: 'column', padding: '14px 16px 12px',&#10;                    background: '#F8FBFB', border: '1px solid #E2EBED', borderRadius: 10,&#10;                }}&gt;&#10;                    &lt;Box style={{ flexDirection: 'row', justifyContent: 'space-between', alignItems: 'center' }}&gt;&#10;                        &lt;Text style={{ fontSize: 16, fontWeight: 'bold', color: '#152129' }}&gt;OpenEvolve 的内部架构&lt;/Text&gt;&#10;                        &lt;Text style={{ fontSize: 12, color: '#8695A4' }}&gt;原书 Fig.3&lt;/Text&gt;&#10;                    &lt;/Box&gt;&#10;                    &lt;Box style={{&#10;                        flex: 1, marginTop: 10, background: '#FFFFFF',&#10;                        border: '1px solid #E7EDEF', borderRadius: 8,&#10;                        justifyContent: 'center', alignItems: 'center', padding: 8,&#10;                    }}&gt;&#10;                        &lt;Image src='assets/fig3_openevolve.png' style={{ width: 550, height: 418 }} /&gt;&#10;                    &lt;/Box&gt;&#10;                    &lt;Box style={{ flexDirection: 'row', alignItems: 'center', gap: 12, marginTop: 8 }}&gt;&#10;                        &lt;Text style={{ fontSize: 12, color: '#8695A4' }}&gt;图源：原书 Fig.3&lt;/Text&gt;&#10;                        &lt;Box style={{ flex: 1, flexDirection: 'row', gap: 8, justifyContent: 'flex-end' }}&gt;&#10;                            {['程序采样器', '程序数据库', '评估器池', 'LLM 集成'].map((t, i) =&gt; (&#10;                                &lt;Box key={i} style={{ padding: '3px 10px', background: '#EAF3F4', borderRadius: 4 }}&gt;&#10;                                    &lt;Text style={{ fontSize: 12, color: '#00646E' }}&gt;{t}&lt;/Text&gt;&#10;                                &lt;/Box&gt;&#10;                            ))}&#10;                        &lt;/Box&gt;&#10;                    &lt;/Box&gt;&#10;                &lt;/Box&gt;&#10;&#10;                {/* 右：解读 */}&#10;                &lt;Box style={{ flex: 1, flexDirection: 'column', gap: 12 }}&gt;&#10;                    &lt;Box style={{ flexDirection: 'column', gap: 7 }}&gt;&#10;                        &lt;Text style={{ fontSize: 13, color: '#007581', letterSpacing: 2, fontWeight: 'bold' }}&gt;CASE STUDY · OPENEVOLVE&lt;/Text&gt;&#10;                        &lt;Text style={{ fontSize: 23, fontWeight: 'bold', color: '#152129', lineHeight: 1.4 }}&gt;&#10;                            把「生成—评估—选择」&lt;br /&gt;做成可复用的开源框架&#10;                        &lt;/Text&gt;&#10;                    &lt;/Box&gt;&#10;&#10;                    {[&#10;                        { ic: 'sliders', t: '控制器统一编排', d: '协调程序采样器、程序数据库、评估器池与 LLM 集成四类组件。' },&#10;                        { ic: 'file-code', t: '能进化整个文件', d: '不局限于单个函数，可对完整代码文件做迭代优化。' },&#10;                        { ic: 'language', t: '多语言 + 兼容 OpenAI API', d: '支持多种编程语言，可接入任意兼容 OpenAI 接口的模型。' },&#10;                        { ic: 'chart-simple', t: '多目标与分布式评估', d: '支持多目标优化、灵活提示工程与分布式评估，应对复杂任务。' },&#10;                    ].map((c, i) =&gt; (&#10;                        &lt;Box key={i} style={{&#10;                            flex: 1, flexDirection: 'row', gap: 13, alignItems: 'center',&#10;                            padding: '0 16px', borderRadius: 9,&#10;                            background: i % 2 === 0 ? '#EAF3F4' : '#F4F9FA',&#10;                            border: '1px solid #DFEAEC',&#10;                        }}&gt;&#10;                            &lt;Box style={{&#10;                                width: 42, height: 42, borderRadius: 10, background: '#E3F0F2',&#10;                                justifyContent: 'center', alignItems: 'center',&#10;                            }}&gt;&#10;                                &lt;FAIcon name={c.ic} style={{ fill: '#007581', width: 20, height: 20 }} /&gt;&#10;                            &lt;/Box&gt;&#10;                            &lt;Box style={{ flex: 1, flexDirection: 'column', gap: 3 }}&gt;&#10;                                &lt;Text style={{ fontSize: 17, fontWeight: 'bold', color: '#152129' }}&gt;{c.t}&lt;/Text&gt;&#10;                                &lt;Text style={{ fontSize: 14, color: '#4E6070', lineHeight: 1.5 }}&gt;{c.d}&lt;/Text&gt;&#10;                            &lt;/Box&gt;&#10;                        &lt;/Box&gt;&#10;                    ))}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25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矩形 7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710" name="矩形 70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711" name="文本框 710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2" name="文本框 711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3" name="圆角矩形 712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714" name="文本框 713" descr="{&quot;isTemplate&quot;:true,&quot;type&quot;:&quot;text&quot;}"/>
          <p:cNvSpPr txBox="1"/>
          <p:nvPr/>
        </p:nvSpPr>
        <p:spPr>
          <a:xfrm>
            <a:off x="600075" y="561975"/>
            <a:ext cx="54959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OpenEvolve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：开源版进化编程智能体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5" name="圆角矩形 714"/>
          <p:cNvSpPr/>
          <p:nvPr/>
        </p:nvSpPr>
        <p:spPr>
          <a:xfrm>
            <a:off x="6229350" y="638175"/>
            <a:ext cx="752475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6343650" y="676275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原书图</a:t>
            </a: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3</a:t>
            </a:r>
            <a:endParaRPr lang="en-US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7" name="圆角矩形 716"/>
          <p:cNvSpPr/>
          <p:nvPr/>
        </p:nvSpPr>
        <p:spPr>
          <a:xfrm>
            <a:off x="419100" y="1104900"/>
            <a:ext cx="6572250" cy="5276850"/>
          </a:xfrm>
          <a:prstGeom prst="roundRect">
            <a:avLst>
              <a:gd name="adj" fmla="val 1805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718" name="文本框 717" descr="{&quot;isTemplate&quot;:true,&quot;type&quot;:&quot;text&quot;}"/>
          <p:cNvSpPr txBox="1"/>
          <p:nvPr/>
        </p:nvSpPr>
        <p:spPr>
          <a:xfrm>
            <a:off x="571500" y="1238250"/>
            <a:ext cx="17240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OpenEvolve </a:t>
            </a:r>
            <a:r>
              <a:rPr lang="zh-CN" sz="12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的内部架构</a:t>
            </a:r>
            <a:endParaRPr lang="zh-CN" sz="12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9" name="文本框 718" descr="{&quot;isTemplate&quot;:true,&quot;type&quot;:&quot;text&quot;}"/>
          <p:cNvSpPr txBox="1"/>
          <p:nvPr/>
        </p:nvSpPr>
        <p:spPr>
          <a:xfrm>
            <a:off x="6315075" y="1266825"/>
            <a:ext cx="5238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原书</a:t>
            </a:r>
            <a:r>
              <a:rPr lang="en-US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Fig.3</a:t>
            </a:r>
            <a:endParaRPr lang="en-US" sz="90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0" name="圆角矩形 719"/>
          <p:cNvSpPr/>
          <p:nvPr/>
        </p:nvSpPr>
        <p:spPr>
          <a:xfrm>
            <a:off x="571500" y="1524000"/>
            <a:ext cx="6267450" cy="4467225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12700">
            <a:solidFill>
              <a:srgbClr val="E7EDEF"/>
            </a:solidFill>
            <a:prstDash val="solid"/>
          </a:ln>
        </p:spPr>
        <p:txBody>
          <a:bodyPr/>
          <a:lstStyle/>
          <a:p/>
        </p:txBody>
      </p:sp>
      <p:pic>
        <p:nvPicPr>
          <p:cNvPr id="721" name="图片 720"/>
          <p:cNvPicPr>
            <a:picLocks noChangeAspect="1"/>
          </p:cNvPicPr>
          <p:nvPr/>
        </p:nvPicPr>
        <p:blipFill>
          <a:blip r:embed="rId1"/>
          <a:srcRect l="52" r="52"/>
          <a:stretch>
            <a:fillRect/>
          </a:stretch>
        </p:blipFill>
        <p:spPr>
          <a:xfrm>
            <a:off x="1085850" y="1771650"/>
            <a:ext cx="5238750" cy="3981450"/>
          </a:xfrm>
          <a:prstGeom prst="rect">
            <a:avLst/>
          </a:prstGeom>
        </p:spPr>
      </p:pic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571500" y="6096000"/>
            <a:ext cx="866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图源：原书</a:t>
            </a:r>
            <a:r>
              <a:rPr lang="en-US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Fig.3</a:t>
            </a:r>
            <a:endParaRPr lang="en-US" sz="90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3" name="圆角矩形 722"/>
          <p:cNvSpPr/>
          <p:nvPr/>
        </p:nvSpPr>
        <p:spPr>
          <a:xfrm>
            <a:off x="3752850" y="6067425"/>
            <a:ext cx="762000" cy="200025"/>
          </a:xfrm>
          <a:prstGeom prst="roundRect">
            <a:avLst>
              <a:gd name="adj" fmla="val 19048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724" name="文本框 723" descr="{&quot;isTemplate&quot;:true,&quot;type&quot;:&quot;text&quot;}"/>
          <p:cNvSpPr txBox="1"/>
          <p:nvPr/>
        </p:nvSpPr>
        <p:spPr>
          <a:xfrm>
            <a:off x="3848100" y="6096000"/>
            <a:ext cx="5715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程序采样器</a:t>
            </a:r>
            <a:endParaRPr lang="zh-CN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5" name="圆角矩形 724"/>
          <p:cNvSpPr/>
          <p:nvPr/>
        </p:nvSpPr>
        <p:spPr>
          <a:xfrm>
            <a:off x="4591050" y="6067425"/>
            <a:ext cx="762000" cy="200025"/>
          </a:xfrm>
          <a:prstGeom prst="roundRect">
            <a:avLst>
              <a:gd name="adj" fmla="val 19048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726" name="文本框 725" descr="{&quot;isTemplate&quot;:true,&quot;type&quot;:&quot;text&quot;}"/>
          <p:cNvSpPr txBox="1"/>
          <p:nvPr/>
        </p:nvSpPr>
        <p:spPr>
          <a:xfrm>
            <a:off x="4686300" y="6096000"/>
            <a:ext cx="5715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程序数据库</a:t>
            </a:r>
            <a:endParaRPr lang="zh-CN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7" name="圆角矩形 726"/>
          <p:cNvSpPr/>
          <p:nvPr/>
        </p:nvSpPr>
        <p:spPr>
          <a:xfrm>
            <a:off x="5429250" y="6067425"/>
            <a:ext cx="647700" cy="200025"/>
          </a:xfrm>
          <a:prstGeom prst="roundRect">
            <a:avLst>
              <a:gd name="adj" fmla="val 19048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5524500" y="6096000"/>
            <a:ext cx="457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评估器池</a:t>
            </a:r>
            <a:endParaRPr lang="zh-CN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9" name="圆角矩形 728"/>
          <p:cNvSpPr/>
          <p:nvPr/>
        </p:nvSpPr>
        <p:spPr>
          <a:xfrm>
            <a:off x="6153150" y="6067425"/>
            <a:ext cx="685800" cy="200025"/>
          </a:xfrm>
          <a:prstGeom prst="roundRect">
            <a:avLst>
              <a:gd name="adj" fmla="val 19048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730" name="文本框 729" descr="{&quot;isTemplate&quot;:true,&quot;type&quot;:&quot;text&quot;}"/>
          <p:cNvSpPr txBox="1"/>
          <p:nvPr/>
        </p:nvSpPr>
        <p:spPr>
          <a:xfrm>
            <a:off x="6248400" y="6096000"/>
            <a:ext cx="4953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集成</a:t>
            </a:r>
            <a:endParaRPr lang="zh-CN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1" name="文本框 730" descr="{&quot;isTemplate&quot;:true,&quot;type&quot;:&quot;text&quot;}"/>
          <p:cNvSpPr txBox="1"/>
          <p:nvPr/>
        </p:nvSpPr>
        <p:spPr>
          <a:xfrm>
            <a:off x="7200900" y="1104900"/>
            <a:ext cx="4572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CASE STUDY · OPENEVOLVE</a:t>
            </a:r>
            <a:endParaRPr lang="en-US" sz="975" b="1" spc="150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7200900" y="1323975"/>
            <a:ext cx="4572000" cy="742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把「生成—评估—选择」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做成可复用的开源框架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3" name="圆角矩形 732"/>
          <p:cNvSpPr/>
          <p:nvPr/>
        </p:nvSpPr>
        <p:spPr>
          <a:xfrm>
            <a:off x="7200900" y="2181225"/>
            <a:ext cx="4572000" cy="1143000"/>
          </a:xfrm>
          <a:prstGeom prst="roundRect">
            <a:avLst>
              <a:gd name="adj" fmla="val 7500"/>
            </a:avLst>
          </a:prstGeom>
          <a:solidFill>
            <a:srgbClr val="EAF3F4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734" name="圆角矩形 733"/>
          <p:cNvSpPr/>
          <p:nvPr/>
        </p:nvSpPr>
        <p:spPr>
          <a:xfrm>
            <a:off x="7353300" y="255270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735" name="图片 7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8075" y="2657475"/>
            <a:ext cx="190500" cy="190500"/>
          </a:xfrm>
          <a:prstGeom prst="rect">
            <a:avLst/>
          </a:prstGeom>
        </p:spPr>
      </p:pic>
      <p:sp>
        <p:nvSpPr>
          <p:cNvPr id="736" name="文本框 735" descr="{&quot;isTemplate&quot;:true,&quot;type&quot;:&quot;text&quot;}"/>
          <p:cNvSpPr txBox="1"/>
          <p:nvPr/>
        </p:nvSpPr>
        <p:spPr>
          <a:xfrm>
            <a:off x="7877175" y="2400300"/>
            <a:ext cx="37433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控制器统一编排</a:t>
            </a:r>
            <a:endParaRPr lang="zh-CN" sz="12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7877175" y="2628900"/>
            <a:ext cx="37433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协调程序采样器、程序数据库、评估器池与</a:t>
            </a:r>
            <a:r>
              <a:rPr lang="en-US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LLM </a:t>
            </a: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集成四类组件。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8" name="圆角矩形 737"/>
          <p:cNvSpPr/>
          <p:nvPr/>
        </p:nvSpPr>
        <p:spPr>
          <a:xfrm>
            <a:off x="7200900" y="3438525"/>
            <a:ext cx="4572000" cy="904875"/>
          </a:xfrm>
          <a:prstGeom prst="roundRect">
            <a:avLst>
              <a:gd name="adj" fmla="val 9474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739" name="圆角矩形 738"/>
          <p:cNvSpPr/>
          <p:nvPr/>
        </p:nvSpPr>
        <p:spPr>
          <a:xfrm>
            <a:off x="7353300" y="369570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740" name="图片 73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8075" y="3800475"/>
            <a:ext cx="190500" cy="190500"/>
          </a:xfrm>
          <a:prstGeom prst="rect">
            <a:avLst/>
          </a:prstGeom>
        </p:spPr>
      </p:pic>
      <p:sp>
        <p:nvSpPr>
          <p:cNvPr id="741" name="文本框 740" descr="{&quot;isTemplate&quot;:true,&quot;type&quot;:&quot;text&quot;}"/>
          <p:cNvSpPr txBox="1"/>
          <p:nvPr/>
        </p:nvSpPr>
        <p:spPr>
          <a:xfrm>
            <a:off x="7877175" y="3657600"/>
            <a:ext cx="37433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能进化整个文件</a:t>
            </a:r>
            <a:endParaRPr lang="zh-CN" sz="12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2" name="文本框 741" descr="{&quot;isTemplate&quot;:true,&quot;type&quot;:&quot;text&quot;}"/>
          <p:cNvSpPr txBox="1"/>
          <p:nvPr/>
        </p:nvSpPr>
        <p:spPr>
          <a:xfrm>
            <a:off x="7877175" y="3886200"/>
            <a:ext cx="37433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不局限于单个函数，可对完整代码文件做迭代优化。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3" name="圆角矩形 742"/>
          <p:cNvSpPr/>
          <p:nvPr/>
        </p:nvSpPr>
        <p:spPr>
          <a:xfrm>
            <a:off x="7200900" y="4457700"/>
            <a:ext cx="4572000" cy="904875"/>
          </a:xfrm>
          <a:prstGeom prst="roundRect">
            <a:avLst>
              <a:gd name="adj" fmla="val 9474"/>
            </a:avLst>
          </a:prstGeom>
          <a:solidFill>
            <a:srgbClr val="EAF3F4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744" name="圆角矩形 743"/>
          <p:cNvSpPr/>
          <p:nvPr/>
        </p:nvSpPr>
        <p:spPr>
          <a:xfrm>
            <a:off x="7353300" y="47148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745" name="图片 74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8075" y="4819650"/>
            <a:ext cx="190500" cy="190500"/>
          </a:xfrm>
          <a:prstGeom prst="rect">
            <a:avLst/>
          </a:prstGeom>
        </p:spPr>
      </p:pic>
      <p:sp>
        <p:nvSpPr>
          <p:cNvPr id="746" name="文本框 745" descr="{&quot;isTemplate&quot;:true,&quot;type&quot;:&quot;text&quot;}"/>
          <p:cNvSpPr txBox="1"/>
          <p:nvPr/>
        </p:nvSpPr>
        <p:spPr>
          <a:xfrm>
            <a:off x="7877175" y="4676775"/>
            <a:ext cx="37433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多语言</a:t>
            </a:r>
            <a:r>
              <a:rPr lang="en-US" sz="12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兼容</a:t>
            </a:r>
            <a:r>
              <a:rPr lang="en-US" sz="12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 OpenAI API</a:t>
            </a:r>
            <a:endParaRPr lang="en-US" sz="12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7" name="文本框 746" descr="{&quot;isTemplate&quot;:true,&quot;type&quot;:&quot;text&quot;}"/>
          <p:cNvSpPr txBox="1"/>
          <p:nvPr/>
        </p:nvSpPr>
        <p:spPr>
          <a:xfrm>
            <a:off x="7877175" y="4905375"/>
            <a:ext cx="37433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支持多种编程语言，可接入任意兼容</a:t>
            </a:r>
            <a:r>
              <a:rPr lang="en-US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OpenAI </a:t>
            </a: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接口的模型。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8" name="圆角矩形 747"/>
          <p:cNvSpPr/>
          <p:nvPr/>
        </p:nvSpPr>
        <p:spPr>
          <a:xfrm>
            <a:off x="7200900" y="5476875"/>
            <a:ext cx="4572000" cy="904875"/>
          </a:xfrm>
          <a:prstGeom prst="roundRect">
            <a:avLst>
              <a:gd name="adj" fmla="val 9474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749" name="圆角矩形 748"/>
          <p:cNvSpPr/>
          <p:nvPr/>
        </p:nvSpPr>
        <p:spPr>
          <a:xfrm>
            <a:off x="7353300" y="573405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pic>
        <p:nvPicPr>
          <p:cNvPr id="750" name="图片 749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8075" y="5838825"/>
            <a:ext cx="190500" cy="190500"/>
          </a:xfrm>
          <a:prstGeom prst="rect">
            <a:avLst/>
          </a:prstGeom>
        </p:spPr>
      </p:pic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7877175" y="5695950"/>
            <a:ext cx="37433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多目标与分布式评估</a:t>
            </a:r>
            <a:endParaRPr lang="zh-CN" sz="12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2" name="文本框 751" descr="{&quot;isTemplate&quot;:true,&quot;type&quot;:&quot;text&quot;}"/>
          <p:cNvSpPr txBox="1"/>
          <p:nvPr/>
        </p:nvSpPr>
        <p:spPr>
          <a:xfrm>
            <a:off x="7877175" y="5924550"/>
            <a:ext cx="37433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支持多目标优化、灵活提示工程与分布式评估，应对复杂任务。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4" name="文本框 753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25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OpenEvolve 怎么跑起来&lt;/Text&gt;&#10;                &lt;Box style={{ padding: '4px 12px', background: '#E3F0F2', borderRadius: 4 }}&gt;&#10;                    &lt;Text style={{ fontSize: 14, color: '#00646E', fontWeight: 'bold' }}&gt;原书代码片段&lt;/Text&gt;&#10;                &lt;/Box&gt;&#10;            &lt;/Box&gt;&#10;&#10;            &lt;Box style={{ flexDirection: 'row', gap: 22, flex: 1, marginTop: 14 }}&gt;&#10;&#10;                {/* 左：标题栏 */}&#10;                &lt;Box style={{&#10;                    width: 300, flexDirection: 'column', justifyContent: 'space-between',&#10;                    padding: '24px 22px', borderRadius: 10,&#10;                    background: '#F4F9FA', border: '1px solid #DFEAEC', borderLeft: '5px solid #007581',&#10;                }}&gt;&#10;                    &lt;Box style={{ flexDirection: 'column', gap: 11 }}&gt;&#10;                        &lt;Text style={{ fontSize: 12, color: '#007581', letterSpacing: 1.6, fontWeight: 'bold' }}&gt;HOW TO RUN&lt;/Text&gt;&#10;                        &lt;Text style={{ fontSize: 30, fontWeight: 'bold', color: '#00505A', lineHeight: 1.3 }}&gt;&#10;                            十几个字符，&lt;br /&gt;就能启动一次进化&#10;                        &lt;/Text&gt;&#10;                        &lt;Box style={{ width: 46, height: 3, background: '#007581', marginTop: 4 }} /&gt;&#10;                        &lt;Text style={{ fontSize: 15.5, color: '#4E6070', lineHeight: 1.72, marginTop: 8 }}&gt;&#10;                            整个调用只有三步：初始化系统、启动进化、读取最优结果。&#10;                            复杂的搜索过程，被封装在框架内部。&#10;                        &lt;/Text&gt;&#10;                    &lt;/Box&gt;&#10;                    &lt;Box style={{ flexDirection: 'column', gap: 9 }}&gt;&#10;                        &lt;Box style={{ padding: '11px 13px', background: '#E3F0F2', borderRadius: 7 }}&gt;&#10;                            &lt;Text style={{ fontSize: 14, color: '#00565F', lineHeight: 1.5 }}&gt;&#10;                                &lt;span style={{ fontWeight: 'bold' }}&gt;1000&lt;/span&gt; = 进化迭代次数，越大越可能找到更优解&#10;                            &lt;/Text&gt;&#10;                        &lt;/Box&gt;&#10;                    &lt;/Box&gt;&#10;                &lt;/Box&gt;&#10;&#10;                {/* 右：代码 + 参数说明 */}&#10;                &lt;Box style={{ flex: 1, flexDirection: 'row', gap: 18 }}&gt;&#10;                    &lt;CodeBlock&#10;                        code={`from openevolve import OpenEvolve&#10;&#10;# 初始化：初始程序 + 评估脚本 + 配置文件&#10;evolve = OpenEvolve(&#10;    initial_program_path=&#10;        &quot;path/to/initial_program.py&quot;,&#10;    evaluation_file=&quot;path/to/evaluator.py&quot;,&#10;    config_path=&quot;path/to/config.yaml&quot;,&#10;)&#10;&#10;# 启动进化：运行 1000 次迭代&#10;best_program = await evolve.run(&#10;    iterations=1000)&#10;&#10;# 读取结果：打印最优程序的指标&#10;print(&quot;Best program metrics:&quot;)&#10;for name, value in \\&#10;        best_program.metrics.items():&#10;    print(f&quot;  {name}: {value:.4f}&quot;)`}&#10;                        language='python'&#10;                        width={566}&#10;                        fontSize={13}&#10;                        theme='github-light'&#10;                    /&gt;&#10;&#10;                    &lt;Box style={{ flex: 1, flexDirection: 'column', gap: 12 }}&gt;&#10;                        {[&#10;                            { k: 'initial_program_path', v: '进化的起点程序，整轮优化的出发点', ic: 'file-code' },&#10;                            { k: 'evaluation_file', v: '给每个候选程序打分的评估脚本', ic: 'clipboard-check' },&#10;                            { k: 'config_path', v: '控制迭代次数与搜索策略的配置', ic: 'sliders' },&#10;                            { k: 'iterations=1000', v: '进化迭代次数，数字越大越可能找到更优解', ic: 'arrows-rotate' },&#10;                        ].map((c, i) =&gt; (&#10;                            &lt;Box key={i} style={{&#10;                                flex: 1, flexDirection: 'column', justifyContent: 'center', gap: 6,&#10;                                padding: '0 16px', borderRadius: 9,&#10;                                background: i % 2 === 0 ? '#F4F9FA' : '#EAF3F4', border: '1px solid #DFEAEC',&#10;                            }}&gt;&#10;                                &lt;Box style={{ flexDirection: 'row', alignItems: 'center', gap: 9 }}&gt;&#10;                                    &lt;FAIcon name={c.ic} style={{ fill: '#007581', width: 17, height: 17 }} /&gt;&#10;                                    &lt;Text style={{ fontSize: 15, fontWeight: 'bold', color: '#00565F' }}&gt;{c.k}&lt;/Text&gt;&#10;                                &lt;/Box&gt;&#10;                                &lt;Text style={{ fontSize: 14, color: '#4E6070', lineHeight: 1.5 }}&gt;{c.v}&lt;/Text&gt;&#10;                            &lt;/Box&gt;&#10;                        ))}&#10;                    &lt;/Box&gt;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26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矩形 7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757" name="矩形 75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758" name="文本框 757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9" name="文本框 758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0" name="圆角矩形 759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761" name="文本框 760" descr="{&quot;isTemplate&quot;:true,&quot;type&quot;:&quot;text&quot;}"/>
          <p:cNvSpPr txBox="1"/>
          <p:nvPr/>
        </p:nvSpPr>
        <p:spPr>
          <a:xfrm>
            <a:off x="600075" y="561975"/>
            <a:ext cx="36480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OpenEvolve 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怎么跑起来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2" name="圆角矩形 761"/>
          <p:cNvSpPr/>
          <p:nvPr/>
        </p:nvSpPr>
        <p:spPr>
          <a:xfrm>
            <a:off x="4381500" y="638175"/>
            <a:ext cx="1028700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763" name="文本框 762" descr="{&quot;isTemplate&quot;:true,&quot;type&quot;:&quot;text&quot;}"/>
          <p:cNvSpPr txBox="1"/>
          <p:nvPr/>
        </p:nvSpPr>
        <p:spPr>
          <a:xfrm>
            <a:off x="4495800" y="676275"/>
            <a:ext cx="800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原书代码片段</a:t>
            </a:r>
            <a:endParaRPr lang="zh-CN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4" name="圆角矩形 763"/>
          <p:cNvSpPr/>
          <p:nvPr/>
        </p:nvSpPr>
        <p:spPr>
          <a:xfrm>
            <a:off x="466725" y="1104900"/>
            <a:ext cx="2809875" cy="5276850"/>
          </a:xfrm>
          <a:prstGeom prst="roundRect">
            <a:avLst>
              <a:gd name="adj" fmla="val 3390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765" name="任意多边形 764"/>
          <p:cNvSpPr/>
          <p:nvPr/>
        </p:nvSpPr>
        <p:spPr>
          <a:xfrm>
            <a:off x="466725" y="1104900"/>
            <a:ext cx="2809875" cy="5276850"/>
          </a:xfrm>
          <a:custGeom>
            <a:avLst/>
            <a:gdLst/>
            <a:ahLst/>
            <a:cxnLst/>
            <a:rect l="0" t="0" r="0" b="0"/>
            <a:pathLst>
              <a:path w="295" h="55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49"/>
                </a:lnTo>
                <a:cubicBezTo>
                  <a:pt x="5" y="551"/>
                  <a:pt x="7" y="553"/>
                  <a:pt x="9" y="554"/>
                </a:cubicBezTo>
                <a:cubicBezTo>
                  <a:pt x="4" y="553"/>
                  <a:pt x="0" y="549"/>
                  <a:pt x="0" y="5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676275" y="1333500"/>
            <a:ext cx="2390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HOW TO RUN</a:t>
            </a:r>
            <a:endParaRPr lang="en-US" sz="900" b="1" spc="120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7" name="文本框 766" descr="{&quot;isTemplate&quot;:true,&quot;type&quot;:&quot;text&quot;}"/>
          <p:cNvSpPr txBox="1"/>
          <p:nvPr/>
        </p:nvSpPr>
        <p:spPr>
          <a:xfrm>
            <a:off x="676275" y="1581150"/>
            <a:ext cx="2390775" cy="895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十几个字符，</a:t>
            </a:r>
            <a:endParaRPr lang="zh-CN" sz="22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就能启动一次进化</a:t>
            </a:r>
            <a:endParaRPr lang="zh-CN" sz="22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8" name="矩形 767"/>
          <p:cNvSpPr/>
          <p:nvPr/>
        </p:nvSpPr>
        <p:spPr>
          <a:xfrm>
            <a:off x="676275" y="2619375"/>
            <a:ext cx="438150" cy="28575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769" name="文本框 768" descr="{&quot;isTemplate&quot;:true,&quot;type&quot;:&quot;text&quot;}"/>
          <p:cNvSpPr txBox="1"/>
          <p:nvPr/>
        </p:nvSpPr>
        <p:spPr>
          <a:xfrm>
            <a:off x="676275" y="2828925"/>
            <a:ext cx="2390775" cy="914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2000"/>
              </a:lnSpc>
            </a:pPr>
            <a:r>
              <a:rPr lang="zh-CN" sz="116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整个调用只有三步：初始化系统、启动进化、读取最优结果。</a:t>
            </a:r>
            <a:r>
              <a:rPr lang="en-US" sz="116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6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复杂的搜索过程，被封装在框架内部。</a:t>
            </a:r>
            <a:endParaRPr lang="zh-CN" sz="116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0" name="圆角矩形 769"/>
          <p:cNvSpPr/>
          <p:nvPr/>
        </p:nvSpPr>
        <p:spPr>
          <a:xfrm>
            <a:off x="676275" y="5457825"/>
            <a:ext cx="2390775" cy="695325"/>
          </a:xfrm>
          <a:prstGeom prst="roundRect">
            <a:avLst>
              <a:gd name="adj" fmla="val 9589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771" name="文本框 770" descr="{&quot;isTemplate&quot;:true,&quot;type&quot;:&quot;text&quot;}"/>
          <p:cNvSpPr txBox="1"/>
          <p:nvPr/>
        </p:nvSpPr>
        <p:spPr>
          <a:xfrm>
            <a:off x="800100" y="5562600"/>
            <a:ext cx="21431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1000</a:t>
            </a:r>
            <a:r>
              <a:rPr lang="en-US" sz="1050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050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进化迭代次数，越大越可能找到更优解</a:t>
            </a:r>
            <a:endParaRPr lang="zh-CN" sz="1050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2" name="圆角矩形 771"/>
          <p:cNvSpPr/>
          <p:nvPr/>
        </p:nvSpPr>
        <p:spPr>
          <a:xfrm>
            <a:off x="6896100" y="1104900"/>
            <a:ext cx="4876800" cy="1238250"/>
          </a:xfrm>
          <a:prstGeom prst="roundRect">
            <a:avLst>
              <a:gd name="adj" fmla="val 6923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pic>
        <p:nvPicPr>
          <p:cNvPr id="773" name="图片 77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8500" y="1495425"/>
            <a:ext cx="161925" cy="161925"/>
          </a:xfrm>
          <a:prstGeom prst="rect">
            <a:avLst/>
          </a:prstGeom>
        </p:spPr>
      </p:pic>
      <p:sp>
        <p:nvSpPr>
          <p:cNvPr id="774" name="文本框 773" descr="{&quot;isTemplate&quot;:true,&quot;type&quot;:&quot;text&quot;}"/>
          <p:cNvSpPr txBox="1"/>
          <p:nvPr/>
        </p:nvSpPr>
        <p:spPr>
          <a:xfrm>
            <a:off x="7296150" y="1485900"/>
            <a:ext cx="14954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initial_program_path</a:t>
            </a:r>
            <a:endParaRPr lang="en-US" sz="112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5" name="文本框 774" descr="{&quot;isTemplate&quot;:true,&quot;type&quot;:&quot;text&quot;}"/>
          <p:cNvSpPr txBox="1"/>
          <p:nvPr/>
        </p:nvSpPr>
        <p:spPr>
          <a:xfrm>
            <a:off x="7048500" y="1714500"/>
            <a:ext cx="4572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进化的起点程序，整轮优化的出发点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6" name="圆角矩形 775"/>
          <p:cNvSpPr/>
          <p:nvPr/>
        </p:nvSpPr>
        <p:spPr>
          <a:xfrm>
            <a:off x="6896100" y="2457450"/>
            <a:ext cx="4876800" cy="1228725"/>
          </a:xfrm>
          <a:prstGeom prst="roundRect">
            <a:avLst>
              <a:gd name="adj" fmla="val 6977"/>
            </a:avLst>
          </a:prstGeom>
          <a:solidFill>
            <a:srgbClr val="EAF3F4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pic>
        <p:nvPicPr>
          <p:cNvPr id="777" name="图片 77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8500" y="2847975"/>
            <a:ext cx="161925" cy="161925"/>
          </a:xfrm>
          <a:prstGeom prst="rect">
            <a:avLst/>
          </a:prstGeom>
        </p:spPr>
      </p:pic>
      <p:sp>
        <p:nvSpPr>
          <p:cNvPr id="778" name="文本框 777" descr="{&quot;isTemplate&quot;:true,&quot;type&quot;:&quot;text&quot;}"/>
          <p:cNvSpPr txBox="1"/>
          <p:nvPr/>
        </p:nvSpPr>
        <p:spPr>
          <a:xfrm>
            <a:off x="7296150" y="2838450"/>
            <a:ext cx="1047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evaluation_file</a:t>
            </a:r>
            <a:endParaRPr lang="en-US" sz="112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9" name="文本框 778" descr="{&quot;isTemplate&quot;:true,&quot;type&quot;:&quot;text&quot;}"/>
          <p:cNvSpPr txBox="1"/>
          <p:nvPr/>
        </p:nvSpPr>
        <p:spPr>
          <a:xfrm>
            <a:off x="7048500" y="3067050"/>
            <a:ext cx="4572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给每个候选程序打分的评估脚本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0" name="圆角矩形 779"/>
          <p:cNvSpPr/>
          <p:nvPr/>
        </p:nvSpPr>
        <p:spPr>
          <a:xfrm>
            <a:off x="6896100" y="3800475"/>
            <a:ext cx="4876800" cy="1238250"/>
          </a:xfrm>
          <a:prstGeom prst="roundRect">
            <a:avLst>
              <a:gd name="adj" fmla="val 6923"/>
            </a:avLst>
          </a:prstGeom>
          <a:solidFill>
            <a:srgbClr val="F4F9FA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pic>
        <p:nvPicPr>
          <p:cNvPr id="781" name="图片 78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8500" y="4191000"/>
            <a:ext cx="161925" cy="161925"/>
          </a:xfrm>
          <a:prstGeom prst="rect">
            <a:avLst/>
          </a:prstGeom>
        </p:spPr>
      </p:pic>
      <p:sp>
        <p:nvSpPr>
          <p:cNvPr id="782" name="文本框 781" descr="{&quot;isTemplate&quot;:true,&quot;type&quot;:&quot;text&quot;}"/>
          <p:cNvSpPr txBox="1"/>
          <p:nvPr/>
        </p:nvSpPr>
        <p:spPr>
          <a:xfrm>
            <a:off x="7296150" y="4181475"/>
            <a:ext cx="847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config_path</a:t>
            </a:r>
            <a:endParaRPr lang="en-US" sz="112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3" name="文本框 782" descr="{&quot;isTemplate&quot;:true,&quot;type&quot;:&quot;text&quot;}"/>
          <p:cNvSpPr txBox="1"/>
          <p:nvPr/>
        </p:nvSpPr>
        <p:spPr>
          <a:xfrm>
            <a:off x="7048500" y="4410075"/>
            <a:ext cx="4572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控制迭代次数与搜索策略的配置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4" name="圆角矩形 783"/>
          <p:cNvSpPr/>
          <p:nvPr/>
        </p:nvSpPr>
        <p:spPr>
          <a:xfrm>
            <a:off x="6896100" y="5153025"/>
            <a:ext cx="4876800" cy="1228725"/>
          </a:xfrm>
          <a:prstGeom prst="roundRect">
            <a:avLst>
              <a:gd name="adj" fmla="val 6977"/>
            </a:avLst>
          </a:prstGeom>
          <a:solidFill>
            <a:srgbClr val="EAF3F4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pic>
        <p:nvPicPr>
          <p:cNvPr id="785" name="图片 78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8500" y="5543550"/>
            <a:ext cx="161925" cy="161925"/>
          </a:xfrm>
          <a:prstGeom prst="rect">
            <a:avLst/>
          </a:prstGeom>
        </p:spPr>
      </p:pic>
      <p:sp>
        <p:nvSpPr>
          <p:cNvPr id="786" name="文本框 785" descr="{&quot;isTemplate&quot;:true,&quot;type&quot;:&quot;text&quot;}"/>
          <p:cNvSpPr txBox="1"/>
          <p:nvPr/>
        </p:nvSpPr>
        <p:spPr>
          <a:xfrm>
            <a:off x="7296150" y="5534025"/>
            <a:ext cx="11525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iterations=1000</a:t>
            </a:r>
            <a:endParaRPr lang="en-US" sz="1125" b="1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7" name="文本框 786" descr="{&quot;isTemplate&quot;:true,&quot;type&quot;:&quot;text&quot;}"/>
          <p:cNvSpPr txBox="1"/>
          <p:nvPr/>
        </p:nvSpPr>
        <p:spPr>
          <a:xfrm>
            <a:off x="7048500" y="5762625"/>
            <a:ext cx="4572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进化迭代次数，数字越大越可能找到更优解</a:t>
            </a:r>
            <a:endParaRPr lang="zh-CN" sz="105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8" name="文本框 787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9" name="文本框 788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26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0" name="圆角矩形 789"/>
          <p:cNvSpPr/>
          <p:nvPr/>
        </p:nvSpPr>
        <p:spPr>
          <a:xfrm>
            <a:off x="3486150" y="1104900"/>
            <a:ext cx="3238500" cy="5276850"/>
          </a:xfrm>
          <a:prstGeom prst="roundRect">
            <a:avLst>
              <a:gd name="adj" fmla="val 2353"/>
            </a:avLst>
          </a:prstGeom>
          <a:solidFill>
            <a:srgbClr val="F6F8FA"/>
          </a:solidFill>
        </p:spPr>
        <p:txBody>
          <a:bodyPr/>
          <a:lstStyle/>
          <a:p/>
        </p:txBody>
      </p:sp>
      <p:sp>
        <p:nvSpPr>
          <p:cNvPr id="791" name="文本框 790"/>
          <p:cNvSpPr txBox="1"/>
          <p:nvPr/>
        </p:nvSpPr>
        <p:spPr>
          <a:xfrm>
            <a:off x="3638550" y="1238250"/>
            <a:ext cx="2933700" cy="3952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openevolve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OpenEvolve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 sz="975">
              <a:solidFill>
                <a:srgbClr val="E5E7EB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初始化：初始程序 + 评估脚本 + 配置文件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evolve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OpenEvolve(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initial_program_path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endParaRPr sz="975">
              <a:solidFill>
                <a:srgbClr val="D73A49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"path/to/initial_program.py"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evaluation_file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"path/to/evaluator.py"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config_path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"path/to/config.yaml"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 sz="975">
              <a:solidFill>
                <a:srgbClr val="E5E7EB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启动进化：运行 1000 次迭代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best_program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await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evolve.run(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iterations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1000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 sz="975">
              <a:solidFill>
                <a:srgbClr val="E5E7EB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读取结果：打印最优程序的指标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print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"Best program metrics:"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name, value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\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best_program.metrics.items():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print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 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name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value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:.4f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 sz="975">
              <a:solidFill>
                <a:srgbClr val="24292E"/>
              </a:solidFill>
              <a:latin typeface="Menlo"/>
              <a:ea typeface="Menl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position: 'relative', background: '#F4F9FA',&#10;    fontFamily: '&quot;Microsoft YaHei&quot;, &quot;PingFang SC&quot;, sans-serif', overflow: 'hidden',&#10;}}&gt;&#10;    &lt;Box style={{ flexDirection: 'row', width: '100%', height: '100%' }}&gt;&#10;&#10;        &lt;Box style={{&#10;            width: 452, height: '100%', position: 'relative', overflow: 'hidden',&#10;            background: 'linear-gradient(160deg, #00505A 0%, #00646E 60%, #007581 100%)',&#10;            flexDirection: 'column', justifyContent: 'center', paddingLeft: 64,&#10;        }}&gt;&#10;            &lt;svg width={452} height={452} viewBox='0 0 452 452' style={{ position: 'absolute', left: 0, bottom: 96 }}&gt;&#10;                &lt;g opacity='0.14' stroke='#9AD4DB' strokeWidth='1.2' fill='none'&gt;&#10;                    &lt;circle cx='236' cy='236' r='68' /&gt;&#10;                    &lt;circle cx='236' cy='236' r='108' /&gt;&#10;                    &lt;circle cx='236' cy='236' r='148' /&gt;&#10;                &lt;/g&gt;&#10;            &lt;/svg&gt;&#10;            &lt;Box style={{ flexDirection: 'column', position: 'relative' }}&gt;&#10;                &lt;Text style={{ fontSize: 168, fontWeight: 'bold', color: '#FFFFFF', lineHeight: 1, letterSpacing: -6 }}&gt;04&lt;/Text&gt;&#10;                &lt;Text style={{ fontSize: 15, color: '#7FCBD4', letterSpacing: 5, fontWeight: 'bold', marginTop: 10 }}&gt;HOW TO USE&lt;/Text&gt;&#10;            &lt;/Box&gt;&#10;        &lt;/Box&gt;&#10;&#10;        &lt;Box style={{&#10;            flex: 1, height: '100%', padding: '66px 56px 58px 60px',&#10;            flexDirection: 'column', justifyContent: 'space-between',&#10;        }}&gt;&#10;            &lt;Box style={{ flexDirection: 'column' }}&gt;&#10;                &lt;Box style={{ flexDirection: 'row', alignItems: 'center', gap: 14 }}&gt;&#10;                    &lt;Box style={{ width: 44, height: 4, background: '#007581', borderRadius: 2 }} /&gt;&#10;                    &lt;Text style={{ fontSize: 15, color: '#007581', letterSpacing: 3, fontWeight: 'bold' }}&gt;第四部分&lt;/Text&gt;&#10;                &lt;/Box&gt;&#10;                &lt;Text style={{ fontSize: 42, fontWeight: 'bold', color: '#00505A', lineHeight: 1.32, marginTop: 18 }}&gt;&#10;                    怎么用：模式提炼与&lt;br /&gt;实践启示&#10;                &lt;/Text&gt;&#10;                &lt;Box style={{ width: 120, height: 2, background: '#CFE1E4', marginTop: 22 }} /&gt;&#10;            &lt;/Box&gt;&#10;&#10;            &lt;Box style={{ flexDirection: 'column', gap: 16 }}&gt;&#10;                {[&#10;                    { k: '全景', v: '用一张图收束本章的核心机制：学习与适应模式' },&#10;                    { k: '准则', v: '明确这个模式什么时候该用、什么时候不必用' },&#10;                    { k: '讨论', v: '把讨论权交回课堂：自改进系统的边界在哪里' },&#10;                ].map((it, i) =&gt; (&#10;                    &lt;Box key={i} style={{&#10;                        flexDirection: 'row', alignItems: 'center', gap: 16,&#10;                        padding: '14px 20px', borderRadius: 8,&#10;                        background: i === 2 ? '#EAF3F4' : '#F7FAFB',&#10;                        border: '1px solid #DFEAEC',&#10;                    }}&gt;&#10;                        &lt;Box style={{&#10;                            width: 58, height: 30, background: i === 2 ? '#00505A' : '#007581', borderRadius: 4,&#10;                            justifyContent: 'center', alignItems: 'center',&#10;                        }}&gt;&#10;                            &lt;Text style={{ fontSize: 15, color: '#FFFFFF', fontWeight: 'bold' }}&gt;{it.k}&lt;/Text&gt;&#10;                        &lt;/Box&gt;&#10;                        &lt;Text style={{ fontSize: 18, color: '#3D4E5E', lineHeight: 1.55, flex: 1 }}&gt;{it.v}&lt;/Text&gt;&#10;                    &lt;/Box&gt;&#10;                ))}&#10;            &lt;/Box&gt;&#10;&#10;            &lt;Box style={{&#10;                flexDirection: 'row', alignItems: 'center', gap: 12,&#10;                padding: '15px 20px', borderLeft: '4px solid #007581', background: '#F4F9FA', borderRadius: 8,&#10;            }}&gt;&#10;                &lt;FAIcon name='arrow-right-long' style={{ fill: '#007581', width: 20, height: 20 }} /&gt;&#10;                &lt;Text style={{ fontSize: 17, color: '#00505A', lineHeight: 1.55, flex: 1, fontWeight: 'bold' }}&gt;&#10;                    从「是什么」到「怎么用」，把这一章变成可以带走的判断力&#10;                &lt;/Text&gt;&#10;            &lt;/Box&gt;&#10;        &lt;/Box&gt;&#10;&#10;        &lt;Box style={{&#10;            position: 'absolute', left: 508, right: 56, bottom: 26,&#10;            flexDirection: 'row', justifyContent: 'space-between',&#10;        }}&gt;&#10;            &lt;Text style={{ fontSize: 13, color: '#A8B4BE' }}&gt;第九组 · 学习与适应&lt;/Text&gt;&#10;            &lt;Text style={{ fontSize: 14, color: '#007581', fontWeight: 'bold' }}&gt;27 / 33&lt;/Text&gt;&#10;        &lt;/Box&gt;&#10;&#10;        &lt;Box style={{ position: 'absolute', left: 452, top: 0, width: 828, height: 6, background: '#007581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矩形 7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794" name="圆角矩形 793"/>
          <p:cNvSpPr/>
          <p:nvPr/>
        </p:nvSpPr>
        <p:spPr>
          <a:xfrm>
            <a:off x="4876800" y="6953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795" name="文本框 794" descr="{&quot;isTemplate&quot;:true,&quot;type&quot;:&quot;text&quot;}"/>
          <p:cNvSpPr txBox="1"/>
          <p:nvPr/>
        </p:nvSpPr>
        <p:spPr>
          <a:xfrm>
            <a:off x="5429250" y="628650"/>
            <a:ext cx="685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第四部分</a:t>
            </a:r>
            <a:endParaRPr lang="zh-CN" sz="1125" b="1" spc="225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6" name="文本框 795" descr="{&quot;isTemplate&quot;:true,&quot;type&quot;:&quot;text&quot;}"/>
          <p:cNvSpPr txBox="1"/>
          <p:nvPr/>
        </p:nvSpPr>
        <p:spPr>
          <a:xfrm>
            <a:off x="4876800" y="971550"/>
            <a:ext cx="6781800" cy="1276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2000"/>
              </a:lnSpc>
            </a:pPr>
            <a:r>
              <a:rPr lang="zh-CN" sz="31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怎么用：模式提炼与</a:t>
            </a:r>
            <a:endParaRPr lang="zh-CN" sz="31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lang="zh-CN" sz="31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实践启示</a:t>
            </a:r>
            <a:endParaRPr lang="zh-CN" sz="31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7" name="矩形 796"/>
          <p:cNvSpPr/>
          <p:nvPr/>
        </p:nvSpPr>
        <p:spPr>
          <a:xfrm>
            <a:off x="4876800" y="2457450"/>
            <a:ext cx="1143000" cy="19050"/>
          </a:xfrm>
          <a:prstGeom prst="rect">
            <a:avLst/>
          </a:prstGeom>
          <a:solidFill>
            <a:srgbClr val="CFE1E4"/>
          </a:solidFill>
        </p:spPr>
        <p:txBody>
          <a:bodyPr/>
          <a:lstStyle/>
          <a:p/>
        </p:txBody>
      </p:sp>
      <p:sp>
        <p:nvSpPr>
          <p:cNvPr id="798" name="圆角矩形 797"/>
          <p:cNvSpPr/>
          <p:nvPr/>
        </p:nvSpPr>
        <p:spPr>
          <a:xfrm>
            <a:off x="4876800" y="305752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7FAFB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799" name="圆角矩形 798"/>
          <p:cNvSpPr/>
          <p:nvPr/>
        </p:nvSpPr>
        <p:spPr>
          <a:xfrm>
            <a:off x="5067300" y="320992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00" name="文本框 799" descr="{&quot;isTemplate&quot;:true,&quot;type&quot;:&quot;text&quot;}"/>
          <p:cNvSpPr txBox="1"/>
          <p:nvPr/>
        </p:nvSpPr>
        <p:spPr>
          <a:xfrm>
            <a:off x="5200650" y="3267075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全景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1" name="文本框 800" descr="{&quot;isTemplate&quot;:true,&quot;type&quot;:&quot;text&quot;}"/>
          <p:cNvSpPr txBox="1"/>
          <p:nvPr/>
        </p:nvSpPr>
        <p:spPr>
          <a:xfrm>
            <a:off x="5772150" y="3190875"/>
            <a:ext cx="5695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用一张图收束本章的核心机制：学习与适应模式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2" name="圆角矩形 801"/>
          <p:cNvSpPr/>
          <p:nvPr/>
        </p:nvSpPr>
        <p:spPr>
          <a:xfrm>
            <a:off x="4876800" y="380047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7FAFB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803" name="圆角矩形 802"/>
          <p:cNvSpPr/>
          <p:nvPr/>
        </p:nvSpPr>
        <p:spPr>
          <a:xfrm>
            <a:off x="5067300" y="395287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04" name="文本框 803" descr="{&quot;isTemplate&quot;:true,&quot;type&quot;:&quot;text&quot;}"/>
          <p:cNvSpPr txBox="1"/>
          <p:nvPr/>
        </p:nvSpPr>
        <p:spPr>
          <a:xfrm>
            <a:off x="5200650" y="4010025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准则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5" name="文本框 804" descr="{&quot;isTemplate&quot;:true,&quot;type&quot;:&quot;text&quot;}"/>
          <p:cNvSpPr txBox="1"/>
          <p:nvPr/>
        </p:nvSpPr>
        <p:spPr>
          <a:xfrm>
            <a:off x="5772150" y="3933825"/>
            <a:ext cx="5695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明确这个模式什么时候该用、什么时候不必用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6" name="圆角矩形 805"/>
          <p:cNvSpPr/>
          <p:nvPr/>
        </p:nvSpPr>
        <p:spPr>
          <a:xfrm>
            <a:off x="4876800" y="4543425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EAF3F4"/>
          </a:solidFill>
          <a:ln w="12700">
            <a:solidFill>
              <a:srgbClr val="DFEAEC"/>
            </a:solidFill>
            <a:prstDash val="solid"/>
          </a:ln>
        </p:spPr>
        <p:txBody>
          <a:bodyPr/>
          <a:lstStyle/>
          <a:p/>
        </p:txBody>
      </p:sp>
      <p:sp>
        <p:nvSpPr>
          <p:cNvPr id="807" name="圆角矩形 806"/>
          <p:cNvSpPr/>
          <p:nvPr/>
        </p:nvSpPr>
        <p:spPr>
          <a:xfrm>
            <a:off x="5067300" y="469582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808" name="文本框 807" descr="{&quot;isTemplate&quot;:true,&quot;type&quot;:&quot;text&quot;}"/>
          <p:cNvSpPr txBox="1"/>
          <p:nvPr/>
        </p:nvSpPr>
        <p:spPr>
          <a:xfrm>
            <a:off x="5200650" y="4752975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讨论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9" name="文本框 808" descr="{&quot;isTemplate&quot;:true,&quot;type&quot;:&quot;text&quot;}"/>
          <p:cNvSpPr txBox="1"/>
          <p:nvPr/>
        </p:nvSpPr>
        <p:spPr>
          <a:xfrm>
            <a:off x="5772150" y="4676775"/>
            <a:ext cx="5695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把讨论权交回课堂：自改进系统的边界在哪里</a:t>
            </a:r>
            <a:endParaRPr lang="zh-CN" sz="135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0" name="圆角矩形 809"/>
          <p:cNvSpPr/>
          <p:nvPr/>
        </p:nvSpPr>
        <p:spPr>
          <a:xfrm>
            <a:off x="4914900" y="5715000"/>
            <a:ext cx="6781800" cy="590550"/>
          </a:xfrm>
          <a:prstGeom prst="roundRect">
            <a:avLst>
              <a:gd name="adj" fmla="val 12903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811" name="任意多边形 810"/>
          <p:cNvSpPr/>
          <p:nvPr/>
        </p:nvSpPr>
        <p:spPr>
          <a:xfrm>
            <a:off x="4914900" y="5715000"/>
            <a:ext cx="6781800" cy="590550"/>
          </a:xfrm>
          <a:custGeom>
            <a:avLst/>
            <a:gdLst/>
            <a:ahLst/>
            <a:cxnLst/>
            <a:rect l="0" t="0" r="0" b="0"/>
            <a:pathLst>
              <a:path w="712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812" name="图片 8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5400" y="5915025"/>
            <a:ext cx="190500" cy="190500"/>
          </a:xfrm>
          <a:prstGeom prst="rect">
            <a:avLst/>
          </a:prstGeom>
        </p:spPr>
      </p:pic>
      <p:sp>
        <p:nvSpPr>
          <p:cNvPr id="813" name="文本框 812" descr="{&quot;isTemplate&quot;:true,&quot;type&quot;:&quot;text&quot;}"/>
          <p:cNvSpPr txBox="1"/>
          <p:nvPr/>
        </p:nvSpPr>
        <p:spPr>
          <a:xfrm>
            <a:off x="5410200" y="5857875"/>
            <a:ext cx="6057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从「是什么」到「怎么用」，把这一章变成可以带走的判断力</a:t>
            </a:r>
            <a:endParaRPr lang="zh-CN" sz="127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4" name="矩形 813"/>
          <p:cNvSpPr/>
          <p:nvPr/>
        </p:nvSpPr>
        <p:spPr>
          <a:xfrm>
            <a:off x="0" y="0"/>
            <a:ext cx="4305300" cy="6858000"/>
          </a:xfrm>
          <a:prstGeom prst="rect">
            <a:avLst/>
          </a:prstGeom>
          <a:gradFill>
            <a:gsLst>
              <a:gs pos="0">
                <a:srgbClr val="00505A"/>
              </a:gs>
              <a:gs pos="60000">
                <a:srgbClr val="00646E"/>
              </a:gs>
              <a:gs pos="100000">
                <a:srgbClr val="007581"/>
              </a:gs>
            </a:gsLst>
            <a:lin ang="4200000" scaled="1"/>
          </a:gradFill>
        </p:spPr>
        <p:txBody>
          <a:bodyPr/>
          <a:lstStyle/>
          <a:p/>
        </p:txBody>
      </p:sp>
      <p:pic>
        <p:nvPicPr>
          <p:cNvPr id="815" name="图片 8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638300"/>
            <a:ext cx="4305300" cy="4305300"/>
          </a:xfrm>
          <a:prstGeom prst="rect">
            <a:avLst/>
          </a:prstGeom>
        </p:spPr>
      </p:pic>
      <p:sp>
        <p:nvSpPr>
          <p:cNvPr id="816" name="文本框 815" descr="{&quot;isTemplate&quot;:true,&quot;type&quot;:&quot;text&quot;}"/>
          <p:cNvSpPr txBox="1"/>
          <p:nvPr/>
        </p:nvSpPr>
        <p:spPr>
          <a:xfrm>
            <a:off x="609600" y="2333625"/>
            <a:ext cx="3695700" cy="1924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600" b="1" spc="-4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2600" b="1" spc="-4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7" name="文本框 816" descr="{&quot;isTemplate&quot;:true,&quot;type&quot;:&quot;text&quot;}"/>
          <p:cNvSpPr txBox="1"/>
          <p:nvPr/>
        </p:nvSpPr>
        <p:spPr>
          <a:xfrm>
            <a:off x="609600" y="4352925"/>
            <a:ext cx="36957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 spc="375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HOW TO USE</a:t>
            </a:r>
            <a:endParaRPr lang="en-US" sz="1125" b="1" spc="375">
              <a:solidFill>
                <a:srgbClr val="7FCB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8" name="文本框 817" descr="{&quot;isTemplate&quot;:true,&quot;type&quot;:&quot;text&quot;}"/>
          <p:cNvSpPr txBox="1"/>
          <p:nvPr/>
        </p:nvSpPr>
        <p:spPr>
          <a:xfrm>
            <a:off x="4838700" y="6448425"/>
            <a:ext cx="1095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" name="文本框 818" descr="{&quot;isTemplate&quot;:true,&quot;type&quot;:&quot;text&quot;}"/>
          <p:cNvSpPr txBox="1"/>
          <p:nvPr/>
        </p:nvSpPr>
        <p:spPr>
          <a:xfrm>
            <a:off x="11182350" y="644842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27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0" name="矩形 819"/>
          <p:cNvSpPr/>
          <p:nvPr/>
        </p:nvSpPr>
        <p:spPr>
          <a:xfrm>
            <a:off x="4305300" y="0"/>
            <a:ext cx="78867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学习与适应模式：一图收束&lt;/Text&gt;&#10;                &lt;Box style={{ padding: '4px 12px', background: '#E3F0F2', borderRadius: 4 }}&gt;&#10;                    &lt;Text style={{ fontSize: 14, color: '#00646E', fontWeight: 'bold' }}&gt;原书图 4&lt;/Text&gt;&#10;                &lt;/Box&gt;&#10;            &lt;/Box&gt;&#10;&#10;            &lt;Box style={{ flexDirection: 'row', gap: 22, flex: 1, marginTop: 14 }}&gt;&#10;&#10;                {/* 左：原书图 4 */}&#10;                &lt;Box style={{&#10;                    width: 690, flexDirection: 'column', padding: '14px 16px 12px',&#10;                    background: '#F8FBFB', border: '1px solid #E2EBED', borderRadius: 10,&#10;                }}&gt;&#10;                    &lt;Box style={{ flexDirection: 'row', justifyContent: 'space-between', alignItems: 'center' }}&gt;&#10;                        &lt;Text style={{ fontSize: 16, fontWeight: 'bold', color: '#152129' }}&gt;学习与适应模式&lt;/Text&gt;&#10;                        &lt;Text style={{ fontSize: 12, color: '#8695A4' }}&gt;原书 Fig.4&lt;/Text&gt;&#10;                    &lt;/Box&gt;&#10;                    &lt;Box style={{&#10;                        flex: 1, marginTop: 10, background: '#FFFFFF',&#10;                        border: '1px solid #E7EDEF', borderRadius: 8,&#10;                        justifyContent: 'center', alignItems: 'center', padding: 10,&#10;                    }}&gt;&#10;                        &lt;Image src='assets/fig4_pattern.png' style={{ width: 636, height: 347 }} /&gt;&#10;                    &lt;/Box&gt;&#10;                    &lt;Box style={{ flexDirection: 'row', alignItems: 'center', gap: 12, marginTop: 8 }}&gt;&#10;                        &lt;Text style={{ fontSize: 12, color: '#8695A4' }}&gt;图源：原书 Fig.4&lt;/Text&gt;&#10;                        &lt;Box style={{ flex: 1, flexDirection: 'row', gap: 8, justifyContent: 'flex-end' }}&gt;&#10;                            {['User', 'Prompt', 'Agent', 'Learning 1..n', 'Output'].map((t, i) =&gt; (&#10;                                &lt;Box key={i} style={{ padding: '3px 10px', background: '#EAF3F4', borderRadius: 4 }}&gt;&#10;                                    &lt;Text style={{ fontSize: 12, color: '#00646E' }}&gt;{t}&lt;/Text&gt;&#10;                                &lt;/Box&gt;&#10;                            ))}&#10;                        &lt;/Box&gt;&#10;                    &lt;/Box&gt;&#10;                &lt;/Box&gt;&#10;&#10;                {/* 右：解读 */}&#10;                &lt;Box style={{ flex: 1, flexDirection: 'column', gap: 13 }}&gt;&#10;                    &lt;Box style={{ flexDirection: 'column', gap: 7 }}&gt;&#10;                        &lt;Text style={{ fontSize: 13, color: '#007581', letterSpacing: 2, fontWeight: 'bold' }}&gt;THE PATTERN&lt;/Text&gt;&#10;                        &lt;Text style={{ fontSize: 23, fontWeight: 'bold', color: '#152129', lineHeight: 1.4 }}&gt;&#10;                            输出回到用户，&lt;br /&gt;学习留在了系统里&#10;                        &lt;/Text&gt;&#10;                    &lt;/Box&gt;&#10;&#10;                    {[&#10;                        { t: 'Agent ↔ Learning 1..n', d: '智能体与学习模块双向交互：既读取已有学习成果，也把新的经验写回去。' },&#10;                        { t: 'Learning 1..n 可持续累积', d: '学习是可累积的多轮过程，版本编号随迭代递增，而不是一次性的动作。' },&#10;                        { t: 'Output → User → Prompt 闭环', d: '输出回到用户，用户再发出新的提示，智能体带着累积的学习再次响应。' },&#10;                    ].map((c, i) =&gt; (&#10;                        &lt;Box key={i} style={{&#10;                            flex: 1, flexDirection: 'column', justifyContent: 'center', gap: 5,&#10;                            padding: '0 18px', borderRadius: 9,&#10;                            background: i === 2 ? '#EAF3F4' : '#F4F9FA', border: '1px solid #DFEAEC',&#10;                            borderLeft: '4px solid ' + (i === 2 ? '#00505A' : '#7FB8BF'),&#10;                        }}&gt;&#10;                            &lt;Text style={{ fontSize: 18, fontWeight: 'bold', color: '#152129' }}&gt;{c.t}&lt;/Text&gt;&#10;                            &lt;Text style={{ fontSize: 14.5, color: '#4E6070', lineHeight: 1.55 }}&gt;{c.d}&lt;/Text&gt;&#10;                        &lt;/Box&gt;&#10;                    ))}&#10;&#10;                    &lt;Box style={{&#10;                        padding: '13px 16px', background: '#EAF3F4', borderRadius: 9,&#10;                        border: '1px solid #CFE0E3', flexDirection: 'row', gap: 11, alignItems: 'flex-start',&#10;                    }}&gt;&#10;                        &lt;FAIcon name='quote-left' style={{ fill: '#007581', width: 17, height: 17, marginTop: 2 }} /&gt;&#10;                        &lt;Text style={{ fontSize: 15, color: '#00565F', lineHeight: 1.6, flex: 1 }}&gt;&#10;                            这个模式的价值在于：它把「一次对话」变成了「一条可积累的能力曲线」。&#10;                        &lt;/Text&gt;&#10;                    &lt;/Box&gt;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28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矩形 8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23" name="矩形 82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24" name="文本框 823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6" name="圆角矩形 825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27" name="文本框 826" descr="{&quot;isTemplate&quot;:true,&quot;type&quot;:&quot;text&quot;}"/>
          <p:cNvSpPr txBox="1"/>
          <p:nvPr/>
        </p:nvSpPr>
        <p:spPr>
          <a:xfrm>
            <a:off x="600075" y="561975"/>
            <a:ext cx="38862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学习与适应模式：一图收束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8" name="圆角矩形 827"/>
          <p:cNvSpPr/>
          <p:nvPr/>
        </p:nvSpPr>
        <p:spPr>
          <a:xfrm>
            <a:off x="4619625" y="638175"/>
            <a:ext cx="752475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829" name="文本框 828" descr="{&quot;isTemplate&quot;:true,&quot;type&quot;:&quot;text&quot;}"/>
          <p:cNvSpPr txBox="1"/>
          <p:nvPr/>
        </p:nvSpPr>
        <p:spPr>
          <a:xfrm>
            <a:off x="4733925" y="676275"/>
            <a:ext cx="523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原书图</a:t>
            </a:r>
            <a:r>
              <a:rPr lang="en-US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 4</a:t>
            </a:r>
            <a:endParaRPr lang="en-US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0" name="圆角矩形 829"/>
          <p:cNvSpPr/>
          <p:nvPr/>
        </p:nvSpPr>
        <p:spPr>
          <a:xfrm>
            <a:off x="419100" y="1104900"/>
            <a:ext cx="6572250" cy="5276850"/>
          </a:xfrm>
          <a:prstGeom prst="roundRect">
            <a:avLst>
              <a:gd name="adj" fmla="val 1805"/>
            </a:avLst>
          </a:prstGeom>
          <a:solidFill>
            <a:srgbClr val="F8FBFB"/>
          </a:solidFill>
          <a:ln w="12700">
            <a:solidFill>
              <a:srgbClr val="E2EBED"/>
            </a:solidFill>
            <a:prstDash val="solid"/>
          </a:ln>
        </p:spPr>
        <p:txBody>
          <a:bodyPr/>
          <a:lstStyle/>
          <a:p/>
        </p:txBody>
      </p:sp>
      <p:sp>
        <p:nvSpPr>
          <p:cNvPr id="831" name="文本框 830" descr="{&quot;isTemplate&quot;:true,&quot;type&quot;:&quot;text&quot;}"/>
          <p:cNvSpPr txBox="1"/>
          <p:nvPr/>
        </p:nvSpPr>
        <p:spPr>
          <a:xfrm>
            <a:off x="571500" y="1238250"/>
            <a:ext cx="106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学习与适应模式</a:t>
            </a:r>
            <a:endParaRPr lang="zh-CN" sz="120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2" name="文本框 831" descr="{&quot;isTemplate&quot;:true,&quot;type&quot;:&quot;text&quot;}"/>
          <p:cNvSpPr txBox="1"/>
          <p:nvPr/>
        </p:nvSpPr>
        <p:spPr>
          <a:xfrm>
            <a:off x="6315075" y="1266825"/>
            <a:ext cx="5238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原书</a:t>
            </a:r>
            <a:r>
              <a:rPr lang="en-US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Fig.4</a:t>
            </a:r>
            <a:endParaRPr lang="en-US" sz="90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3" name="圆角矩形 832"/>
          <p:cNvSpPr/>
          <p:nvPr/>
        </p:nvSpPr>
        <p:spPr>
          <a:xfrm>
            <a:off x="571500" y="1524000"/>
            <a:ext cx="6267450" cy="4467225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12700">
            <a:solidFill>
              <a:srgbClr val="E7EDEF"/>
            </a:solidFill>
            <a:prstDash val="solid"/>
          </a:ln>
        </p:spPr>
        <p:txBody>
          <a:bodyPr/>
          <a:lstStyle/>
          <a:p/>
        </p:txBody>
      </p:sp>
      <p:pic>
        <p:nvPicPr>
          <p:cNvPr id="834" name="图片 833"/>
          <p:cNvPicPr>
            <a:picLocks noChangeAspect="1"/>
          </p:cNvPicPr>
          <p:nvPr/>
        </p:nvPicPr>
        <p:blipFill>
          <a:blip r:embed="rId1"/>
          <a:srcRect l="36" r="36"/>
          <a:stretch>
            <a:fillRect/>
          </a:stretch>
        </p:blipFill>
        <p:spPr>
          <a:xfrm>
            <a:off x="676275" y="2105025"/>
            <a:ext cx="6057900" cy="3305175"/>
          </a:xfrm>
          <a:prstGeom prst="rect">
            <a:avLst/>
          </a:prstGeom>
        </p:spPr>
      </p:pic>
      <p:sp>
        <p:nvSpPr>
          <p:cNvPr id="835" name="文本框 834" descr="{&quot;isTemplate&quot;:true,&quot;type&quot;:&quot;text&quot;}"/>
          <p:cNvSpPr txBox="1"/>
          <p:nvPr/>
        </p:nvSpPr>
        <p:spPr>
          <a:xfrm>
            <a:off x="571500" y="6096000"/>
            <a:ext cx="866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图源：原书</a:t>
            </a:r>
            <a:r>
              <a:rPr lang="en-US" sz="900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Fig.4</a:t>
            </a:r>
            <a:endParaRPr lang="en-US" sz="900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6" name="圆角矩形 835"/>
          <p:cNvSpPr/>
          <p:nvPr/>
        </p:nvSpPr>
        <p:spPr>
          <a:xfrm>
            <a:off x="3486150" y="6067425"/>
            <a:ext cx="438150" cy="200025"/>
          </a:xfrm>
          <a:prstGeom prst="roundRect">
            <a:avLst>
              <a:gd name="adj" fmla="val 19048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837" name="文本框 836" descr="{&quot;isTemplate&quot;:true,&quot;type&quot;:&quot;text&quot;}"/>
          <p:cNvSpPr txBox="1"/>
          <p:nvPr/>
        </p:nvSpPr>
        <p:spPr>
          <a:xfrm>
            <a:off x="3581400" y="6096000"/>
            <a:ext cx="2476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User</a:t>
            </a:r>
            <a:endParaRPr lang="en-US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8" name="圆角矩形 837"/>
          <p:cNvSpPr/>
          <p:nvPr/>
        </p:nvSpPr>
        <p:spPr>
          <a:xfrm>
            <a:off x="4000500" y="6067425"/>
            <a:ext cx="600075" cy="200025"/>
          </a:xfrm>
          <a:prstGeom prst="roundRect">
            <a:avLst>
              <a:gd name="adj" fmla="val 19048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839" name="文本框 838" descr="{&quot;isTemplate&quot;:true,&quot;type&quot;:&quot;text&quot;}"/>
          <p:cNvSpPr txBox="1"/>
          <p:nvPr/>
        </p:nvSpPr>
        <p:spPr>
          <a:xfrm>
            <a:off x="4095750" y="6096000"/>
            <a:ext cx="4095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Prompt</a:t>
            </a:r>
            <a:endParaRPr lang="en-US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0" name="圆角矩形 839"/>
          <p:cNvSpPr/>
          <p:nvPr/>
        </p:nvSpPr>
        <p:spPr>
          <a:xfrm>
            <a:off x="4676775" y="6067425"/>
            <a:ext cx="523875" cy="200025"/>
          </a:xfrm>
          <a:prstGeom prst="roundRect">
            <a:avLst>
              <a:gd name="adj" fmla="val 19048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841" name="文本框 840" descr="{&quot;isTemplate&quot;:true,&quot;type&quot;:&quot;text&quot;}"/>
          <p:cNvSpPr txBox="1"/>
          <p:nvPr/>
        </p:nvSpPr>
        <p:spPr>
          <a:xfrm>
            <a:off x="4772025" y="6096000"/>
            <a:ext cx="3333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endParaRPr lang="en-US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2" name="圆角矩形 841"/>
          <p:cNvSpPr/>
          <p:nvPr/>
        </p:nvSpPr>
        <p:spPr>
          <a:xfrm>
            <a:off x="5276850" y="6067425"/>
            <a:ext cx="895350" cy="200025"/>
          </a:xfrm>
          <a:prstGeom prst="roundRect">
            <a:avLst>
              <a:gd name="adj" fmla="val 19048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843" name="文本框 842" descr="{&quot;isTemplate&quot;:true,&quot;type&quot;:&quot;text&quot;}"/>
          <p:cNvSpPr txBox="1"/>
          <p:nvPr/>
        </p:nvSpPr>
        <p:spPr>
          <a:xfrm>
            <a:off x="5372100" y="6096000"/>
            <a:ext cx="704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Learning 1..n</a:t>
            </a:r>
            <a:endParaRPr lang="en-US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4" name="圆角矩形 843"/>
          <p:cNvSpPr/>
          <p:nvPr/>
        </p:nvSpPr>
        <p:spPr>
          <a:xfrm>
            <a:off x="6248400" y="6067425"/>
            <a:ext cx="590550" cy="200025"/>
          </a:xfrm>
          <a:prstGeom prst="roundRect">
            <a:avLst>
              <a:gd name="adj" fmla="val 19048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845" name="文本框 844" descr="{&quot;isTemplate&quot;:true,&quot;type&quot;:&quot;text&quot;}"/>
          <p:cNvSpPr txBox="1"/>
          <p:nvPr/>
        </p:nvSpPr>
        <p:spPr>
          <a:xfrm>
            <a:off x="6343650" y="6096000"/>
            <a:ext cx="400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Output</a:t>
            </a:r>
            <a:endParaRPr lang="en-US" sz="900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6" name="文本框 845" descr="{&quot;isTemplate&quot;:true,&quot;type&quot;:&quot;text&quot;}"/>
          <p:cNvSpPr txBox="1"/>
          <p:nvPr/>
        </p:nvSpPr>
        <p:spPr>
          <a:xfrm>
            <a:off x="7200900" y="1104900"/>
            <a:ext cx="4572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THE PATTERN</a:t>
            </a:r>
            <a:endParaRPr lang="en-US" sz="975" b="1" spc="150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7" name="文本框 846" descr="{&quot;isTemplate&quot;:true,&quot;type&quot;:&quot;text&quot;}"/>
          <p:cNvSpPr txBox="1"/>
          <p:nvPr/>
        </p:nvSpPr>
        <p:spPr>
          <a:xfrm>
            <a:off x="7200900" y="1323975"/>
            <a:ext cx="4572000" cy="742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输出回到用户，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172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学习留在了系统里</a:t>
            </a:r>
            <a:endParaRPr lang="zh-CN" sz="172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8" name="圆角矩形 847"/>
          <p:cNvSpPr/>
          <p:nvPr/>
        </p:nvSpPr>
        <p:spPr>
          <a:xfrm>
            <a:off x="7239000" y="2190750"/>
            <a:ext cx="4572000" cy="1009650"/>
          </a:xfrm>
          <a:prstGeom prst="roundRect">
            <a:avLst>
              <a:gd name="adj" fmla="val 8491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849" name="任意多边形 848"/>
          <p:cNvSpPr/>
          <p:nvPr/>
        </p:nvSpPr>
        <p:spPr>
          <a:xfrm>
            <a:off x="7239000" y="2190750"/>
            <a:ext cx="4572000" cy="1009650"/>
          </a:xfrm>
          <a:custGeom>
            <a:avLst/>
            <a:gdLst/>
            <a:ahLst/>
            <a:cxnLst/>
            <a:rect l="0" t="0" r="0" b="0"/>
            <a:pathLst>
              <a:path w="480" h="106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1"/>
                </a:lnTo>
                <a:cubicBezTo>
                  <a:pt x="4" y="103"/>
                  <a:pt x="6" y="105"/>
                  <a:pt x="8" y="106"/>
                </a:cubicBezTo>
                <a:cubicBezTo>
                  <a:pt x="4" y="106"/>
                  <a:pt x="0" y="102"/>
                  <a:pt x="0" y="97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850" name="文本框 849" descr="{&quot;isTemplate&quot;:true,&quot;type&quot;:&quot;text&quot;}"/>
          <p:cNvSpPr txBox="1"/>
          <p:nvPr/>
        </p:nvSpPr>
        <p:spPr>
          <a:xfrm>
            <a:off x="7410450" y="2314575"/>
            <a:ext cx="4191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Agent ↔ Learning 1..n</a:t>
            </a:r>
            <a:endParaRPr lang="en-US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1" name="文本框 850" descr="{&quot;isTemplate&quot;:true,&quot;type&quot;:&quot;text&quot;}"/>
          <p:cNvSpPr txBox="1"/>
          <p:nvPr/>
        </p:nvSpPr>
        <p:spPr>
          <a:xfrm>
            <a:off x="7410450" y="2571750"/>
            <a:ext cx="41910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9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智能体与学习模块双向交互：既读取已有学习成果，也把新的经验写回去。</a:t>
            </a:r>
            <a:endParaRPr lang="zh-CN" sz="109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2" name="圆角矩形 851"/>
          <p:cNvSpPr/>
          <p:nvPr/>
        </p:nvSpPr>
        <p:spPr>
          <a:xfrm>
            <a:off x="7239000" y="3324225"/>
            <a:ext cx="4572000" cy="1000125"/>
          </a:xfrm>
          <a:prstGeom prst="roundRect">
            <a:avLst>
              <a:gd name="adj" fmla="val 8571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853" name="任意多边形 852"/>
          <p:cNvSpPr/>
          <p:nvPr/>
        </p:nvSpPr>
        <p:spPr>
          <a:xfrm>
            <a:off x="7239000" y="3324225"/>
            <a:ext cx="4572000" cy="1000125"/>
          </a:xfrm>
          <a:custGeom>
            <a:avLst/>
            <a:gdLst/>
            <a:ahLst/>
            <a:cxnLst/>
            <a:rect l="0" t="0" r="0" b="0"/>
            <a:pathLst>
              <a:path w="480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854" name="文本框 853" descr="{&quot;isTemplate&quot;:true,&quot;type&quot;:&quot;text&quot;}"/>
          <p:cNvSpPr txBox="1"/>
          <p:nvPr/>
        </p:nvSpPr>
        <p:spPr>
          <a:xfrm>
            <a:off x="7410450" y="3438525"/>
            <a:ext cx="4191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Learning 1..n </a:t>
            </a: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可持续累积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5" name="文本框 854" descr="{&quot;isTemplate&quot;:true,&quot;type&quot;:&quot;text&quot;}"/>
          <p:cNvSpPr txBox="1"/>
          <p:nvPr/>
        </p:nvSpPr>
        <p:spPr>
          <a:xfrm>
            <a:off x="7410450" y="3695700"/>
            <a:ext cx="41910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9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学习是可累积的多轮过程，版本编号随迭代递增，而不是一次性的动作。</a:t>
            </a:r>
            <a:endParaRPr lang="zh-CN" sz="109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6" name="圆角矩形 855"/>
          <p:cNvSpPr/>
          <p:nvPr/>
        </p:nvSpPr>
        <p:spPr>
          <a:xfrm>
            <a:off x="7239000" y="4448175"/>
            <a:ext cx="4572000" cy="1009650"/>
          </a:xfrm>
          <a:prstGeom prst="roundRect">
            <a:avLst>
              <a:gd name="adj" fmla="val 8491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sp>
        <p:nvSpPr>
          <p:cNvPr id="857" name="任意多边形 856"/>
          <p:cNvSpPr/>
          <p:nvPr/>
        </p:nvSpPr>
        <p:spPr>
          <a:xfrm>
            <a:off x="7239000" y="4448175"/>
            <a:ext cx="4572000" cy="1009650"/>
          </a:xfrm>
          <a:custGeom>
            <a:avLst/>
            <a:gdLst/>
            <a:ahLst/>
            <a:cxnLst/>
            <a:rect l="0" t="0" r="0" b="0"/>
            <a:pathLst>
              <a:path w="480" h="106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1"/>
                </a:lnTo>
                <a:cubicBezTo>
                  <a:pt x="4" y="103"/>
                  <a:pt x="6" y="105"/>
                  <a:pt x="8" y="106"/>
                </a:cubicBezTo>
                <a:cubicBezTo>
                  <a:pt x="4" y="106"/>
                  <a:pt x="0" y="102"/>
                  <a:pt x="0" y="97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00505A"/>
          </a:solidFill>
        </p:spPr>
        <p:txBody>
          <a:bodyPr/>
          <a:lstStyle/>
          <a:p/>
        </p:txBody>
      </p:sp>
      <p:sp>
        <p:nvSpPr>
          <p:cNvPr id="858" name="文本框 857" descr="{&quot;isTemplate&quot;:true,&quot;type&quot;:&quot;text&quot;}"/>
          <p:cNvSpPr txBox="1"/>
          <p:nvPr/>
        </p:nvSpPr>
        <p:spPr>
          <a:xfrm>
            <a:off x="7410450" y="4572000"/>
            <a:ext cx="4191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Output → User → Prompt </a:t>
            </a: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闭环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9" name="文本框 858" descr="{&quot;isTemplate&quot;:true,&quot;type&quot;:&quot;text&quot;}"/>
          <p:cNvSpPr txBox="1"/>
          <p:nvPr/>
        </p:nvSpPr>
        <p:spPr>
          <a:xfrm>
            <a:off x="7410450" y="4829175"/>
            <a:ext cx="41910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9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输出回到用户，用户再发出新的提示，智能体带着累积的学习再次响应。</a:t>
            </a:r>
            <a:endParaRPr lang="zh-CN" sz="109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0" name="圆角矩形 859"/>
          <p:cNvSpPr/>
          <p:nvPr/>
        </p:nvSpPr>
        <p:spPr>
          <a:xfrm>
            <a:off x="7200900" y="5581650"/>
            <a:ext cx="4572000" cy="800100"/>
          </a:xfrm>
          <a:prstGeom prst="roundRect">
            <a:avLst>
              <a:gd name="adj" fmla="val 10714"/>
            </a:avLst>
          </a:prstGeom>
          <a:solidFill>
            <a:srgbClr val="EAF3F4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pic>
        <p:nvPicPr>
          <p:cNvPr id="861" name="图片 86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3300" y="5724525"/>
            <a:ext cx="161925" cy="161925"/>
          </a:xfrm>
          <a:prstGeom prst="rect">
            <a:avLst/>
          </a:prstGeom>
        </p:spPr>
      </p:pic>
      <p:sp>
        <p:nvSpPr>
          <p:cNvPr id="862" name="文本框 861" descr="{&quot;isTemplate&quot;:true,&quot;type&quot;:&quot;text&quot;}"/>
          <p:cNvSpPr txBox="1"/>
          <p:nvPr/>
        </p:nvSpPr>
        <p:spPr>
          <a:xfrm>
            <a:off x="7620000" y="5705475"/>
            <a:ext cx="4000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这个模式的价值在于：它把「一次对话」变成了「一条可积累的能力曲线」。</a:t>
            </a:r>
            <a:endParaRPr lang="zh-CN" sz="1125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3" name="文本框 862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4" name="文本框 863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28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At a Glance：问题、思路与经验法则&lt;/Text&gt;&#10;            &lt;/Box&gt;&#10;&#10;            &lt;Box style={{ flexDirection: 'row', gap: 16, flex: 1, marginTop: 14 }}&gt;&#10;                {[&#10;                    {&#10;                        tag: 'What', tagEn: '问题', ic: 'triangle-exclamation', accent: '#C0392B',&#10;                        t: '预编程逻辑在动态环境中会失效',&#10;                        d: '智能体常运行在动态、不可预测的环境中，单靠预编程逻辑往往不足。一旦遇到设计阶段未覆盖的新情境，系统表现就可能明显下滑，且无法自行恢复。',&#10;                        k: '若不能从经验中学习，便无法持续优化策略或实现个性化交互，这种僵化会直接限制其在复杂真实场景中的自主性。',&#10;                    },&#10;                    {&#10;                        tag: 'Why', tagEn: '思路', ic: 'lightbulb', accent: '#007581',&#10;                        t: '把静态智能体改造成动态演进系统',&#10;                        d: '标准做法是把学习与适应机制内建进系统，让它基于新数据与交互自主精炼知识与行为，而不是等待人工重新编程。',&#10;                        k: '可用方法涵盖从强化学习到自修改等进阶技术（如 SICA）；AlphaEvolve 等进一步结合 LLM 与进化算法，发现全新的高效解法。',&#10;                    },&#10;                    {&#10;                        tag: 'When', tagEn: '经验法则', ic: 'scale-balanced', accent: '#00646E',&#10;                        t: '动态、不确定、演进的场景才用',&#10;                        d: '构建必须运行于动态、不确定或持续演进环境中的智能体时使用本模式；对需要个性化、持续性能改进以及自主应对新情境的应用尤为关键。',&#10;                        k: '反之，环境稳定、规则明确的场景不必引入——学习机制本身也带来额外的数据流与工程开销。',&#10;                    },&#10;                ].map((c, i) =&gt; (&#10;                    &lt;Box key={i} style={{&#10;                        flex: 1, flexDirection: 'column', padding: '22px 22px 20px',&#10;                        borderRadius: 10,&#10;                        background: i === 1 ? '#F4F9FA' : '#FFFFFF',&#10;                        border: '1px solid #DFEAEC', borderTop: '5px solid ' + c.accent,&#10;                    }}&gt;&#10;                        &lt;Box style={{ flexDirection: 'row', alignItems: 'center', gap: 12 }}&gt;&#10;                            &lt;Box style={{&#10;                                width: 50, height: 50, borderRadius: 12, background: '#EAF3F4',&#10;                                justifyContent: 'center', alignItems: 'center',&#10;                            }}&gt;&#10;                                &lt;FAIcon name={c.ic} style={{ fill: c.accent, width: 24, height: 24 }} /&gt;&#10;                            &lt;/Box&gt;&#10;                            &lt;Box style={{ flexDirection: 'column', gap: 2 }}&gt;&#10;                                &lt;Text style={{ fontSize: 25, fontWeight: 'bold', color: '#152129', lineHeight: 1.1 }}&gt;{c.tag}&lt;/Text&gt;&#10;                                &lt;Text style={{ fontSize: 13, color: '#8FA3AE' }}&gt;{c.tagEn}&lt;/Text&gt;&#10;                            &lt;/Box&gt;&#10;                        &lt;/Box&gt;&#10;&#10;                        &lt;Text style={{ fontSize: 20, fontWeight: 'bold', color: '#00505A', lineHeight: 1.4, marginTop: 18 }}&gt;&#10;                            {c.t}&#10;                        &lt;/Text&gt;&#10;                        &lt;Box style={{ width: 34, height: 3, background: c.accent, marginTop: 12 }} /&gt;&#10;&#10;                        &lt;Text style={{ fontSize: 16, color: '#4E6070', lineHeight: 1.72, marginTop: 14 }}&gt;&#10;                            {c.d}&#10;                        &lt;/Text&gt;&#10;&#10;                        &lt;Box style={{ flex: 1 }} /&gt;&#10;&#10;                        &lt;Box style={{&#10;                            padding: '12px 15px', borderRadius: 8, background: '#F4F9FA',&#10;                            borderLeft: '4px solid ' + c.accent,&#10;                        }}&gt;&#10;                            &lt;Text style={{ fontSize: 14.5, color: '#3D4E5E', lineHeight: 1.62 }}&gt;{c.k}&lt;/Text&gt;&#10;                        &lt;/Box&gt;&#10;                    &lt;/Box&gt;&#10;                ))}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29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矩形 8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67" name="矩形 86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68" name="文本框 867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9" name="文本框 868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0" name="圆角矩形 869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71" name="文本框 870" descr="{&quot;isTemplate&quot;:true,&quot;type&quot;:&quot;text&quot;}"/>
          <p:cNvSpPr txBox="1"/>
          <p:nvPr/>
        </p:nvSpPr>
        <p:spPr>
          <a:xfrm>
            <a:off x="600075" y="561975"/>
            <a:ext cx="54102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At a Glance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：问题、思路与经验法则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2" name="圆角矩形 871"/>
          <p:cNvSpPr/>
          <p:nvPr/>
        </p:nvSpPr>
        <p:spPr>
          <a:xfrm>
            <a:off x="419100" y="1152525"/>
            <a:ext cx="3686175" cy="5276850"/>
          </a:xfrm>
          <a:prstGeom prst="roundRect">
            <a:avLst>
              <a:gd name="adj" fmla="val 2584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73" name="任意多边形 872"/>
          <p:cNvSpPr/>
          <p:nvPr/>
        </p:nvSpPr>
        <p:spPr>
          <a:xfrm>
            <a:off x="419100" y="1152525"/>
            <a:ext cx="3686175" cy="5276850"/>
          </a:xfrm>
          <a:custGeom>
            <a:avLst/>
            <a:gdLst/>
            <a:ahLst/>
            <a:cxnLst/>
            <a:rect l="0" t="0" r="0" b="0"/>
            <a:pathLst>
              <a:path w="387" h="554">
                <a:moveTo>
                  <a:pt x="377" y="0"/>
                </a:moveTo>
                <a:cubicBezTo>
                  <a:pt x="382" y="0"/>
                  <a:pt x="386" y="4"/>
                  <a:pt x="387" y="9"/>
                </a:cubicBezTo>
                <a:cubicBezTo>
                  <a:pt x="386" y="6"/>
                  <a:pt x="384" y="5"/>
                  <a:pt x="382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7" y="0"/>
                </a:lnTo>
                <a:close/>
              </a:path>
            </a:pathLst>
          </a:custGeom>
          <a:solidFill>
            <a:srgbClr val="C0392B"/>
          </a:solidFill>
        </p:spPr>
        <p:txBody>
          <a:bodyPr/>
          <a:lstStyle/>
          <a:p/>
        </p:txBody>
      </p:sp>
      <p:sp>
        <p:nvSpPr>
          <p:cNvPr id="874" name="圆角矩形 873"/>
          <p:cNvSpPr/>
          <p:nvPr/>
        </p:nvSpPr>
        <p:spPr>
          <a:xfrm>
            <a:off x="628650" y="13716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pic>
        <p:nvPicPr>
          <p:cNvPr id="875" name="图片 87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2475" y="1495425"/>
            <a:ext cx="228600" cy="228600"/>
          </a:xfrm>
          <a:prstGeom prst="rect">
            <a:avLst/>
          </a:prstGeom>
        </p:spPr>
      </p:pic>
      <p:sp>
        <p:nvSpPr>
          <p:cNvPr id="876" name="文本框 875" descr="{&quot;isTemplate&quot;:true,&quot;type&quot;:&quot;text&quot;}"/>
          <p:cNvSpPr txBox="1"/>
          <p:nvPr/>
        </p:nvSpPr>
        <p:spPr>
          <a:xfrm>
            <a:off x="1219200" y="1362075"/>
            <a:ext cx="6477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18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What</a:t>
            </a:r>
            <a:endParaRPr lang="en-US" sz="18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7" name="文本框 876" descr="{&quot;isTemplate&quot;:true,&quot;type&quot;:&quot;text&quot;}"/>
          <p:cNvSpPr txBox="1"/>
          <p:nvPr/>
        </p:nvSpPr>
        <p:spPr>
          <a:xfrm>
            <a:off x="1219200" y="1695450"/>
            <a:ext cx="647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sz="97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8" name="文本框 877" descr="{&quot;isTemplate&quot;:true,&quot;type&quot;:&quot;text&quot;}"/>
          <p:cNvSpPr txBox="1"/>
          <p:nvPr/>
        </p:nvSpPr>
        <p:spPr>
          <a:xfrm>
            <a:off x="628650" y="2019300"/>
            <a:ext cx="32670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预编程逻辑在动态环境中会失效</a:t>
            </a:r>
            <a:endParaRPr lang="zh-CN" sz="150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9" name="矩形 878"/>
          <p:cNvSpPr/>
          <p:nvPr/>
        </p:nvSpPr>
        <p:spPr>
          <a:xfrm>
            <a:off x="628650" y="2457450"/>
            <a:ext cx="323850" cy="28575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/>
        </p:txBody>
      </p:sp>
      <p:sp>
        <p:nvSpPr>
          <p:cNvPr id="880" name="文本框 879" descr="{&quot;isTemplate&quot;:true,&quot;type&quot;:&quot;text&quot;}"/>
          <p:cNvSpPr txBox="1"/>
          <p:nvPr/>
        </p:nvSpPr>
        <p:spPr>
          <a:xfrm>
            <a:off x="628650" y="2619375"/>
            <a:ext cx="3267075" cy="1266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2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智能体常运行在动态、不可预测的环境中，单靠预编程逻辑往往不足。一旦遇到设计阶段未覆盖的新情境，系统表现就可能明显下滑，且无法自行恢复。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1" name="圆角矩形 880"/>
          <p:cNvSpPr/>
          <p:nvPr/>
        </p:nvSpPr>
        <p:spPr>
          <a:xfrm>
            <a:off x="666750" y="5153025"/>
            <a:ext cx="3267075" cy="1038225"/>
          </a:xfrm>
          <a:prstGeom prst="roundRect">
            <a:avLst>
              <a:gd name="adj" fmla="val 7339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882" name="任意多边形 881"/>
          <p:cNvSpPr/>
          <p:nvPr/>
        </p:nvSpPr>
        <p:spPr>
          <a:xfrm>
            <a:off x="666750" y="5153025"/>
            <a:ext cx="3267075" cy="1038225"/>
          </a:xfrm>
          <a:custGeom>
            <a:avLst/>
            <a:gdLst/>
            <a:ahLst/>
            <a:cxnLst/>
            <a:rect l="0" t="0" r="0" b="0"/>
            <a:pathLst>
              <a:path w="343" h="10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5"/>
                </a:lnTo>
                <a:cubicBezTo>
                  <a:pt x="4" y="107"/>
                  <a:pt x="5" y="109"/>
                  <a:pt x="7" y="109"/>
                </a:cubicBezTo>
                <a:cubicBezTo>
                  <a:pt x="3" y="109"/>
                  <a:pt x="0" y="105"/>
                  <a:pt x="0" y="10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C0392B"/>
          </a:solidFill>
        </p:spPr>
        <p:txBody>
          <a:bodyPr/>
          <a:lstStyle/>
          <a:p/>
        </p:txBody>
      </p:sp>
      <p:sp>
        <p:nvSpPr>
          <p:cNvPr id="883" name="文本框 882" descr="{&quot;isTemplate&quot;:true,&quot;type&quot;:&quot;text&quot;}"/>
          <p:cNvSpPr txBox="1"/>
          <p:nvPr/>
        </p:nvSpPr>
        <p:spPr>
          <a:xfrm>
            <a:off x="809625" y="5267325"/>
            <a:ext cx="2943225" cy="809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09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若不能从经验中学习，便无法持续优化策略或实现个性化交互，这种僵化会直接限制其在复杂真实场景中的自主性。</a:t>
            </a:r>
            <a:endParaRPr lang="zh-CN" sz="109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4" name="圆角矩形 883"/>
          <p:cNvSpPr/>
          <p:nvPr/>
        </p:nvSpPr>
        <p:spPr>
          <a:xfrm>
            <a:off x="4257675" y="1152525"/>
            <a:ext cx="3676650" cy="5276850"/>
          </a:xfrm>
          <a:prstGeom prst="roundRect">
            <a:avLst>
              <a:gd name="adj" fmla="val 2591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885" name="任意多边形 884"/>
          <p:cNvSpPr/>
          <p:nvPr/>
        </p:nvSpPr>
        <p:spPr>
          <a:xfrm>
            <a:off x="4257675" y="1152525"/>
            <a:ext cx="3676650" cy="5276850"/>
          </a:xfrm>
          <a:custGeom>
            <a:avLst/>
            <a:gdLst/>
            <a:ahLst/>
            <a:cxnLst/>
            <a:rect l="0" t="0" r="0" b="0"/>
            <a:pathLst>
              <a:path w="386" h="554">
                <a:moveTo>
                  <a:pt x="376" y="0"/>
                </a:moveTo>
                <a:cubicBezTo>
                  <a:pt x="381" y="0"/>
                  <a:pt x="385" y="4"/>
                  <a:pt x="386" y="9"/>
                </a:cubicBezTo>
                <a:cubicBezTo>
                  <a:pt x="385" y="6"/>
                  <a:pt x="383" y="5"/>
                  <a:pt x="3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6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86" name="圆角矩形 885"/>
          <p:cNvSpPr/>
          <p:nvPr/>
        </p:nvSpPr>
        <p:spPr>
          <a:xfrm>
            <a:off x="4467225" y="13716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pic>
        <p:nvPicPr>
          <p:cNvPr id="887" name="图片 88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1050" y="1495425"/>
            <a:ext cx="228600" cy="228600"/>
          </a:xfrm>
          <a:prstGeom prst="rect">
            <a:avLst/>
          </a:prstGeom>
        </p:spPr>
      </p:pic>
      <p:sp>
        <p:nvSpPr>
          <p:cNvPr id="888" name="文本框 887" descr="{&quot;isTemplate&quot;:true,&quot;type&quot;:&quot;text&quot;}"/>
          <p:cNvSpPr txBox="1"/>
          <p:nvPr/>
        </p:nvSpPr>
        <p:spPr>
          <a:xfrm>
            <a:off x="5057775" y="1362075"/>
            <a:ext cx="5524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18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Why</a:t>
            </a:r>
            <a:endParaRPr lang="en-US" sz="18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5057775" y="1695450"/>
            <a:ext cx="5524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思路</a:t>
            </a:r>
            <a:endParaRPr lang="zh-CN" sz="97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0" name="文本框 889" descr="{&quot;isTemplate&quot;:true,&quot;type&quot;:&quot;text&quot;}"/>
          <p:cNvSpPr txBox="1"/>
          <p:nvPr/>
        </p:nvSpPr>
        <p:spPr>
          <a:xfrm>
            <a:off x="4467225" y="2019300"/>
            <a:ext cx="32575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把静态智能体改造成动态演进系统</a:t>
            </a:r>
            <a:endParaRPr lang="zh-CN" sz="150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1" name="矩形 890"/>
          <p:cNvSpPr/>
          <p:nvPr/>
        </p:nvSpPr>
        <p:spPr>
          <a:xfrm>
            <a:off x="4467225" y="2457450"/>
            <a:ext cx="323850" cy="28575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92" name="文本框 891" descr="{&quot;isTemplate&quot;:true,&quot;type&quot;:&quot;text&quot;}"/>
          <p:cNvSpPr txBox="1"/>
          <p:nvPr/>
        </p:nvSpPr>
        <p:spPr>
          <a:xfrm>
            <a:off x="4467225" y="2619375"/>
            <a:ext cx="3257550" cy="952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2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标准做法是把学习与适应机制内建进系统，让它基于新数据与交互自主精炼知识与行为，而不是等待人工重新编程。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3" name="圆角矩形 892"/>
          <p:cNvSpPr/>
          <p:nvPr/>
        </p:nvSpPr>
        <p:spPr>
          <a:xfrm>
            <a:off x="4505325" y="5153025"/>
            <a:ext cx="3257550" cy="1038225"/>
          </a:xfrm>
          <a:prstGeom prst="roundRect">
            <a:avLst>
              <a:gd name="adj" fmla="val 7339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894" name="任意多边形 893"/>
          <p:cNvSpPr/>
          <p:nvPr/>
        </p:nvSpPr>
        <p:spPr>
          <a:xfrm>
            <a:off x="4505325" y="5153025"/>
            <a:ext cx="3257550" cy="1038225"/>
          </a:xfrm>
          <a:custGeom>
            <a:avLst/>
            <a:gdLst/>
            <a:ahLst/>
            <a:cxnLst/>
            <a:rect l="0" t="0" r="0" b="0"/>
            <a:pathLst>
              <a:path w="342" h="10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5"/>
                </a:lnTo>
                <a:cubicBezTo>
                  <a:pt x="4" y="107"/>
                  <a:pt x="5" y="109"/>
                  <a:pt x="7" y="109"/>
                </a:cubicBezTo>
                <a:cubicBezTo>
                  <a:pt x="3" y="109"/>
                  <a:pt x="0" y="105"/>
                  <a:pt x="0" y="10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895" name="文本框 894" descr="{&quot;isTemplate&quot;:true,&quot;type&quot;:&quot;text&quot;}"/>
          <p:cNvSpPr txBox="1"/>
          <p:nvPr/>
        </p:nvSpPr>
        <p:spPr>
          <a:xfrm>
            <a:off x="4648200" y="5267325"/>
            <a:ext cx="2933700" cy="809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09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可用方法涵盖从强化学习到自修改等进阶技术（如</a:t>
            </a:r>
            <a:r>
              <a:rPr lang="en-US" sz="109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 SICA</a:t>
            </a:r>
            <a:r>
              <a:rPr lang="zh-CN" sz="109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r>
              <a:rPr lang="en-US" sz="109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AlphaEvolve </a:t>
            </a:r>
            <a:r>
              <a:rPr lang="zh-CN" sz="109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等进一步结合</a:t>
            </a:r>
            <a:r>
              <a:rPr lang="en-US" sz="109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 LLM </a:t>
            </a:r>
            <a:r>
              <a:rPr lang="zh-CN" sz="109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与进化算法，发现全新的高效解法。</a:t>
            </a:r>
            <a:endParaRPr lang="zh-CN" sz="109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6" name="圆角矩形 895"/>
          <p:cNvSpPr/>
          <p:nvPr/>
        </p:nvSpPr>
        <p:spPr>
          <a:xfrm>
            <a:off x="8086725" y="1152525"/>
            <a:ext cx="3686175" cy="5276850"/>
          </a:xfrm>
          <a:prstGeom prst="roundRect">
            <a:avLst>
              <a:gd name="adj" fmla="val 2584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97" name="任意多边形 896"/>
          <p:cNvSpPr/>
          <p:nvPr/>
        </p:nvSpPr>
        <p:spPr>
          <a:xfrm>
            <a:off x="8086725" y="1152525"/>
            <a:ext cx="3686175" cy="5276850"/>
          </a:xfrm>
          <a:custGeom>
            <a:avLst/>
            <a:gdLst/>
            <a:ahLst/>
            <a:cxnLst/>
            <a:rect l="0" t="0" r="0" b="0"/>
            <a:pathLst>
              <a:path w="387" h="554">
                <a:moveTo>
                  <a:pt x="377" y="0"/>
                </a:moveTo>
                <a:cubicBezTo>
                  <a:pt x="382" y="0"/>
                  <a:pt x="386" y="4"/>
                  <a:pt x="387" y="9"/>
                </a:cubicBezTo>
                <a:cubicBezTo>
                  <a:pt x="386" y="6"/>
                  <a:pt x="384" y="5"/>
                  <a:pt x="382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7" y="0"/>
                </a:lnTo>
                <a:close/>
              </a:path>
            </a:pathLst>
          </a:custGeom>
          <a:solidFill>
            <a:srgbClr val="00646E"/>
          </a:solidFill>
        </p:spPr>
        <p:txBody>
          <a:bodyPr/>
          <a:lstStyle/>
          <a:p/>
        </p:txBody>
      </p:sp>
      <p:sp>
        <p:nvSpPr>
          <p:cNvPr id="898" name="圆角矩形 897"/>
          <p:cNvSpPr/>
          <p:nvPr/>
        </p:nvSpPr>
        <p:spPr>
          <a:xfrm>
            <a:off x="8296275" y="13716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AF3F4"/>
          </a:solidFill>
        </p:spPr>
        <p:txBody>
          <a:bodyPr/>
          <a:lstStyle/>
          <a:p/>
        </p:txBody>
      </p:sp>
      <p:pic>
        <p:nvPicPr>
          <p:cNvPr id="899" name="图片 89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0100" y="1495425"/>
            <a:ext cx="228600" cy="228600"/>
          </a:xfrm>
          <a:prstGeom prst="rect">
            <a:avLst/>
          </a:prstGeom>
        </p:spPr>
      </p:pic>
      <p:sp>
        <p:nvSpPr>
          <p:cNvPr id="900" name="文本框 899" descr="{&quot;isTemplate&quot;:true,&quot;type&quot;:&quot;text&quot;}"/>
          <p:cNvSpPr txBox="1"/>
          <p:nvPr/>
        </p:nvSpPr>
        <p:spPr>
          <a:xfrm>
            <a:off x="8886825" y="1362075"/>
            <a:ext cx="7048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1875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When</a:t>
            </a:r>
            <a:endParaRPr lang="en-US" sz="1875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1" name="文本框 900" descr="{&quot;isTemplate&quot;:true,&quot;type&quot;:&quot;text&quot;}"/>
          <p:cNvSpPr txBox="1"/>
          <p:nvPr/>
        </p:nvSpPr>
        <p:spPr>
          <a:xfrm>
            <a:off x="8886825" y="1695450"/>
            <a:ext cx="704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经验法则</a:t>
            </a:r>
            <a:endParaRPr lang="zh-CN" sz="97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2" name="文本框 901" descr="{&quot;isTemplate&quot;:true,&quot;type&quot;:&quot;text&quot;}"/>
          <p:cNvSpPr txBox="1"/>
          <p:nvPr/>
        </p:nvSpPr>
        <p:spPr>
          <a:xfrm>
            <a:off x="8296275" y="2019300"/>
            <a:ext cx="32670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动态、不确定、演进的场景才用</a:t>
            </a:r>
            <a:endParaRPr lang="zh-CN" sz="150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3" name="矩形 902"/>
          <p:cNvSpPr/>
          <p:nvPr/>
        </p:nvSpPr>
        <p:spPr>
          <a:xfrm>
            <a:off x="8296275" y="2457450"/>
            <a:ext cx="323850" cy="28575"/>
          </a:xfrm>
          <a:prstGeom prst="rect">
            <a:avLst/>
          </a:prstGeom>
          <a:solidFill>
            <a:srgbClr val="00646E"/>
          </a:solidFill>
        </p:spPr>
        <p:txBody>
          <a:bodyPr/>
          <a:lstStyle/>
          <a:p/>
        </p:txBody>
      </p:sp>
      <p:sp>
        <p:nvSpPr>
          <p:cNvPr id="904" name="文本框 903" descr="{&quot;isTemplate&quot;:true,&quot;type&quot;:&quot;text&quot;}"/>
          <p:cNvSpPr txBox="1"/>
          <p:nvPr/>
        </p:nvSpPr>
        <p:spPr>
          <a:xfrm>
            <a:off x="8296275" y="2619375"/>
            <a:ext cx="3267075" cy="952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2000"/>
              </a:lnSpc>
            </a:pPr>
            <a:r>
              <a:rPr lang="zh-CN" sz="1200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构建必须运行于动态、不确定或持续演进环境中的智能体时使用本模式；对需要个性化、持续性能改进以及自主应对新情境的应用尤为关键。</a:t>
            </a:r>
            <a:endParaRPr lang="zh-CN" sz="1200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5" name="圆角矩形 904"/>
          <p:cNvSpPr/>
          <p:nvPr/>
        </p:nvSpPr>
        <p:spPr>
          <a:xfrm>
            <a:off x="8334375" y="5419725"/>
            <a:ext cx="3267075" cy="771525"/>
          </a:xfrm>
          <a:prstGeom prst="roundRect">
            <a:avLst>
              <a:gd name="adj" fmla="val 9877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906" name="任意多边形 905"/>
          <p:cNvSpPr/>
          <p:nvPr/>
        </p:nvSpPr>
        <p:spPr>
          <a:xfrm>
            <a:off x="8334375" y="5419725"/>
            <a:ext cx="3267075" cy="771525"/>
          </a:xfrm>
          <a:custGeom>
            <a:avLst/>
            <a:gdLst/>
            <a:ahLst/>
            <a:cxnLst/>
            <a:rect l="0" t="0" r="0" b="0"/>
            <a:pathLst>
              <a:path w="343" h="8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7"/>
                </a:lnTo>
                <a:cubicBezTo>
                  <a:pt x="4" y="79"/>
                  <a:pt x="5" y="81"/>
                  <a:pt x="7" y="81"/>
                </a:cubicBezTo>
                <a:cubicBezTo>
                  <a:pt x="3" y="81"/>
                  <a:pt x="0" y="77"/>
                  <a:pt x="0" y="7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0646E"/>
          </a:solidFill>
        </p:spPr>
        <p:txBody>
          <a:bodyPr/>
          <a:lstStyle/>
          <a:p/>
        </p:txBody>
      </p:sp>
      <p:sp>
        <p:nvSpPr>
          <p:cNvPr id="907" name="文本框 906" descr="{&quot;isTemplate&quot;:true,&quot;type&quot;:&quot;text&quot;}"/>
          <p:cNvSpPr txBox="1"/>
          <p:nvPr/>
        </p:nvSpPr>
        <p:spPr>
          <a:xfrm>
            <a:off x="8477250" y="5534025"/>
            <a:ext cx="2943225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090">
                <a:solidFill>
                  <a:srgbClr val="3D4E5E"/>
                </a:solidFill>
                <a:latin typeface="微软雅黑" panose="020B0503020204020204" charset="-122"/>
                <a:ea typeface="微软雅黑" panose="020B0503020204020204" charset="-122"/>
              </a:rPr>
              <a:t>反之，环境稳定、规则明确的场景不必引入——学习机制本身也带来额外的数据流与工程开销。</a:t>
            </a:r>
            <a:endParaRPr lang="zh-CN" sz="1090">
              <a:solidFill>
                <a:srgbClr val="3D4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8" name="文本框 907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9" name="文本框 908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29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&lt;Box style={{ flexDirection: 'row', alignItems: 'center', gap: 14, height: 46, marginTop: 10 }}&gt;&#10;                &lt;Box style={{ width: 5, height: 30, background: '#007581', borderRadius: 3 }} /&gt;&#10;                &lt;Text style={{ fontSize: 34, fontWeight: 'bold', color: '#00505A' }}&gt;Key Takeaways：九条要点&lt;/Text&gt;&#10;                &lt;Box style={{ padding: '4px 12px', background: '#E3F0F2', borderRadius: 4 }}&gt;&#10;                    &lt;Text style={{ fontSize: 14, color: '#00646E', fontWeight: 'bold' }}&gt;本章要点&lt;/Text&gt;&#10;                &lt;/Box&gt;&#10;                &lt;Text style={{ fontSize: 14, color: '#8FA3AE', flex: 1, textAlign: 'right', letterSpacing: 0.5 }}&gt;&#10;                    RL · SL · SICA · AlphaEvolve · OpenEvolve&#10;                &lt;/Text&gt;&#10;            &lt;/Box&gt;&#10;&#10;            &lt;Box style={{ flexDirection: 'row', gap: 22, flex: 1, marginTop: 14 }}&gt;&#10;&#10;                {/* 左：标题栏 */}&#10;                &lt;Box style={{&#10;                    width: 262, flexDirection: 'column', justifyContent: 'space-between',&#10;                    padding: '24px 22px', borderRadius: 10,&#10;                    background: 'linear-gradient(170deg, #00505A 0%, #007581 100%)',&#10;                }}&gt;&#10;                    &lt;Box style={{ flexDirection: 'column', gap: 11 }}&gt;&#10;                        &lt;Text style={{ fontSize: 12, color: '#7FCBD4', letterSpacing: 2, fontWeight: 'bold' }}&gt;SUMMARY&lt;/Text&gt;&#10;                        &lt;Text style={{ fontSize: 30, fontWeight: 'bold', color: '#FFFFFF', lineHeight: 1.3 }}&gt;&#10;                            九条&lt;br /&gt;可带走的结论&#10;                        &lt;/Text&gt;&#10;                        &lt;Box style={{ width: 44, height: 3, background: '#4FC0CB', marginTop: 4 }} /&gt;&#10;                        &lt;Text style={{ fontSize: 15, color: '#BFE3E8', lineHeight: 1.72, marginTop: 8 }}&gt;&#10;                            前三条讲清概念，中间四条讲清系统怎么搭，最后两条回答它适合用在哪。&#10;                        &lt;/Text&gt;&#10;                    &lt;/Box&gt;&#10;                    &lt;Text style={{ fontSize: 14, color: '#8FC3CB', lineHeight: 1.6 }}&gt;&#10;                        整理自原书 Key Takeaways&#10;                    &lt;/Text&gt;&#10;                &lt;/Box&gt;&#10;&#10;                {/* 右：九条 */}&#10;                &lt;Box style={{ flex: 1, flexDirection: 'row', gap: 16 }}&gt;&#10;                    {[&#10;                        [&#10;                            { t: '学习与适应的本质', d: '智能体利用过往经验，把同一件事做得更好，并能应对此前未遇到过的新情境与新任务。' },&#10;                            { t: '「适应」是可见变化', d: '学习是内部发生的过程，适应则是它带来的、可以在外部观察到的行为或知识改变。' },&#10;                            { t: 'SICA 的自改进方式', d: '基于自己过往的表现直接修改自身代码，让能力随一次次迭代持续演进。' },&#10;                        ],&#10;                        [&#10;                            { t: '工具是逐步长出来的', d: 'Smart Editor、AST Symbol Locator 这些工具，都是在自改进循环中逐步出现的产物。' },&#10;                            { t: '子智能体 + 监督者', d: '一个负责把大任务拆解成小步骤，一个负责在系统跑偏时及时把它拉回到正轨上。' },&#10;                            { t: '上下文窗口的组织', d: '系统提示、核心提示与助手消息三者如何组织，直接决定了智能体每一轮的运行效率。' },&#10;                        ],&#10;                        [&#10;                            { t: '何时该用它', d: '当环境持续变化、结果高度不确定，或者需要强个性化交互的时候，就该考虑它。' },&#10;                            { t: '工程配套不可少', d: '要接入机器学习的工具链，并管理好训练数据与推理数据流的走向，缺一不可。' },&#10;                            { t: '自主编辑是可行的', d: '只要配齐基础编程工具，智能体就能修改自己，并在基准测试上取得稳定进步。' },&#10;                        ],&#10;                    ].map((col, ci) =&gt; (&#10;                        &lt;Box key={ci} style={{ flex: 1, flexDirection: 'column', gap: 12 }}&gt;&#10;                            {col.map((it, ri) =&gt; (&#10;                                &lt;Box key={ri} style={{&#10;                                    flex: 1, flexDirection: 'column', justifyContent: 'space-between',&#10;                                    padding: '14px 16px 13px', borderRadius: 9,&#10;                                    background: (ci + ri) % 2 === 0 ? '#F4F9FA' : '#FFFFFF',&#10;                                    border: '1px solid #DFEAEC', borderLeft: '4px solid #007581',&#10;                                }}&gt;&#10;                                    &lt;Box style={{ flexDirection: 'row', alignItems: 'flex-start', gap: 9 }}&gt;&#10;                                        &lt;Text style={{ fontSize: 19, fontWeight: 'bold', color: '#B7D5D9', lineHeight: 1.2 }}&gt;&#10;                                            {ci * 3 + ri + 1}&#10;                                        &lt;/Text&gt;&#10;                                        &lt;Text style={{ fontSize: 18, fontWeight: 'bold', color: '#152129', flex: 1, lineHeight: 1.34 }}&gt;{it.t}&lt;/Text&gt;&#10;                                    &lt;/Box&gt;&#10;                                    &lt;Text style={{ fontSize: 15, color: '#4E6070', lineHeight: 1.6 }}&gt;{it.d}&lt;/Text&gt;&#10;                                &lt;/Box&gt;&#10;                            ))}&#10;                        &lt;/Box&gt;&#10;                    ))}&#10;                &lt;/Box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30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矩形 9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941" name="矩形 94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42" name="文本框 941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3" name="文本框 942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4" name="圆角矩形 943"/>
          <p:cNvSpPr/>
          <p:nvPr/>
        </p:nvSpPr>
        <p:spPr>
          <a:xfrm>
            <a:off x="419100" y="60960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45" name="文本框 944" descr="{&quot;isTemplate&quot;:true,&quot;type&quot;:&quot;text&quot;}"/>
          <p:cNvSpPr txBox="1"/>
          <p:nvPr/>
        </p:nvSpPr>
        <p:spPr>
          <a:xfrm>
            <a:off x="600075" y="561975"/>
            <a:ext cx="40481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Key Takeaways</a:t>
            </a: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：九条要点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6" name="圆角矩形 945"/>
          <p:cNvSpPr/>
          <p:nvPr/>
        </p:nvSpPr>
        <p:spPr>
          <a:xfrm>
            <a:off x="4781550" y="638175"/>
            <a:ext cx="762000" cy="238125"/>
          </a:xfrm>
          <a:prstGeom prst="roundRect">
            <a:avLst>
              <a:gd name="adj" fmla="val 16000"/>
            </a:avLst>
          </a:prstGeom>
          <a:solidFill>
            <a:srgbClr val="E3F0F2"/>
          </a:solidFill>
        </p:spPr>
        <p:txBody>
          <a:bodyPr/>
          <a:lstStyle/>
          <a:p/>
        </p:txBody>
      </p:sp>
      <p:sp>
        <p:nvSpPr>
          <p:cNvPr id="947" name="文本框 946" descr="{&quot;isTemplate&quot;:true,&quot;type&quot;:&quot;text&quot;}"/>
          <p:cNvSpPr txBox="1"/>
          <p:nvPr/>
        </p:nvSpPr>
        <p:spPr>
          <a:xfrm>
            <a:off x="4895850" y="676275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本章要点</a:t>
            </a:r>
            <a:endParaRPr lang="zh-CN" sz="1050" b="1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8" name="文本框 947" descr="{&quot;isTemplate&quot;:true,&quot;type&quot;:&quot;text&quot;}"/>
          <p:cNvSpPr txBox="1"/>
          <p:nvPr/>
        </p:nvSpPr>
        <p:spPr>
          <a:xfrm>
            <a:off x="5676900" y="676275"/>
            <a:ext cx="6096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spc="38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RL · SL · SICA · AlphaEvolve · OpenEvolve</a:t>
            </a:r>
            <a:endParaRPr lang="en-US" sz="1050" spc="38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9" name="圆角矩形 948"/>
          <p:cNvSpPr/>
          <p:nvPr/>
        </p:nvSpPr>
        <p:spPr>
          <a:xfrm>
            <a:off x="419100" y="1104900"/>
            <a:ext cx="2495550" cy="5276850"/>
          </a:xfrm>
          <a:prstGeom prst="roundRect">
            <a:avLst>
              <a:gd name="adj" fmla="val 3817"/>
            </a:avLst>
          </a:prstGeom>
          <a:gradFill>
            <a:gsLst>
              <a:gs pos="0">
                <a:srgbClr val="00505A"/>
              </a:gs>
              <a:gs pos="100000">
                <a:srgbClr val="007581"/>
              </a:gs>
            </a:gsLst>
            <a:lin ang="4800000" scaled="1"/>
          </a:gradFill>
        </p:spPr>
        <p:txBody>
          <a:bodyPr/>
          <a:lstStyle/>
          <a:p/>
        </p:txBody>
      </p:sp>
      <p:sp>
        <p:nvSpPr>
          <p:cNvPr id="950" name="文本框 949" descr="{&quot;isTemplate&quot;:true,&quot;type&quot;:&quot;text&quot;}"/>
          <p:cNvSpPr txBox="1"/>
          <p:nvPr/>
        </p:nvSpPr>
        <p:spPr>
          <a:xfrm>
            <a:off x="628650" y="1333500"/>
            <a:ext cx="20764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SUMMARY</a:t>
            </a:r>
            <a:endParaRPr lang="en-US" sz="900" b="1" spc="150">
              <a:solidFill>
                <a:srgbClr val="7FCB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1" name="文本框 950" descr="{&quot;isTemplate&quot;:true,&quot;type&quot;:&quot;text&quot;}"/>
          <p:cNvSpPr txBox="1"/>
          <p:nvPr/>
        </p:nvSpPr>
        <p:spPr>
          <a:xfrm>
            <a:off x="628650" y="1581150"/>
            <a:ext cx="2076450" cy="895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九条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可带走的结论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2" name="矩形 951"/>
          <p:cNvSpPr/>
          <p:nvPr/>
        </p:nvSpPr>
        <p:spPr>
          <a:xfrm>
            <a:off x="628650" y="2619375"/>
            <a:ext cx="419100" cy="28575"/>
          </a:xfrm>
          <a:prstGeom prst="rect">
            <a:avLst/>
          </a:prstGeom>
          <a:solidFill>
            <a:srgbClr val="4FC0CB"/>
          </a:solidFill>
        </p:spPr>
        <p:txBody>
          <a:bodyPr/>
          <a:lstStyle/>
          <a:p/>
        </p:txBody>
      </p:sp>
      <p:sp>
        <p:nvSpPr>
          <p:cNvPr id="953" name="文本框 952" descr="{&quot;isTemplate&quot;:true,&quot;type&quot;:&quot;text&quot;}"/>
          <p:cNvSpPr txBox="1"/>
          <p:nvPr/>
        </p:nvSpPr>
        <p:spPr>
          <a:xfrm>
            <a:off x="628650" y="2828925"/>
            <a:ext cx="207645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2000"/>
              </a:lnSpc>
            </a:pPr>
            <a:r>
              <a:rPr lang="zh-CN" sz="1125">
                <a:solidFill>
                  <a:srgbClr val="BFE3E8"/>
                </a:solidFill>
                <a:latin typeface="微软雅黑" panose="020B0503020204020204" charset="-122"/>
                <a:ea typeface="微软雅黑" panose="020B0503020204020204" charset="-122"/>
              </a:rPr>
              <a:t>前三条讲清概念，中间四条讲清系统怎么搭，最后两条回答它适合用在哪。</a:t>
            </a:r>
            <a:endParaRPr lang="zh-CN" sz="1125">
              <a:solidFill>
                <a:srgbClr val="BFE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4" name="文本框 953" descr="{&quot;isTemplate&quot;:true,&quot;type&quot;:&quot;text&quot;}"/>
          <p:cNvSpPr txBox="1"/>
          <p:nvPr/>
        </p:nvSpPr>
        <p:spPr>
          <a:xfrm>
            <a:off x="628650" y="5895975"/>
            <a:ext cx="2076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050">
                <a:solidFill>
                  <a:srgbClr val="8FC3CB"/>
                </a:solidFill>
                <a:latin typeface="微软雅黑" panose="020B0503020204020204" charset="-122"/>
                <a:ea typeface="微软雅黑" panose="020B0503020204020204" charset="-122"/>
              </a:rPr>
              <a:t>整理自原书</a:t>
            </a:r>
            <a:r>
              <a:rPr lang="en-US" sz="1050">
                <a:solidFill>
                  <a:srgbClr val="8FC3CB"/>
                </a:solidFill>
                <a:latin typeface="微软雅黑" panose="020B0503020204020204" charset="-122"/>
                <a:ea typeface="微软雅黑" panose="020B0503020204020204" charset="-122"/>
              </a:rPr>
              <a:t> Key Takeaways</a:t>
            </a:r>
            <a:endParaRPr lang="en-US" sz="1050">
              <a:solidFill>
                <a:srgbClr val="8FC3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5" name="圆角矩形 954"/>
          <p:cNvSpPr/>
          <p:nvPr/>
        </p:nvSpPr>
        <p:spPr>
          <a:xfrm>
            <a:off x="3162300" y="1104900"/>
            <a:ext cx="2781300" cy="1771650"/>
          </a:xfrm>
          <a:prstGeom prst="roundRect">
            <a:avLst>
              <a:gd name="adj" fmla="val 4839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956" name="任意多边形 955"/>
          <p:cNvSpPr/>
          <p:nvPr/>
        </p:nvSpPr>
        <p:spPr>
          <a:xfrm>
            <a:off x="3162300" y="1104900"/>
            <a:ext cx="2781300" cy="1771650"/>
          </a:xfrm>
          <a:custGeom>
            <a:avLst/>
            <a:gdLst/>
            <a:ahLst/>
            <a:cxnLst/>
            <a:rect l="0" t="0" r="0" b="0"/>
            <a:pathLst>
              <a:path w="292" h="186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81"/>
                </a:lnTo>
                <a:cubicBezTo>
                  <a:pt x="4" y="183"/>
                  <a:pt x="6" y="185"/>
                  <a:pt x="8" y="186"/>
                </a:cubicBezTo>
                <a:cubicBezTo>
                  <a:pt x="4" y="186"/>
                  <a:pt x="0" y="182"/>
                  <a:pt x="0" y="177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57" name="文本框 956" descr="{&quot;isTemplate&quot;:true,&quot;type&quot;:&quot;text&quot;}"/>
          <p:cNvSpPr txBox="1"/>
          <p:nvPr/>
        </p:nvSpPr>
        <p:spPr>
          <a:xfrm>
            <a:off x="3314700" y="1238250"/>
            <a:ext cx="114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425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8" name="文本框 957" descr="{&quot;isTemplate&quot;:true,&quot;type&quot;:&quot;text&quot;}"/>
          <p:cNvSpPr txBox="1"/>
          <p:nvPr/>
        </p:nvSpPr>
        <p:spPr>
          <a:xfrm>
            <a:off x="3514725" y="1238250"/>
            <a:ext cx="22383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学习与适应的本质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9" name="文本框 958" descr="{&quot;isTemplate&quot;:true,&quot;type&quot;:&quot;text&quot;}"/>
          <p:cNvSpPr txBox="1"/>
          <p:nvPr/>
        </p:nvSpPr>
        <p:spPr>
          <a:xfrm>
            <a:off x="3314700" y="1924050"/>
            <a:ext cx="24384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智能体利用过往经验，把同一件事做得更好，并能应对此前未遇到过的新情境与新任务。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0" name="圆角矩形 959"/>
          <p:cNvSpPr/>
          <p:nvPr/>
        </p:nvSpPr>
        <p:spPr>
          <a:xfrm>
            <a:off x="3162300" y="2990850"/>
            <a:ext cx="2781300" cy="1781175"/>
          </a:xfrm>
          <a:prstGeom prst="roundRect">
            <a:avLst>
              <a:gd name="adj" fmla="val 4813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961" name="任意多边形 960"/>
          <p:cNvSpPr/>
          <p:nvPr/>
        </p:nvSpPr>
        <p:spPr>
          <a:xfrm>
            <a:off x="3162300" y="2990850"/>
            <a:ext cx="2781300" cy="1781175"/>
          </a:xfrm>
          <a:custGeom>
            <a:avLst/>
            <a:gdLst/>
            <a:ahLst/>
            <a:cxnLst/>
            <a:rect l="0" t="0" r="0" b="0"/>
            <a:pathLst>
              <a:path w="292" h="187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82"/>
                </a:lnTo>
                <a:cubicBezTo>
                  <a:pt x="4" y="184"/>
                  <a:pt x="6" y="186"/>
                  <a:pt x="8" y="187"/>
                </a:cubicBezTo>
                <a:cubicBezTo>
                  <a:pt x="4" y="187"/>
                  <a:pt x="0" y="183"/>
                  <a:pt x="0" y="178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62" name="文本框 961" descr="{&quot;isTemplate&quot;:true,&quot;type&quot;:&quot;text&quot;}"/>
          <p:cNvSpPr txBox="1"/>
          <p:nvPr/>
        </p:nvSpPr>
        <p:spPr>
          <a:xfrm>
            <a:off x="3314700" y="3124200"/>
            <a:ext cx="114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425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3" name="文本框 962" descr="{&quot;isTemplate&quot;:true,&quot;type&quot;:&quot;text&quot;}"/>
          <p:cNvSpPr txBox="1"/>
          <p:nvPr/>
        </p:nvSpPr>
        <p:spPr>
          <a:xfrm>
            <a:off x="3514725" y="3124200"/>
            <a:ext cx="22383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「适应」是可见变化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4" name="文本框 963" descr="{&quot;isTemplate&quot;:true,&quot;type&quot;:&quot;text&quot;}"/>
          <p:cNvSpPr txBox="1"/>
          <p:nvPr/>
        </p:nvSpPr>
        <p:spPr>
          <a:xfrm>
            <a:off x="3314700" y="3819525"/>
            <a:ext cx="24384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学习是内部发生的过程，适应则是它带来的、可以在外部观察到的行为或知识改变。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5" name="圆角矩形 964"/>
          <p:cNvSpPr/>
          <p:nvPr/>
        </p:nvSpPr>
        <p:spPr>
          <a:xfrm>
            <a:off x="3162300" y="4886325"/>
            <a:ext cx="2781300" cy="1495425"/>
          </a:xfrm>
          <a:prstGeom prst="roundRect">
            <a:avLst>
              <a:gd name="adj" fmla="val 5732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966" name="任意多边形 965"/>
          <p:cNvSpPr/>
          <p:nvPr/>
        </p:nvSpPr>
        <p:spPr>
          <a:xfrm>
            <a:off x="3162300" y="4886325"/>
            <a:ext cx="2781300" cy="1495425"/>
          </a:xfrm>
          <a:custGeom>
            <a:avLst/>
            <a:gdLst/>
            <a:ahLst/>
            <a:cxnLst/>
            <a:rect l="0" t="0" r="0" b="0"/>
            <a:pathLst>
              <a:path w="292" h="157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52"/>
                </a:lnTo>
                <a:cubicBezTo>
                  <a:pt x="4" y="154"/>
                  <a:pt x="6" y="156"/>
                  <a:pt x="8" y="157"/>
                </a:cubicBezTo>
                <a:cubicBezTo>
                  <a:pt x="4" y="157"/>
                  <a:pt x="0" y="153"/>
                  <a:pt x="0" y="148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67" name="文本框 966" descr="{&quot;isTemplate&quot;:true,&quot;type&quot;:&quot;text&quot;}"/>
          <p:cNvSpPr txBox="1"/>
          <p:nvPr/>
        </p:nvSpPr>
        <p:spPr>
          <a:xfrm>
            <a:off x="3314700" y="5019675"/>
            <a:ext cx="114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425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8" name="文本框 967" descr="{&quot;isTemplate&quot;:true,&quot;type&quot;:&quot;text&quot;}"/>
          <p:cNvSpPr txBox="1"/>
          <p:nvPr/>
        </p:nvSpPr>
        <p:spPr>
          <a:xfrm>
            <a:off x="3514725" y="5019675"/>
            <a:ext cx="22383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的自改进方式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9" name="文本框 968" descr="{&quot;isTemplate&quot;:true,&quot;type&quot;:&quot;text&quot;}"/>
          <p:cNvSpPr txBox="1"/>
          <p:nvPr/>
        </p:nvSpPr>
        <p:spPr>
          <a:xfrm>
            <a:off x="3314700" y="5705475"/>
            <a:ext cx="2438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基于自己过往的表现直接修改自身代码，让能力随一次次迭代持续演进。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0" name="圆角矩形 969"/>
          <p:cNvSpPr/>
          <p:nvPr/>
        </p:nvSpPr>
        <p:spPr>
          <a:xfrm>
            <a:off x="6096000" y="1104900"/>
            <a:ext cx="2781300" cy="1685925"/>
          </a:xfrm>
          <a:prstGeom prst="roundRect">
            <a:avLst>
              <a:gd name="adj" fmla="val 5085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971" name="任意多边形 970"/>
          <p:cNvSpPr/>
          <p:nvPr/>
        </p:nvSpPr>
        <p:spPr>
          <a:xfrm>
            <a:off x="6096000" y="1104900"/>
            <a:ext cx="2781300" cy="1685925"/>
          </a:xfrm>
          <a:custGeom>
            <a:avLst/>
            <a:gdLst/>
            <a:ahLst/>
            <a:cxnLst/>
            <a:rect l="0" t="0" r="0" b="0"/>
            <a:pathLst>
              <a:path w="292" h="177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72"/>
                </a:lnTo>
                <a:cubicBezTo>
                  <a:pt x="4" y="174"/>
                  <a:pt x="6" y="176"/>
                  <a:pt x="8" y="177"/>
                </a:cubicBezTo>
                <a:cubicBezTo>
                  <a:pt x="4" y="177"/>
                  <a:pt x="0" y="173"/>
                  <a:pt x="0" y="168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6248400" y="1238250"/>
            <a:ext cx="114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425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3" name="文本框 972" descr="{&quot;isTemplate&quot;:true,&quot;type&quot;:&quot;text&quot;}"/>
          <p:cNvSpPr txBox="1"/>
          <p:nvPr/>
        </p:nvSpPr>
        <p:spPr>
          <a:xfrm>
            <a:off x="6448425" y="1238250"/>
            <a:ext cx="22383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工具是逐步长出来的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4" name="文本框 973" descr="{&quot;isTemplate&quot;:true,&quot;type&quot;:&quot;text&quot;}"/>
          <p:cNvSpPr txBox="1"/>
          <p:nvPr/>
        </p:nvSpPr>
        <p:spPr>
          <a:xfrm>
            <a:off x="6248400" y="1838325"/>
            <a:ext cx="24384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Smart Editor</a:t>
            </a: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AST Symbol Locator </a:t>
            </a: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这些工具，都是在自改进循环中逐步出现的产物。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5" name="圆角矩形 974"/>
          <p:cNvSpPr/>
          <p:nvPr/>
        </p:nvSpPr>
        <p:spPr>
          <a:xfrm>
            <a:off x="6096000" y="2905125"/>
            <a:ext cx="2781300" cy="1676400"/>
          </a:xfrm>
          <a:prstGeom prst="roundRect">
            <a:avLst>
              <a:gd name="adj" fmla="val 5114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976" name="任意多边形 975"/>
          <p:cNvSpPr/>
          <p:nvPr/>
        </p:nvSpPr>
        <p:spPr>
          <a:xfrm>
            <a:off x="6096000" y="2905125"/>
            <a:ext cx="2781300" cy="1676400"/>
          </a:xfrm>
          <a:custGeom>
            <a:avLst/>
            <a:gdLst/>
            <a:ahLst/>
            <a:cxnLst/>
            <a:rect l="0" t="0" r="0" b="0"/>
            <a:pathLst>
              <a:path w="292" h="176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71"/>
                </a:lnTo>
                <a:cubicBezTo>
                  <a:pt x="4" y="173"/>
                  <a:pt x="6" y="175"/>
                  <a:pt x="8" y="176"/>
                </a:cubicBezTo>
                <a:cubicBezTo>
                  <a:pt x="4" y="176"/>
                  <a:pt x="0" y="172"/>
                  <a:pt x="0" y="167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77" name="文本框 976" descr="{&quot;isTemplate&quot;:true,&quot;type&quot;:&quot;text&quot;}"/>
          <p:cNvSpPr txBox="1"/>
          <p:nvPr/>
        </p:nvSpPr>
        <p:spPr>
          <a:xfrm>
            <a:off x="6248400" y="3038475"/>
            <a:ext cx="114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425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8" name="文本框 977" descr="{&quot;isTemplate&quot;:true,&quot;type&quot;:&quot;text&quot;}"/>
          <p:cNvSpPr txBox="1"/>
          <p:nvPr/>
        </p:nvSpPr>
        <p:spPr>
          <a:xfrm>
            <a:off x="6448425" y="3038475"/>
            <a:ext cx="22383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子智能体</a:t>
            </a:r>
            <a:r>
              <a:rPr lang="en-US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监督者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9" name="文本框 978" descr="{&quot;isTemplate&quot;:true,&quot;type&quot;:&quot;text&quot;}"/>
          <p:cNvSpPr txBox="1"/>
          <p:nvPr/>
        </p:nvSpPr>
        <p:spPr>
          <a:xfrm>
            <a:off x="6248400" y="3629025"/>
            <a:ext cx="24384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一个负责把大任务拆解成小步骤，一个负责在系统跑偏时及时把它拉回到正轨上。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0" name="圆角矩形 979"/>
          <p:cNvSpPr/>
          <p:nvPr/>
        </p:nvSpPr>
        <p:spPr>
          <a:xfrm>
            <a:off x="6096000" y="4695825"/>
            <a:ext cx="2781300" cy="1685925"/>
          </a:xfrm>
          <a:prstGeom prst="roundRect">
            <a:avLst>
              <a:gd name="adj" fmla="val 5085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981" name="任意多边形 980"/>
          <p:cNvSpPr/>
          <p:nvPr/>
        </p:nvSpPr>
        <p:spPr>
          <a:xfrm>
            <a:off x="6096000" y="4695825"/>
            <a:ext cx="2781300" cy="1685925"/>
          </a:xfrm>
          <a:custGeom>
            <a:avLst/>
            <a:gdLst/>
            <a:ahLst/>
            <a:cxnLst/>
            <a:rect l="0" t="0" r="0" b="0"/>
            <a:pathLst>
              <a:path w="292" h="177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72"/>
                </a:lnTo>
                <a:cubicBezTo>
                  <a:pt x="4" y="174"/>
                  <a:pt x="6" y="176"/>
                  <a:pt x="8" y="177"/>
                </a:cubicBezTo>
                <a:cubicBezTo>
                  <a:pt x="4" y="177"/>
                  <a:pt x="0" y="173"/>
                  <a:pt x="0" y="168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82" name="文本框 981" descr="{&quot;isTemplate&quot;:true,&quot;type&quot;:&quot;text&quot;}"/>
          <p:cNvSpPr txBox="1"/>
          <p:nvPr/>
        </p:nvSpPr>
        <p:spPr>
          <a:xfrm>
            <a:off x="6248400" y="4829175"/>
            <a:ext cx="114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425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3" name="文本框 982" descr="{&quot;isTemplate&quot;:true,&quot;type&quot;:&quot;text&quot;}"/>
          <p:cNvSpPr txBox="1"/>
          <p:nvPr/>
        </p:nvSpPr>
        <p:spPr>
          <a:xfrm>
            <a:off x="6448425" y="4829175"/>
            <a:ext cx="22383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上下文窗口的组织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4" name="文本框 983" descr="{&quot;isTemplate&quot;:true,&quot;type&quot;:&quot;text&quot;}"/>
          <p:cNvSpPr txBox="1"/>
          <p:nvPr/>
        </p:nvSpPr>
        <p:spPr>
          <a:xfrm>
            <a:off x="6248400" y="5429250"/>
            <a:ext cx="24384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系统提示、核心提示与助手消息三者如何组织，直接决定了智能体每一轮的运行效率。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5" name="圆角矩形 984"/>
          <p:cNvSpPr/>
          <p:nvPr/>
        </p:nvSpPr>
        <p:spPr>
          <a:xfrm>
            <a:off x="9029700" y="1104900"/>
            <a:ext cx="2781300" cy="1685925"/>
          </a:xfrm>
          <a:prstGeom prst="roundRect">
            <a:avLst>
              <a:gd name="adj" fmla="val 5085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986" name="任意多边形 985"/>
          <p:cNvSpPr/>
          <p:nvPr/>
        </p:nvSpPr>
        <p:spPr>
          <a:xfrm>
            <a:off x="9029700" y="1104900"/>
            <a:ext cx="2781300" cy="1685925"/>
          </a:xfrm>
          <a:custGeom>
            <a:avLst/>
            <a:gdLst/>
            <a:ahLst/>
            <a:cxnLst/>
            <a:rect l="0" t="0" r="0" b="0"/>
            <a:pathLst>
              <a:path w="292" h="177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72"/>
                </a:lnTo>
                <a:cubicBezTo>
                  <a:pt x="4" y="174"/>
                  <a:pt x="6" y="176"/>
                  <a:pt x="8" y="177"/>
                </a:cubicBezTo>
                <a:cubicBezTo>
                  <a:pt x="4" y="177"/>
                  <a:pt x="0" y="173"/>
                  <a:pt x="0" y="168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87" name="文本框 986" descr="{&quot;isTemplate&quot;:true,&quot;type&quot;:&quot;text&quot;}"/>
          <p:cNvSpPr txBox="1"/>
          <p:nvPr/>
        </p:nvSpPr>
        <p:spPr>
          <a:xfrm>
            <a:off x="9182100" y="1238250"/>
            <a:ext cx="114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sz="1425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8" name="文本框 987" descr="{&quot;isTemplate&quot;:true,&quot;type&quot;:&quot;text&quot;}"/>
          <p:cNvSpPr txBox="1"/>
          <p:nvPr/>
        </p:nvSpPr>
        <p:spPr>
          <a:xfrm>
            <a:off x="9382125" y="1238250"/>
            <a:ext cx="22383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何时该用它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9" name="文本框 988" descr="{&quot;isTemplate&quot;:true,&quot;type&quot;:&quot;text&quot;}"/>
          <p:cNvSpPr txBox="1"/>
          <p:nvPr/>
        </p:nvSpPr>
        <p:spPr>
          <a:xfrm>
            <a:off x="9182100" y="1838325"/>
            <a:ext cx="24384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当环境持续变化、结果高度不确定，或者需要强个性化交互的时候，就该考虑它。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0" name="圆角矩形 989"/>
          <p:cNvSpPr/>
          <p:nvPr/>
        </p:nvSpPr>
        <p:spPr>
          <a:xfrm>
            <a:off x="9029700" y="2905125"/>
            <a:ext cx="2781300" cy="1676400"/>
          </a:xfrm>
          <a:prstGeom prst="roundRect">
            <a:avLst>
              <a:gd name="adj" fmla="val 5114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991" name="任意多边形 990"/>
          <p:cNvSpPr/>
          <p:nvPr/>
        </p:nvSpPr>
        <p:spPr>
          <a:xfrm>
            <a:off x="9029700" y="2905125"/>
            <a:ext cx="2781300" cy="1676400"/>
          </a:xfrm>
          <a:custGeom>
            <a:avLst/>
            <a:gdLst/>
            <a:ahLst/>
            <a:cxnLst/>
            <a:rect l="0" t="0" r="0" b="0"/>
            <a:pathLst>
              <a:path w="292" h="176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71"/>
                </a:lnTo>
                <a:cubicBezTo>
                  <a:pt x="4" y="173"/>
                  <a:pt x="6" y="175"/>
                  <a:pt x="8" y="176"/>
                </a:cubicBezTo>
                <a:cubicBezTo>
                  <a:pt x="4" y="176"/>
                  <a:pt x="0" y="172"/>
                  <a:pt x="0" y="167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92" name="文本框 991" descr="{&quot;isTemplate&quot;:true,&quot;type&quot;:&quot;text&quot;}"/>
          <p:cNvSpPr txBox="1"/>
          <p:nvPr/>
        </p:nvSpPr>
        <p:spPr>
          <a:xfrm>
            <a:off x="9182100" y="3038475"/>
            <a:ext cx="114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sz="1425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3" name="文本框 992" descr="{&quot;isTemplate&quot;:true,&quot;type&quot;:&quot;text&quot;}"/>
          <p:cNvSpPr txBox="1"/>
          <p:nvPr/>
        </p:nvSpPr>
        <p:spPr>
          <a:xfrm>
            <a:off x="9382125" y="3038475"/>
            <a:ext cx="22383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工程配套不可少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4" name="文本框 993" descr="{&quot;isTemplate&quot;:true,&quot;type&quot;:&quot;text&quot;}"/>
          <p:cNvSpPr txBox="1"/>
          <p:nvPr/>
        </p:nvSpPr>
        <p:spPr>
          <a:xfrm>
            <a:off x="9182100" y="3629025"/>
            <a:ext cx="24384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要接入机器学习的工具链，并管理好训练数据与推理数据流的走向，缺一不可。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5" name="圆角矩形 994"/>
          <p:cNvSpPr/>
          <p:nvPr/>
        </p:nvSpPr>
        <p:spPr>
          <a:xfrm>
            <a:off x="9029700" y="4695825"/>
            <a:ext cx="2781300" cy="1685925"/>
          </a:xfrm>
          <a:prstGeom prst="roundRect">
            <a:avLst>
              <a:gd name="adj" fmla="val 5085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996" name="任意多边形 995"/>
          <p:cNvSpPr/>
          <p:nvPr/>
        </p:nvSpPr>
        <p:spPr>
          <a:xfrm>
            <a:off x="9029700" y="4695825"/>
            <a:ext cx="2781300" cy="1685925"/>
          </a:xfrm>
          <a:custGeom>
            <a:avLst/>
            <a:gdLst/>
            <a:ahLst/>
            <a:cxnLst/>
            <a:rect l="0" t="0" r="0" b="0"/>
            <a:pathLst>
              <a:path w="292" h="177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72"/>
                </a:lnTo>
                <a:cubicBezTo>
                  <a:pt x="4" y="174"/>
                  <a:pt x="6" y="176"/>
                  <a:pt x="8" y="177"/>
                </a:cubicBezTo>
                <a:cubicBezTo>
                  <a:pt x="4" y="177"/>
                  <a:pt x="0" y="173"/>
                  <a:pt x="0" y="168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997" name="文本框 996" descr="{&quot;isTemplate&quot;:true,&quot;type&quot;:&quot;text&quot;}"/>
          <p:cNvSpPr txBox="1"/>
          <p:nvPr/>
        </p:nvSpPr>
        <p:spPr>
          <a:xfrm>
            <a:off x="9182100" y="4829175"/>
            <a:ext cx="114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425" b="1">
                <a:solidFill>
                  <a:srgbClr val="B7D5D9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sz="1425" b="1">
              <a:solidFill>
                <a:srgbClr val="B7D5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8" name="文本框 997" descr="{&quot;isTemplate&quot;:true,&quot;type&quot;:&quot;text&quot;}"/>
          <p:cNvSpPr txBox="1"/>
          <p:nvPr/>
        </p:nvSpPr>
        <p:spPr>
          <a:xfrm>
            <a:off x="9382125" y="4829175"/>
            <a:ext cx="22383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350" b="1">
                <a:solidFill>
                  <a:srgbClr val="152129"/>
                </a:solidFill>
                <a:latin typeface="微软雅黑" panose="020B0503020204020204" charset="-122"/>
                <a:ea typeface="微软雅黑" panose="020B0503020204020204" charset="-122"/>
              </a:rPr>
              <a:t>自主编辑是可行的</a:t>
            </a:r>
            <a:endParaRPr lang="zh-CN" sz="1350" b="1">
              <a:solidFill>
                <a:srgbClr val="1521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9" name="文本框 998" descr="{&quot;isTemplate&quot;:true,&quot;type&quot;:&quot;text&quot;}"/>
          <p:cNvSpPr txBox="1"/>
          <p:nvPr/>
        </p:nvSpPr>
        <p:spPr>
          <a:xfrm>
            <a:off x="9182100" y="5429250"/>
            <a:ext cx="24384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只要配齐基础编程工具，智能体就能修改自己，并在基准测试上取得稳定进步。</a:t>
            </a:r>
            <a:endParaRPr lang="zh-CN" sz="112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" name="文本框 999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1" name="文本框 1000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30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{/* 巨型标题区 */}&#10;            &lt;Box style={{ flexDirection: 'row', alignItems: 'flex-end', gap: 22, marginTop: 22 }}&gt;&#10;                &lt;Text style={{ fontSize: 76, fontWeight: 'bold', color: '#007581', lineHeight: 1, letterSpacing: 4 }}&gt;&#10;                    讨论与思考&#10;                &lt;/Text&gt;&#10;                &lt;Box style={{ flexDirection: 'column', gap: 6, paddingBottom: 8 }}&gt;&#10;                    &lt;Text style={{ fontSize: 15, color: '#7A8B98', letterSpacing: 2.5 }}&gt;OPEN QUESTIONS&lt;/Text&gt;&#10;                    &lt;Text style={{ fontSize: 17, color: '#4E6070' }}&gt;&#10;                        这一章留下了三个我们自己也还没想清楚的问题&#10;                    &lt;/Text&gt;&#10;                &lt;/Box&gt;&#10;            &lt;/Box&gt;&#10;            &lt;Box style={{ width: 128, height: 4, background: '#4FC0CB', marginTop: 16, opacity: 0.55 }} /&gt;&#10;&#10;            {/* 三个问题 */}&#10;            &lt;Box style={{ flexDirection: 'row', gap: 18, flex: 1, marginTop: 30 }}&gt;&#10;                {[&#10;                    {&#10;                        q: '谁来监督监督者？',&#10;                        d: 'SICA 用另一个 LLM 作为异步监督者，专门发现循环与停滞。可如果监督者本身也会犯错、也存在盲区，那么自改进系统的安全边界究竟应该划在哪里，又该由谁来监督它？',&#10;                        ic: 'user-shield',&#10;                        cat: '安全边界',&#10;                    },&#10;                    {&#10;                        q: '和数据库自治运维同构吗？',&#10;                        d: '数据库领域的自治运维同样依赖「观测—决策—调整」的闭环，也同样会遇到连续决策与状态漂移的问题。那么这两套方法论能否互相借鉴，把经验迁移过来？',&#10;                        ic: 'database',&#10;                        cat: '方法论迁移',&#10;                    },&#10;                    {&#10;                        q: '能用在查询优化上吗？',&#10;                        d: '如果把执行计划或索引选择交给一个可自改进的智能体，让它依据真实代价反馈不断迭代，这条路可行吗？瓶颈会出现在代价模型的准确性，还是搜索空间的大小？',&#10;                        ic: 'magnifying-glass-chart',&#10;                        cat: '工程落地',&#10;                    },&#10;                ].map((c, i) =&gt; (&#10;                    &lt;Box key={i} style={{&#10;                        flex: 1, flexDirection: 'column', justifyContent: 'space-between', padding: '24px 24px 22px',&#10;                        borderRadius: 10,&#10;                        background: i === 1 ? '#F4F9FA' : '#FFFFFF',&#10;                        border: '1px solid #DFEAEC', borderTop: '5px solid ' + (i === 1 ? '#00505A' : '#007581'),&#10;                    }}&gt;&#10;                        &lt;Box style={{ flexDirection: 'row', justifyContent: 'space-between', alignItems: 'center' }}&gt;&#10;                            &lt;Box style={{ flexDirection: 'row', alignItems: 'center', gap: 12 }}&gt;&#10;                                &lt;FAIcon name={c.ic} style={{ fill: '#007581', width: 28, height: 28 }} /&gt;&#10;                                &lt;Box style={{ padding: '4px 11px', background: '#E4F0F2', borderRadius: 4 }}&gt;&#10;                                    &lt;Text style={{ fontSize: 13, fontWeight: 'bold', color: '#00646E', letterSpacing: 1 }}&gt;Q{i + 1}&lt;/Text&gt;&#10;                                &lt;/Box&gt;&#10;                            &lt;/Box&gt;&#10;                            &lt;Text style={{ fontSize: 13, color: '#8FA3AE', letterSpacing: 2, fontWeight: 'bold' }}&gt;{c.cat}&lt;/Text&gt;&#10;                        &lt;/Box&gt;&#10;                        &lt;Box style={{ flexDirection: 'column', justifyContent: 'flex-end' }}&gt;&#10;                            &lt;Text style={{ fontSize: 26, fontWeight: 'bold', color: '#00505A', lineHeight: 1.34, marginTop: 18 }}&gt;&#10;                                {c.q}&#10;                            &lt;/Text&gt;&#10;                            &lt;Box style={{ width: 34, height: 3, background: '#7FB8BF', marginTop: 13 }} /&gt;&#10;                            &lt;Text style={{ fontSize: 17, color: '#4E6070', lineHeight: 1.8, marginTop: 14 }}&gt;&#10;                                {c.d}&#10;                            &lt;/Text&gt;&#10;                        &lt;/Box&gt;&#10;                    &lt;/Box&gt;&#10;                ))}&#10;            &lt;/Box&gt;&#10;&#10;            {/* 底部 */}&#10;            &lt;Box style={{&#10;                flexDirection: 'row', alignItems: 'center', gap: 14, marginTop: 20,&#10;                padding: '15px 24px', background: '#EAF3F4', borderRadius: 10,&#10;                border: '1px solid #CFE0E3',&#10;            }}&gt;&#10;                &lt;FAIcon name='comments' style={{ fill: '#007581', width: 22, height: 22 }} /&gt;&#10;                &lt;Text style={{ fontSize: 18, color: '#00565F', lineHeight: 1.5, flex: 1 }}&gt;&#10;                    以上是第九组对第 9 章的汇报，欢迎老师和同学们批评指正。&#10;                &lt;/Text&gt;&#10;            &lt;/Box&gt;&#10;&#10;            &lt;Box style={{ flexDirection: 'row', justifyContent: 'space-between', alignItems: 'center', height: 26, marginTop: 12 }}&gt;&#10;                &lt;Text style={{ fontSize: 13, color: '#A8B4BE' }}&gt;第九组 · 学习与适应&lt;/Text&gt;&#10;                &lt;Text style={{ fontSize: 14, color: '#007581', fontWeight: 'bold' }}&gt;31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矩形 10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004" name="矩形 100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005" name="文本框 1004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6" name="文本框 1005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7" name="文本框 1006" descr="{&quot;isTemplate&quot;:true,&quot;type&quot;:&quot;text&quot;}"/>
          <p:cNvSpPr txBox="1"/>
          <p:nvPr/>
        </p:nvSpPr>
        <p:spPr>
          <a:xfrm>
            <a:off x="419100" y="647700"/>
            <a:ext cx="3810000" cy="876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5700" b="1" spc="300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讨论与思考</a:t>
            </a:r>
            <a:endParaRPr lang="zh-CN" sz="5700" b="1" spc="300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8" name="文本框 1007" descr="{&quot;isTemplate&quot;:true,&quot;type&quot;:&quot;text&quot;}"/>
          <p:cNvSpPr txBox="1"/>
          <p:nvPr/>
        </p:nvSpPr>
        <p:spPr>
          <a:xfrm>
            <a:off x="4438650" y="1019175"/>
            <a:ext cx="34004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spc="188">
                <a:solidFill>
                  <a:srgbClr val="7A8B98"/>
                </a:solidFill>
                <a:latin typeface="微软雅黑" panose="020B0503020204020204" charset="-122"/>
                <a:ea typeface="微软雅黑" panose="020B0503020204020204" charset="-122"/>
              </a:rPr>
              <a:t>OPEN QUESTIONS</a:t>
            </a:r>
            <a:endParaRPr lang="en-US" sz="1125" spc="188">
              <a:solidFill>
                <a:srgbClr val="7A8B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9" name="文本框 1008" descr="{&quot;isTemplate&quot;:true,&quot;type&quot;:&quot;text&quot;}"/>
          <p:cNvSpPr txBox="1"/>
          <p:nvPr/>
        </p:nvSpPr>
        <p:spPr>
          <a:xfrm>
            <a:off x="4438650" y="1247775"/>
            <a:ext cx="34004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这一章留下了三个我们自己也还没想清楚的问题</a:t>
            </a:r>
            <a:endParaRPr lang="zh-CN" sz="127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0" name="圆角矩形 1009"/>
          <p:cNvSpPr/>
          <p:nvPr/>
        </p:nvSpPr>
        <p:spPr>
          <a:xfrm>
            <a:off x="419100" y="2047875"/>
            <a:ext cx="3667125" cy="3590925"/>
          </a:xfrm>
          <a:prstGeom prst="roundRect">
            <a:avLst>
              <a:gd name="adj" fmla="val 2653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011" name="任意多边形 1010"/>
          <p:cNvSpPr/>
          <p:nvPr/>
        </p:nvSpPr>
        <p:spPr>
          <a:xfrm>
            <a:off x="419100" y="2047875"/>
            <a:ext cx="3667125" cy="3590925"/>
          </a:xfrm>
          <a:custGeom>
            <a:avLst/>
            <a:gdLst/>
            <a:ahLst/>
            <a:cxnLst/>
            <a:rect l="0" t="0" r="0" b="0"/>
            <a:pathLst>
              <a:path w="385" h="377">
                <a:moveTo>
                  <a:pt x="375" y="0"/>
                </a:moveTo>
                <a:cubicBezTo>
                  <a:pt x="380" y="0"/>
                  <a:pt x="384" y="4"/>
                  <a:pt x="385" y="9"/>
                </a:cubicBezTo>
                <a:cubicBezTo>
                  <a:pt x="384" y="6"/>
                  <a:pt x="382" y="5"/>
                  <a:pt x="380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5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1012" name="图片 10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" y="2276475"/>
            <a:ext cx="266700" cy="266700"/>
          </a:xfrm>
          <a:prstGeom prst="rect">
            <a:avLst/>
          </a:prstGeom>
        </p:spPr>
      </p:pic>
      <p:sp>
        <p:nvSpPr>
          <p:cNvPr id="1013" name="圆角矩形 1012"/>
          <p:cNvSpPr/>
          <p:nvPr/>
        </p:nvSpPr>
        <p:spPr>
          <a:xfrm>
            <a:off x="1028700" y="2295525"/>
            <a:ext cx="409575" cy="228600"/>
          </a:xfrm>
          <a:prstGeom prst="roundRect">
            <a:avLst>
              <a:gd name="adj" fmla="val 16667"/>
            </a:avLst>
          </a:prstGeom>
          <a:solidFill>
            <a:srgbClr val="E4F0F2"/>
          </a:solidFill>
        </p:spPr>
        <p:txBody>
          <a:bodyPr/>
          <a:lstStyle/>
          <a:p/>
        </p:txBody>
      </p:sp>
      <p:sp>
        <p:nvSpPr>
          <p:cNvPr id="1014" name="文本框 1013" descr="{&quot;isTemplate&quot;:true,&quot;type&quot;:&quot;text&quot;}"/>
          <p:cNvSpPr txBox="1"/>
          <p:nvPr/>
        </p:nvSpPr>
        <p:spPr>
          <a:xfrm>
            <a:off x="1133475" y="2333625"/>
            <a:ext cx="2000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Q1</a:t>
            </a:r>
            <a:endParaRPr lang="en-US" sz="975" b="1" spc="75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5" name="文本框 1014" descr="{&quot;isTemplate&quot;:true,&quot;type&quot;:&quot;text&quot;}"/>
          <p:cNvSpPr txBox="1"/>
          <p:nvPr/>
        </p:nvSpPr>
        <p:spPr>
          <a:xfrm>
            <a:off x="3286125" y="2333625"/>
            <a:ext cx="5715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安全边界</a:t>
            </a:r>
            <a:endParaRPr lang="zh-CN" sz="975" b="1" spc="150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6" name="文本框 1015" descr="{&quot;isTemplate&quot;:true,&quot;type&quot;:&quot;text&quot;}"/>
          <p:cNvSpPr txBox="1"/>
          <p:nvPr/>
        </p:nvSpPr>
        <p:spPr>
          <a:xfrm>
            <a:off x="647700" y="3295650"/>
            <a:ext cx="3209925" cy="400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9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谁来监督监督者？</a:t>
            </a:r>
            <a:endParaRPr lang="zh-CN" sz="19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7" name="矩形 1016"/>
          <p:cNvSpPr/>
          <p:nvPr/>
        </p:nvSpPr>
        <p:spPr>
          <a:xfrm>
            <a:off x="647700" y="3819525"/>
            <a:ext cx="323850" cy="28575"/>
          </a:xfrm>
          <a:prstGeom prst="rect">
            <a:avLst/>
          </a:pr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1018" name="文本框 1017" descr="{&quot;isTemplate&quot;:true,&quot;type&quot;:&quot;text&quot;}"/>
          <p:cNvSpPr txBox="1"/>
          <p:nvPr/>
        </p:nvSpPr>
        <p:spPr>
          <a:xfrm>
            <a:off x="647700" y="3981450"/>
            <a:ext cx="3209925" cy="1400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en-US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用另一个</a:t>
            </a:r>
            <a:r>
              <a:rPr lang="en-US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 LLM </a:t>
            </a: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作为异步监督者，专门发现循环与停滞。可如果监督者本身也会犯错、也存在盲区，那么自改进系统的安全边界究竟应该划在哪里，又该由谁来监督它？</a:t>
            </a:r>
            <a:endParaRPr lang="zh-CN" sz="127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9" name="圆角矩形 1018"/>
          <p:cNvSpPr/>
          <p:nvPr/>
        </p:nvSpPr>
        <p:spPr>
          <a:xfrm>
            <a:off x="4257675" y="2047875"/>
            <a:ext cx="3676650" cy="3590925"/>
          </a:xfrm>
          <a:prstGeom prst="roundRect">
            <a:avLst>
              <a:gd name="adj" fmla="val 2653"/>
            </a:avLst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020" name="任意多边形 1019"/>
          <p:cNvSpPr/>
          <p:nvPr/>
        </p:nvSpPr>
        <p:spPr>
          <a:xfrm>
            <a:off x="4257675" y="2047875"/>
            <a:ext cx="3676650" cy="3590925"/>
          </a:xfrm>
          <a:custGeom>
            <a:avLst/>
            <a:gdLst/>
            <a:ahLst/>
            <a:cxnLst/>
            <a:rect l="0" t="0" r="0" b="0"/>
            <a:pathLst>
              <a:path w="386" h="377">
                <a:moveTo>
                  <a:pt x="376" y="0"/>
                </a:moveTo>
                <a:cubicBezTo>
                  <a:pt x="381" y="0"/>
                  <a:pt x="385" y="4"/>
                  <a:pt x="386" y="9"/>
                </a:cubicBezTo>
                <a:cubicBezTo>
                  <a:pt x="385" y="6"/>
                  <a:pt x="383" y="5"/>
                  <a:pt x="3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6" y="0"/>
                </a:lnTo>
                <a:close/>
              </a:path>
            </a:pathLst>
          </a:custGeom>
          <a:solidFill>
            <a:srgbClr val="00505A"/>
          </a:solidFill>
        </p:spPr>
        <p:txBody>
          <a:bodyPr/>
          <a:lstStyle/>
          <a:p/>
        </p:txBody>
      </p:sp>
      <p:pic>
        <p:nvPicPr>
          <p:cNvPr id="1021" name="图片 10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6275" y="2276475"/>
            <a:ext cx="266700" cy="266700"/>
          </a:xfrm>
          <a:prstGeom prst="rect">
            <a:avLst/>
          </a:prstGeom>
        </p:spPr>
      </p:pic>
      <p:sp>
        <p:nvSpPr>
          <p:cNvPr id="1022" name="圆角矩形 1021"/>
          <p:cNvSpPr/>
          <p:nvPr/>
        </p:nvSpPr>
        <p:spPr>
          <a:xfrm>
            <a:off x="4867275" y="2295525"/>
            <a:ext cx="409575" cy="228600"/>
          </a:xfrm>
          <a:prstGeom prst="roundRect">
            <a:avLst>
              <a:gd name="adj" fmla="val 16667"/>
            </a:avLst>
          </a:prstGeom>
          <a:solidFill>
            <a:srgbClr val="E4F0F2"/>
          </a:solidFill>
        </p:spPr>
        <p:txBody>
          <a:bodyPr/>
          <a:lstStyle/>
          <a:p/>
        </p:txBody>
      </p:sp>
      <p:sp>
        <p:nvSpPr>
          <p:cNvPr id="1023" name="文本框 1022" descr="{&quot;isTemplate&quot;:true,&quot;type&quot;:&quot;text&quot;}"/>
          <p:cNvSpPr txBox="1"/>
          <p:nvPr/>
        </p:nvSpPr>
        <p:spPr>
          <a:xfrm>
            <a:off x="4972050" y="2333625"/>
            <a:ext cx="2000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Q2</a:t>
            </a:r>
            <a:endParaRPr lang="en-US" sz="975" b="1" spc="75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" name="文本框 1023" descr="{&quot;isTemplate&quot;:true,&quot;type&quot;:&quot;text&quot;}"/>
          <p:cNvSpPr txBox="1"/>
          <p:nvPr/>
        </p:nvSpPr>
        <p:spPr>
          <a:xfrm>
            <a:off x="6991350" y="2333625"/>
            <a:ext cx="714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方法论迁移</a:t>
            </a:r>
            <a:endParaRPr lang="zh-CN" sz="975" b="1" spc="150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" name="文本框 1024" descr="{&quot;isTemplate&quot;:true,&quot;type&quot;:&quot;text&quot;}"/>
          <p:cNvSpPr txBox="1"/>
          <p:nvPr/>
        </p:nvSpPr>
        <p:spPr>
          <a:xfrm>
            <a:off x="4486275" y="3295650"/>
            <a:ext cx="3219450" cy="400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9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和数据库自治运维同构吗？</a:t>
            </a:r>
            <a:endParaRPr lang="zh-CN" sz="19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6" name="矩形 1025"/>
          <p:cNvSpPr/>
          <p:nvPr/>
        </p:nvSpPr>
        <p:spPr>
          <a:xfrm>
            <a:off x="4486275" y="3819525"/>
            <a:ext cx="323850" cy="28575"/>
          </a:xfrm>
          <a:prstGeom prst="rect">
            <a:avLst/>
          </a:pr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1027" name="文本框 1026" descr="{&quot;isTemplate&quot;:true,&quot;type&quot;:&quot;text&quot;}"/>
          <p:cNvSpPr txBox="1"/>
          <p:nvPr/>
        </p:nvSpPr>
        <p:spPr>
          <a:xfrm>
            <a:off x="4486275" y="3981450"/>
            <a:ext cx="3219450" cy="1400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数据库领域的自治运维同样依赖「观测—决策—调整」的闭环，也同样会遇到连续决策与状态漂移的问题。那么这两套方法论能否互相借鉴，把经验迁移过来？</a:t>
            </a:r>
            <a:endParaRPr lang="zh-CN" sz="127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8" name="圆角矩形 1027"/>
          <p:cNvSpPr/>
          <p:nvPr/>
        </p:nvSpPr>
        <p:spPr>
          <a:xfrm>
            <a:off x="8105775" y="2047875"/>
            <a:ext cx="3667125" cy="3590925"/>
          </a:xfrm>
          <a:prstGeom prst="roundRect">
            <a:avLst>
              <a:gd name="adj" fmla="val 2653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029" name="任意多边形 1028"/>
          <p:cNvSpPr/>
          <p:nvPr/>
        </p:nvSpPr>
        <p:spPr>
          <a:xfrm>
            <a:off x="8105775" y="2047875"/>
            <a:ext cx="3667125" cy="3590925"/>
          </a:xfrm>
          <a:custGeom>
            <a:avLst/>
            <a:gdLst/>
            <a:ahLst/>
            <a:cxnLst/>
            <a:rect l="0" t="0" r="0" b="0"/>
            <a:pathLst>
              <a:path w="385" h="377">
                <a:moveTo>
                  <a:pt x="375" y="0"/>
                </a:moveTo>
                <a:cubicBezTo>
                  <a:pt x="380" y="0"/>
                  <a:pt x="384" y="4"/>
                  <a:pt x="385" y="9"/>
                </a:cubicBezTo>
                <a:cubicBezTo>
                  <a:pt x="384" y="6"/>
                  <a:pt x="382" y="5"/>
                  <a:pt x="380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5" y="0"/>
                </a:lnTo>
                <a:close/>
              </a:path>
            </a:pathLst>
          </a:custGeom>
          <a:solidFill>
            <a:srgbClr val="007581"/>
          </a:solidFill>
        </p:spPr>
        <p:txBody>
          <a:bodyPr/>
          <a:lstStyle/>
          <a:p/>
        </p:txBody>
      </p:sp>
      <p:pic>
        <p:nvPicPr>
          <p:cNvPr id="1030" name="图片 102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4375" y="2276475"/>
            <a:ext cx="266700" cy="266700"/>
          </a:xfrm>
          <a:prstGeom prst="rect">
            <a:avLst/>
          </a:prstGeom>
        </p:spPr>
      </p:pic>
      <p:sp>
        <p:nvSpPr>
          <p:cNvPr id="1031" name="圆角矩形 1030"/>
          <p:cNvSpPr/>
          <p:nvPr/>
        </p:nvSpPr>
        <p:spPr>
          <a:xfrm>
            <a:off x="8715375" y="2295525"/>
            <a:ext cx="409575" cy="228600"/>
          </a:xfrm>
          <a:prstGeom prst="roundRect">
            <a:avLst>
              <a:gd name="adj" fmla="val 16667"/>
            </a:avLst>
          </a:prstGeom>
          <a:solidFill>
            <a:srgbClr val="E4F0F2"/>
          </a:solidFill>
        </p:spPr>
        <p:txBody>
          <a:bodyPr/>
          <a:lstStyle/>
          <a:p/>
        </p:txBody>
      </p:sp>
      <p:sp>
        <p:nvSpPr>
          <p:cNvPr id="1032" name="文本框 1031" descr="{&quot;isTemplate&quot;:true,&quot;type&quot;:&quot;text&quot;}"/>
          <p:cNvSpPr txBox="1"/>
          <p:nvPr/>
        </p:nvSpPr>
        <p:spPr>
          <a:xfrm>
            <a:off x="8820150" y="2333625"/>
            <a:ext cx="2000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00646E"/>
                </a:solidFill>
                <a:latin typeface="微软雅黑" panose="020B0503020204020204" charset="-122"/>
                <a:ea typeface="微软雅黑" panose="020B0503020204020204" charset="-122"/>
              </a:rPr>
              <a:t>Q3</a:t>
            </a:r>
            <a:endParaRPr lang="en-US" sz="975" b="1" spc="75">
              <a:solidFill>
                <a:srgbClr val="0064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3" name="文本框 1032" descr="{&quot;isTemplate&quot;:true,&quot;type&quot;:&quot;text&quot;}"/>
          <p:cNvSpPr txBox="1"/>
          <p:nvPr/>
        </p:nvSpPr>
        <p:spPr>
          <a:xfrm>
            <a:off x="10972800" y="2333625"/>
            <a:ext cx="5715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工程落地</a:t>
            </a:r>
            <a:endParaRPr lang="zh-CN" sz="975" b="1" spc="150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4" name="文本框 1033" descr="{&quot;isTemplate&quot;:true,&quot;type&quot;:&quot;text&quot;}"/>
          <p:cNvSpPr txBox="1"/>
          <p:nvPr/>
        </p:nvSpPr>
        <p:spPr>
          <a:xfrm>
            <a:off x="8334375" y="3295650"/>
            <a:ext cx="3209925" cy="400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4000"/>
              </a:lnSpc>
            </a:pPr>
            <a:r>
              <a:rPr lang="zh-CN" sz="19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能用在查询优化上吗？</a:t>
            </a:r>
            <a:endParaRPr lang="zh-CN" sz="19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5" name="矩形 1034"/>
          <p:cNvSpPr/>
          <p:nvPr/>
        </p:nvSpPr>
        <p:spPr>
          <a:xfrm>
            <a:off x="8334375" y="3819525"/>
            <a:ext cx="323850" cy="28575"/>
          </a:xfrm>
          <a:prstGeom prst="rect">
            <a:avLst/>
          </a:prstGeom>
          <a:solidFill>
            <a:srgbClr val="7FB8BF"/>
          </a:solidFill>
        </p:spPr>
        <p:txBody>
          <a:bodyPr/>
          <a:lstStyle/>
          <a:p/>
        </p:txBody>
      </p:sp>
      <p:sp>
        <p:nvSpPr>
          <p:cNvPr id="1036" name="文本框 1035" descr="{&quot;isTemplate&quot;:true,&quot;type&quot;:&quot;text&quot;}"/>
          <p:cNvSpPr txBox="1"/>
          <p:nvPr/>
        </p:nvSpPr>
        <p:spPr>
          <a:xfrm>
            <a:off x="8334375" y="3981450"/>
            <a:ext cx="3209925" cy="1400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275">
                <a:solidFill>
                  <a:srgbClr val="4E6070"/>
                </a:solidFill>
                <a:latin typeface="微软雅黑" panose="020B0503020204020204" charset="-122"/>
                <a:ea typeface="微软雅黑" panose="020B0503020204020204" charset="-122"/>
              </a:rPr>
              <a:t>如果把执行计划或索引选择交给一个可自改进的智能体，让它依据真实代价反馈不断迭代，这条路可行吗？瓶颈会出现在代价模型的准确性，还是搜索空间的大小？</a:t>
            </a:r>
            <a:endParaRPr lang="zh-CN" sz="1275">
              <a:solidFill>
                <a:srgbClr val="4E6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7" name="圆角矩形 1036"/>
          <p:cNvSpPr/>
          <p:nvPr/>
        </p:nvSpPr>
        <p:spPr>
          <a:xfrm>
            <a:off x="419100" y="5781675"/>
            <a:ext cx="11353800" cy="600075"/>
          </a:xfrm>
          <a:prstGeom prst="roundRect">
            <a:avLst>
              <a:gd name="adj" fmla="val 15873"/>
            </a:avLst>
          </a:prstGeom>
          <a:solidFill>
            <a:srgbClr val="EAF3F4"/>
          </a:solidFill>
          <a:ln w="12700">
            <a:solidFill>
              <a:srgbClr val="CFE0E3"/>
            </a:solidFill>
            <a:prstDash val="solid"/>
          </a:ln>
        </p:spPr>
        <p:txBody>
          <a:bodyPr/>
          <a:lstStyle/>
          <a:p/>
        </p:txBody>
      </p:sp>
      <p:pic>
        <p:nvPicPr>
          <p:cNvPr id="1038" name="图片 103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" y="5981700"/>
            <a:ext cx="209550" cy="209550"/>
          </a:xfrm>
          <a:prstGeom prst="rect">
            <a:avLst/>
          </a:prstGeom>
        </p:spPr>
      </p:pic>
      <p:sp>
        <p:nvSpPr>
          <p:cNvPr id="1039" name="文本框 1038" descr="{&quot;isTemplate&quot;:true,&quot;type&quot;:&quot;text&quot;}"/>
          <p:cNvSpPr txBox="1"/>
          <p:nvPr/>
        </p:nvSpPr>
        <p:spPr>
          <a:xfrm>
            <a:off x="990600" y="5924550"/>
            <a:ext cx="105537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以上是第九组对第</a:t>
            </a:r>
            <a:r>
              <a:rPr lang="en-US" sz="1350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350">
                <a:solidFill>
                  <a:srgbClr val="00565F"/>
                </a:solidFill>
                <a:latin typeface="微软雅黑" panose="020B0503020204020204" charset="-122"/>
                <a:ea typeface="微软雅黑" panose="020B0503020204020204" charset="-122"/>
              </a:rPr>
              <a:t>章的汇报，欢迎老师和同学们批评指正。</a:t>
            </a:r>
            <a:endParaRPr lang="zh-CN" sz="1350">
              <a:solidFill>
                <a:srgbClr val="0056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0" name="文本框 1039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1" name="文本框 1040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31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2" name="矩形 1041"/>
          <p:cNvSpPr/>
          <p:nvPr/>
        </p:nvSpPr>
        <p:spPr>
          <a:xfrm>
            <a:off x="419100" y="1676400"/>
            <a:ext cx="1219200" cy="38100"/>
          </a:xfrm>
          <a:prstGeom prst="rect">
            <a:avLst/>
          </a:prstGeom>
          <a:solidFill>
            <a:srgbClr val="4FC0CB">
              <a:alpha val="55000"/>
            </a:srgb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background: '#FFFFFF',&#10;    fontFamily: '&quot;Microsoft YaHei&quot;, &quot;PingFang SC&quot;, sans-serif', overflow: 'hidden',&#10;}}&gt;&#10;    &lt;Box style={{ flexDirection: 'column', width: '100%', height: '100%' }}&gt;&#10;        &lt;Box style={{ width: '100%', height: 6, background: '#007581' }} /&gt;&#10;&#10;        &lt;Box style={{ flex: 1, padding: '18px 44px 12px', flexDirection: 'column' }}&gt;&#10;&#10;            &lt;Box style={{ flexDirection: 'row', justifyContent: 'space-between', alignItems: 'center', height: 22 }}&gt;&#10;                &lt;Text style={{ fontSize: 13, color: '#8695A4', letterSpacing: 1 }}&gt;第 9 章 · 学习与适应&lt;/Text&gt;&#10;                &lt;Text style={{ fontSize: 13, color: '#8695A4', letterSpacing: 1 }}&gt;华中师范大学 · 高级数据库技术&lt;/Text&gt;&#10;            &lt;/Box&gt;&#10;&#10;            {/* 标题行：圆形数字标记 + 标题 */}&#10;            &lt;Box style={{ flexDirection: 'row', alignItems: 'center', gap: 16, marginTop: 14, height: 46 }}&gt;&#10;                &lt;Box style={{&#10;                    width: 46, height: 46, borderRadius: 23, background: '#007581',&#10;                    alignItems: 'center', justifyContent: 'center',&#10;                }}&gt;&#10;                    &lt;Text style={{ fontSize: 20, fontWeight: 'bold', color: '#FFFFFF' }}&gt;09&lt;/Text&gt;&#10;                &lt;/Box&gt;&#10;                &lt;Text style={{ fontSize: 34, fontWeight: 'bold', color: '#00505A' }}&gt;第九小组成员分工&lt;/Text&gt;&#10;                &lt;Text style={{ fontSize: 14, color: '#8FA3AE', flex: 1, textAlign: 'right', letterSpacing: 0.5 }}&gt;&#10;                    按贡献度由高到低排列&#10;                &lt;/Text&gt;&#10;            &lt;/Box&gt;&#10;            &lt;Box style={{ width: '100%', height: 2, background: '#E2ECEE', marginTop: 12 }} /&gt;&#10;&#10;            {/* 分工表 */}&#10;            &lt;Box style={{ flexDirection: 'column', marginTop: 20, flex: 1 }}&gt;&#10;&#10;                &lt;Box style={{ flexDirection: 'row', height: 54, background: '#007581' }}&gt;&#10;                    &lt;Box style={{ width: 280, alignItems: 'center', justifyContent: 'center' }}&gt;&#10;                        &lt;Text style={{ fontSize: 17, fontWeight: 'bold', color: '#FFFFFF', letterSpacing: 1 }}&gt;负责成员&lt;/Text&gt;&#10;                    &lt;/Box&gt;&#10;                    &lt;Box style={{ width: 421, alignItems: 'center', justifyContent: 'center', borderLeft: '1px solid rgba(255,255,255,0.22)' }}&gt;&#10;                        &lt;Text style={{ fontSize: 17, fontWeight: 'bold', color: '#FFFFFF', letterSpacing: 1 }}&gt;负责任务&lt;/Text&gt;&#10;                    &lt;/Box&gt;&#10;                    &lt;Box style={{ width: 491, alignItems: 'center', justifyContent: 'center', borderLeft: '1px solid rgba(255,255,255,0.22)' }}&gt;&#10;                        &lt;Text style={{ fontSize: 17, fontWeight: 'bold', color: '#FFFFFF', letterSpacing: 1 }}&gt;报告内容&lt;/Text&gt;&#10;                    &lt;/Box&gt;&#10;                &lt;/Box&gt;&#10;&#10;                {[&#10;                    { role: '汇报人', name: '李胜宇', task: '汇报主讲、整体框架设计', content: '全书定位、第 9 章导入与总结收束' },&#10;                    { role: '小组成员', name: '柴胜利', task: '学习范式与对齐机制梳理（兼 PPT 制作）', content: '六种学习范式、PPO 与 DPO 对比' },&#10;                    { role: '小组成员', name: '龚德伟', task: 'SICA 自改进系统分析', content: 'SICA 四步循环与 14 轮迭代实测' },&#10;                    { role: '小组成员', name: '吴俊德', task: 'AlphaEvolve 案例研究', content: '进化搜索框架与四类应用成绩' },&#10;                    { role: '小组成员', name: '熊宇', task: 'OpenEvolve 与模式提炼', content: '开源进化编程实践与模式收束' },&#10;                ].map((r, i) =&gt; (&#10;                    &lt;Box key={i} style={{&#10;                        flex: 1, flexDirection: 'row',&#10;                        background: i % 2 === 0 ? '#FFFFFF' : '#F4F9FA',&#10;                        borderTop: '1px solid #E8F0F2',&#10;                        borderBottom: i === 4 ? '1px solid #E8F0F2' : undefined,&#10;                    }}&gt;&#10;                        &lt;Box style={{ width: 280, flexDirection: 'row', alignItems: 'center', justifyContent: 'center', gap: 9 }}&gt;&#10;                            &lt;Text style={{ fontSize: 15, color: '#8FA3AE' }}&gt;{r.role}&lt;/Text&gt;&#10;                            &lt;Box style={{ width: 1, height: 15, background: '#CFE0E3' }} /&gt;&#10;                            &lt;Text style={{ fontSize: 19, fontWeight: 'bold', color: '#00505A' }}&gt;{r.name}&lt;/Text&gt;&#10;                        &lt;/Box&gt;&#10;                        &lt;Box style={{ width: 421, alignItems: 'center', justifyContent: 'center', borderLeft: '1px solid #E8F0F2', padding: '0 20px' }}&gt;&#10;                            &lt;Text style={{ fontSize: 19, color: '#33454F', textAlign: 'center', lineHeight: 1.5 }}&gt;{r.task}&lt;/Text&gt;&#10;                        &lt;/Box&gt;&#10;                        &lt;Box style={{ width: 491, alignItems: 'center', justifyContent: 'center', borderLeft: '1px solid #E8F0F2', padding: '0 20px' }}&gt;&#10;                            &lt;Text style={{ fontSize: 19, color: '#33454F', textAlign: 'center', lineHeight: 1.5 }}&gt;{r.content}&lt;/Text&gt;&#10;                        &lt;/Box&gt;&#10;                    &lt;/Box&gt;&#10;                ))}&#10;            &lt;/Box&gt;&#10;&#10;            {/* 底部信息带 */}&#10;            &lt;Box style={{&#10;                flexDirection: 'row', alignItems: 'center', justifyContent: 'space-between',&#10;                marginTop: 12, padding: '9px 22px', background: '#F4F9FA',&#10;                borderRadius: 8, border: '1px solid #E4EFF1',&#10;            }}&gt;&#10;                &lt;Text style={{ fontSize: 13, color: '#8FA3AE' }}&gt;分工经组内协商确定，各环节可追溯&lt;/Text&gt;&#10;                &lt;Box style={{ flexDirection: 'row', alignItems: 'center', gap: 9 }}&gt;&#10;                    &lt;Image src=&quot;assets/ccnu_logo.png&quot; style={{ width: 22, height: 22 }} /&gt;&#10;                    &lt;Text style={{ fontSize: 14, color: '#007581', letterSpacing: 2.5, fontWeight: 'bold' }}&gt;华中师范大学&lt;/Text&gt;&#10;                &lt;/Box&gt;&#10;                &lt;Text style={{ fontSize: 13, color: '#8FA3AE' }}&gt;汇报人：李胜宇&lt;/Text&gt;&#10;            &lt;/Box&gt;&#10;&#10;            &lt;Box style={{ flexDirection: 'row', justifyContent: 'space-between', alignItems: 'center', height: 26, marginTop: 8 }}&gt;&#10;                &lt;Text style={{ fontSize: 13, color: '#A8B4BE' }}&gt;第九组 · 学习与适应&lt;/Text&gt;&#10;                &lt;Text style={{ fontSize: 14, color: '#007581', fontWeight: 'bold' }}&gt;32 / 33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矩形 10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045" name="矩形 104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046" name="文本框 1045" descr="{&quot;isTemplate&quot;:true,&quot;type&quot;:&quot;text&quot;}"/>
          <p:cNvSpPr txBox="1"/>
          <p:nvPr/>
        </p:nvSpPr>
        <p:spPr>
          <a:xfrm>
            <a:off x="419100" y="257175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7" name="文本框 1046" descr="{&quot;isTemplate&quot;:true,&quot;type&quot;:&quot;text&quot;}"/>
          <p:cNvSpPr txBox="1"/>
          <p:nvPr/>
        </p:nvSpPr>
        <p:spPr>
          <a:xfrm>
            <a:off x="9906000" y="257175"/>
            <a:ext cx="1866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r>
              <a:rPr lang="en-US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75">
                <a:solidFill>
                  <a:srgbClr val="8695A4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endParaRPr lang="zh-CN" sz="975" spc="75">
              <a:solidFill>
                <a:srgbClr val="869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" name="圆角矩形 1047"/>
          <p:cNvSpPr/>
          <p:nvPr/>
        </p:nvSpPr>
        <p:spPr>
          <a:xfrm>
            <a:off x="419100" y="5715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049" name="文本框 1048" descr="{&quot;isTemplate&quot;:true,&quot;type&quot;:&quot;text&quot;}"/>
          <p:cNvSpPr txBox="1"/>
          <p:nvPr/>
        </p:nvSpPr>
        <p:spPr>
          <a:xfrm>
            <a:off x="523875" y="676275"/>
            <a:ext cx="2381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0" name="文本框 1049" descr="{&quot;isTemplate&quot;:true,&quot;type&quot;:&quot;text&quot;}"/>
          <p:cNvSpPr txBox="1"/>
          <p:nvPr/>
        </p:nvSpPr>
        <p:spPr>
          <a:xfrm>
            <a:off x="1009650" y="600075"/>
            <a:ext cx="25908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第九小组成员分工</a:t>
            </a:r>
            <a:endParaRPr lang="zh-CN" sz="2550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2" name="矩形 1051"/>
          <p:cNvSpPr/>
          <p:nvPr/>
        </p:nvSpPr>
        <p:spPr>
          <a:xfrm>
            <a:off x="419100" y="1123950"/>
            <a:ext cx="11353800" cy="19050"/>
          </a:xfrm>
          <a:prstGeom prst="rect">
            <a:avLst/>
          </a:prstGeom>
          <a:solidFill>
            <a:srgbClr val="E2ECEE"/>
          </a:solidFill>
        </p:spPr>
        <p:txBody>
          <a:bodyPr/>
          <a:lstStyle/>
          <a:p/>
        </p:txBody>
      </p:sp>
      <p:sp>
        <p:nvSpPr>
          <p:cNvPr id="1053" name="矩形 1052"/>
          <p:cNvSpPr/>
          <p:nvPr/>
        </p:nvSpPr>
        <p:spPr>
          <a:xfrm>
            <a:off x="419100" y="1333500"/>
            <a:ext cx="11353800" cy="514350"/>
          </a:xfrm>
          <a:prstGeom prst="rect">
            <a:avLst/>
          </a:prstGeom>
          <a:solidFill>
            <a:srgbClr val="007581"/>
          </a:solidFill>
        </p:spPr>
        <p:txBody>
          <a:bodyPr/>
          <a:lstStyle/>
          <a:p/>
        </p:txBody>
      </p:sp>
      <p:sp>
        <p:nvSpPr>
          <p:cNvPr id="1054" name="文本框 1053" descr="{&quot;isTemplate&quot;:true,&quot;type&quot;:&quot;text&quot;}"/>
          <p:cNvSpPr txBox="1"/>
          <p:nvPr/>
        </p:nvSpPr>
        <p:spPr>
          <a:xfrm>
            <a:off x="1409700" y="1495425"/>
            <a:ext cx="685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负责成员</a:t>
            </a:r>
            <a:endParaRPr lang="zh-CN" sz="1275" b="1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5" name="任意多边形 1054"/>
          <p:cNvSpPr/>
          <p:nvPr/>
        </p:nvSpPr>
        <p:spPr>
          <a:xfrm>
            <a:off x="3086100" y="1333500"/>
            <a:ext cx="4010025" cy="514350"/>
          </a:xfrm>
          <a:custGeom>
            <a:avLst/>
            <a:gdLst/>
            <a:ahLst/>
            <a:cxnLst/>
            <a:rect l="0" t="0" r="0" b="0"/>
            <a:pathLst>
              <a:path w="421" h="54">
                <a:moveTo>
                  <a:pt x="0" y="0"/>
                </a:moveTo>
                <a:lnTo>
                  <a:pt x="1" y="0"/>
                </a:lnTo>
                <a:lnTo>
                  <a:pt x="1" y="54"/>
                </a:lnTo>
                <a:lnTo>
                  <a:pt x="0" y="54"/>
                </a:lnTo>
                <a:close/>
              </a:path>
            </a:pathLst>
          </a:custGeom>
          <a:solidFill>
            <a:srgbClr val="FFFFFF">
              <a:alpha val="22000"/>
            </a:srgbClr>
          </a:solidFill>
        </p:spPr>
        <p:txBody>
          <a:bodyPr/>
          <a:lstStyle/>
          <a:p/>
        </p:txBody>
      </p:sp>
      <p:sp>
        <p:nvSpPr>
          <p:cNvPr id="1056" name="文本框 1055" descr="{&quot;isTemplate&quot;:true,&quot;type&quot;:&quot;text&quot;}"/>
          <p:cNvSpPr txBox="1"/>
          <p:nvPr/>
        </p:nvSpPr>
        <p:spPr>
          <a:xfrm>
            <a:off x="4752975" y="1495425"/>
            <a:ext cx="685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负责任务</a:t>
            </a:r>
            <a:endParaRPr lang="zh-CN" sz="1275" b="1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7" name="任意多边形 1056"/>
          <p:cNvSpPr/>
          <p:nvPr/>
        </p:nvSpPr>
        <p:spPr>
          <a:xfrm>
            <a:off x="7096125" y="1333500"/>
            <a:ext cx="4676775" cy="514350"/>
          </a:xfrm>
          <a:custGeom>
            <a:avLst/>
            <a:gdLst/>
            <a:ahLst/>
            <a:cxnLst/>
            <a:rect l="0" t="0" r="0" b="0"/>
            <a:pathLst>
              <a:path w="491" h="54">
                <a:moveTo>
                  <a:pt x="0" y="0"/>
                </a:moveTo>
                <a:lnTo>
                  <a:pt x="1" y="0"/>
                </a:lnTo>
                <a:lnTo>
                  <a:pt x="1" y="54"/>
                </a:lnTo>
                <a:lnTo>
                  <a:pt x="0" y="54"/>
                </a:lnTo>
                <a:close/>
              </a:path>
            </a:pathLst>
          </a:custGeom>
          <a:solidFill>
            <a:srgbClr val="FFFFFF">
              <a:alpha val="22000"/>
            </a:srgbClr>
          </a:solidFill>
        </p:spPr>
        <p:txBody>
          <a:bodyPr/>
          <a:lstStyle/>
          <a:p/>
        </p:txBody>
      </p:sp>
      <p:sp>
        <p:nvSpPr>
          <p:cNvPr id="1058" name="文本框 1057" descr="{&quot;isTemplate&quot;:true,&quot;type&quot;:&quot;text&quot;}"/>
          <p:cNvSpPr txBox="1"/>
          <p:nvPr/>
        </p:nvSpPr>
        <p:spPr>
          <a:xfrm>
            <a:off x="9096375" y="1495425"/>
            <a:ext cx="685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报告内容</a:t>
            </a:r>
            <a:endParaRPr lang="zh-CN" sz="1275" b="1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9" name="矩形 1058"/>
          <p:cNvSpPr/>
          <p:nvPr/>
        </p:nvSpPr>
        <p:spPr>
          <a:xfrm>
            <a:off x="419100" y="1857375"/>
            <a:ext cx="11353800" cy="8096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060" name="任意多边形 1059"/>
          <p:cNvSpPr/>
          <p:nvPr/>
        </p:nvSpPr>
        <p:spPr>
          <a:xfrm>
            <a:off x="419100" y="1847850"/>
            <a:ext cx="11353800" cy="819150"/>
          </a:xfrm>
          <a:custGeom>
            <a:avLst/>
            <a:gdLst/>
            <a:ahLst/>
            <a:cxnLst/>
            <a:rect l="0" t="0" r="0" b="0"/>
            <a:pathLst>
              <a:path w="1192" h="86">
                <a:moveTo>
                  <a:pt x="0" y="0"/>
                </a:moveTo>
                <a:lnTo>
                  <a:pt x="1192" y="0"/>
                </a:lnTo>
                <a:lnTo>
                  <a:pt x="119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61" name="文本框 1060" descr="{&quot;isTemplate&quot;:true,&quot;type&quot;:&quot;text&quot;}"/>
          <p:cNvSpPr txBox="1"/>
          <p:nvPr/>
        </p:nvSpPr>
        <p:spPr>
          <a:xfrm>
            <a:off x="1181100" y="2171700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zh-CN" sz="112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2" name="矩形 1061"/>
          <p:cNvSpPr/>
          <p:nvPr/>
        </p:nvSpPr>
        <p:spPr>
          <a:xfrm>
            <a:off x="1695450" y="2190750"/>
            <a:ext cx="9525" cy="142875"/>
          </a:xfrm>
          <a:prstGeom prst="rect">
            <a:avLst/>
          </a:prstGeom>
          <a:solidFill>
            <a:srgbClr val="CFE0E3"/>
          </a:solidFill>
        </p:spPr>
        <p:txBody>
          <a:bodyPr/>
          <a:lstStyle/>
          <a:p/>
        </p:txBody>
      </p:sp>
      <p:sp>
        <p:nvSpPr>
          <p:cNvPr id="1063" name="文本框 1062" descr="{&quot;isTemplate&quot;:true,&quot;type&quot;:&quot;text&quot;}"/>
          <p:cNvSpPr txBox="1"/>
          <p:nvPr/>
        </p:nvSpPr>
        <p:spPr>
          <a:xfrm>
            <a:off x="1790700" y="2152650"/>
            <a:ext cx="5429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425" b="1" dirty="0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吴俊德</a:t>
            </a:r>
            <a:endParaRPr lang="zh-CN" sz="1425" b="1" dirty="0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4" name="任意多边形 1063"/>
          <p:cNvSpPr/>
          <p:nvPr/>
        </p:nvSpPr>
        <p:spPr>
          <a:xfrm>
            <a:off x="3086100" y="1857375"/>
            <a:ext cx="4010025" cy="800100"/>
          </a:xfrm>
          <a:custGeom>
            <a:avLst/>
            <a:gdLst/>
            <a:ahLst/>
            <a:cxnLst/>
            <a:rect l="0" t="0" r="0" b="0"/>
            <a:pathLst>
              <a:path w="421" h="84">
                <a:moveTo>
                  <a:pt x="0" y="0"/>
                </a:moveTo>
                <a:lnTo>
                  <a:pt x="1" y="0"/>
                </a:lnTo>
                <a:lnTo>
                  <a:pt x="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65" name="文本框 1064" descr="{&quot;isTemplate&quot;:true,&quot;type&quot;:&quot;text&quot;}"/>
          <p:cNvSpPr txBox="1"/>
          <p:nvPr/>
        </p:nvSpPr>
        <p:spPr>
          <a:xfrm>
            <a:off x="4105275" y="2095500"/>
            <a:ext cx="19907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汇报主讲、整体框架设计</a:t>
            </a:r>
            <a:endParaRPr lang="zh-CN" sz="1425">
              <a:solidFill>
                <a:srgbClr val="334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6" name="任意多边形 1065"/>
          <p:cNvSpPr/>
          <p:nvPr/>
        </p:nvSpPr>
        <p:spPr>
          <a:xfrm>
            <a:off x="7096125" y="1857375"/>
            <a:ext cx="4676775" cy="800100"/>
          </a:xfrm>
          <a:custGeom>
            <a:avLst/>
            <a:gdLst/>
            <a:ahLst/>
            <a:cxnLst/>
            <a:rect l="0" t="0" r="0" b="0"/>
            <a:pathLst>
              <a:path w="491" h="84">
                <a:moveTo>
                  <a:pt x="0" y="0"/>
                </a:moveTo>
                <a:lnTo>
                  <a:pt x="1" y="0"/>
                </a:lnTo>
                <a:lnTo>
                  <a:pt x="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67" name="文本框 1066" descr="{&quot;isTemplate&quot;:true,&quot;type&quot;:&quot;text&quot;}"/>
          <p:cNvSpPr txBox="1"/>
          <p:nvPr/>
        </p:nvSpPr>
        <p:spPr>
          <a:xfrm>
            <a:off x="8067675" y="2095500"/>
            <a:ext cx="27527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全书定位、第</a:t>
            </a:r>
            <a:r>
              <a:rPr lang="en-US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章导入与总结收束</a:t>
            </a:r>
            <a:endParaRPr lang="zh-CN" sz="1425">
              <a:solidFill>
                <a:srgbClr val="334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8" name="矩形 1067"/>
          <p:cNvSpPr/>
          <p:nvPr/>
        </p:nvSpPr>
        <p:spPr>
          <a:xfrm>
            <a:off x="419100" y="2667000"/>
            <a:ext cx="11353800" cy="819150"/>
          </a:xfrm>
          <a:prstGeom prst="rect">
            <a:avLst/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069" name="任意多边形 1068"/>
          <p:cNvSpPr/>
          <p:nvPr/>
        </p:nvSpPr>
        <p:spPr>
          <a:xfrm>
            <a:off x="419100" y="2657475"/>
            <a:ext cx="11353800" cy="828675"/>
          </a:xfrm>
          <a:custGeom>
            <a:avLst/>
            <a:gdLst/>
            <a:ahLst/>
            <a:cxnLst/>
            <a:rect l="0" t="0" r="0" b="0"/>
            <a:pathLst>
              <a:path w="1192" h="87">
                <a:moveTo>
                  <a:pt x="0" y="0"/>
                </a:moveTo>
                <a:lnTo>
                  <a:pt x="1192" y="0"/>
                </a:lnTo>
                <a:lnTo>
                  <a:pt x="119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70" name="文本框 1069" descr="{&quot;isTemplate&quot;:true,&quot;type&quot;:&quot;text&quot;}"/>
          <p:cNvSpPr txBox="1"/>
          <p:nvPr/>
        </p:nvSpPr>
        <p:spPr>
          <a:xfrm>
            <a:off x="1104900" y="299085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小组成员</a:t>
            </a:r>
            <a:endParaRPr lang="zh-CN" sz="112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1" name="矩形 1070"/>
          <p:cNvSpPr/>
          <p:nvPr/>
        </p:nvSpPr>
        <p:spPr>
          <a:xfrm>
            <a:off x="1762125" y="3000375"/>
            <a:ext cx="9525" cy="142875"/>
          </a:xfrm>
          <a:prstGeom prst="rect">
            <a:avLst/>
          </a:prstGeom>
          <a:solidFill>
            <a:srgbClr val="CFE0E3"/>
          </a:solidFill>
        </p:spPr>
        <p:txBody>
          <a:bodyPr/>
          <a:lstStyle/>
          <a:p/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1857375" y="2962275"/>
            <a:ext cx="5429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柴胜利</a:t>
            </a:r>
            <a:endParaRPr lang="zh-CN" sz="142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3" name="任意多边形 1072"/>
          <p:cNvSpPr/>
          <p:nvPr/>
        </p:nvSpPr>
        <p:spPr>
          <a:xfrm>
            <a:off x="3086100" y="2667000"/>
            <a:ext cx="4010025" cy="809625"/>
          </a:xfrm>
          <a:custGeom>
            <a:avLst/>
            <a:gdLst/>
            <a:ahLst/>
            <a:cxnLst/>
            <a:rect l="0" t="0" r="0" b="0"/>
            <a:pathLst>
              <a:path w="421" h="85">
                <a:moveTo>
                  <a:pt x="0" y="0"/>
                </a:moveTo>
                <a:lnTo>
                  <a:pt x="1" y="0"/>
                </a:lnTo>
                <a:lnTo>
                  <a:pt x="1" y="85"/>
                </a:lnTo>
                <a:lnTo>
                  <a:pt x="0" y="85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74" name="文本框 1073" descr="{&quot;isTemplate&quot;:true,&quot;type&quot;:&quot;text&quot;}"/>
          <p:cNvSpPr txBox="1"/>
          <p:nvPr/>
        </p:nvSpPr>
        <p:spPr>
          <a:xfrm>
            <a:off x="3429000" y="2905125"/>
            <a:ext cx="33337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学习范式与对齐机制梳理（兼</a:t>
            </a:r>
            <a:r>
              <a:rPr lang="en-US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 PPT </a:t>
            </a: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制作）</a:t>
            </a:r>
            <a:endParaRPr lang="zh-CN" sz="1425">
              <a:solidFill>
                <a:srgbClr val="334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5" name="任意多边形 1074"/>
          <p:cNvSpPr/>
          <p:nvPr/>
        </p:nvSpPr>
        <p:spPr>
          <a:xfrm>
            <a:off x="7096125" y="2667000"/>
            <a:ext cx="4676775" cy="809625"/>
          </a:xfrm>
          <a:custGeom>
            <a:avLst/>
            <a:gdLst/>
            <a:ahLst/>
            <a:cxnLst/>
            <a:rect l="0" t="0" r="0" b="0"/>
            <a:pathLst>
              <a:path w="491" h="85">
                <a:moveTo>
                  <a:pt x="0" y="0"/>
                </a:moveTo>
                <a:lnTo>
                  <a:pt x="1" y="0"/>
                </a:lnTo>
                <a:lnTo>
                  <a:pt x="1" y="85"/>
                </a:lnTo>
                <a:lnTo>
                  <a:pt x="0" y="85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76" name="文本框 1075" descr="{&quot;isTemplate&quot;:true,&quot;type&quot;:&quot;text&quot;}"/>
          <p:cNvSpPr txBox="1"/>
          <p:nvPr/>
        </p:nvSpPr>
        <p:spPr>
          <a:xfrm>
            <a:off x="8067675" y="2905125"/>
            <a:ext cx="27432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六种学习范式、</a:t>
            </a:r>
            <a:r>
              <a:rPr lang="en-US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PPO </a:t>
            </a: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 DPO </a:t>
            </a: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对比</a:t>
            </a:r>
            <a:endParaRPr lang="zh-CN" sz="1425">
              <a:solidFill>
                <a:srgbClr val="334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7" name="矩形 1076"/>
          <p:cNvSpPr/>
          <p:nvPr/>
        </p:nvSpPr>
        <p:spPr>
          <a:xfrm>
            <a:off x="419100" y="3486150"/>
            <a:ext cx="11353800" cy="8096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078" name="任意多边形 1077"/>
          <p:cNvSpPr/>
          <p:nvPr/>
        </p:nvSpPr>
        <p:spPr>
          <a:xfrm>
            <a:off x="419100" y="3476625"/>
            <a:ext cx="11353800" cy="819150"/>
          </a:xfrm>
          <a:custGeom>
            <a:avLst/>
            <a:gdLst/>
            <a:ahLst/>
            <a:cxnLst/>
            <a:rect l="0" t="0" r="0" b="0"/>
            <a:pathLst>
              <a:path w="1192" h="86">
                <a:moveTo>
                  <a:pt x="0" y="0"/>
                </a:moveTo>
                <a:lnTo>
                  <a:pt x="1192" y="0"/>
                </a:lnTo>
                <a:lnTo>
                  <a:pt x="119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1104900" y="380047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小组成员</a:t>
            </a:r>
            <a:endParaRPr lang="zh-CN" sz="112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0" name="矩形 1079"/>
          <p:cNvSpPr/>
          <p:nvPr/>
        </p:nvSpPr>
        <p:spPr>
          <a:xfrm>
            <a:off x="1762125" y="3819525"/>
            <a:ext cx="9525" cy="142875"/>
          </a:xfrm>
          <a:prstGeom prst="rect">
            <a:avLst/>
          </a:prstGeom>
          <a:solidFill>
            <a:srgbClr val="CFE0E3"/>
          </a:solidFill>
        </p:spPr>
        <p:txBody>
          <a:bodyPr/>
          <a:lstStyle/>
          <a:p/>
        </p:txBody>
      </p:sp>
      <p:sp>
        <p:nvSpPr>
          <p:cNvPr id="1081" name="文本框 1080" descr="{&quot;isTemplate&quot;:true,&quot;type&quot;:&quot;text&quot;}"/>
          <p:cNvSpPr txBox="1"/>
          <p:nvPr/>
        </p:nvSpPr>
        <p:spPr>
          <a:xfrm>
            <a:off x="1857375" y="3781425"/>
            <a:ext cx="5429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龚德伟</a:t>
            </a:r>
            <a:endParaRPr lang="zh-CN" sz="142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2" name="任意多边形 1081"/>
          <p:cNvSpPr/>
          <p:nvPr/>
        </p:nvSpPr>
        <p:spPr>
          <a:xfrm>
            <a:off x="3086100" y="3486150"/>
            <a:ext cx="4010025" cy="800100"/>
          </a:xfrm>
          <a:custGeom>
            <a:avLst/>
            <a:gdLst/>
            <a:ahLst/>
            <a:cxnLst/>
            <a:rect l="0" t="0" r="0" b="0"/>
            <a:pathLst>
              <a:path w="421" h="84">
                <a:moveTo>
                  <a:pt x="0" y="0"/>
                </a:moveTo>
                <a:lnTo>
                  <a:pt x="1" y="0"/>
                </a:lnTo>
                <a:lnTo>
                  <a:pt x="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83" name="文本框 1082" descr="{&quot;isTemplate&quot;:true,&quot;type&quot;:&quot;text&quot;}"/>
          <p:cNvSpPr txBox="1"/>
          <p:nvPr/>
        </p:nvSpPr>
        <p:spPr>
          <a:xfrm>
            <a:off x="4229100" y="3724275"/>
            <a:ext cx="17335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en-US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自改进系统分析</a:t>
            </a:r>
            <a:endParaRPr lang="zh-CN" sz="1425">
              <a:solidFill>
                <a:srgbClr val="334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4" name="任意多边形 1083"/>
          <p:cNvSpPr/>
          <p:nvPr/>
        </p:nvSpPr>
        <p:spPr>
          <a:xfrm>
            <a:off x="7096125" y="3486150"/>
            <a:ext cx="4676775" cy="800100"/>
          </a:xfrm>
          <a:custGeom>
            <a:avLst/>
            <a:gdLst/>
            <a:ahLst/>
            <a:cxnLst/>
            <a:rect l="0" t="0" r="0" b="0"/>
            <a:pathLst>
              <a:path w="491" h="84">
                <a:moveTo>
                  <a:pt x="0" y="0"/>
                </a:moveTo>
                <a:lnTo>
                  <a:pt x="1" y="0"/>
                </a:lnTo>
                <a:lnTo>
                  <a:pt x="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85" name="文本框 1084" descr="{&quot;isTemplate&quot;:true,&quot;type&quot;:&quot;text&quot;}"/>
          <p:cNvSpPr txBox="1"/>
          <p:nvPr/>
        </p:nvSpPr>
        <p:spPr>
          <a:xfrm>
            <a:off x="8143875" y="3724275"/>
            <a:ext cx="2590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en-US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SICA </a:t>
            </a: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四步循环与</a:t>
            </a:r>
            <a:r>
              <a:rPr lang="en-US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 14 </a:t>
            </a: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轮迭代实测</a:t>
            </a:r>
            <a:endParaRPr lang="zh-CN" sz="1425">
              <a:solidFill>
                <a:srgbClr val="334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6" name="矩形 1085"/>
          <p:cNvSpPr/>
          <p:nvPr/>
        </p:nvSpPr>
        <p:spPr>
          <a:xfrm>
            <a:off x="419100" y="4295775"/>
            <a:ext cx="11353800" cy="819150"/>
          </a:xfrm>
          <a:prstGeom prst="rect">
            <a:avLst/>
          </a:prstGeom>
          <a:solidFill>
            <a:srgbClr val="F4F9FA"/>
          </a:solidFill>
        </p:spPr>
        <p:txBody>
          <a:bodyPr/>
          <a:lstStyle/>
          <a:p/>
        </p:txBody>
      </p:sp>
      <p:sp>
        <p:nvSpPr>
          <p:cNvPr id="1087" name="任意多边形 1086"/>
          <p:cNvSpPr/>
          <p:nvPr/>
        </p:nvSpPr>
        <p:spPr>
          <a:xfrm>
            <a:off x="419100" y="4286250"/>
            <a:ext cx="11353800" cy="828675"/>
          </a:xfrm>
          <a:custGeom>
            <a:avLst/>
            <a:gdLst/>
            <a:ahLst/>
            <a:cxnLst/>
            <a:rect l="0" t="0" r="0" b="0"/>
            <a:pathLst>
              <a:path w="1192" h="87">
                <a:moveTo>
                  <a:pt x="0" y="0"/>
                </a:moveTo>
                <a:lnTo>
                  <a:pt x="1192" y="0"/>
                </a:lnTo>
                <a:lnTo>
                  <a:pt x="119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88" name="文本框 1087" descr="{&quot;isTemplate&quot;:true,&quot;type&quot;:&quot;text&quot;}"/>
          <p:cNvSpPr txBox="1"/>
          <p:nvPr/>
        </p:nvSpPr>
        <p:spPr>
          <a:xfrm>
            <a:off x="1104900" y="461962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小组成员</a:t>
            </a:r>
            <a:endParaRPr lang="zh-CN" sz="112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9" name="矩形 1088"/>
          <p:cNvSpPr/>
          <p:nvPr/>
        </p:nvSpPr>
        <p:spPr>
          <a:xfrm>
            <a:off x="1762125" y="4629150"/>
            <a:ext cx="9525" cy="142875"/>
          </a:xfrm>
          <a:prstGeom prst="rect">
            <a:avLst/>
          </a:prstGeom>
          <a:solidFill>
            <a:srgbClr val="CFE0E3"/>
          </a:solidFill>
        </p:spPr>
        <p:txBody>
          <a:bodyPr/>
          <a:lstStyle/>
          <a:p/>
        </p:txBody>
      </p:sp>
      <p:sp>
        <p:nvSpPr>
          <p:cNvPr id="1090" name="文本框 1089" descr="{&quot;isTemplate&quot;:true,&quot;type&quot;:&quot;text&quot;}"/>
          <p:cNvSpPr txBox="1"/>
          <p:nvPr/>
        </p:nvSpPr>
        <p:spPr>
          <a:xfrm>
            <a:off x="1857375" y="4591050"/>
            <a:ext cx="5429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425" b="1" dirty="0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李胜宇</a:t>
            </a:r>
            <a:endParaRPr lang="zh-CN" sz="1425" b="1" dirty="0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1" name="任意多边形 1090"/>
          <p:cNvSpPr/>
          <p:nvPr/>
        </p:nvSpPr>
        <p:spPr>
          <a:xfrm>
            <a:off x="3086100" y="4295775"/>
            <a:ext cx="4010025" cy="809625"/>
          </a:xfrm>
          <a:custGeom>
            <a:avLst/>
            <a:gdLst/>
            <a:ahLst/>
            <a:cxnLst/>
            <a:rect l="0" t="0" r="0" b="0"/>
            <a:pathLst>
              <a:path w="421" h="85">
                <a:moveTo>
                  <a:pt x="0" y="0"/>
                </a:moveTo>
                <a:lnTo>
                  <a:pt x="1" y="0"/>
                </a:lnTo>
                <a:lnTo>
                  <a:pt x="1" y="85"/>
                </a:lnTo>
                <a:lnTo>
                  <a:pt x="0" y="85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92" name="文本框 1091" descr="{&quot;isTemplate&quot;:true,&quot;type&quot;:&quot;text&quot;}"/>
          <p:cNvSpPr txBox="1"/>
          <p:nvPr/>
        </p:nvSpPr>
        <p:spPr>
          <a:xfrm>
            <a:off x="4181475" y="4533900"/>
            <a:ext cx="18383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en-US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AlphaEvolve </a:t>
            </a: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案例研究</a:t>
            </a:r>
            <a:endParaRPr lang="zh-CN" sz="1425">
              <a:solidFill>
                <a:srgbClr val="334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3" name="任意多边形 1092"/>
          <p:cNvSpPr/>
          <p:nvPr/>
        </p:nvSpPr>
        <p:spPr>
          <a:xfrm>
            <a:off x="7096125" y="4295775"/>
            <a:ext cx="4676775" cy="809625"/>
          </a:xfrm>
          <a:custGeom>
            <a:avLst/>
            <a:gdLst/>
            <a:ahLst/>
            <a:cxnLst/>
            <a:rect l="0" t="0" r="0" b="0"/>
            <a:pathLst>
              <a:path w="491" h="85">
                <a:moveTo>
                  <a:pt x="0" y="0"/>
                </a:moveTo>
                <a:lnTo>
                  <a:pt x="1" y="0"/>
                </a:lnTo>
                <a:lnTo>
                  <a:pt x="1" y="85"/>
                </a:lnTo>
                <a:lnTo>
                  <a:pt x="0" y="85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94" name="文本框 1093" descr="{&quot;isTemplate&quot;:true,&quot;type&quot;:&quot;text&quot;}"/>
          <p:cNvSpPr txBox="1"/>
          <p:nvPr/>
        </p:nvSpPr>
        <p:spPr>
          <a:xfrm>
            <a:off x="8267700" y="4533900"/>
            <a:ext cx="23526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进化搜索框架与四类应用成绩</a:t>
            </a:r>
            <a:endParaRPr lang="zh-CN" sz="1425">
              <a:solidFill>
                <a:srgbClr val="334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5" name="矩形 1094"/>
          <p:cNvSpPr/>
          <p:nvPr/>
        </p:nvSpPr>
        <p:spPr>
          <a:xfrm>
            <a:off x="419100" y="5114925"/>
            <a:ext cx="11353800" cy="8191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096" name="任意多边形 1095"/>
          <p:cNvSpPr/>
          <p:nvPr/>
        </p:nvSpPr>
        <p:spPr>
          <a:xfrm>
            <a:off x="419100" y="5105400"/>
            <a:ext cx="11353800" cy="838200"/>
          </a:xfrm>
          <a:custGeom>
            <a:avLst/>
            <a:gdLst/>
            <a:ahLst/>
            <a:cxnLst/>
            <a:rect l="0" t="0" r="0" b="0"/>
            <a:pathLst>
              <a:path w="1192" h="88">
                <a:moveTo>
                  <a:pt x="0" y="0"/>
                </a:moveTo>
                <a:lnTo>
                  <a:pt x="1192" y="0"/>
                </a:lnTo>
                <a:lnTo>
                  <a:pt x="119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97" name="任意多边形 1096"/>
          <p:cNvSpPr/>
          <p:nvPr/>
        </p:nvSpPr>
        <p:spPr>
          <a:xfrm>
            <a:off x="419100" y="5105400"/>
            <a:ext cx="11353800" cy="838200"/>
          </a:xfrm>
          <a:custGeom>
            <a:avLst/>
            <a:gdLst/>
            <a:ahLst/>
            <a:cxnLst/>
            <a:rect l="0" t="0" r="0" b="0"/>
            <a:pathLst>
              <a:path w="1192" h="88">
                <a:moveTo>
                  <a:pt x="0" y="87"/>
                </a:moveTo>
                <a:lnTo>
                  <a:pt x="1192" y="87"/>
                </a:lnTo>
                <a:lnTo>
                  <a:pt x="1192" y="88"/>
                </a:lnTo>
                <a:lnTo>
                  <a:pt x="0" y="88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098" name="文本框 1097" descr="{&quot;isTemplate&quot;:true,&quot;type&quot;:&quot;text&quot;}"/>
          <p:cNvSpPr txBox="1"/>
          <p:nvPr/>
        </p:nvSpPr>
        <p:spPr>
          <a:xfrm>
            <a:off x="1200150" y="542925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3AE"/>
                </a:solidFill>
                <a:latin typeface="微软雅黑" panose="020B0503020204020204" charset="-122"/>
                <a:ea typeface="微软雅黑" panose="020B0503020204020204" charset="-122"/>
              </a:rPr>
              <a:t>小组成员</a:t>
            </a:r>
            <a:endParaRPr lang="zh-CN" sz="1125">
              <a:solidFill>
                <a:srgbClr val="8FA3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9" name="矩形 1098"/>
          <p:cNvSpPr/>
          <p:nvPr/>
        </p:nvSpPr>
        <p:spPr>
          <a:xfrm>
            <a:off x="1857375" y="5448300"/>
            <a:ext cx="9525" cy="142875"/>
          </a:xfrm>
          <a:prstGeom prst="rect">
            <a:avLst/>
          </a:prstGeom>
          <a:solidFill>
            <a:srgbClr val="CFE0E3"/>
          </a:solidFill>
        </p:spPr>
        <p:txBody>
          <a:bodyPr/>
          <a:lstStyle/>
          <a:p/>
        </p:txBody>
      </p:sp>
      <p:sp>
        <p:nvSpPr>
          <p:cNvPr id="1100" name="文本框 1099" descr="{&quot;isTemplate&quot;:true,&quot;type&quot;:&quot;text&quot;}"/>
          <p:cNvSpPr txBox="1"/>
          <p:nvPr/>
        </p:nvSpPr>
        <p:spPr>
          <a:xfrm>
            <a:off x="1952625" y="5410200"/>
            <a:ext cx="361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0505A"/>
                </a:solidFill>
                <a:latin typeface="微软雅黑" panose="020B0503020204020204" charset="-122"/>
                <a:ea typeface="微软雅黑" panose="020B0503020204020204" charset="-122"/>
              </a:rPr>
              <a:t>熊宇</a:t>
            </a:r>
            <a:endParaRPr lang="zh-CN" sz="1425" b="1">
              <a:solidFill>
                <a:srgbClr val="005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1" name="任意多边形 1100"/>
          <p:cNvSpPr/>
          <p:nvPr/>
        </p:nvSpPr>
        <p:spPr>
          <a:xfrm>
            <a:off x="3086100" y="5114925"/>
            <a:ext cx="4010025" cy="800100"/>
          </a:xfrm>
          <a:custGeom>
            <a:avLst/>
            <a:gdLst/>
            <a:ahLst/>
            <a:cxnLst/>
            <a:rect l="0" t="0" r="0" b="0"/>
            <a:pathLst>
              <a:path w="421" h="84">
                <a:moveTo>
                  <a:pt x="0" y="0"/>
                </a:moveTo>
                <a:lnTo>
                  <a:pt x="1" y="0"/>
                </a:lnTo>
                <a:lnTo>
                  <a:pt x="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102" name="文本框 1101" descr="{&quot;isTemplate&quot;:true,&quot;type&quot;:&quot;text&quot;}"/>
          <p:cNvSpPr txBox="1"/>
          <p:nvPr/>
        </p:nvSpPr>
        <p:spPr>
          <a:xfrm>
            <a:off x="4105275" y="5353050"/>
            <a:ext cx="19907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en-US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OpenEvolve </a:t>
            </a: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与模式提炼</a:t>
            </a:r>
            <a:endParaRPr lang="zh-CN" sz="1425">
              <a:solidFill>
                <a:srgbClr val="334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3" name="任意多边形 1102"/>
          <p:cNvSpPr/>
          <p:nvPr/>
        </p:nvSpPr>
        <p:spPr>
          <a:xfrm>
            <a:off x="7096125" y="5114925"/>
            <a:ext cx="4676775" cy="800100"/>
          </a:xfrm>
          <a:custGeom>
            <a:avLst/>
            <a:gdLst/>
            <a:ahLst/>
            <a:cxnLst/>
            <a:rect l="0" t="0" r="0" b="0"/>
            <a:pathLst>
              <a:path w="491" h="84">
                <a:moveTo>
                  <a:pt x="0" y="0"/>
                </a:moveTo>
                <a:lnTo>
                  <a:pt x="1" y="0"/>
                </a:lnTo>
                <a:lnTo>
                  <a:pt x="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8F0F2"/>
          </a:solidFill>
        </p:spPr>
        <p:txBody>
          <a:bodyPr/>
          <a:lstStyle/>
          <a:p/>
        </p:txBody>
      </p:sp>
      <p:sp>
        <p:nvSpPr>
          <p:cNvPr id="1104" name="文本框 1103" descr="{&quot;isTemplate&quot;:true,&quot;type&quot;:&quot;text&quot;}"/>
          <p:cNvSpPr txBox="1"/>
          <p:nvPr/>
        </p:nvSpPr>
        <p:spPr>
          <a:xfrm>
            <a:off x="8267700" y="5353050"/>
            <a:ext cx="23526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1425">
                <a:solidFill>
                  <a:srgbClr val="33454F"/>
                </a:solidFill>
                <a:latin typeface="微软雅黑" panose="020B0503020204020204" charset="-122"/>
                <a:ea typeface="微软雅黑" panose="020B0503020204020204" charset="-122"/>
              </a:rPr>
              <a:t>开源进化编程实践与模式收束</a:t>
            </a:r>
            <a:endParaRPr lang="zh-CN" sz="1425">
              <a:solidFill>
                <a:srgbClr val="334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5" name="圆角矩形 1104"/>
          <p:cNvSpPr/>
          <p:nvPr/>
        </p:nvSpPr>
        <p:spPr>
          <a:xfrm>
            <a:off x="419100" y="6038850"/>
            <a:ext cx="11353800" cy="381000"/>
          </a:xfrm>
          <a:prstGeom prst="roundRect">
            <a:avLst>
              <a:gd name="adj" fmla="val 20000"/>
            </a:avLst>
          </a:prstGeom>
          <a:solidFill>
            <a:srgbClr val="F4F9FA"/>
          </a:solidFill>
          <a:ln w="12700">
            <a:solidFill>
              <a:srgbClr val="E4EFF1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07" name="图片 11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8850" y="6124575"/>
            <a:ext cx="209550" cy="209550"/>
          </a:xfrm>
          <a:prstGeom prst="rect">
            <a:avLst/>
          </a:prstGeom>
        </p:spPr>
      </p:pic>
      <p:sp>
        <p:nvSpPr>
          <p:cNvPr id="1108" name="文本框 1107" descr="{&quot;isTemplate&quot;:true,&quot;type&quot;:&quot;text&quot;}"/>
          <p:cNvSpPr txBox="1"/>
          <p:nvPr/>
        </p:nvSpPr>
        <p:spPr>
          <a:xfrm>
            <a:off x="6334125" y="6153150"/>
            <a:ext cx="942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 spc="188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endParaRPr lang="zh-CN" sz="1050" b="1" spc="188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0" name="文本框 1109" descr="{&quot;isTemplate&quot;:true,&quot;type&quot;:&quot;text&quot;}"/>
          <p:cNvSpPr txBox="1"/>
          <p:nvPr/>
        </p:nvSpPr>
        <p:spPr>
          <a:xfrm>
            <a:off x="419100" y="65436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A8B4BE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975">
              <a:solidFill>
                <a:srgbClr val="A8B4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1" name="文本框 1110" descr="{&quot;isTemplate&quot;:true,&quot;type&quot;:&quot;text&quot;}"/>
          <p:cNvSpPr txBox="1"/>
          <p:nvPr/>
        </p:nvSpPr>
        <p:spPr>
          <a:xfrm>
            <a:off x="11296650" y="65436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07581"/>
                </a:solidFill>
                <a:latin typeface="微软雅黑" panose="020B0503020204020204" charset="-122"/>
                <a:ea typeface="微软雅黑" panose="020B0503020204020204" charset="-122"/>
              </a:rPr>
              <a:t>32 / 33</a:t>
            </a:r>
            <a:endParaRPr lang="en-US" sz="1050" b="1">
              <a:solidFill>
                <a:srgbClr val="007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 height: 720, padding: 0, position: 'relative',&#10;    background: 'linear-gradient(112deg, #00434C 0%, #00505A 46%, #007581 100%)',&#10;    fontFamily: '&quot;Microsoft YaHei&quot;, &quot;PingFang SC&quot;, sans-serif', overflow: 'hidden',&#10;}}&gt;&#10;    {/* 背景线稿 */}&#10;    &lt;svg width={1280} height={720} viewBox='0 0 1280 720' style={{ position: 'absolute', left: 0, top: 0 }}&gt;&#10;        &lt;g opacity='0.16' stroke='#8FD3DA' strokeWidth='1.1' fill='none'&gt;&#10;            &lt;circle cx='1080' cy='150' r='86' /&gt;&#10;            &lt;circle cx='1080' cy='150' r='132' /&gt;&#10;            &lt;circle cx='1080' cy='150' r='178' /&gt;&#10;        &lt;/g&gt;&#10;        &lt;g opacity='0.28' fill='#8FD3DA'&gt;&#10;            &lt;circle cx='120' cy='640' r='5' /&gt;&#10;            &lt;circle cx='240' cy='672' r='4' /&gt;&#10;            &lt;circle cx='360' cy='636' r='4.5' /&gt;&#10;        &lt;/g&gt;&#10;    &lt;/svg&gt;&#10;&#10;    &lt;Box style={{ flexDirection: 'row', width: '100%', height: '100%', padding: '64px 64px 56px', gap: 48 }}&gt;&#10;&#10;        {/* 左：致谢 */}&#10;        &lt;Box style={{ flex: 1, flexDirection: 'column', justifyContent: 'space-between' }}&gt;&#10;            &lt;Box style={{ flexDirection: 'row', alignItems: 'center', gap: 16 }}&gt;&#10;                &lt;Image src='assets/ccnu_logo.png' style={{ width: 58, height: 58 }} /&gt;&#10;                &lt;Box&gt;&#10;                    &lt;Text style={{ fontSize: 19, fontWeight: 'bold', color: '#FFFFFF', letterSpacing: 1.5 }}&gt;华中师范大学&lt;/Text&gt;&#10;                    &lt;Text style={{ fontSize: 10.5, color: '#9AD4DB', letterSpacing: 0.8, marginTop: 3 }}&gt;CENTRAL CHINA NORMAL UNIVERSITY&lt;/Text&gt;&#10;                &lt;/Box&gt;&#10;            &lt;/Box&gt;&#10;&#10;            &lt;Box style={{ flexDirection: 'column' }}&gt;&#10;                &lt;Text style={{ fontSize: 13, color: '#4FC0CB', letterSpacing: 4, fontWeight: 'bold' }}&gt;THANKS FOR LISTENING&lt;/Text&gt;&#10;                &lt;Text style={{ fontSize: 84, fontWeight: 'bold', color: '#FFFFFF', lineHeight: 1.08, marginTop: 16, letterSpacing: 4 }}&gt;&#10;                    谢谢&#10;                &lt;/Text&gt;&#10;                &lt;Text style={{ fontSize: 40, fontWeight: 'bold', color: '#8FD3DA', marginTop: 6, letterSpacing: 4 }}&gt;&#10;                    Q &amp;amp; A&#10;                &lt;/Text&gt;&#10;                &lt;Box style={{ width: 128, height: 3, background: 'rgba(143,211,218,0.5)', marginTop: 26 }} /&gt;&#10;                &lt;Text style={{ fontSize: 18, color: '#CDEBEF', marginTop: 22, lineHeight: 1.7 }}&gt;&#10;                    《Agentic Design Patterns》第 9 章 · 学习与适应&lt;br /&gt;&#10;                    高级数据库技术 · 第九组 · 2026 年 10 月&#10;                &lt;/Text&gt;&#10;            &lt;/Box&gt;&#10;&#10;            &lt;Box style={{ flexDirection: 'column', gap: 6 }}&gt;&#10;                &lt;Text style={{ fontSize: 13, color: '#7FCBD4' }}&gt;汇报人：李胜宇&lt;/Text&gt;&#10;                &lt;Text style={{ fontSize: 12.5, color: '#6FB6C0' }}&gt;本章内容整理自原书第 9 章正文与配图&lt;/Text&gt;&#10;            &lt;/Box&gt;&#10;        &lt;/Box&gt;&#10;&#10;        {/* 右：参考文献 */}&#10;        &lt;Box style={{&#10;            width: 470, flexDirection: 'column', padding: '26px 26px 22px',&#10;            background: 'rgba(255,255,255,0.08)', borderRadius: 12,&#10;            border: '1px solid rgba(143,211,218,0.28)',&#10;        }}&gt;&#10;            &lt;Box style={{ flexDirection: 'row', alignItems: 'center', gap: 11 }}&gt;&#10;                &lt;FAIcon name='book-open' style={{ fill: '#4FC0CB', width: 20, height: 20 }} /&gt;&#10;                &lt;Text style={{ fontSize: 19, fontWeight: 'bold', color: '#FFFFFF' }}&gt;本章参考文献&lt;/Text&gt;&#10;            &lt;/Box&gt;&#10;            &lt;Box style={{ width: 46, height: 2.5, background: '#4FC0CB', marginTop: 12 }} /&gt;&#10;&#10;            &lt;Box style={{ flexDirection: 'column', gap: 13, marginTop: 20, flex: 1, justifyContent: 'space-evenly' }}&gt;&#10;                {[&#10;                    { n: '1', t: 'Sutton &amp; Barto (2018). Reinforcement Learning: An Introduction. MIT Press.' },&#10;                    { n: '2', t: 'Goodfellow, Bengio &amp; Courville (2016). Deep Learning. MIT Press.' },&#10;                    { n: '3', t: 'Mitchell (1997). Machine Learning. McGraw-Hill.' },&#10;                    { n: '4', t: 'Schulman et al. Proximal Policy Optimization Algorithms. arXiv:1707.06347' },&#10;                    { n: '5', t: 'Robeyns, Aitchison &amp; Szummer (2025). A Self-Improving Coding Agent. arXiv:2504.15228v2' },&#10;                    { n: '6', t: 'AlphaEvolve: a Gemini-powered coding agent for designing advanced algorithms. Google DeepMind Blog.' },&#10;                    { n: '7', t: 'OpenEvolve. github.com/codelion/openevolve' },&#10;                ].map((r, i) =&gt; (&#10;                    &lt;Box key={i} style={{ flexDirection: 'row', gap: 11, alignItems: 'flex-start' }}&gt;&#10;                        &lt;Box style={{&#10;                            width: 21, height: 21, borderRadius: 11, background: 'rgba(143,211,218,0.22)',&#10;                            justifyContent: 'center', alignItems: 'center',&#10;                        }}&gt;&#10;                            &lt;Text style={{ fontSize: 11.5, color: '#BFE7EB', fontWeight: 'bold' }}&gt;{r.n}&lt;/Text&gt;&#10;                        &lt;/Box&gt;&#10;                        &lt;Text style={{ fontSize: 13.5, color: '#CDEBEF', lineHeight: 1.55, flex: 1 }}&gt;{r.t}&lt;/Text&gt;&#10;                    &lt;/Box&gt;&#10;                ))}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矩形 11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434C"/>
              </a:gs>
              <a:gs pos="46000">
                <a:srgbClr val="00505A"/>
              </a:gs>
              <a:gs pos="100000">
                <a:srgbClr val="007581"/>
              </a:gs>
            </a:gsLst>
            <a:lin ang="1320000" scaled="1"/>
          </a:gradFill>
        </p:spPr>
        <p:txBody>
          <a:bodyPr/>
          <a:lstStyle/>
          <a:p/>
        </p:txBody>
      </p:sp>
      <p:pic>
        <p:nvPicPr>
          <p:cNvPr id="1114" name="图片 11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609600"/>
            <a:ext cx="552450" cy="552450"/>
          </a:xfrm>
          <a:prstGeom prst="rect">
            <a:avLst/>
          </a:prstGeom>
        </p:spPr>
      </p:pic>
      <p:sp>
        <p:nvSpPr>
          <p:cNvPr id="1115" name="文本框 1114" descr="{&quot;isTemplate&quot;:true,&quot;type&quot;:&quot;text&quot;}"/>
          <p:cNvSpPr txBox="1"/>
          <p:nvPr/>
        </p:nvSpPr>
        <p:spPr>
          <a:xfrm>
            <a:off x="1314450" y="704850"/>
            <a:ext cx="21240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华中师范大学</a:t>
            </a:r>
            <a:endParaRPr lang="zh-CN" sz="1425" b="1" spc="113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6" name="文本框 1115" descr="{&quot;isTemplate&quot;:true,&quot;type&quot;:&quot;text&quot;}"/>
          <p:cNvSpPr txBox="1"/>
          <p:nvPr/>
        </p:nvSpPr>
        <p:spPr>
          <a:xfrm>
            <a:off x="1314450" y="952500"/>
            <a:ext cx="2124075" cy="123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90" spc="60">
                <a:solidFill>
                  <a:srgbClr val="9AD4DB"/>
                </a:solidFill>
                <a:latin typeface="微软雅黑" panose="020B0503020204020204" charset="-122"/>
                <a:ea typeface="微软雅黑" panose="020B0503020204020204" charset="-122"/>
              </a:rPr>
              <a:t>CENTRAL CHINA NORMAL UNIVERSITY</a:t>
            </a:r>
            <a:endParaRPr lang="en-US" sz="790" spc="60">
              <a:solidFill>
                <a:srgbClr val="9AD4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7" name="文本框 1116" descr="{&quot;isTemplate&quot;:true,&quot;type&quot;:&quot;text&quot;}"/>
          <p:cNvSpPr txBox="1"/>
          <p:nvPr/>
        </p:nvSpPr>
        <p:spPr>
          <a:xfrm>
            <a:off x="609600" y="2047875"/>
            <a:ext cx="6038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FC0CB"/>
                </a:solidFill>
                <a:latin typeface="微软雅黑" panose="020B0503020204020204" charset="-122"/>
                <a:ea typeface="微软雅黑" panose="020B0503020204020204" charset="-122"/>
              </a:rPr>
              <a:t>THANKS FOR LISTENING</a:t>
            </a:r>
            <a:endParaRPr lang="en-US" sz="975" b="1" spc="300">
              <a:solidFill>
                <a:srgbClr val="4FC0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8" name="文本框 1117" descr="{&quot;isTemplate&quot;:true,&quot;type&quot;:&quot;text&quot;}"/>
          <p:cNvSpPr txBox="1"/>
          <p:nvPr/>
        </p:nvSpPr>
        <p:spPr>
          <a:xfrm>
            <a:off x="609600" y="2352675"/>
            <a:ext cx="6038850" cy="1038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8000"/>
              </a:lnSpc>
            </a:pPr>
            <a:r>
              <a:rPr lang="zh-CN" sz="6300" b="1" spc="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lang="zh-CN" sz="6300" b="1" spc="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9" name="文本框 1118" descr="{&quot;isTemplate&quot;:true,&quot;type&quot;:&quot;text&quot;}"/>
          <p:cNvSpPr txBox="1"/>
          <p:nvPr/>
        </p:nvSpPr>
        <p:spPr>
          <a:xfrm>
            <a:off x="609600" y="3448050"/>
            <a:ext cx="60388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 spc="300">
                <a:solidFill>
                  <a:srgbClr val="8FD3DA"/>
                </a:solidFill>
                <a:latin typeface="微软雅黑" panose="020B0503020204020204" charset="-122"/>
                <a:ea typeface="微软雅黑" panose="020B0503020204020204" charset="-122"/>
              </a:rPr>
              <a:t>Q &amp; A</a:t>
            </a:r>
            <a:endParaRPr lang="en-US" sz="3000" b="1" spc="300">
              <a:solidFill>
                <a:srgbClr val="8FD3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0" name="矩形 1119"/>
          <p:cNvSpPr/>
          <p:nvPr/>
        </p:nvSpPr>
        <p:spPr>
          <a:xfrm>
            <a:off x="609600" y="4152900"/>
            <a:ext cx="1219200" cy="28575"/>
          </a:xfrm>
          <a:prstGeom prst="rect">
            <a:avLst/>
          </a:prstGeom>
          <a:solidFill>
            <a:srgbClr val="8FD3DA">
              <a:alpha val="50000"/>
            </a:srgbClr>
          </a:solidFill>
        </p:spPr>
        <p:txBody>
          <a:bodyPr/>
          <a:lstStyle/>
          <a:p/>
        </p:txBody>
      </p:sp>
      <p:sp>
        <p:nvSpPr>
          <p:cNvPr id="1121" name="文本框 1120" descr="{&quot;isTemplate&quot;:true,&quot;type&quot;:&quot;text&quot;}"/>
          <p:cNvSpPr txBox="1"/>
          <p:nvPr/>
        </p:nvSpPr>
        <p:spPr>
          <a:xfrm>
            <a:off x="609600" y="4391025"/>
            <a:ext cx="6038850" cy="704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en-US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Agentic Design Patterns</a:t>
            </a:r>
            <a:r>
              <a:rPr lang="zh-CN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》第</a:t>
            </a:r>
            <a:r>
              <a:rPr lang="en-US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学习与适应</a:t>
            </a:r>
            <a:endParaRPr lang="zh-CN" sz="1350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高级数据库技术</a:t>
            </a:r>
            <a:r>
              <a:rPr lang="en-US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第九组</a:t>
            </a:r>
            <a:r>
              <a:rPr lang="en-US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 · 2026 </a:t>
            </a:r>
            <a:r>
              <a:rPr lang="zh-CN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350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sz="1350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2" name="文本框 1121" descr="{&quot;isTemplate&quot;:true,&quot;type&quot;:&quot;text&quot;}"/>
          <p:cNvSpPr txBox="1"/>
          <p:nvPr/>
        </p:nvSpPr>
        <p:spPr>
          <a:xfrm>
            <a:off x="609600" y="5972175"/>
            <a:ext cx="6038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dirty="0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lang="zh-CN" altLang="en-US" sz="975" dirty="0">
                <a:solidFill>
                  <a:srgbClr val="7FCBD4"/>
                </a:solidFill>
                <a:latin typeface="微软雅黑" panose="020B0503020204020204" charset="-122"/>
                <a:ea typeface="微软雅黑" panose="020B0503020204020204" charset="-122"/>
              </a:rPr>
              <a:t>吴俊德</a:t>
            </a:r>
            <a:endParaRPr lang="zh-CN" sz="975" dirty="0">
              <a:solidFill>
                <a:srgbClr val="7FCB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3" name="文本框 1122" descr="{&quot;isTemplate&quot;:true,&quot;type&quot;:&quot;text&quot;}"/>
          <p:cNvSpPr txBox="1"/>
          <p:nvPr/>
        </p:nvSpPr>
        <p:spPr>
          <a:xfrm>
            <a:off x="609600" y="6181725"/>
            <a:ext cx="6038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40">
                <a:solidFill>
                  <a:srgbClr val="6FB6C0"/>
                </a:solidFill>
                <a:latin typeface="微软雅黑" panose="020B0503020204020204" charset="-122"/>
                <a:ea typeface="微软雅黑" panose="020B0503020204020204" charset="-122"/>
              </a:rPr>
              <a:t>本章内容整理自原书第</a:t>
            </a:r>
            <a:r>
              <a:rPr lang="en-US" sz="940">
                <a:solidFill>
                  <a:srgbClr val="6FB6C0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40">
                <a:solidFill>
                  <a:srgbClr val="6FB6C0"/>
                </a:solidFill>
                <a:latin typeface="微软雅黑" panose="020B0503020204020204" charset="-122"/>
                <a:ea typeface="微软雅黑" panose="020B0503020204020204" charset="-122"/>
              </a:rPr>
              <a:t>章正文与配图</a:t>
            </a:r>
            <a:endParaRPr lang="zh-CN" sz="940">
              <a:solidFill>
                <a:srgbClr val="6FB6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4" name="圆角矩形 1123"/>
          <p:cNvSpPr/>
          <p:nvPr/>
        </p:nvSpPr>
        <p:spPr>
          <a:xfrm>
            <a:off x="7105650" y="609600"/>
            <a:ext cx="4476750" cy="5715000"/>
          </a:xfrm>
          <a:prstGeom prst="roundRect">
            <a:avLst>
              <a:gd name="adj" fmla="val 255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D3DA">
                <a:alpha val="28000"/>
              </a:srgbClr>
            </a:solidFill>
            <a:prstDash val="solid"/>
          </a:ln>
        </p:spPr>
        <p:txBody>
          <a:bodyPr/>
          <a:lstStyle/>
          <a:p/>
        </p:txBody>
      </p:sp>
      <p:pic>
        <p:nvPicPr>
          <p:cNvPr id="1125" name="图片 112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3300" y="876300"/>
            <a:ext cx="190500" cy="190500"/>
          </a:xfrm>
          <a:prstGeom prst="rect">
            <a:avLst/>
          </a:prstGeom>
        </p:spPr>
      </p:pic>
      <p:sp>
        <p:nvSpPr>
          <p:cNvPr id="1126" name="文本框 1125" descr="{&quot;isTemplate&quot;:true,&quot;type&quot;:&quot;text&quot;}"/>
          <p:cNvSpPr txBox="1"/>
          <p:nvPr/>
        </p:nvSpPr>
        <p:spPr>
          <a:xfrm>
            <a:off x="7648575" y="857250"/>
            <a:ext cx="10858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本章参考文献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7" name="矩形 1126"/>
          <p:cNvSpPr/>
          <p:nvPr/>
        </p:nvSpPr>
        <p:spPr>
          <a:xfrm>
            <a:off x="7353300" y="1190625"/>
            <a:ext cx="438150" cy="28575"/>
          </a:xfrm>
          <a:prstGeom prst="rect">
            <a:avLst/>
          </a:prstGeom>
          <a:solidFill>
            <a:srgbClr val="4FC0CB"/>
          </a:solidFill>
        </p:spPr>
        <p:txBody>
          <a:bodyPr/>
          <a:lstStyle/>
          <a:p/>
        </p:txBody>
      </p:sp>
      <p:sp>
        <p:nvSpPr>
          <p:cNvPr id="1128" name="圆角矩形 1127"/>
          <p:cNvSpPr/>
          <p:nvPr/>
        </p:nvSpPr>
        <p:spPr>
          <a:xfrm>
            <a:off x="7353300" y="1485900"/>
            <a:ext cx="200025" cy="200025"/>
          </a:xfrm>
          <a:prstGeom prst="roundRect">
            <a:avLst>
              <a:gd name="adj" fmla="val 52381"/>
            </a:avLst>
          </a:prstGeom>
          <a:solidFill>
            <a:srgbClr val="8FD3DA">
              <a:alpha val="22000"/>
            </a:srgbClr>
          </a:solidFill>
        </p:spPr>
        <p:txBody>
          <a:bodyPr/>
          <a:lstStyle/>
          <a:p/>
        </p:txBody>
      </p:sp>
      <p:sp>
        <p:nvSpPr>
          <p:cNvPr id="1129" name="文本框 1128" descr="{&quot;isTemplate&quot;:true,&quot;type&quot;:&quot;text&quot;}"/>
          <p:cNvSpPr txBox="1"/>
          <p:nvPr/>
        </p:nvSpPr>
        <p:spPr>
          <a:xfrm>
            <a:off x="7419975" y="1524000"/>
            <a:ext cx="762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5" b="1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865" b="1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0" name="文本框 1129" descr="{&quot;isTemplate&quot;:true,&quot;type&quot;:&quot;text&quot;}"/>
          <p:cNvSpPr txBox="1"/>
          <p:nvPr/>
        </p:nvSpPr>
        <p:spPr>
          <a:xfrm>
            <a:off x="7658100" y="1485900"/>
            <a:ext cx="36766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15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Sutton &amp; Barto (2018). Reinforcement Learning: An Introduction. MIT Press.</a:t>
            </a:r>
            <a:endParaRPr lang="en-US" sz="1015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1" name="圆角矩形 1130"/>
          <p:cNvSpPr/>
          <p:nvPr/>
        </p:nvSpPr>
        <p:spPr>
          <a:xfrm>
            <a:off x="7353300" y="2238375"/>
            <a:ext cx="200025" cy="200025"/>
          </a:xfrm>
          <a:prstGeom prst="roundRect">
            <a:avLst>
              <a:gd name="adj" fmla="val 52381"/>
            </a:avLst>
          </a:prstGeom>
          <a:solidFill>
            <a:srgbClr val="8FD3DA">
              <a:alpha val="22000"/>
            </a:srgbClr>
          </a:solidFill>
        </p:spPr>
        <p:txBody>
          <a:bodyPr/>
          <a:lstStyle/>
          <a:p/>
        </p:txBody>
      </p:sp>
      <p:sp>
        <p:nvSpPr>
          <p:cNvPr id="1132" name="文本框 1131" descr="{&quot;isTemplate&quot;:true,&quot;type&quot;:&quot;text&quot;}"/>
          <p:cNvSpPr txBox="1"/>
          <p:nvPr/>
        </p:nvSpPr>
        <p:spPr>
          <a:xfrm>
            <a:off x="7419975" y="2276475"/>
            <a:ext cx="762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5" b="1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865" b="1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3" name="文本框 1132" descr="{&quot;isTemplate&quot;:true,&quot;type&quot;:&quot;text&quot;}"/>
          <p:cNvSpPr txBox="1"/>
          <p:nvPr/>
        </p:nvSpPr>
        <p:spPr>
          <a:xfrm>
            <a:off x="7658100" y="2238375"/>
            <a:ext cx="36766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15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Goodfellow, Bengio &amp; Courville (2016). Deep Learning. MIT Press.</a:t>
            </a:r>
            <a:endParaRPr lang="en-US" sz="1015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4" name="圆角矩形 1133"/>
          <p:cNvSpPr/>
          <p:nvPr/>
        </p:nvSpPr>
        <p:spPr>
          <a:xfrm>
            <a:off x="7353300" y="3000375"/>
            <a:ext cx="200025" cy="200025"/>
          </a:xfrm>
          <a:prstGeom prst="roundRect">
            <a:avLst>
              <a:gd name="adj" fmla="val 52381"/>
            </a:avLst>
          </a:prstGeom>
          <a:solidFill>
            <a:srgbClr val="8FD3DA">
              <a:alpha val="22000"/>
            </a:srgbClr>
          </a:solidFill>
        </p:spPr>
        <p:txBody>
          <a:bodyPr/>
          <a:lstStyle/>
          <a:p/>
        </p:txBody>
      </p:sp>
      <p:sp>
        <p:nvSpPr>
          <p:cNvPr id="1135" name="文本框 1134" descr="{&quot;isTemplate&quot;:true,&quot;type&quot;:&quot;text&quot;}"/>
          <p:cNvSpPr txBox="1"/>
          <p:nvPr/>
        </p:nvSpPr>
        <p:spPr>
          <a:xfrm>
            <a:off x="7419975" y="3038475"/>
            <a:ext cx="762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5" b="1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865" b="1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6" name="文本框 1135" descr="{&quot;isTemplate&quot;:true,&quot;type&quot;:&quot;text&quot;}"/>
          <p:cNvSpPr txBox="1"/>
          <p:nvPr/>
        </p:nvSpPr>
        <p:spPr>
          <a:xfrm>
            <a:off x="7658100" y="3000375"/>
            <a:ext cx="3676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1015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Mitchell (1997). Machine Learning. McGraw-Hill.</a:t>
            </a:r>
            <a:endParaRPr lang="en-US" sz="1015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7" name="圆角矩形 1136"/>
          <p:cNvSpPr/>
          <p:nvPr/>
        </p:nvSpPr>
        <p:spPr>
          <a:xfrm>
            <a:off x="7353300" y="3524250"/>
            <a:ext cx="200025" cy="200025"/>
          </a:xfrm>
          <a:prstGeom prst="roundRect">
            <a:avLst>
              <a:gd name="adj" fmla="val 52381"/>
            </a:avLst>
          </a:prstGeom>
          <a:solidFill>
            <a:srgbClr val="8FD3DA">
              <a:alpha val="22000"/>
            </a:srgbClr>
          </a:solidFill>
        </p:spPr>
        <p:txBody>
          <a:bodyPr/>
          <a:lstStyle/>
          <a:p/>
        </p:txBody>
      </p:sp>
      <p:sp>
        <p:nvSpPr>
          <p:cNvPr id="1138" name="文本框 1137" descr="{&quot;isTemplate&quot;:true,&quot;type&quot;:&quot;text&quot;}"/>
          <p:cNvSpPr txBox="1"/>
          <p:nvPr/>
        </p:nvSpPr>
        <p:spPr>
          <a:xfrm>
            <a:off x="7419975" y="3562350"/>
            <a:ext cx="762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5" b="1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865" b="1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9" name="文本框 1138" descr="{&quot;isTemplate&quot;:true,&quot;type&quot;:&quot;text&quot;}"/>
          <p:cNvSpPr txBox="1"/>
          <p:nvPr/>
        </p:nvSpPr>
        <p:spPr>
          <a:xfrm>
            <a:off x="7658100" y="3524250"/>
            <a:ext cx="36766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15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Schulman et al. Proximal Policy Optimization Algorithms. arXiv:1707.06347</a:t>
            </a:r>
            <a:endParaRPr lang="en-US" sz="1015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0" name="圆角矩形 1139"/>
          <p:cNvSpPr/>
          <p:nvPr/>
        </p:nvSpPr>
        <p:spPr>
          <a:xfrm>
            <a:off x="7353300" y="4276725"/>
            <a:ext cx="200025" cy="200025"/>
          </a:xfrm>
          <a:prstGeom prst="roundRect">
            <a:avLst>
              <a:gd name="adj" fmla="val 52381"/>
            </a:avLst>
          </a:prstGeom>
          <a:solidFill>
            <a:srgbClr val="8FD3DA">
              <a:alpha val="22000"/>
            </a:srgbClr>
          </a:solidFill>
        </p:spPr>
        <p:txBody>
          <a:bodyPr/>
          <a:lstStyle/>
          <a:p/>
        </p:txBody>
      </p:sp>
      <p:sp>
        <p:nvSpPr>
          <p:cNvPr id="1141" name="文本框 1140" descr="{&quot;isTemplate&quot;:true,&quot;type&quot;:&quot;text&quot;}"/>
          <p:cNvSpPr txBox="1"/>
          <p:nvPr/>
        </p:nvSpPr>
        <p:spPr>
          <a:xfrm>
            <a:off x="7419975" y="4314825"/>
            <a:ext cx="762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5" b="1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865" b="1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2" name="文本框 1141" descr="{&quot;isTemplate&quot;:true,&quot;type&quot;:&quot;text&quot;}"/>
          <p:cNvSpPr txBox="1"/>
          <p:nvPr/>
        </p:nvSpPr>
        <p:spPr>
          <a:xfrm>
            <a:off x="7658100" y="4276725"/>
            <a:ext cx="36766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15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Robeyns, Aitchison &amp; Szummer (2025). A Self-Improving Coding Agent. arXiv:2504.15228v2</a:t>
            </a:r>
            <a:endParaRPr lang="en-US" sz="1015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3" name="圆角矩形 1142"/>
          <p:cNvSpPr/>
          <p:nvPr/>
        </p:nvSpPr>
        <p:spPr>
          <a:xfrm>
            <a:off x="7353300" y="5038725"/>
            <a:ext cx="200025" cy="200025"/>
          </a:xfrm>
          <a:prstGeom prst="roundRect">
            <a:avLst>
              <a:gd name="adj" fmla="val 52381"/>
            </a:avLst>
          </a:prstGeom>
          <a:solidFill>
            <a:srgbClr val="8FD3DA">
              <a:alpha val="22000"/>
            </a:srgbClr>
          </a:solidFill>
        </p:spPr>
        <p:txBody>
          <a:bodyPr/>
          <a:lstStyle/>
          <a:p/>
        </p:txBody>
      </p:sp>
      <p:sp>
        <p:nvSpPr>
          <p:cNvPr id="1144" name="文本框 1143" descr="{&quot;isTemplate&quot;:true,&quot;type&quot;:&quot;text&quot;}"/>
          <p:cNvSpPr txBox="1"/>
          <p:nvPr/>
        </p:nvSpPr>
        <p:spPr>
          <a:xfrm>
            <a:off x="7419975" y="5076825"/>
            <a:ext cx="762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5" b="1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865" b="1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5" name="文本框 1144" descr="{&quot;isTemplate&quot;:true,&quot;type&quot;:&quot;text&quot;}"/>
          <p:cNvSpPr txBox="1"/>
          <p:nvPr/>
        </p:nvSpPr>
        <p:spPr>
          <a:xfrm>
            <a:off x="7658100" y="5038725"/>
            <a:ext cx="36766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15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AlphaEvolve: a Gemini-powered coding agent for designing advanced algorithms. Google DeepMind Blog.</a:t>
            </a:r>
            <a:endParaRPr lang="en-US" sz="1015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6" name="圆角矩形 1145"/>
          <p:cNvSpPr/>
          <p:nvPr/>
        </p:nvSpPr>
        <p:spPr>
          <a:xfrm>
            <a:off x="7353300" y="5791200"/>
            <a:ext cx="200025" cy="200025"/>
          </a:xfrm>
          <a:prstGeom prst="roundRect">
            <a:avLst>
              <a:gd name="adj" fmla="val 52381"/>
            </a:avLst>
          </a:prstGeom>
          <a:solidFill>
            <a:srgbClr val="8FD3DA">
              <a:alpha val="22000"/>
            </a:srgbClr>
          </a:solidFill>
        </p:spPr>
        <p:txBody>
          <a:bodyPr/>
          <a:lstStyle/>
          <a:p/>
        </p:txBody>
      </p:sp>
      <p:sp>
        <p:nvSpPr>
          <p:cNvPr id="1147" name="文本框 1146" descr="{&quot;isTemplate&quot;:true,&quot;type&quot;:&quot;text&quot;}"/>
          <p:cNvSpPr txBox="1"/>
          <p:nvPr/>
        </p:nvSpPr>
        <p:spPr>
          <a:xfrm>
            <a:off x="7419975" y="5829300"/>
            <a:ext cx="762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5" b="1">
                <a:solidFill>
                  <a:srgbClr val="BFE7EB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sz="865" b="1">
              <a:solidFill>
                <a:srgbClr val="BFE7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8" name="文本框 1147" descr="{&quot;isTemplate&quot;:true,&quot;type&quot;:&quot;text&quot;}"/>
          <p:cNvSpPr txBox="1"/>
          <p:nvPr/>
        </p:nvSpPr>
        <p:spPr>
          <a:xfrm>
            <a:off x="7658100" y="5791200"/>
            <a:ext cx="3676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1015">
                <a:solidFill>
                  <a:srgbClr val="CDEBEF"/>
                </a:solidFill>
                <a:latin typeface="微软雅黑" panose="020B0503020204020204" charset="-122"/>
                <a:ea typeface="微软雅黑" panose="020B0503020204020204" charset="-122"/>
              </a:rPr>
              <a:t>OpenEvolve. github.com/codelion/openevolve</a:t>
            </a:r>
            <a:endParaRPr lang="en-US" sz="1015">
              <a:solidFill>
                <a:srgbClr val="CDEB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49" name="图片 114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11491</Words>
  <Application>WPS 演示</Application>
  <PresentationFormat>宽屏</PresentationFormat>
  <Paragraphs>1545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Calibri</vt:lpstr>
      <vt:lpstr>Arial Unicode MS</vt:lpstr>
      <vt:lpstr>Menlo</vt:lpstr>
      <vt:lpstr>Segoe Print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吴俊德</cp:lastModifiedBy>
  <cp:revision>7</cp:revision>
  <dcterms:created xsi:type="dcterms:W3CDTF">2026-10-16T09:41:00Z</dcterms:created>
  <dcterms:modified xsi:type="dcterms:W3CDTF">2026-10-26T08:56:25Z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{"AIGC":{"Label":"1","ContentProducer":"00119111010856365494821B355","ProduceID":"01a143e730ba771dbfc39bf8efae4a3d","ReservedCode1":"","ContentPropagator":"00119111010856365494821B355","PropagateID":"01a143e730ba771dbfc39bf8efae4a3d","ReservedCode2":""}}</vt:lpwstr>
  </property>
  <property fmtid="{D5CDD505-2E9C-101B-9397-08002B2CF9AE}" pid="3" name="ICV">
    <vt:lpwstr>3C3509EBAF8B4F89A375FB18529E1D73_12</vt:lpwstr>
  </property>
  <property fmtid="{D5CDD505-2E9C-101B-9397-08002B2CF9AE}" pid="4" name="KSOProductBuildVer">
    <vt:lpwstr>2052-12.1.0.29161</vt:lpwstr>
  </property>
</Properties>
</file>